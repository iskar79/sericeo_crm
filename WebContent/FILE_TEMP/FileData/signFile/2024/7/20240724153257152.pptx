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8"/>
  </p:notesMasterIdLst>
  <p:sldIdLst>
    <p:sldId id="391" r:id="rId2"/>
    <p:sldId id="390" r:id="rId3"/>
    <p:sldId id="318" r:id="rId4"/>
    <p:sldId id="357" r:id="rId5"/>
    <p:sldId id="269" r:id="rId6"/>
    <p:sldId id="294" r:id="rId7"/>
    <p:sldId id="295" r:id="rId8"/>
    <p:sldId id="296" r:id="rId9"/>
    <p:sldId id="278" r:id="rId10"/>
    <p:sldId id="308" r:id="rId11"/>
    <p:sldId id="307" r:id="rId12"/>
    <p:sldId id="270" r:id="rId13"/>
    <p:sldId id="280" r:id="rId14"/>
    <p:sldId id="305" r:id="rId15"/>
    <p:sldId id="279" r:id="rId16"/>
    <p:sldId id="306" r:id="rId17"/>
    <p:sldId id="290" r:id="rId18"/>
    <p:sldId id="286" r:id="rId19"/>
    <p:sldId id="287" r:id="rId20"/>
    <p:sldId id="288" r:id="rId21"/>
    <p:sldId id="351" r:id="rId22"/>
    <p:sldId id="289" r:id="rId23"/>
    <p:sldId id="281" r:id="rId24"/>
    <p:sldId id="284" r:id="rId25"/>
    <p:sldId id="285" r:id="rId26"/>
    <p:sldId id="343" r:id="rId27"/>
    <p:sldId id="344" r:id="rId28"/>
    <p:sldId id="370" r:id="rId29"/>
    <p:sldId id="320" r:id="rId30"/>
    <p:sldId id="374" r:id="rId31"/>
    <p:sldId id="371" r:id="rId32"/>
    <p:sldId id="372" r:id="rId33"/>
    <p:sldId id="353" r:id="rId34"/>
    <p:sldId id="327" r:id="rId35"/>
    <p:sldId id="326" r:id="rId36"/>
    <p:sldId id="329" r:id="rId37"/>
    <p:sldId id="331" r:id="rId38"/>
    <p:sldId id="333" r:id="rId39"/>
    <p:sldId id="334" r:id="rId40"/>
    <p:sldId id="342" r:id="rId41"/>
    <p:sldId id="355" r:id="rId42"/>
    <p:sldId id="330" r:id="rId43"/>
    <p:sldId id="350" r:id="rId44"/>
    <p:sldId id="345" r:id="rId45"/>
    <p:sldId id="346" r:id="rId46"/>
    <p:sldId id="354" r:id="rId47"/>
    <p:sldId id="358" r:id="rId48"/>
    <p:sldId id="359" r:id="rId49"/>
    <p:sldId id="361" r:id="rId50"/>
    <p:sldId id="364" r:id="rId51"/>
    <p:sldId id="368" r:id="rId52"/>
    <p:sldId id="362" r:id="rId53"/>
    <p:sldId id="363" r:id="rId54"/>
    <p:sldId id="369" r:id="rId55"/>
    <p:sldId id="373" r:id="rId56"/>
    <p:sldId id="375" r:id="rId57"/>
    <p:sldId id="292" r:id="rId58"/>
    <p:sldId id="291" r:id="rId59"/>
    <p:sldId id="335" r:id="rId60"/>
    <p:sldId id="332" r:id="rId61"/>
    <p:sldId id="349" r:id="rId62"/>
    <p:sldId id="336" r:id="rId63"/>
    <p:sldId id="337" r:id="rId64"/>
    <p:sldId id="338" r:id="rId65"/>
    <p:sldId id="393" r:id="rId66"/>
    <p:sldId id="297" r:id="rId67"/>
    <p:sldId id="298" r:id="rId68"/>
    <p:sldId id="299" r:id="rId69"/>
    <p:sldId id="300" r:id="rId70"/>
    <p:sldId id="301" r:id="rId71"/>
    <p:sldId id="309" r:id="rId72"/>
    <p:sldId id="314" r:id="rId73"/>
    <p:sldId id="310" r:id="rId74"/>
    <p:sldId id="311" r:id="rId75"/>
    <p:sldId id="317" r:id="rId76"/>
    <p:sldId id="360" r:id="rId77"/>
    <p:sldId id="377" r:id="rId78"/>
    <p:sldId id="380" r:id="rId79"/>
    <p:sldId id="381" r:id="rId80"/>
    <p:sldId id="385" r:id="rId81"/>
    <p:sldId id="389" r:id="rId82"/>
    <p:sldId id="386" r:id="rId83"/>
    <p:sldId id="339" r:id="rId84"/>
    <p:sldId id="259" r:id="rId85"/>
    <p:sldId id="260" r:id="rId86"/>
    <p:sldId id="382" r:id="rId87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RM &gt; 시스템" id="{F5E2F850-CC06-400D-BFBA-A5D34D33C5F6}">
          <p14:sldIdLst>
            <p14:sldId id="391"/>
            <p14:sldId id="390"/>
            <p14:sldId id="318"/>
            <p14:sldId id="357"/>
          </p14:sldIdLst>
        </p14:section>
        <p14:section name="CRM&gt; Main" id="{65CC1301-EB00-44F2-AF12-B91A76AB96B5}">
          <p14:sldIdLst>
            <p14:sldId id="269"/>
            <p14:sldId id="294"/>
            <p14:sldId id="295"/>
            <p14:sldId id="296"/>
            <p14:sldId id="278"/>
            <p14:sldId id="308"/>
            <p14:sldId id="307"/>
          </p14:sldIdLst>
        </p14:section>
        <p14:section name="회원" id="{64A9BE7C-490C-4F14-BB3F-33C4BCBE6072}">
          <p14:sldIdLst>
            <p14:sldId id="270"/>
          </p14:sldIdLst>
        </p14:section>
        <p14:section name="회원_02_001~004" id="{63D0CA4A-BC65-4F12-B0F4-5FCF1A4F80B2}">
          <p14:sldIdLst>
            <p14:sldId id="280"/>
            <p14:sldId id="305"/>
            <p14:sldId id="279"/>
            <p14:sldId id="306"/>
          </p14:sldIdLst>
        </p14:section>
        <p14:section name="회원_02_005" id="{B0EE64A9-DF5A-4630-83E5-6B5D6E38D3A8}">
          <p14:sldIdLst>
            <p14:sldId id="290"/>
            <p14:sldId id="286"/>
          </p14:sldIdLst>
        </p14:section>
        <p14:section name="회원_02_006" id="{F4900FBF-C9F0-413E-9F1F-1721B5F29A0D}">
          <p14:sldIdLst>
            <p14:sldId id="287"/>
          </p14:sldIdLst>
        </p14:section>
        <p14:section name="회원_02_007" id="{FF6DA96B-0BEC-46FE-ACD2-D972794BFF85}">
          <p14:sldIdLst>
            <p14:sldId id="288"/>
          </p14:sldIdLst>
        </p14:section>
        <p14:section name="[추가] 퍼미션 정보 현황" id="{4D56DA49-F467-41A6-B7DF-BDEE0138C713}">
          <p14:sldIdLst>
            <p14:sldId id="351"/>
          </p14:sldIdLst>
        </p14:section>
        <p14:section name="회원_02_008" id="{E0A874B8-58EE-462D-836C-399995F299EA}">
          <p14:sldIdLst>
            <p14:sldId id="289"/>
          </p14:sldIdLst>
        </p14:section>
        <p14:section name="회원_02_009~011" id="{82F18DA5-44B9-48EB-AD1A-6C417D16F639}">
          <p14:sldIdLst>
            <p14:sldId id="281"/>
          </p14:sldIdLst>
        </p14:section>
        <p14:section name="회원_02_012" id="{7CDD1661-5E92-44CE-BF5B-6A3A7832F34F}">
          <p14:sldIdLst>
            <p14:sldId id="284"/>
          </p14:sldIdLst>
        </p14:section>
        <p14:section name="회원_02_013" id="{CB32C1CA-EA7F-4F82-B911-AC1FE3268746}">
          <p14:sldIdLst>
            <p14:sldId id="285"/>
          </p14:sldIdLst>
        </p14:section>
        <p14:section name="계약_03_001" id="{DEC26343-A453-4480-A420-D8CE5B9DA5B5}">
          <p14:sldIdLst>
            <p14:sldId id="343"/>
            <p14:sldId id="344"/>
            <p14:sldId id="370"/>
            <p14:sldId id="320"/>
            <p14:sldId id="374"/>
            <p14:sldId id="371"/>
            <p14:sldId id="372"/>
          </p14:sldIdLst>
        </p14:section>
        <p14:section name="계약_03_002" id="{AD984B45-6424-4575-8A9A-18D7CF9D5991}">
          <p14:sldIdLst>
            <p14:sldId id="353"/>
          </p14:sldIdLst>
        </p14:section>
        <p14:section name="계약_03_003~004, 03_012~015" id="{C0803A9E-158E-47A6-A17E-CE15A7F2E69A}">
          <p14:sldIdLst>
            <p14:sldId id="327"/>
            <p14:sldId id="326"/>
            <p14:sldId id="329"/>
            <p14:sldId id="331"/>
            <p14:sldId id="333"/>
            <p14:sldId id="334"/>
          </p14:sldIdLst>
        </p14:section>
        <p14:section name="계약_03_005~006" id="{997D305A-79EC-47A3-B7FF-56F0BEF86573}">
          <p14:sldIdLst>
            <p14:sldId id="342"/>
            <p14:sldId id="355"/>
          </p14:sldIdLst>
        </p14:section>
        <p14:section name="계약_03_007" id="{90EC97BA-6EE2-46E9-874D-A1F084754A73}">
          <p14:sldIdLst>
            <p14:sldId id="330"/>
          </p14:sldIdLst>
        </p14:section>
        <p14:section name="계약_03_008~009" id="{84BE8AEA-D0C2-4AAF-8F00-B7CD39CCA6AA}">
          <p14:sldIdLst>
            <p14:sldId id="350"/>
          </p14:sldIdLst>
        </p14:section>
        <p14:section name="계약_03_010~011" id="{0D5BF68A-71EC-4CF0-B78D-ADC08597628F}">
          <p14:sldIdLst>
            <p14:sldId id="345"/>
            <p14:sldId id="346"/>
          </p14:sldIdLst>
        </p14:section>
        <p14:section name="계약_03_016" id="{9CB2DADC-1000-4A6F-B252-7C74ADC29887}">
          <p14:sldIdLst>
            <p14:sldId id="354"/>
            <p14:sldId id="358"/>
            <p14:sldId id="359"/>
          </p14:sldIdLst>
        </p14:section>
        <p14:section name="매출_04_001" id="{8AC0C7D2-CE5E-48F9-8BD6-EE8019EB7F93}">
          <p14:sldIdLst>
            <p14:sldId id="361"/>
            <p14:sldId id="364"/>
            <p14:sldId id="368"/>
            <p14:sldId id="362"/>
            <p14:sldId id="363"/>
            <p14:sldId id="369"/>
          </p14:sldIdLst>
        </p14:section>
        <p14:section name="추가_매출승인" id="{C9C95987-22A1-4E04-9068-4B5B33FF71BB}">
          <p14:sldIdLst>
            <p14:sldId id="373"/>
            <p14:sldId id="375"/>
          </p14:sldIdLst>
        </p14:section>
        <p14:section name="탈퇴_05_001" id="{EB631A52-B31D-4FC4-82EA-9F8F445C37B8}">
          <p14:sldIdLst>
            <p14:sldId id="292"/>
          </p14:sldIdLst>
        </p14:section>
        <p14:section name="탈퇴_05_002~006" id="{9A6BF1BF-A82F-4080-8B42-A9E3794460D5}">
          <p14:sldIdLst>
            <p14:sldId id="291"/>
          </p14:sldIdLst>
        </p14:section>
        <p14:section name="커뮤니_07_001~006" id="{6DA53919-AE5A-4395-A33E-175D82EBF1C4}">
          <p14:sldIdLst>
            <p14:sldId id="335"/>
            <p14:sldId id="332"/>
            <p14:sldId id="349"/>
          </p14:sldIdLst>
        </p14:section>
        <p14:section name="커뮤니_07_007" id="{A79D1D21-037C-4AD8-9712-DD5AE50A8372}">
          <p14:sldIdLst>
            <p14:sldId id="336"/>
            <p14:sldId id="337"/>
            <p14:sldId id="338"/>
            <p14:sldId id="393"/>
          </p14:sldIdLst>
        </p14:section>
        <p14:section name="가망_08_001~005" id="{12F419B4-9E26-40C2-9A54-7553D3D6B7F3}">
          <p14:sldIdLst>
            <p14:sldId id="297"/>
            <p14:sldId id="298"/>
            <p14:sldId id="299"/>
            <p14:sldId id="300"/>
          </p14:sldIdLst>
        </p14:section>
        <p14:section name="가망_08_007~009" id="{41A53D73-388B-4EF0-8790-9B16B5A0EAB5}">
          <p14:sldIdLst>
            <p14:sldId id="301"/>
          </p14:sldIdLst>
        </p14:section>
        <p14:section name="[추가] 회사관리" id="{C59548FB-8329-4C00-B761-2455D5F330A9}">
          <p14:sldIdLst>
            <p14:sldId id="309"/>
            <p14:sldId id="314"/>
            <p14:sldId id="310"/>
            <p14:sldId id="311"/>
            <p14:sldId id="317"/>
          </p14:sldIdLst>
        </p14:section>
        <p14:section name="현황_06_001-011, 021-029" id="{32F7ABBE-B5B1-4A5B-9292-23201CE3EB5F}">
          <p14:sldIdLst>
            <p14:sldId id="360"/>
            <p14:sldId id="377"/>
            <p14:sldId id="380"/>
            <p14:sldId id="381"/>
            <p14:sldId id="385"/>
            <p14:sldId id="389"/>
            <p14:sldId id="386"/>
          </p14:sldIdLst>
        </p14:section>
        <p14:section name="[추가] 발송이력 조회" id="{F794616A-1BE3-447A-B298-4DEB0513C42F}">
          <p14:sldIdLst>
            <p14:sldId id="339"/>
          </p14:sldIdLst>
        </p14:section>
        <p14:section name="[참고] 회원구분" id="{C4FF000F-25E1-4603-B6B3-04AD41B75A6A}">
          <p14:sldIdLst>
            <p14:sldId id="259"/>
            <p14:sldId id="260"/>
          </p14:sldIdLst>
        </p14:section>
        <p14:section name="[참고] SERIPro 회원구분" id="{8799CAB8-D754-4127-94C3-5D6B5065A8D2}">
          <p14:sldIdLst>
            <p14:sldId id="3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49FC56-9479-4E22-9F1A-CA021944E444}" type="datetimeFigureOut">
              <a:rPr lang="ko-KR" altLang="en-US" smtClean="0"/>
              <a:t>2024-06-28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3B0E2-8FC8-43DD-A582-4BF93BEF3A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74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A3B0E2-8FC8-43DD-A582-4BF93BEF3A0D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916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A3B0E2-8FC8-43DD-A582-4BF93BEF3A0D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867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D0E7-8230-407D-AE34-12A715E56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048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D0E7-8230-407D-AE34-12A715E56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9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D0E7-8230-407D-AE34-12A715E56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76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D0E7-8230-407D-AE34-12A715E56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453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D0E7-8230-407D-AE34-12A715E56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45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D0E7-8230-407D-AE34-12A715E56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432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907822" y="33279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9966301" y="332793"/>
            <a:ext cx="2157721" cy="259264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Description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907822" y="73529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10604310" y="73529"/>
            <a:ext cx="151971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59206" y="591381"/>
            <a:ext cx="9854468" cy="621070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9966300" y="591381"/>
            <a:ext cx="2157721" cy="621070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59206" y="73529"/>
            <a:ext cx="848616" cy="259264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Location</a:t>
            </a:r>
            <a:endParaRPr lang="ko-KR" altLang="en-US" sz="1000" dirty="0"/>
          </a:p>
        </p:txBody>
      </p:sp>
      <p:sp>
        <p:nvSpPr>
          <p:cNvPr id="12" name="직사각형 11"/>
          <p:cNvSpPr/>
          <p:nvPr userDrawn="1"/>
        </p:nvSpPr>
        <p:spPr>
          <a:xfrm>
            <a:off x="59206" y="332117"/>
            <a:ext cx="848616" cy="259264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Title</a:t>
            </a:r>
            <a:endParaRPr lang="ko-KR" altLang="en-US" sz="1000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9966300" y="73529"/>
            <a:ext cx="638010" cy="259264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No.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166600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D0E7-8230-407D-AE34-12A715E56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288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D0E7-8230-407D-AE34-12A715E56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495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D0E7-8230-407D-AE34-12A715E56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519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D0E7-8230-407D-AE34-12A715E56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3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FD0E7-8230-407D-AE34-12A715E56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846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D0E7-8230-407D-AE34-12A715E56199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587897" y="2775625"/>
            <a:ext cx="66928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dirty="0">
                <a:solidFill>
                  <a:srgbClr val="00B0F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2024</a:t>
            </a:r>
            <a:r>
              <a:rPr lang="en-US" altLang="ko-KR" sz="50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SERICEO CRM</a:t>
            </a:r>
            <a:endParaRPr lang="ko-KR" altLang="en-US" sz="5000" b="1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1376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220452"/>
              </p:ext>
            </p:extLst>
          </p:nvPr>
        </p:nvGraphicFramePr>
        <p:xfrm>
          <a:off x="492868" y="693725"/>
          <a:ext cx="11160868" cy="5974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4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0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54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08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No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상세 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작성일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8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회원정보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CRM</a:t>
                      </a:r>
                      <a:r>
                        <a:rPr lang="ko-KR" altLang="en-US" sz="10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모든 화면의 다운로드 데이터에 </a:t>
                      </a:r>
                      <a:r>
                        <a:rPr lang="en-US" altLang="ko-KR" sz="10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“</a:t>
                      </a:r>
                      <a:r>
                        <a:rPr lang="ko-KR" altLang="en-US" sz="10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회원 개인 정보</a:t>
                      </a:r>
                      <a:r>
                        <a:rPr lang="en-US" altLang="ko-KR" sz="10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＂</a:t>
                      </a:r>
                      <a:r>
                        <a:rPr lang="ko-KR" altLang="en-US" sz="10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가 안내될 때</a:t>
                      </a:r>
                      <a:r>
                        <a:rPr lang="en-US" altLang="ko-KR" sz="10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baseline="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퍼미션</a:t>
                      </a:r>
                      <a:r>
                        <a:rPr lang="en-US" altLang="ko-KR" sz="10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0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접촉거부 </a:t>
                      </a:r>
                      <a:r>
                        <a:rPr lang="en-US" altLang="ko-KR" sz="10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Y/N, </a:t>
                      </a:r>
                      <a:r>
                        <a:rPr lang="ko-KR" altLang="en-US" sz="10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광고정보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2024.3.29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8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회원정보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유료회원 </a:t>
                      </a:r>
                      <a:r>
                        <a:rPr lang="ko-KR" altLang="en-US" sz="100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구분값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추가 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개인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은퇴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개인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은퇴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온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r>
                        <a:rPr lang="en-US" altLang="ko-KR" sz="10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 /  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무료회원 </a:t>
                      </a:r>
                      <a:r>
                        <a:rPr lang="ko-KR" altLang="en-US" sz="100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구분값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수정 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VIP, VIP(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온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2024.3.29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8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회원정보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회원 정보 조회 옵션에</a:t>
                      </a:r>
                      <a:r>
                        <a:rPr lang="ko-KR" altLang="en-US" sz="10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“그룹“ 혹은 ”</a:t>
                      </a:r>
                      <a:r>
                        <a:rPr lang="ko-KR" altLang="en-US" sz="100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캠페인명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“ 검색 추가 희망함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2024.3.29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8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회원정보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회원 현황을 조회하는 모든 화면의 기준 기간은 서비스 기간과 계약 기간</a:t>
                      </a:r>
                      <a:r>
                        <a:rPr lang="ko-KR" altLang="en-US" sz="10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중 하나를 선택하여 조회할 수 있도록 함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2024.3.29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8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5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그룹관리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그룹 생성 시 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“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회사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＂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외에 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“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회원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＂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단위로 추가할 수 있고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일괄 업로드도 가능해야 함</a:t>
                      </a:r>
                      <a:endParaRPr lang="en-US" altLang="ko-KR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그룹 기준으로 보고서</a:t>
                      </a:r>
                      <a:r>
                        <a:rPr lang="ko-KR" altLang="en-US" sz="10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생성</a:t>
                      </a:r>
                      <a:r>
                        <a:rPr lang="en-US" altLang="ko-KR" sz="10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현황 조회 등 데이터 조회할 수 있어야 함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2024.3.29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8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6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내부회계 요청사항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매출 관리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승인 프로세스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기능은 보류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2024.3.29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08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7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법인 계약 승계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법인 계약 승계 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&gt;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일괄 업로드 시 셀을 추가하여 날짜 설정</a:t>
                      </a:r>
                    </a:p>
                    <a:p>
                      <a:pPr algn="l" latinLnBrk="1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교체가입 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ID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가 있고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날짜가 있으면  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해당일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00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시부터 서비스 시작</a:t>
                      </a:r>
                    </a:p>
                    <a:p>
                      <a:pPr algn="l" latinLnBrk="1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교체가입 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ID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가 없고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날짜가 있으면 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해당일 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23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시 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59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분 이후 탈퇴처리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2024.3.29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08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8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가망고객 관리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가망고객은 그룹별로 </a:t>
                      </a:r>
                      <a:r>
                        <a:rPr lang="ko-KR" altLang="en-US" sz="100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매핑하여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운영함 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서비스 종료된 회원은 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“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탈퇴회원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＂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으로 관리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</a:t>
                      </a:r>
                      <a:r>
                        <a:rPr lang="en-US" altLang="ko-KR" sz="10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r>
                        <a:rPr lang="ko-KR" altLang="en-US" sz="10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체험 </a:t>
                      </a:r>
                      <a:r>
                        <a:rPr lang="ko-KR" altLang="en-US" sz="1000" baseline="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캠페인별로</a:t>
                      </a:r>
                      <a:r>
                        <a:rPr lang="ko-KR" altLang="en-US" sz="10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그룹을 만들어서 회원을 투입할 수 있어야 함</a:t>
                      </a:r>
                      <a:r>
                        <a:rPr lang="en-US" altLang="ko-KR" sz="10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2024.3.29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08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9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현황 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&gt;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회사 현황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현황 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&gt;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이용현황의 상세 기능으로 회사 데이터를 추출할 수 있으므로 별도 메뉴를 만들지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2024.3.29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08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현황 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&gt;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이용현황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이용현황 상세 페이지 구성함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2024.3.29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08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11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회원정보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(Pro)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CEO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기준에 맞춰서 </a:t>
                      </a:r>
                      <a:r>
                        <a:rPr lang="en-US" altLang="ko-KR" sz="100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SERIPro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회원 </a:t>
                      </a:r>
                      <a:r>
                        <a:rPr lang="ko-KR" altLang="en-US" sz="100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구분값도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변경함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00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네이밍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변경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2024.3.29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0808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0808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0808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0808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0808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0808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0808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0808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20808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0808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2868" y="363165"/>
            <a:ext cx="45272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B0F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&lt;</a:t>
            </a:r>
            <a:r>
              <a:rPr lang="ko-KR" altLang="en-US" sz="1200" b="1" dirty="0" err="1">
                <a:solidFill>
                  <a:srgbClr val="00B0F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기획안</a:t>
            </a:r>
            <a:r>
              <a:rPr lang="ko-KR" altLang="en-US" sz="1200" b="1" dirty="0">
                <a:solidFill>
                  <a:srgbClr val="00B0F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수정 사항</a:t>
            </a:r>
            <a:r>
              <a:rPr lang="en-US" altLang="ko-KR" sz="1200" b="1" dirty="0">
                <a:solidFill>
                  <a:srgbClr val="00B0F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&gt;  </a:t>
            </a:r>
            <a:r>
              <a:rPr lang="ko-KR" altLang="en-US" sz="1200" b="1" dirty="0">
                <a:solidFill>
                  <a:srgbClr val="00B0F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각 해당사항은</a:t>
            </a:r>
            <a:r>
              <a:rPr lang="en-US" altLang="ko-KR" sz="1200" b="1" dirty="0">
                <a:solidFill>
                  <a:srgbClr val="00B0F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, </a:t>
            </a:r>
            <a:r>
              <a:rPr lang="ko-KR" altLang="en-US" sz="1200" b="1" dirty="0" err="1">
                <a:solidFill>
                  <a:srgbClr val="00B0F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페이지별</a:t>
            </a:r>
            <a:r>
              <a:rPr lang="ko-KR" altLang="en-US" sz="1200" b="1" dirty="0">
                <a:solidFill>
                  <a:srgbClr val="00B0F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노란색 박스로 표기함</a:t>
            </a:r>
          </a:p>
        </p:txBody>
      </p:sp>
    </p:spTree>
    <p:extLst>
      <p:ext uri="{BB962C8B-B14F-4D97-AF65-F5344CB8AC3E}">
        <p14:creationId xmlns:p14="http://schemas.microsoft.com/office/powerpoint/2010/main" val="3665928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6150" y="1041400"/>
            <a:ext cx="7460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회원관리</a:t>
            </a:r>
            <a:r>
              <a:rPr lang="en-US" altLang="ko-KR" sz="1200" dirty="0"/>
              <a:t>,  </a:t>
            </a:r>
            <a:r>
              <a:rPr lang="ko-KR" altLang="en-US" sz="1200" dirty="0"/>
              <a:t>법인관리</a:t>
            </a:r>
            <a:r>
              <a:rPr lang="en-US" altLang="ko-KR" sz="1200" dirty="0"/>
              <a:t>, </a:t>
            </a:r>
            <a:r>
              <a:rPr lang="ko-KR" altLang="en-US" sz="1200" dirty="0"/>
              <a:t>대량업로드 등 </a:t>
            </a:r>
            <a:endParaRPr lang="en-US" altLang="ko-KR" sz="1200" dirty="0"/>
          </a:p>
          <a:p>
            <a:r>
              <a:rPr lang="en-US" altLang="ko-KR" sz="1200" dirty="0"/>
              <a:t>“</a:t>
            </a:r>
            <a:r>
              <a:rPr lang="ko-KR" altLang="en-US" sz="1200" dirty="0"/>
              <a:t>정보 입력</a:t>
            </a:r>
            <a:r>
              <a:rPr lang="en-US" altLang="ko-KR" sz="1200" dirty="0"/>
              <a:t>“ </a:t>
            </a:r>
            <a:r>
              <a:rPr lang="ko-KR" altLang="en-US" sz="1200" dirty="0"/>
              <a:t>시 유효하지 않은 정보 입력 시 자동 변환 혹은 실패 사유를 </a:t>
            </a:r>
            <a:r>
              <a:rPr lang="ko-KR" altLang="en-US" sz="1200" dirty="0" err="1"/>
              <a:t>얼럿에</a:t>
            </a:r>
            <a:r>
              <a:rPr lang="ko-KR" altLang="en-US" sz="1200" dirty="0"/>
              <a:t> 직관적으로 표기해 주세요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807567"/>
              </p:ext>
            </p:extLst>
          </p:nvPr>
        </p:nvGraphicFramePr>
        <p:xfrm>
          <a:off x="635000" y="1710266"/>
          <a:ext cx="8731251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18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84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처리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처리방식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4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중복된 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실패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 err="1"/>
                        <a:t>얼럿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아이디가 중복됩니다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4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글자수가 많은 케이스 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성공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모든 정보 그대로 입력합니다</a:t>
                      </a:r>
                      <a:r>
                        <a:rPr lang="en-US" altLang="ko-KR" sz="1000" dirty="0"/>
                        <a:t>. (</a:t>
                      </a:r>
                      <a:r>
                        <a:rPr lang="ko-KR" altLang="en-US" sz="1000" dirty="0"/>
                        <a:t>글자수 제한 해제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4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이메일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아이디와 계정 사이에 </a:t>
                      </a:r>
                      <a:r>
                        <a:rPr lang="en-US" altLang="ko-KR" sz="1000" dirty="0"/>
                        <a:t>@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가 없는 케이스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실패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 err="1"/>
                        <a:t>얼럿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이메일</a:t>
                      </a:r>
                      <a:r>
                        <a:rPr lang="ko-KR" altLang="en-US" sz="1000" baseline="0" dirty="0"/>
                        <a:t> 정보가 부정확합니다</a:t>
                      </a:r>
                      <a:r>
                        <a:rPr lang="en-US" altLang="ko-KR" sz="1000" baseline="0" dirty="0"/>
                        <a:t>.</a:t>
                      </a:r>
                    </a:p>
                    <a:p>
                      <a:pPr algn="ctr" latinLnBrk="1"/>
                      <a:r>
                        <a:rPr lang="en-US" altLang="ko-KR" sz="1000" baseline="0" dirty="0"/>
                        <a:t>(</a:t>
                      </a:r>
                      <a:r>
                        <a:rPr lang="ko-KR" altLang="en-US" sz="1000" baseline="0" dirty="0" err="1"/>
                        <a:t>이메일은</a:t>
                      </a:r>
                      <a:r>
                        <a:rPr lang="ko-KR" altLang="en-US" sz="1000" baseline="0" dirty="0"/>
                        <a:t> 아이디와 계정을 </a:t>
                      </a:r>
                      <a:r>
                        <a:rPr lang="en-US" altLang="ko-KR" sz="1000" baseline="0" dirty="0"/>
                        <a:t>@</a:t>
                      </a:r>
                      <a:r>
                        <a:rPr lang="ko-KR" altLang="en-US" sz="1000" baseline="0" dirty="0"/>
                        <a:t>로 분리하여 표기합니다</a:t>
                      </a:r>
                      <a:r>
                        <a:rPr lang="en-US" altLang="ko-KR" sz="1000" baseline="0" dirty="0"/>
                        <a:t>.)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4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이메일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@ </a:t>
                      </a:r>
                      <a:r>
                        <a:rPr lang="ko-KR" altLang="en-US" sz="1000" dirty="0" err="1"/>
                        <a:t>뒷열에</a:t>
                      </a:r>
                      <a:r>
                        <a:rPr lang="ko-KR" altLang="en-US" sz="1000" baseline="0" dirty="0"/>
                        <a:t> </a:t>
                      </a:r>
                      <a:r>
                        <a:rPr lang="en-US" altLang="ko-KR" sz="1000" baseline="0" dirty="0"/>
                        <a:t>. </a:t>
                      </a:r>
                      <a:r>
                        <a:rPr lang="ko-KR" altLang="en-US" sz="1000" baseline="0" dirty="0"/>
                        <a:t>이 </a:t>
                      </a:r>
                      <a:r>
                        <a:rPr lang="en-US" altLang="ko-KR" sz="1000" baseline="0" dirty="0"/>
                        <a:t>1</a:t>
                      </a:r>
                      <a:r>
                        <a:rPr lang="ko-KR" altLang="en-US" sz="1000" baseline="0" dirty="0"/>
                        <a:t>개 이상 없는 케이스 </a:t>
                      </a:r>
                      <a:r>
                        <a:rPr lang="en-US" altLang="ko-KR" sz="1000" baseline="0" dirty="0"/>
                        <a:t>/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@ </a:t>
                      </a:r>
                      <a:r>
                        <a:rPr lang="ko-KR" altLang="en-US" sz="1000" dirty="0" err="1"/>
                        <a:t>뒷열에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,(</a:t>
                      </a:r>
                      <a:r>
                        <a:rPr lang="ko-KR" altLang="en-US" sz="1000" dirty="0"/>
                        <a:t>쉼표</a:t>
                      </a:r>
                      <a:r>
                        <a:rPr lang="en-US" altLang="ko-KR" sz="1000" dirty="0"/>
                        <a:t>) </a:t>
                      </a:r>
                      <a:r>
                        <a:rPr lang="ko-KR" altLang="en-US" sz="1000" baseline="0" dirty="0"/>
                        <a:t>포함된 케이스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실패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 err="1"/>
                        <a:t>얼럿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이메일</a:t>
                      </a:r>
                      <a:r>
                        <a:rPr lang="ko-KR" altLang="en-US" sz="1000" baseline="0" dirty="0"/>
                        <a:t> 정보가 부정확합니다</a:t>
                      </a:r>
                      <a:r>
                        <a:rPr lang="en-US" altLang="ko-KR" sz="1000" baseline="0" dirty="0"/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84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/>
                        <a:t>이메일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한글이 포함된 케이스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실패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 err="1"/>
                        <a:t>얼럿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이메일</a:t>
                      </a:r>
                      <a:r>
                        <a:rPr lang="ko-KR" altLang="en-US" sz="1000" baseline="0" dirty="0"/>
                        <a:t> 정보가 부정확합니다</a:t>
                      </a:r>
                      <a:r>
                        <a:rPr lang="en-US" altLang="ko-KR" sz="1000" baseline="0" dirty="0"/>
                        <a:t>.</a:t>
                      </a:r>
                    </a:p>
                    <a:p>
                      <a:pPr algn="ctr" latinLnBrk="1"/>
                      <a:r>
                        <a:rPr lang="en-US" altLang="ko-KR" sz="1000" baseline="0" dirty="0"/>
                        <a:t>(</a:t>
                      </a:r>
                      <a:r>
                        <a:rPr lang="ko-KR" altLang="en-US" sz="1000" baseline="0" dirty="0" err="1"/>
                        <a:t>이메일은</a:t>
                      </a:r>
                      <a:r>
                        <a:rPr lang="ko-KR" altLang="en-US" sz="1000" baseline="0" dirty="0"/>
                        <a:t> 영문으로 입력해 주세요</a:t>
                      </a:r>
                      <a:r>
                        <a:rPr lang="en-US" altLang="ko-KR" sz="1000" baseline="0" dirty="0"/>
                        <a:t>.)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4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이메일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아이디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계정에 대문자가 포함된 케이스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성공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대문자는 소문자로 변환하여 입력합니다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84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/>
                        <a:t>이메일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이메일</a:t>
                      </a:r>
                      <a:r>
                        <a:rPr lang="ko-KR" altLang="en-US" sz="1000" dirty="0"/>
                        <a:t> 구성에 빈칸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전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중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후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en-US" sz="1000" dirty="0"/>
                        <a:t>이 포함된 케이스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성공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빈칸은 삭제하여 입력합니다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84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전화번호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휴대폰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자릿수를 </a:t>
                      </a:r>
                      <a:r>
                        <a:rPr lang="en-US" altLang="ko-KR" sz="1000" dirty="0"/>
                        <a:t>-  ,  . _ / ~  </a:t>
                      </a:r>
                      <a:r>
                        <a:rPr lang="ko-KR" altLang="en-US" sz="1000" dirty="0"/>
                        <a:t>등 기호로 분리하여 입력한 케이스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성공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모든 문자 </a:t>
                      </a:r>
                      <a:r>
                        <a:rPr lang="en-US" altLang="ko-KR" sz="1000" dirty="0"/>
                        <a:t>– </a:t>
                      </a:r>
                      <a:r>
                        <a:rPr lang="ko-KR" altLang="en-US" sz="1000" dirty="0"/>
                        <a:t>로 변환 후 </a:t>
                      </a:r>
                      <a:r>
                        <a:rPr lang="ko-KR" altLang="en-US" sz="1000" baseline="0" dirty="0"/>
                        <a:t>입력합니다</a:t>
                      </a:r>
                      <a:r>
                        <a:rPr lang="en-US" altLang="ko-KR" sz="1000" baseline="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84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전화번호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휴대폰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빈칸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전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중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후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en-US" sz="1000" dirty="0"/>
                        <a:t>이 포함된 케이스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성공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빈칸은 삭제하여 입력합니다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84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전화번호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휴대폰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글자수가 </a:t>
                      </a:r>
                      <a:r>
                        <a:rPr lang="en-US" altLang="ko-KR" sz="1000" dirty="0"/>
                        <a:t>9</a:t>
                      </a:r>
                      <a:r>
                        <a:rPr lang="ko-KR" altLang="en-US" sz="1000" dirty="0"/>
                        <a:t>자 미만</a:t>
                      </a:r>
                      <a:r>
                        <a:rPr lang="ko-KR" altLang="en-US" sz="1000" baseline="0" dirty="0"/>
                        <a:t> </a:t>
                      </a:r>
                      <a:r>
                        <a:rPr lang="ko-KR" altLang="en-US" sz="1000" dirty="0"/>
                        <a:t>케이스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실패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 err="1"/>
                        <a:t>얼럿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전화번호</a:t>
                      </a:r>
                      <a:r>
                        <a:rPr lang="en-US" altLang="ko-KR" sz="1000" baseline="0" dirty="0"/>
                        <a:t> or  </a:t>
                      </a:r>
                      <a:r>
                        <a:rPr lang="ko-KR" altLang="en-US" sz="1000" dirty="0"/>
                        <a:t>휴대폰</a:t>
                      </a:r>
                      <a:r>
                        <a:rPr lang="ko-KR" altLang="en-US" sz="1000" baseline="0" dirty="0"/>
                        <a:t> 정보가 부정확합니다</a:t>
                      </a:r>
                      <a:r>
                        <a:rPr lang="en-US" altLang="ko-KR" sz="1000" baseline="0" dirty="0"/>
                        <a:t>.</a:t>
                      </a:r>
                    </a:p>
                    <a:p>
                      <a:pPr algn="ctr" latinLnBrk="1"/>
                      <a:r>
                        <a:rPr lang="en-US" altLang="ko-KR" sz="1000" baseline="0" dirty="0"/>
                        <a:t>(</a:t>
                      </a:r>
                      <a:r>
                        <a:rPr lang="ko-KR" altLang="en-US" sz="1000" baseline="0" dirty="0"/>
                        <a:t>자릿수를 확인하세요</a:t>
                      </a:r>
                      <a:r>
                        <a:rPr lang="en-US" altLang="ko-KR" sz="1000" baseline="0" dirty="0"/>
                        <a:t>.)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84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기타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시스템에서 입력되지 못하고 튕겨내는 케이스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실패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 err="1"/>
                        <a:t>얼럿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실패된 </a:t>
                      </a:r>
                      <a:r>
                        <a:rPr lang="ko-KR" altLang="en-US" sz="1000" dirty="0" err="1"/>
                        <a:t>필드명을</a:t>
                      </a:r>
                      <a:r>
                        <a:rPr lang="ko-KR" altLang="en-US" sz="1000" dirty="0"/>
                        <a:t> 짚어서 알려줍니다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algn="ctr" latinLnBrk="1"/>
                      <a:r>
                        <a:rPr lang="ko-KR" altLang="en-US" sz="1000" dirty="0" err="1">
                          <a:solidFill>
                            <a:srgbClr val="FF0000"/>
                          </a:solidFill>
                        </a:rPr>
                        <a:t>얼럿창이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 빈 칸으로 나오면 안 됩니다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Ex. </a:t>
                      </a:r>
                      <a:r>
                        <a:rPr lang="ko-KR" altLang="en-US" sz="1000" dirty="0" err="1"/>
                        <a:t>법인명</a:t>
                      </a:r>
                      <a:r>
                        <a:rPr lang="ko-KR" altLang="en-US" sz="1000" dirty="0"/>
                        <a:t> 필드를 확인하세요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algn="ctr" latinLnBrk="1"/>
                      <a:r>
                        <a:rPr lang="ko-KR" altLang="en-US" sz="1000" dirty="0"/>
                        <a:t>법인번호 필드를 확인하세요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입력 정보 유효성 체크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CRM_01_002~003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84450" y="605693"/>
            <a:ext cx="61157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chemeClr val="accent2"/>
                </a:solidFill>
              </a:rPr>
              <a:t>현업에서 정의한 내용 외에 시스템에서 기본적으로 처리하는 게 있다면 추가해 주세요</a:t>
            </a:r>
            <a:r>
              <a:rPr lang="en-US" altLang="ko-KR" sz="1200" b="1" dirty="0">
                <a:solidFill>
                  <a:schemeClr val="accent2"/>
                </a:solidFill>
              </a:rPr>
              <a:t>.</a:t>
            </a:r>
            <a:endParaRPr lang="ko-KR" altLang="en-US" sz="1200" b="1" dirty="0">
              <a:solidFill>
                <a:schemeClr val="accent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53340" y="591381"/>
            <a:ext cx="2242922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1000" b="1" dirty="0">
              <a:solidFill>
                <a:srgbClr val="FF0000"/>
              </a:solidFill>
            </a:endParaRPr>
          </a:p>
          <a:p>
            <a:r>
              <a:rPr lang="ko-KR" altLang="en-US" sz="1000" b="1" dirty="0">
                <a:solidFill>
                  <a:srgbClr val="FF0000"/>
                </a:solidFill>
              </a:rPr>
              <a:t>시스템에서 기본적으로 처리할 사항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endParaRPr lang="en-US" altLang="ko-KR" sz="1000" b="1" dirty="0">
              <a:solidFill>
                <a:srgbClr val="FF0000"/>
              </a:solidFill>
            </a:endParaRPr>
          </a:p>
          <a:p>
            <a:r>
              <a:rPr lang="en-US" altLang="ko-KR" sz="1000" b="1" dirty="0">
                <a:solidFill>
                  <a:srgbClr val="FF0000"/>
                </a:solidFill>
              </a:rPr>
              <a:t>- </a:t>
            </a:r>
            <a:r>
              <a:rPr lang="ko-KR" altLang="en-US" sz="1000" b="1" dirty="0" err="1">
                <a:solidFill>
                  <a:srgbClr val="FF0000"/>
                </a:solidFill>
              </a:rPr>
              <a:t>이메일</a:t>
            </a:r>
            <a:r>
              <a:rPr lang="ko-KR" altLang="en-US" sz="1000" b="1" dirty="0">
                <a:solidFill>
                  <a:srgbClr val="FF0000"/>
                </a:solidFill>
              </a:rPr>
              <a:t> 유효성 검증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endParaRPr lang="en-US" altLang="ko-KR" sz="1000" b="1" dirty="0">
              <a:solidFill>
                <a:srgbClr val="FF0000"/>
              </a:solidFill>
            </a:endParaRPr>
          </a:p>
          <a:p>
            <a:r>
              <a:rPr lang="en-US" altLang="ko-KR" sz="1000" b="1" dirty="0">
                <a:solidFill>
                  <a:srgbClr val="FF0000"/>
                </a:solidFill>
              </a:rPr>
              <a:t>- </a:t>
            </a:r>
            <a:r>
              <a:rPr lang="ko-KR" altLang="en-US" sz="1000" b="1" dirty="0">
                <a:solidFill>
                  <a:srgbClr val="FF0000"/>
                </a:solidFill>
              </a:rPr>
              <a:t>공백 삭제</a:t>
            </a:r>
            <a:br>
              <a:rPr lang="en-US" altLang="ko-KR" sz="1000" b="1" dirty="0">
                <a:solidFill>
                  <a:srgbClr val="FF0000"/>
                </a:solidFill>
              </a:rPr>
            </a:br>
            <a:r>
              <a:rPr lang="en-US" altLang="ko-KR" sz="1000" b="1" dirty="0">
                <a:solidFill>
                  <a:srgbClr val="FF0000"/>
                </a:solidFill>
              </a:rPr>
              <a:t>  (</a:t>
            </a:r>
            <a:r>
              <a:rPr lang="ko-KR" altLang="en-US" sz="1000" b="1" dirty="0">
                <a:solidFill>
                  <a:srgbClr val="FF0000"/>
                </a:solidFill>
              </a:rPr>
              <a:t>아이디</a:t>
            </a:r>
            <a:r>
              <a:rPr lang="en-US" altLang="ko-KR" sz="1000" b="1" dirty="0">
                <a:solidFill>
                  <a:srgbClr val="FF0000"/>
                </a:solidFill>
              </a:rPr>
              <a:t>, </a:t>
            </a:r>
            <a:r>
              <a:rPr lang="ko-KR" altLang="en-US" sz="1000" b="1" dirty="0">
                <a:solidFill>
                  <a:srgbClr val="FF0000"/>
                </a:solidFill>
              </a:rPr>
              <a:t>비번</a:t>
            </a:r>
            <a:r>
              <a:rPr lang="en-US" altLang="ko-KR" sz="1000" b="1" dirty="0">
                <a:solidFill>
                  <a:srgbClr val="FF0000"/>
                </a:solidFill>
              </a:rPr>
              <a:t>, </a:t>
            </a:r>
            <a:r>
              <a:rPr lang="ko-KR" altLang="en-US" sz="1000" b="1" dirty="0" err="1">
                <a:solidFill>
                  <a:srgbClr val="FF0000"/>
                </a:solidFill>
              </a:rPr>
              <a:t>이메일</a:t>
            </a:r>
            <a:r>
              <a:rPr lang="en-US" altLang="ko-KR" sz="1000" b="1" dirty="0">
                <a:solidFill>
                  <a:srgbClr val="FF0000"/>
                </a:solidFill>
              </a:rPr>
              <a:t>, </a:t>
            </a:r>
            <a:r>
              <a:rPr lang="ko-KR" altLang="en-US" sz="1000" b="1" dirty="0">
                <a:solidFill>
                  <a:srgbClr val="FF0000"/>
                </a:solidFill>
              </a:rPr>
              <a:t>전화번호</a:t>
            </a:r>
            <a:r>
              <a:rPr lang="en-US" altLang="ko-KR" sz="1000" b="1" dirty="0">
                <a:solidFill>
                  <a:srgbClr val="FF0000"/>
                </a:solidFill>
              </a:rPr>
              <a:t>,</a:t>
            </a:r>
            <a:br>
              <a:rPr lang="en-US" altLang="ko-KR" sz="1000" b="1" dirty="0">
                <a:solidFill>
                  <a:srgbClr val="FF0000"/>
                </a:solidFill>
              </a:rPr>
            </a:br>
            <a:r>
              <a:rPr lang="ko-KR" altLang="en-US" sz="1000" b="1" dirty="0">
                <a:solidFill>
                  <a:srgbClr val="FF0000"/>
                </a:solidFill>
              </a:rPr>
              <a:t>휴대폰번호</a:t>
            </a:r>
            <a:r>
              <a:rPr lang="en-US" altLang="ko-KR" sz="1000" b="1" dirty="0">
                <a:solidFill>
                  <a:srgbClr val="FF0000"/>
                </a:solidFill>
              </a:rPr>
              <a:t>)</a:t>
            </a:r>
          </a:p>
          <a:p>
            <a:br>
              <a:rPr lang="en-US" altLang="ko-KR" sz="1000" b="1" dirty="0">
                <a:solidFill>
                  <a:srgbClr val="FF0000"/>
                </a:solidFill>
              </a:rPr>
            </a:br>
            <a:r>
              <a:rPr lang="en-US" altLang="ko-KR" sz="1000" b="1" dirty="0">
                <a:solidFill>
                  <a:srgbClr val="FF0000"/>
                </a:solidFill>
              </a:rPr>
              <a:t>- </a:t>
            </a:r>
            <a:r>
              <a:rPr lang="ko-KR" altLang="en-US" sz="1000" b="1" dirty="0">
                <a:solidFill>
                  <a:srgbClr val="FF0000"/>
                </a:solidFill>
              </a:rPr>
              <a:t>생년월일 날짜 포맷 검증</a:t>
            </a:r>
            <a:br>
              <a:rPr lang="en-US" altLang="ko-KR" sz="1000" b="1" dirty="0">
                <a:solidFill>
                  <a:srgbClr val="FF0000"/>
                </a:solidFill>
              </a:rPr>
            </a:br>
            <a:endParaRPr lang="en-US" altLang="ko-KR" sz="1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704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787302" y="1503279"/>
            <a:ext cx="1498059" cy="2399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Main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177047" y="2383276"/>
            <a:ext cx="1498059" cy="2399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924783" y="2383275"/>
            <a:ext cx="1498059" cy="2399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계약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672519" y="2383274"/>
            <a:ext cx="1498059" cy="2399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현황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420255" y="2383273"/>
            <a:ext cx="1498059" cy="2399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서비스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177043" y="2850429"/>
            <a:ext cx="1498059" cy="2399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회원관리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177045" y="4179652"/>
            <a:ext cx="1498059" cy="2399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회사관리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177044" y="5068113"/>
            <a:ext cx="1498059" cy="2399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상담관리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420255" y="6348921"/>
            <a:ext cx="1498059" cy="2399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마음리지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98336" y="3145995"/>
            <a:ext cx="12554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회원관리</a:t>
            </a:r>
            <a:endParaRPr lang="en-US" altLang="ko-KR" sz="1000" dirty="0"/>
          </a:p>
          <a:p>
            <a:pPr algn="ctr"/>
            <a:r>
              <a:rPr lang="ko-KR" altLang="en-US" sz="1000" dirty="0"/>
              <a:t>그룹관리</a:t>
            </a:r>
            <a:endParaRPr lang="en-US" altLang="ko-KR" sz="1000" dirty="0"/>
          </a:p>
          <a:p>
            <a:pPr algn="ctr"/>
            <a:r>
              <a:rPr lang="ko-KR" altLang="en-US" sz="1000" dirty="0"/>
              <a:t>대량업로드</a:t>
            </a:r>
            <a:endParaRPr lang="en-US" altLang="ko-KR" sz="1000" dirty="0"/>
          </a:p>
          <a:p>
            <a:pPr algn="ctr"/>
            <a:r>
              <a:rPr lang="ko-KR" altLang="en-US" sz="1000" dirty="0"/>
              <a:t>회원정보 일괄수정</a:t>
            </a:r>
            <a:endParaRPr lang="en-US" altLang="ko-KR" sz="1000" dirty="0"/>
          </a:p>
          <a:p>
            <a:pPr algn="ctr"/>
            <a:r>
              <a:rPr lang="ko-KR" altLang="en-US" sz="1000" dirty="0"/>
              <a:t>가망고객관리</a:t>
            </a:r>
            <a:endParaRPr lang="en-US" altLang="ko-KR" sz="1000" dirty="0"/>
          </a:p>
          <a:p>
            <a:pPr algn="ctr"/>
            <a:r>
              <a:rPr lang="ko-KR" altLang="en-US" sz="1000" dirty="0"/>
              <a:t>커뮤니케이션관리</a:t>
            </a:r>
            <a:endParaRPr lang="en-US" altLang="ko-KR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1289446" y="4437595"/>
            <a:ext cx="125547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회사관리</a:t>
            </a:r>
            <a:endParaRPr lang="en-US" altLang="ko-KR" sz="1000" dirty="0"/>
          </a:p>
          <a:p>
            <a:pPr algn="ctr"/>
            <a:r>
              <a:rPr lang="ko-KR" altLang="en-US" sz="1000" dirty="0"/>
              <a:t>영업대표 일괄수정</a:t>
            </a:r>
            <a:endParaRPr lang="en-US" altLang="ko-KR" sz="1000" dirty="0"/>
          </a:p>
          <a:p>
            <a:pPr algn="ctr"/>
            <a:r>
              <a:rPr lang="ko-KR" altLang="en-US" sz="1000" dirty="0"/>
              <a:t>회사담당자</a:t>
            </a:r>
            <a:endParaRPr lang="en-US" altLang="ko-KR" sz="1000" dirty="0"/>
          </a:p>
        </p:txBody>
      </p:sp>
      <p:sp>
        <p:nvSpPr>
          <p:cNvPr id="14" name="직사각형 13"/>
          <p:cNvSpPr/>
          <p:nvPr/>
        </p:nvSpPr>
        <p:spPr>
          <a:xfrm>
            <a:off x="2924783" y="2850429"/>
            <a:ext cx="1498059" cy="2399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회사계약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2924785" y="4179652"/>
            <a:ext cx="1498059" cy="2399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매출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6310" y="3145995"/>
            <a:ext cx="143500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신규계약</a:t>
            </a:r>
            <a:endParaRPr lang="en-US" altLang="ko-KR" sz="1000" dirty="0"/>
          </a:p>
          <a:p>
            <a:pPr algn="ctr"/>
            <a:r>
              <a:rPr lang="ko-KR" altLang="en-US" sz="1000" dirty="0"/>
              <a:t>재계약</a:t>
            </a:r>
            <a:endParaRPr lang="en-US" altLang="ko-KR" sz="1000" dirty="0"/>
          </a:p>
          <a:p>
            <a:pPr algn="ctr"/>
            <a:r>
              <a:rPr lang="ko-KR" altLang="en-US" sz="1000" dirty="0"/>
              <a:t>승계</a:t>
            </a:r>
            <a:r>
              <a:rPr lang="en-US" altLang="ko-KR" sz="1000" dirty="0"/>
              <a:t>/</a:t>
            </a:r>
            <a:r>
              <a:rPr lang="ko-KR" altLang="en-US" sz="1000" dirty="0"/>
              <a:t>탈퇴 일괄업로드</a:t>
            </a:r>
            <a:endParaRPr lang="en-US" altLang="ko-KR" sz="1000" dirty="0"/>
          </a:p>
          <a:p>
            <a:pPr algn="ctr"/>
            <a:r>
              <a:rPr lang="ko-KR" altLang="en-US" sz="1000" dirty="0"/>
              <a:t>계약회원 대량업로드</a:t>
            </a:r>
            <a:endParaRPr lang="en-US" altLang="ko-KR" sz="1000" dirty="0"/>
          </a:p>
          <a:p>
            <a:pPr algn="ctr"/>
            <a:r>
              <a:rPr lang="ko-KR" altLang="en-US" sz="1000" dirty="0"/>
              <a:t>계약현황</a:t>
            </a:r>
            <a:endParaRPr lang="en-US" altLang="ko-KR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2959442" y="4437595"/>
            <a:ext cx="14109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매출현황</a:t>
            </a:r>
            <a:endParaRPr lang="en-US" altLang="ko-KR" sz="1000" dirty="0"/>
          </a:p>
          <a:p>
            <a:pPr algn="ctr"/>
            <a:r>
              <a:rPr lang="ko-KR" altLang="en-US" sz="1000" dirty="0"/>
              <a:t>정가 외 매출 관리</a:t>
            </a:r>
            <a:endParaRPr lang="en-US" altLang="ko-KR" sz="1000" dirty="0"/>
          </a:p>
          <a:p>
            <a:pPr algn="ctr"/>
            <a:r>
              <a:rPr lang="ko-KR" altLang="en-US" sz="1000" dirty="0"/>
              <a:t>매출 승인</a:t>
            </a:r>
            <a:r>
              <a:rPr lang="en-US" altLang="ko-KR" sz="700" dirty="0">
                <a:solidFill>
                  <a:srgbClr val="FF0000"/>
                </a:solidFill>
              </a:rPr>
              <a:t>(</a:t>
            </a:r>
            <a:r>
              <a:rPr lang="ko-KR" altLang="en-US" sz="700" dirty="0">
                <a:solidFill>
                  <a:srgbClr val="FF0000"/>
                </a:solidFill>
              </a:rPr>
              <a:t>권한 제어 필요</a:t>
            </a:r>
            <a:r>
              <a:rPr lang="en-US" altLang="ko-KR" sz="7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4672518" y="2850429"/>
            <a:ext cx="1498059" cy="2399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회원현항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672517" y="4360278"/>
            <a:ext cx="1498059" cy="2399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이용현황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8623" y="3127183"/>
            <a:ext cx="82586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요약</a:t>
            </a:r>
            <a:endParaRPr lang="en-US" altLang="ko-KR" sz="1000" dirty="0"/>
          </a:p>
          <a:p>
            <a:pPr algn="ctr"/>
            <a:r>
              <a:rPr lang="ko-KR" altLang="en-US" sz="1000" dirty="0"/>
              <a:t>전체현황</a:t>
            </a:r>
            <a:endParaRPr lang="en-US" altLang="ko-KR" sz="1000" dirty="0"/>
          </a:p>
          <a:p>
            <a:pPr algn="ctr"/>
            <a:r>
              <a:rPr lang="ko-KR" altLang="en-US" sz="1000" dirty="0" err="1"/>
              <a:t>계약구분별</a:t>
            </a:r>
            <a:endParaRPr lang="en-US" altLang="ko-KR" sz="1000" dirty="0"/>
          </a:p>
          <a:p>
            <a:pPr algn="ctr"/>
            <a:r>
              <a:rPr lang="ko-KR" altLang="en-US" sz="1000" dirty="0"/>
              <a:t>상품별</a:t>
            </a:r>
            <a:endParaRPr lang="en-US" altLang="ko-KR" sz="1000" dirty="0"/>
          </a:p>
          <a:p>
            <a:pPr algn="ctr"/>
            <a:r>
              <a:rPr lang="ko-KR" altLang="en-US" sz="1000" dirty="0"/>
              <a:t>서비스종료</a:t>
            </a:r>
            <a:endParaRPr lang="en-US" altLang="ko-KR" sz="1000" dirty="0"/>
          </a:p>
          <a:p>
            <a:pPr algn="ctr"/>
            <a:r>
              <a:rPr lang="ko-KR" altLang="en-US" sz="1000" dirty="0"/>
              <a:t>가망고객</a:t>
            </a:r>
            <a:endParaRPr lang="en-US" altLang="ko-KR" sz="1000" dirty="0"/>
          </a:p>
          <a:p>
            <a:pPr algn="ctr"/>
            <a:r>
              <a:rPr lang="ko-KR" altLang="en-US" sz="1000" dirty="0" err="1"/>
              <a:t>퍼미션</a:t>
            </a:r>
            <a:endParaRPr lang="en-US" altLang="ko-KR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4771380" y="4663771"/>
            <a:ext cx="130035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요약</a:t>
            </a:r>
            <a:endParaRPr lang="en-US" altLang="ko-KR" sz="1000" dirty="0"/>
          </a:p>
          <a:p>
            <a:pPr algn="ctr"/>
            <a:r>
              <a:rPr lang="ko-KR" altLang="en-US" sz="1000" dirty="0" err="1"/>
              <a:t>회원별</a:t>
            </a:r>
            <a:r>
              <a:rPr lang="ko-KR" altLang="en-US" sz="1000" dirty="0"/>
              <a:t> 이용현황</a:t>
            </a:r>
            <a:endParaRPr lang="en-US" altLang="ko-KR" sz="1000" dirty="0"/>
          </a:p>
          <a:p>
            <a:pPr algn="ctr"/>
            <a:r>
              <a:rPr lang="ko-KR" altLang="en-US" sz="1000" dirty="0"/>
              <a:t>이용현황 집계</a:t>
            </a:r>
            <a:endParaRPr lang="en-US" altLang="ko-KR" sz="1000" dirty="0"/>
          </a:p>
          <a:p>
            <a:pPr algn="ctr"/>
            <a:r>
              <a:rPr lang="ko-KR" altLang="en-US" sz="1000" dirty="0"/>
              <a:t>이용현황 교차 집계</a:t>
            </a:r>
            <a:endParaRPr lang="en-US" altLang="ko-KR" sz="1000" dirty="0"/>
          </a:p>
          <a:p>
            <a:pPr algn="ctr"/>
            <a:r>
              <a:rPr lang="ko-KR" altLang="en-US" sz="1000" dirty="0"/>
              <a:t>상세 시청내역</a:t>
            </a:r>
            <a:endParaRPr lang="en-US" altLang="ko-KR" sz="1000" dirty="0"/>
          </a:p>
          <a:p>
            <a:pPr algn="ctr"/>
            <a:r>
              <a:rPr lang="ko-KR" altLang="en-US" sz="1000" dirty="0"/>
              <a:t>서비스 참여현황</a:t>
            </a:r>
            <a:endParaRPr lang="en-US" altLang="ko-KR" sz="1000" dirty="0"/>
          </a:p>
          <a:p>
            <a:pPr algn="ctr"/>
            <a:r>
              <a:rPr lang="ko-KR" altLang="en-US" sz="1000" dirty="0"/>
              <a:t>클래스 참여현황</a:t>
            </a:r>
            <a:endParaRPr lang="en-US" altLang="ko-KR" sz="1000" dirty="0"/>
          </a:p>
        </p:txBody>
      </p:sp>
      <p:sp>
        <p:nvSpPr>
          <p:cNvPr id="28" name="직사각형 27"/>
          <p:cNvSpPr/>
          <p:nvPr/>
        </p:nvSpPr>
        <p:spPr>
          <a:xfrm>
            <a:off x="6429494" y="2850429"/>
            <a:ext cx="1498059" cy="2399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보고서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6429496" y="4179652"/>
            <a:ext cx="1498059" cy="2399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재계약 안내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6429495" y="5068113"/>
            <a:ext cx="1498059" cy="2399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메인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PC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인증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6429494" y="5856053"/>
            <a:ext cx="1498059" cy="2399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도서관리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1177043" y="5956574"/>
            <a:ext cx="1498059" cy="2399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0128" y="621451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이탈예상현황</a:t>
            </a:r>
            <a:endParaRPr lang="en-US" altLang="ko-KR" sz="1000" dirty="0"/>
          </a:p>
          <a:p>
            <a:pPr algn="ctr"/>
            <a:r>
              <a:rPr lang="ko-KR" altLang="en-US" sz="1000" dirty="0"/>
              <a:t>이탈기준관리</a:t>
            </a:r>
            <a:endParaRPr lang="en-US" altLang="ko-KR" sz="1000" dirty="0"/>
          </a:p>
        </p:txBody>
      </p:sp>
      <p:sp>
        <p:nvSpPr>
          <p:cNvPr id="33" name="직사각형 32"/>
          <p:cNvSpPr/>
          <p:nvPr/>
        </p:nvSpPr>
        <p:spPr>
          <a:xfrm>
            <a:off x="8842075" y="72853"/>
            <a:ext cx="3968151" cy="608634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메뉴 구성 수정</a:t>
            </a:r>
          </a:p>
        </p:txBody>
      </p:sp>
    </p:spTree>
    <p:extLst>
      <p:ext uri="{BB962C8B-B14F-4D97-AF65-F5344CB8AC3E}">
        <p14:creationId xmlns:p14="http://schemas.microsoft.com/office/powerpoint/2010/main" val="2698488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07822" y="33279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907822" y="73529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0604310" y="73529"/>
            <a:ext cx="151971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966300" y="591381"/>
            <a:ext cx="2157721" cy="621070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접속 메인 구성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Main &gt; Main(B2B)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8498" y="684646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□ 이용현황</a:t>
            </a:r>
            <a:endParaRPr lang="en-US" altLang="ko-KR" sz="1200" dirty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24970"/>
              </p:ext>
            </p:extLst>
          </p:nvPr>
        </p:nvGraphicFramePr>
        <p:xfrm>
          <a:off x="662502" y="1131027"/>
          <a:ext cx="5602111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3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유료회원</a:t>
                      </a:r>
                      <a:endParaRPr lang="en-US" altLang="ko-KR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전체회원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유료</a:t>
                      </a:r>
                      <a:r>
                        <a:rPr lang="en-US" altLang="ko-KR" sz="800" dirty="0"/>
                        <a:t>+</a:t>
                      </a:r>
                      <a:r>
                        <a:rPr lang="ko-KR" altLang="en-US" sz="800" dirty="0"/>
                        <a:t>무료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신규회원</a:t>
                      </a:r>
                      <a:endParaRPr lang="en-US" altLang="ko-KR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서비스종료회원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접속자수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접속률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00%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동영상시청자수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동영상시청률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00%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조회수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00,000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인당 조회수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000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이용시간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분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00,000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인당 이용시간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분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000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36073" y="2705527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□ 재계약현황</a:t>
            </a:r>
            <a:endParaRPr lang="en-US" altLang="ko-KR" sz="1200" dirty="0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54340"/>
              </p:ext>
            </p:extLst>
          </p:nvPr>
        </p:nvGraphicFramePr>
        <p:xfrm>
          <a:off x="668987" y="2982526"/>
          <a:ext cx="5595626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5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재계약 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baseline="0" dirty="0"/>
                        <a:t>명 중 </a:t>
                      </a:r>
                      <a:r>
                        <a:rPr lang="en-US" altLang="ko-KR" sz="800" u="sng" baseline="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baseline="0" dirty="0"/>
                        <a:t>명 완료</a:t>
                      </a:r>
                      <a:r>
                        <a:rPr lang="en-US" altLang="ko-KR" sz="800" baseline="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</a:t>
                      </a:r>
                      <a:r>
                        <a:rPr lang="ko-KR" altLang="en-US" sz="800"/>
                        <a:t>연간 재계약 </a:t>
                      </a:r>
                      <a:r>
                        <a:rPr lang="ko-KR" altLang="en-US" sz="800" dirty="0"/>
                        <a:t>현황</a:t>
                      </a:r>
                    </a:p>
                  </a:txBody>
                  <a:tcPr marL="36000" marR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00,000</a:t>
                      </a:r>
                      <a:r>
                        <a:rPr lang="ko-KR" altLang="en-US" sz="800" dirty="0"/>
                        <a:t>명 중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dirty="0"/>
                        <a:t>명 완료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accent1"/>
                          </a:solidFill>
                        </a:rPr>
                        <a:t>홍길동 </a:t>
                      </a:r>
                      <a:r>
                        <a:rPr lang="ko-KR" altLang="en-US" sz="800" dirty="0"/>
                        <a:t>재계약 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baseline="0" dirty="0"/>
                        <a:t>명 중 </a:t>
                      </a:r>
                      <a:r>
                        <a:rPr lang="en-US" altLang="ko-KR" sz="800" u="sng" baseline="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baseline="0" dirty="0"/>
                        <a:t>명 완료</a:t>
                      </a:r>
                      <a:r>
                        <a:rPr lang="en-US" altLang="ko-KR" sz="800" baseline="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accent1"/>
                          </a:solidFill>
                        </a:rPr>
                        <a:t>홍길동</a:t>
                      </a:r>
                      <a:r>
                        <a:rPr lang="ko-KR" altLang="en-US" sz="800" dirty="0"/>
                        <a:t> 연간 재계약 현황</a:t>
                      </a:r>
                    </a:p>
                  </a:txBody>
                  <a:tcPr marL="36000" marR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00,000</a:t>
                      </a:r>
                      <a:r>
                        <a:rPr lang="ko-KR" altLang="en-US" sz="800" dirty="0"/>
                        <a:t>명 중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dirty="0"/>
                        <a:t>명 완료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36073" y="5323023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□ 매출현황 </a:t>
            </a:r>
            <a:endParaRPr lang="en-US" altLang="ko-KR" sz="1200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61627"/>
              </p:ext>
            </p:extLst>
          </p:nvPr>
        </p:nvGraphicFramePr>
        <p:xfrm>
          <a:off x="662501" y="5792279"/>
          <a:ext cx="5602112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8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확정매출</a:t>
                      </a:r>
                      <a:r>
                        <a:rPr lang="ko-KR" altLang="en-US" sz="500" dirty="0"/>
                        <a:t> </a:t>
                      </a:r>
                      <a:r>
                        <a:rPr lang="en-US" altLang="ko-KR" sz="500" dirty="0"/>
                        <a:t>(MIS </a:t>
                      </a:r>
                      <a:r>
                        <a:rPr lang="ko-KR" altLang="en-US" sz="500" dirty="0"/>
                        <a:t>연동 완료</a:t>
                      </a:r>
                      <a:r>
                        <a:rPr lang="en-US" altLang="ko-KR" sz="500" dirty="0"/>
                        <a:t>)</a:t>
                      </a:r>
                      <a:endParaRPr lang="ko-KR" altLang="en-US" sz="5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미확정매출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500" dirty="0"/>
                        <a:t>(MIS </a:t>
                      </a:r>
                      <a:r>
                        <a:rPr lang="ko-KR" altLang="en-US" sz="500" dirty="0" err="1"/>
                        <a:t>미연동</a:t>
                      </a:r>
                      <a:r>
                        <a:rPr lang="en-US" altLang="ko-KR" sz="500" dirty="0"/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예상매출 </a:t>
                      </a:r>
                      <a:r>
                        <a:rPr lang="en-US" altLang="ko-KR" sz="500" dirty="0"/>
                        <a:t>(</a:t>
                      </a:r>
                      <a:r>
                        <a:rPr lang="ko-KR" altLang="en-US" sz="500" dirty="0"/>
                        <a:t>집계용</a:t>
                      </a:r>
                      <a:r>
                        <a:rPr lang="en-US" altLang="ko-KR" sz="500" dirty="0"/>
                        <a:t>)</a:t>
                      </a:r>
                      <a:endParaRPr lang="ko-KR" altLang="en-US" sz="5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635896"/>
              </p:ext>
            </p:extLst>
          </p:nvPr>
        </p:nvGraphicFramePr>
        <p:xfrm>
          <a:off x="668987" y="3706346"/>
          <a:ext cx="885634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8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7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1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1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9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9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571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no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아이디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 만료일 ▼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대상자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담당자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메모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/>
                        <a:t>법인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-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0000.00.00.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(+10)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sng" dirty="0"/>
                        <a:t>법인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온라인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-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0000.00.00. (+2)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sng" dirty="0"/>
                        <a:t>개인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test3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0000.00.00.(-3)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sng" dirty="0"/>
                        <a:t>개인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test4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이순신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0000.00.00.(-11)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sng" dirty="0"/>
                        <a:t>법인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매거진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-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0000.00.00.(-12)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1254" y="3490226"/>
            <a:ext cx="20008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○ 전체   ● 영업대표                     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794839" y="3527231"/>
            <a:ext cx="680936" cy="123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홍길동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668985" y="951188"/>
            <a:ext cx="518260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249088" y="951189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692797" y="951188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520406" y="3527231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080061"/>
              </p:ext>
            </p:extLst>
          </p:nvPr>
        </p:nvGraphicFramePr>
        <p:xfrm>
          <a:off x="6440701" y="1125189"/>
          <a:ext cx="3172764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3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정회원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온라인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매거진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월회원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리움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프리미엄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9" name="직사각형 28"/>
          <p:cNvSpPr/>
          <p:nvPr/>
        </p:nvSpPr>
        <p:spPr>
          <a:xfrm>
            <a:off x="662501" y="5600022"/>
            <a:ext cx="518260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242604" y="5600023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686313" y="5600022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9525325" y="3705670"/>
            <a:ext cx="59853" cy="103778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628318" y="4999857"/>
            <a:ext cx="8168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Total 000</a:t>
            </a:r>
            <a:endParaRPr lang="ko-KR" altLang="en-US" sz="800" dirty="0"/>
          </a:p>
        </p:txBody>
      </p:sp>
      <p:sp>
        <p:nvSpPr>
          <p:cNvPr id="21" name="직사각형 20"/>
          <p:cNvSpPr/>
          <p:nvPr/>
        </p:nvSpPr>
        <p:spPr>
          <a:xfrm>
            <a:off x="6391082" y="1076415"/>
            <a:ext cx="308033" cy="1687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50312" y="136518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3227494" y="136518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49619" y="156757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3226801" y="1567577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443134" y="178968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5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220316" y="178967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6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442441" y="199206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7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219623" y="199206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8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48213" y="2220493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9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3225395" y="222049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10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47520" y="242288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224702" y="242288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953340" y="591381"/>
            <a:ext cx="2481770" cy="643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유료 회원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현재 기준 서비스</a:t>
            </a:r>
            <a:r>
              <a:rPr lang="en-US" altLang="ko-KR" sz="800" dirty="0"/>
              <a:t>Y</a:t>
            </a:r>
            <a:r>
              <a:rPr lang="ko-KR" altLang="en-US" sz="800" dirty="0"/>
              <a:t>인 유료회원 전체</a:t>
            </a:r>
            <a:endParaRPr lang="en-US" altLang="ko-KR" sz="800" dirty="0"/>
          </a:p>
          <a:p>
            <a:r>
              <a:rPr lang="ko-KR" altLang="en-US" sz="800" dirty="0"/>
              <a:t>클릭 시 유료회원 상세 조회 화면 팝업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[1-1] </a:t>
            </a:r>
            <a:r>
              <a:rPr lang="ko-KR" altLang="en-US" sz="1000" b="1" dirty="0">
                <a:solidFill>
                  <a:srgbClr val="00B0F0"/>
                </a:solidFill>
              </a:rPr>
              <a:t>유료회원 현황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유료회원을 항목별로 구분하여 조회</a:t>
            </a:r>
            <a:endParaRPr lang="en-US" altLang="ko-KR" sz="800" dirty="0"/>
          </a:p>
          <a:p>
            <a:r>
              <a:rPr lang="ko-KR" altLang="en-US" sz="800" dirty="0"/>
              <a:t>클릭 시 항목별 상세 조회 화면 팝업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회원 구분 순서</a:t>
            </a:r>
            <a:r>
              <a:rPr lang="en-US" altLang="ko-KR" sz="800" dirty="0"/>
              <a:t> </a:t>
            </a:r>
            <a:r>
              <a:rPr lang="ko-KR" altLang="en-US" sz="800" dirty="0"/>
              <a:t>반드시 지켜주세요</a:t>
            </a:r>
            <a:r>
              <a:rPr lang="en-US" altLang="ko-KR" sz="800" dirty="0"/>
              <a:t>/</a:t>
            </a:r>
            <a:r>
              <a:rPr lang="ko-KR" altLang="en-US" sz="800" dirty="0"/>
              <a:t>이후 공통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전체 회원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현재 기준 서비스</a:t>
            </a:r>
            <a:r>
              <a:rPr lang="en-US" altLang="ko-KR" sz="800" dirty="0"/>
              <a:t>Y</a:t>
            </a:r>
            <a:r>
              <a:rPr lang="ko-KR" altLang="en-US" sz="800" dirty="0"/>
              <a:t>인 유료</a:t>
            </a:r>
            <a:r>
              <a:rPr lang="en-US" altLang="ko-KR" sz="800" dirty="0"/>
              <a:t>+</a:t>
            </a:r>
            <a:r>
              <a:rPr lang="ko-KR" altLang="en-US" sz="800" dirty="0"/>
              <a:t>무료회원 전체</a:t>
            </a:r>
            <a:endParaRPr lang="en-US" altLang="ko-KR" sz="800" dirty="0"/>
          </a:p>
          <a:p>
            <a:r>
              <a:rPr lang="ko-KR" altLang="en-US" sz="800" dirty="0"/>
              <a:t>클릭 시 전체 상세 조회 화면 팝업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신규 회원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해당 월 신규 </a:t>
            </a:r>
            <a:r>
              <a:rPr lang="ko-KR" altLang="en-US" sz="800" dirty="0" err="1"/>
              <a:t>유료회원수</a:t>
            </a:r>
            <a:r>
              <a:rPr lang="ko-KR" altLang="en-US" sz="800" dirty="0"/>
              <a:t> </a:t>
            </a:r>
            <a:r>
              <a:rPr lang="en-US" altLang="ko-KR" sz="800" dirty="0"/>
              <a:t>(</a:t>
            </a:r>
            <a:r>
              <a:rPr lang="ko-KR" altLang="en-US" sz="800" dirty="0"/>
              <a:t>전월 대비 증감</a:t>
            </a:r>
            <a:r>
              <a:rPr lang="en-US" altLang="ko-KR" sz="800" dirty="0"/>
              <a:t>)</a:t>
            </a:r>
          </a:p>
          <a:p>
            <a:r>
              <a:rPr lang="ko-KR" altLang="en-US" sz="800" dirty="0"/>
              <a:t>클릭 시 신규 상세 조회 화면 팝업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/>
              <a:t>서비스 시작일</a:t>
            </a:r>
            <a:r>
              <a:rPr lang="en-US" altLang="ko-KR" sz="800" dirty="0"/>
              <a:t>)</a:t>
            </a:r>
            <a:endParaRPr lang="ko-KR" altLang="en-US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>
                <a:solidFill>
                  <a:srgbClr val="00B0F0"/>
                </a:solidFill>
              </a:rPr>
              <a:t>서비스종료 회원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해당 월 서비스종료 </a:t>
            </a:r>
            <a:r>
              <a:rPr lang="ko-KR" altLang="en-US" sz="800" dirty="0" err="1"/>
              <a:t>유료회원수</a:t>
            </a:r>
            <a:r>
              <a:rPr lang="ko-KR" altLang="en-US" sz="800" dirty="0"/>
              <a:t> </a:t>
            </a:r>
            <a:r>
              <a:rPr lang="en-US" altLang="ko-KR" sz="800" dirty="0"/>
              <a:t>(</a:t>
            </a:r>
            <a:r>
              <a:rPr lang="ko-KR" altLang="en-US" sz="800" dirty="0"/>
              <a:t>전월 대비 증감</a:t>
            </a:r>
            <a:r>
              <a:rPr lang="en-US" altLang="ko-KR" sz="800" dirty="0"/>
              <a:t>)</a:t>
            </a:r>
          </a:p>
          <a:p>
            <a:r>
              <a:rPr lang="ko-KR" altLang="en-US" sz="800" dirty="0"/>
              <a:t>클릭 시 탈퇴 상세 조회 화면 팝업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[5] </a:t>
            </a:r>
            <a:r>
              <a:rPr lang="ko-KR" altLang="en-US" sz="1000" b="1" dirty="0">
                <a:solidFill>
                  <a:srgbClr val="00B0F0"/>
                </a:solidFill>
              </a:rPr>
              <a:t>접속자수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해당 월 </a:t>
            </a:r>
            <a:r>
              <a:rPr lang="en-US" altLang="ko-KR" sz="800" dirty="0"/>
              <a:t>1</a:t>
            </a:r>
            <a:r>
              <a:rPr lang="ko-KR" altLang="en-US" sz="800" dirty="0"/>
              <a:t>회 이상 로그인한 </a:t>
            </a:r>
            <a:r>
              <a:rPr lang="ko-KR" altLang="en-US" sz="800" dirty="0" err="1"/>
              <a:t>유료회원수</a:t>
            </a:r>
            <a:endParaRPr lang="en-US" altLang="ko-KR" sz="800" dirty="0"/>
          </a:p>
          <a:p>
            <a:r>
              <a:rPr lang="ko-KR" altLang="en-US" sz="800" dirty="0"/>
              <a:t>클릭 시 </a:t>
            </a:r>
            <a:r>
              <a:rPr lang="ko-KR" altLang="en-US" sz="800" dirty="0" err="1"/>
              <a:t>접속자</a:t>
            </a:r>
            <a:r>
              <a:rPr lang="ko-KR" altLang="en-US" sz="800" dirty="0"/>
              <a:t> 상세 조회 화면 팝업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[6] </a:t>
            </a:r>
            <a:r>
              <a:rPr lang="ko-KR" altLang="en-US" sz="1000" b="1" dirty="0">
                <a:solidFill>
                  <a:srgbClr val="00B0F0"/>
                </a:solidFill>
              </a:rPr>
              <a:t>접속률</a:t>
            </a:r>
            <a:r>
              <a:rPr lang="en-US" altLang="ko-KR" sz="1000" b="1" dirty="0">
                <a:solidFill>
                  <a:srgbClr val="00B0F0"/>
                </a:solidFill>
              </a:rPr>
              <a:t>(%)</a:t>
            </a:r>
          </a:p>
          <a:p>
            <a:r>
              <a:rPr lang="en-US" altLang="ko-KR" sz="800" dirty="0"/>
              <a:t>  [5] </a:t>
            </a:r>
            <a:r>
              <a:rPr lang="ko-KR" altLang="en-US" sz="800" dirty="0"/>
              <a:t>접속자수</a:t>
            </a:r>
            <a:r>
              <a:rPr lang="en-US" altLang="ko-KR" sz="800" dirty="0"/>
              <a:t> / [1] </a:t>
            </a:r>
            <a:r>
              <a:rPr lang="ko-KR" altLang="en-US" sz="800" dirty="0"/>
              <a:t>유료회원</a:t>
            </a:r>
            <a:r>
              <a:rPr lang="en-US" altLang="ko-KR" sz="800" dirty="0"/>
              <a:t>*100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[7] </a:t>
            </a:r>
            <a:r>
              <a:rPr lang="ko-KR" altLang="en-US" sz="1000" b="1" dirty="0">
                <a:solidFill>
                  <a:srgbClr val="00B0F0"/>
                </a:solidFill>
              </a:rPr>
              <a:t>동영상 시청자수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해당 월 동영상 </a:t>
            </a:r>
            <a:r>
              <a:rPr lang="en-US" altLang="ko-KR" sz="800" dirty="0"/>
              <a:t>1</a:t>
            </a:r>
            <a:r>
              <a:rPr lang="ko-KR" altLang="en-US" sz="800" dirty="0"/>
              <a:t>편 이상 학습한 </a:t>
            </a:r>
            <a:r>
              <a:rPr lang="ko-KR" altLang="en-US" sz="800" dirty="0" err="1"/>
              <a:t>유료회원수</a:t>
            </a:r>
            <a:endParaRPr lang="en-US" altLang="ko-KR" sz="800" dirty="0"/>
          </a:p>
          <a:p>
            <a:r>
              <a:rPr lang="ko-KR" altLang="en-US" sz="800" dirty="0"/>
              <a:t>클릭 시 시청자 상세 조회 화면 팝업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[8] </a:t>
            </a:r>
            <a:r>
              <a:rPr lang="ko-KR" altLang="en-US" sz="1000" b="1" dirty="0">
                <a:solidFill>
                  <a:srgbClr val="00B0F0"/>
                </a:solidFill>
              </a:rPr>
              <a:t>동영상시청률</a:t>
            </a:r>
            <a:r>
              <a:rPr lang="en-US" altLang="ko-KR" sz="1000" b="1" dirty="0">
                <a:solidFill>
                  <a:srgbClr val="00B0F0"/>
                </a:solidFill>
              </a:rPr>
              <a:t>(%)</a:t>
            </a:r>
            <a:endParaRPr lang="en-US" altLang="ko-KR" sz="1100" b="1" dirty="0">
              <a:solidFill>
                <a:srgbClr val="00B0F0"/>
              </a:solidFill>
            </a:endParaRPr>
          </a:p>
          <a:p>
            <a:r>
              <a:rPr lang="en-US" altLang="ko-KR" sz="1000" dirty="0"/>
              <a:t>  </a:t>
            </a:r>
            <a:r>
              <a:rPr lang="en-US" altLang="ko-KR" sz="800" dirty="0"/>
              <a:t>[7] </a:t>
            </a:r>
            <a:r>
              <a:rPr lang="ko-KR" altLang="en-US" sz="800" dirty="0"/>
              <a:t>동영상시청자수</a:t>
            </a:r>
            <a:r>
              <a:rPr lang="en-US" altLang="ko-KR" sz="800" dirty="0"/>
              <a:t> / [5] </a:t>
            </a:r>
            <a:r>
              <a:rPr lang="ko-KR" altLang="en-US" sz="800" dirty="0"/>
              <a:t>접속자수</a:t>
            </a:r>
            <a:r>
              <a:rPr lang="en-US" altLang="ko-KR" sz="800" dirty="0"/>
              <a:t>*100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[9] </a:t>
            </a:r>
            <a:r>
              <a:rPr lang="ko-KR" altLang="en-US" sz="1000" b="1" dirty="0">
                <a:solidFill>
                  <a:srgbClr val="00B0F0"/>
                </a:solidFill>
              </a:rPr>
              <a:t>전체조회수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/>
              <a:t>[7] </a:t>
            </a:r>
            <a:r>
              <a:rPr lang="ko-KR" altLang="en-US" sz="800" dirty="0"/>
              <a:t>동영상시청자가 조회한 </a:t>
            </a:r>
            <a:r>
              <a:rPr lang="ko-KR" altLang="en-US" sz="800" dirty="0" err="1"/>
              <a:t>콘텐츠수</a:t>
            </a:r>
            <a:r>
              <a:rPr lang="en-US" altLang="ko-KR" sz="800" dirty="0"/>
              <a:t>(</a:t>
            </a:r>
            <a:r>
              <a:rPr lang="ko-KR" altLang="en-US" sz="800" dirty="0"/>
              <a:t>중복포함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[10] 1</a:t>
            </a:r>
            <a:r>
              <a:rPr lang="ko-KR" altLang="en-US" sz="1000" b="1" dirty="0">
                <a:solidFill>
                  <a:srgbClr val="00B0F0"/>
                </a:solidFill>
              </a:rPr>
              <a:t>인당 조회수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/>
              <a:t>[9] </a:t>
            </a:r>
            <a:r>
              <a:rPr lang="ko-KR" altLang="en-US" sz="800" dirty="0"/>
              <a:t>전체조회수 </a:t>
            </a:r>
            <a:r>
              <a:rPr lang="en-US" altLang="ko-KR" sz="800" dirty="0"/>
              <a:t>(</a:t>
            </a:r>
            <a:r>
              <a:rPr lang="ko-KR" altLang="en-US" sz="800" dirty="0"/>
              <a:t>나누기</a:t>
            </a:r>
            <a:r>
              <a:rPr lang="en-US" altLang="ko-KR" sz="800" dirty="0"/>
              <a:t>) [7] </a:t>
            </a:r>
            <a:r>
              <a:rPr lang="ko-KR" altLang="en-US" sz="800" dirty="0"/>
              <a:t>동영상 시청자수 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[11] </a:t>
            </a:r>
            <a:r>
              <a:rPr lang="ko-KR" altLang="en-US" sz="1000" b="1" dirty="0">
                <a:solidFill>
                  <a:srgbClr val="00B0F0"/>
                </a:solidFill>
              </a:rPr>
              <a:t>전체 이용시간</a:t>
            </a:r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분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r>
              <a:rPr lang="en-US" altLang="ko-KR" sz="800" dirty="0"/>
              <a:t>[7] </a:t>
            </a:r>
            <a:r>
              <a:rPr lang="ko-KR" altLang="en-US" sz="800" dirty="0"/>
              <a:t>동영상시청자의 전체 이용시간</a:t>
            </a:r>
            <a:r>
              <a:rPr lang="en-US" altLang="ko-KR" sz="800" dirty="0"/>
              <a:t>(</a:t>
            </a:r>
            <a:r>
              <a:rPr lang="ko-KR" altLang="en-US" sz="800" dirty="0"/>
              <a:t>중복포함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[12] 1</a:t>
            </a:r>
            <a:r>
              <a:rPr lang="ko-KR" altLang="en-US" sz="1000" b="1" dirty="0">
                <a:solidFill>
                  <a:srgbClr val="00B0F0"/>
                </a:solidFill>
              </a:rPr>
              <a:t>인당 이용시간</a:t>
            </a:r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분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r>
              <a:rPr lang="en-US" altLang="ko-KR" sz="800" dirty="0"/>
              <a:t> [11] </a:t>
            </a:r>
            <a:r>
              <a:rPr lang="ko-KR" altLang="en-US" sz="800" dirty="0"/>
              <a:t>전체 이용시간 </a:t>
            </a:r>
            <a:r>
              <a:rPr lang="en-US" altLang="ko-KR" sz="800" dirty="0"/>
              <a:t>(</a:t>
            </a:r>
            <a:r>
              <a:rPr lang="ko-KR" altLang="en-US" sz="800" dirty="0"/>
              <a:t>나누기</a:t>
            </a:r>
            <a:r>
              <a:rPr lang="en-US" altLang="ko-KR" sz="800" dirty="0"/>
              <a:t>) [7] </a:t>
            </a:r>
            <a:r>
              <a:rPr lang="ko-KR" altLang="en-US" sz="800" dirty="0"/>
              <a:t>동영상 시청자수 </a:t>
            </a:r>
          </a:p>
          <a:p>
            <a:endParaRPr lang="ko-KR" altLang="en-US" sz="800" dirty="0"/>
          </a:p>
        </p:txBody>
      </p: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21044"/>
              </p:ext>
            </p:extLst>
          </p:nvPr>
        </p:nvGraphicFramePr>
        <p:xfrm>
          <a:off x="6492993" y="2982526"/>
          <a:ext cx="309218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9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350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rgbClr val="00B0F0"/>
                          </a:solidFill>
                        </a:rPr>
                        <a:t>홍길동</a:t>
                      </a:r>
                      <a:endParaRPr lang="en-US" altLang="ko-KR" sz="800" dirty="0">
                        <a:solidFill>
                          <a:srgbClr val="00B0F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800" dirty="0"/>
                        <a:t>재계약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현황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dirty="0"/>
                        <a:t>개 중 </a:t>
                      </a: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</a:t>
                      </a:r>
                      <a:r>
                        <a:rPr lang="ko-KR" altLang="en-US" sz="800" dirty="0"/>
                        <a:t>개 완료 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dirty="0"/>
                        <a:t>명 중 </a:t>
                      </a: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</a:t>
                      </a:r>
                      <a:r>
                        <a:rPr lang="ko-KR" altLang="en-US" sz="800" dirty="0"/>
                        <a:t>명 완료 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366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07822" y="33279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907822" y="73529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0604310" y="73529"/>
            <a:ext cx="151971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966300" y="591381"/>
            <a:ext cx="2157721" cy="621070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접속 메인 구성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Main &gt; Main(B2B)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8498" y="684646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□ 이용현황</a:t>
            </a:r>
            <a:endParaRPr lang="en-US" altLang="ko-KR" sz="1200" dirty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662502" y="1131027"/>
          <a:ext cx="5602111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3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유료회원</a:t>
                      </a:r>
                      <a:endParaRPr lang="en-US" altLang="ko-KR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전체회원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유료</a:t>
                      </a:r>
                      <a:r>
                        <a:rPr lang="en-US" altLang="ko-KR" sz="800" dirty="0"/>
                        <a:t>+</a:t>
                      </a:r>
                      <a:r>
                        <a:rPr lang="ko-KR" altLang="en-US" sz="800" dirty="0"/>
                        <a:t>무료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신규회원</a:t>
                      </a:r>
                      <a:endParaRPr lang="en-US" altLang="ko-KR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서비스종료회원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접속자수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접속률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동영상시청자수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동영상시청률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조회수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인당 조회수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이용시간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분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인당 이용시간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분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36073" y="2705527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□ 재계약현황</a:t>
            </a:r>
            <a:endParaRPr lang="en-US" altLang="ko-KR" sz="1200" dirty="0"/>
          </a:p>
        </p:txBody>
      </p:sp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668987" y="2982526"/>
          <a:ext cx="5595626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5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재계약 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baseline="0" dirty="0"/>
                        <a:t>명 중 </a:t>
                      </a:r>
                      <a:r>
                        <a:rPr lang="en-US" altLang="ko-KR" sz="800" u="sng" baseline="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baseline="0" dirty="0"/>
                        <a:t>명 완료</a:t>
                      </a:r>
                      <a:r>
                        <a:rPr lang="en-US" altLang="ko-KR" sz="800" baseline="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</a:t>
                      </a:r>
                      <a:r>
                        <a:rPr lang="ko-KR" altLang="en-US" sz="800"/>
                        <a:t>연간 재계약 </a:t>
                      </a:r>
                      <a:r>
                        <a:rPr lang="ko-KR" altLang="en-US" sz="800" dirty="0"/>
                        <a:t>현황</a:t>
                      </a:r>
                    </a:p>
                  </a:txBody>
                  <a:tcPr marL="36000" marR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00,000</a:t>
                      </a:r>
                      <a:r>
                        <a:rPr lang="ko-KR" altLang="en-US" sz="800" dirty="0"/>
                        <a:t>명 중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dirty="0"/>
                        <a:t>명 완료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/>
                        <a:t>담당 재계약 </a:t>
                      </a:r>
                      <a:r>
                        <a:rPr lang="ko-KR" altLang="en-US" sz="800" dirty="0"/>
                        <a:t>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baseline="0" dirty="0"/>
                        <a:t>명 중 </a:t>
                      </a:r>
                      <a:r>
                        <a:rPr lang="en-US" altLang="ko-KR" sz="800" u="sng" baseline="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baseline="0" dirty="0"/>
                        <a:t>명 완료</a:t>
                      </a:r>
                      <a:r>
                        <a:rPr lang="en-US" altLang="ko-KR" sz="800" baseline="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담당 </a:t>
                      </a:r>
                      <a:r>
                        <a:rPr lang="ko-KR" altLang="en-US" sz="800"/>
                        <a:t>연간 재계약 </a:t>
                      </a:r>
                      <a:r>
                        <a:rPr lang="ko-KR" altLang="en-US" sz="800" dirty="0"/>
                        <a:t>현황</a:t>
                      </a:r>
                    </a:p>
                  </a:txBody>
                  <a:tcPr marL="36000" marR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00,000</a:t>
                      </a:r>
                      <a:r>
                        <a:rPr lang="ko-KR" altLang="en-US" sz="800" dirty="0"/>
                        <a:t>명 중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dirty="0"/>
                        <a:t>명 완료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36073" y="5323023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□ 매출현황 </a:t>
            </a:r>
            <a:endParaRPr lang="en-US" altLang="ko-KR" sz="1200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/>
        </p:nvGraphicFramePr>
        <p:xfrm>
          <a:off x="662501" y="5792279"/>
          <a:ext cx="5602112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8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확정매출</a:t>
                      </a:r>
                      <a:r>
                        <a:rPr lang="ko-KR" altLang="en-US" sz="500" dirty="0"/>
                        <a:t> </a:t>
                      </a:r>
                      <a:r>
                        <a:rPr lang="en-US" altLang="ko-KR" sz="500" dirty="0"/>
                        <a:t>(MIS </a:t>
                      </a:r>
                      <a:r>
                        <a:rPr lang="ko-KR" altLang="en-US" sz="500" dirty="0"/>
                        <a:t>연동 완료</a:t>
                      </a:r>
                      <a:r>
                        <a:rPr lang="en-US" altLang="ko-KR" sz="500" dirty="0"/>
                        <a:t>)</a:t>
                      </a:r>
                      <a:endParaRPr lang="ko-KR" altLang="en-US" sz="5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미확정매출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500" dirty="0"/>
                        <a:t>(MIS </a:t>
                      </a:r>
                      <a:r>
                        <a:rPr lang="ko-KR" altLang="en-US" sz="500" dirty="0" err="1"/>
                        <a:t>미연동</a:t>
                      </a:r>
                      <a:r>
                        <a:rPr lang="en-US" altLang="ko-KR" sz="500" dirty="0"/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예상매출 </a:t>
                      </a:r>
                      <a:r>
                        <a:rPr lang="en-US" altLang="ko-KR" sz="500" dirty="0"/>
                        <a:t>(</a:t>
                      </a:r>
                      <a:r>
                        <a:rPr lang="ko-KR" altLang="en-US" sz="500" dirty="0"/>
                        <a:t>집계용</a:t>
                      </a:r>
                      <a:r>
                        <a:rPr lang="en-US" altLang="ko-KR" sz="500" dirty="0"/>
                        <a:t>)</a:t>
                      </a:r>
                      <a:endParaRPr lang="ko-KR" altLang="en-US" sz="5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/>
        </p:nvGraphicFramePr>
        <p:xfrm>
          <a:off x="668987" y="3706346"/>
          <a:ext cx="8856339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93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65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9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99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793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no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아이디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법인명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/>
                        <a:t>계약 </a:t>
                      </a:r>
                      <a:r>
                        <a:rPr lang="ko-KR" altLang="en-US" sz="800" dirty="0"/>
                        <a:t>만료일 ▼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대상자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담당자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메모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/>
                        <a:t>법인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-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0000.00.00.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(+10)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sng" dirty="0"/>
                        <a:t>법인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온라인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-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0000.00.00. (+2)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sng" dirty="0"/>
                        <a:t>개인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test3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0000.00.00.(-3)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sng" dirty="0"/>
                        <a:t>개인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test4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이순신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0000.00.00.(-11)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sng" dirty="0"/>
                        <a:t>법인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매거진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-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0000.00.00.(-12)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1254" y="3490226"/>
            <a:ext cx="17956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○ 전체   ● 담당                     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587319" y="3527231"/>
            <a:ext cx="680936" cy="123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홍길동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668985" y="951188"/>
            <a:ext cx="518260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249088" y="951189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692797" y="951188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312886" y="3527231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graphicFrame>
        <p:nvGraphicFramePr>
          <p:cNvPr id="24" name="표 23"/>
          <p:cNvGraphicFramePr>
            <a:graphicFrameLocks noGrp="1"/>
          </p:cNvGraphicFramePr>
          <p:nvPr/>
        </p:nvGraphicFramePr>
        <p:xfrm>
          <a:off x="6440701" y="1125189"/>
          <a:ext cx="3172764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3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정회원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프리미엄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리움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온라인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매거진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" name="직사각형 28"/>
          <p:cNvSpPr/>
          <p:nvPr/>
        </p:nvSpPr>
        <p:spPr>
          <a:xfrm>
            <a:off x="662501" y="5600022"/>
            <a:ext cx="518260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242604" y="5600023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686313" y="5600022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9525325" y="3705670"/>
            <a:ext cx="59853" cy="103778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628318" y="4999857"/>
            <a:ext cx="8168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Total 000</a:t>
            </a:r>
            <a:endParaRPr lang="ko-KR" altLang="en-US" sz="800" dirty="0"/>
          </a:p>
        </p:txBody>
      </p:sp>
      <p:sp>
        <p:nvSpPr>
          <p:cNvPr id="21" name="직사각형 20"/>
          <p:cNvSpPr/>
          <p:nvPr/>
        </p:nvSpPr>
        <p:spPr>
          <a:xfrm>
            <a:off x="6391082" y="1076415"/>
            <a:ext cx="308033" cy="1687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3227494" y="136518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3226801" y="1567577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220316" y="178967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6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219623" y="199206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8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3225395" y="222049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10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224702" y="242288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graphicFrame>
        <p:nvGraphicFramePr>
          <p:cNvPr id="53" name="표 52"/>
          <p:cNvGraphicFramePr>
            <a:graphicFrameLocks noGrp="1"/>
          </p:cNvGraphicFramePr>
          <p:nvPr/>
        </p:nvGraphicFramePr>
        <p:xfrm>
          <a:off x="6492993" y="2982526"/>
          <a:ext cx="309218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9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350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담당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dirty="0"/>
                        <a:t>개 중 </a:t>
                      </a: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</a:t>
                      </a:r>
                      <a:r>
                        <a:rPr lang="ko-KR" altLang="en-US" sz="800" dirty="0"/>
                        <a:t>개 완료 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dirty="0"/>
                        <a:t>명 중 </a:t>
                      </a: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</a:t>
                      </a:r>
                      <a:r>
                        <a:rPr lang="ko-KR" altLang="en-US" sz="800" dirty="0"/>
                        <a:t>명 완료 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9953340" y="591381"/>
            <a:ext cx="1819729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서비스</a:t>
            </a:r>
            <a:r>
              <a:rPr lang="en-US" altLang="ko-KR" sz="1000" b="1" dirty="0">
                <a:solidFill>
                  <a:srgbClr val="00B0F0"/>
                </a:solidFill>
              </a:rPr>
              <a:t>, </a:t>
            </a:r>
            <a:r>
              <a:rPr lang="ko-KR" altLang="en-US" sz="1000" b="1" dirty="0">
                <a:solidFill>
                  <a:srgbClr val="00B0F0"/>
                </a:solidFill>
              </a:rPr>
              <a:t>전체</a:t>
            </a:r>
            <a:r>
              <a:rPr lang="en-US" altLang="ko-KR" sz="1000" b="1" dirty="0">
                <a:solidFill>
                  <a:srgbClr val="00B0F0"/>
                </a:solidFill>
              </a:rPr>
              <a:t>, </a:t>
            </a:r>
            <a:r>
              <a:rPr lang="ko-KR" altLang="en-US" sz="1000" b="1" dirty="0">
                <a:solidFill>
                  <a:srgbClr val="00B0F0"/>
                </a:solidFill>
              </a:rPr>
              <a:t>신규</a:t>
            </a:r>
            <a:r>
              <a:rPr lang="en-US" altLang="ko-KR" sz="1000" b="1" dirty="0">
                <a:solidFill>
                  <a:srgbClr val="00B0F0"/>
                </a:solidFill>
              </a:rPr>
              <a:t>, </a:t>
            </a:r>
          </a:p>
          <a:p>
            <a:r>
              <a:rPr lang="en-US" altLang="ko-KR" sz="1000" b="1" dirty="0">
                <a:solidFill>
                  <a:srgbClr val="00B0F0"/>
                </a:solidFill>
              </a:rPr>
              <a:t>  </a:t>
            </a:r>
            <a:r>
              <a:rPr lang="ko-KR" altLang="en-US" sz="1000" b="1" dirty="0">
                <a:solidFill>
                  <a:srgbClr val="00B0F0"/>
                </a:solidFill>
              </a:rPr>
              <a:t>서비스 종료회원</a:t>
            </a:r>
            <a:r>
              <a:rPr lang="en-US" altLang="ko-KR" sz="1000" b="1" dirty="0">
                <a:solidFill>
                  <a:srgbClr val="00B0F0"/>
                </a:solidFill>
              </a:rPr>
              <a:t>,</a:t>
            </a:r>
          </a:p>
          <a:p>
            <a:r>
              <a:rPr lang="ko-KR" altLang="en-US" sz="1000" b="1" dirty="0">
                <a:solidFill>
                  <a:srgbClr val="00B0F0"/>
                </a:solidFill>
              </a:rPr>
              <a:t>  회원구분별 현황 상세 팝업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ko-KR" altLang="en-US" sz="800" dirty="0"/>
          </a:p>
          <a:p>
            <a:endParaRPr lang="ko-KR" altLang="en-US" sz="800" dirty="0"/>
          </a:p>
        </p:txBody>
      </p:sp>
      <p:sp>
        <p:nvSpPr>
          <p:cNvPr id="42" name="직사각형 41"/>
          <p:cNvSpPr/>
          <p:nvPr/>
        </p:nvSpPr>
        <p:spPr>
          <a:xfrm>
            <a:off x="2551909" y="814986"/>
            <a:ext cx="6850770" cy="578136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646301" y="1259930"/>
            <a:ext cx="1760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회원현황</a:t>
            </a:r>
            <a:r>
              <a:rPr lang="en-US" altLang="ko-KR" sz="1200" dirty="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YYYY.MM  </a:t>
            </a:r>
            <a:r>
              <a:rPr lang="ko-KR" altLang="en-US" sz="1200" dirty="0"/>
              <a:t>총 </a:t>
            </a:r>
            <a:r>
              <a:rPr lang="en-US" altLang="ko-KR" sz="1200" dirty="0"/>
              <a:t>00,000</a:t>
            </a:r>
            <a:r>
              <a:rPr lang="ko-KR" altLang="en-US" sz="1200" dirty="0"/>
              <a:t>명</a:t>
            </a:r>
          </a:p>
        </p:txBody>
      </p:sp>
      <p:cxnSp>
        <p:nvCxnSpPr>
          <p:cNvPr id="46" name="직선 연결선 45"/>
          <p:cNvCxnSpPr/>
          <p:nvPr/>
        </p:nvCxnSpPr>
        <p:spPr>
          <a:xfrm flipV="1">
            <a:off x="2647269" y="1880196"/>
            <a:ext cx="6410650" cy="29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606710" y="1953704"/>
            <a:ext cx="76738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회원구분    아이디    이름     회사명     계약시작일   계약종료일   서비스 시작일   서비스 종료일          영업대표    </a:t>
            </a:r>
            <a:r>
              <a:rPr lang="ko-KR" altLang="en-US" sz="1000" dirty="0" err="1"/>
              <a:t>퍼미션</a:t>
            </a:r>
            <a:r>
              <a:rPr lang="ko-KR" altLang="en-US" sz="1000" dirty="0"/>
              <a:t> 정보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2761316" y="930695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46301" y="6101720"/>
            <a:ext cx="16399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Total 000      Page</a:t>
            </a:r>
            <a:r>
              <a:rPr lang="ko-KR" altLang="en-US" sz="800" dirty="0"/>
              <a:t> </a:t>
            </a:r>
            <a:r>
              <a:rPr lang="en-US" altLang="ko-KR" sz="800" dirty="0"/>
              <a:t>000   </a:t>
            </a:r>
            <a:endParaRPr lang="ko-KR" altLang="en-US" sz="800" dirty="0"/>
          </a:p>
        </p:txBody>
      </p:sp>
      <p:sp>
        <p:nvSpPr>
          <p:cNvPr id="11" name="TextBox 10"/>
          <p:cNvSpPr txBox="1"/>
          <p:nvPr/>
        </p:nvSpPr>
        <p:spPr>
          <a:xfrm>
            <a:off x="7304204" y="6101213"/>
            <a:ext cx="15231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◀  </a:t>
            </a:r>
            <a:r>
              <a:rPr lang="en-US" altLang="ko-KR" sz="800" dirty="0"/>
              <a:t>1 2 3 4 5 6 7 8 9 10   </a:t>
            </a:r>
            <a:r>
              <a:rPr lang="ko-KR" altLang="en-US" sz="800" dirty="0"/>
              <a:t>▶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8852866" y="6129573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50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387435" y="6383283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닫기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8842075" y="72853"/>
            <a:ext cx="3968151" cy="608634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</a:rPr>
              <a:t>공통</a:t>
            </a:r>
            <a:r>
              <a:rPr lang="en-US" altLang="ko-KR" sz="1200" b="1" dirty="0">
                <a:solidFill>
                  <a:schemeClr val="tx1"/>
                </a:solidFill>
              </a:rPr>
              <a:t>) CRM </a:t>
            </a:r>
            <a:r>
              <a:rPr lang="ko-KR" altLang="en-US" sz="1200" b="1" dirty="0">
                <a:solidFill>
                  <a:schemeClr val="tx1"/>
                </a:solidFill>
              </a:rPr>
              <a:t>모든 페이지에서 회원 리스트 조회 시 </a:t>
            </a:r>
            <a:r>
              <a:rPr lang="ko-KR" altLang="en-US" sz="1200" b="1" dirty="0" err="1">
                <a:solidFill>
                  <a:schemeClr val="tx1"/>
                </a:solidFill>
              </a:rPr>
              <a:t>퍼미션</a:t>
            </a:r>
            <a:r>
              <a:rPr lang="ko-KR" altLang="en-US" sz="1200" b="1" dirty="0">
                <a:solidFill>
                  <a:schemeClr val="tx1"/>
                </a:solidFill>
              </a:rPr>
              <a:t> 정보 추가함</a:t>
            </a:r>
          </a:p>
        </p:txBody>
      </p:sp>
    </p:spTree>
    <p:extLst>
      <p:ext uri="{BB962C8B-B14F-4D97-AF65-F5344CB8AC3E}">
        <p14:creationId xmlns:p14="http://schemas.microsoft.com/office/powerpoint/2010/main" val="3206796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07822" y="33279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907822" y="73529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0604310" y="73529"/>
            <a:ext cx="151971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966300" y="591381"/>
            <a:ext cx="2157721" cy="621070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접속 메인 구성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Main &gt; Main(B2B)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8498" y="684646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□ 이용현황</a:t>
            </a:r>
            <a:endParaRPr lang="en-US" altLang="ko-KR" sz="1200" dirty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662502" y="1131027"/>
          <a:ext cx="5602111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3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유료회원</a:t>
                      </a:r>
                      <a:endParaRPr lang="en-US" altLang="ko-KR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전체회원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유료</a:t>
                      </a:r>
                      <a:r>
                        <a:rPr lang="en-US" altLang="ko-KR" sz="800" dirty="0"/>
                        <a:t>+</a:t>
                      </a:r>
                      <a:r>
                        <a:rPr lang="ko-KR" altLang="en-US" sz="800" dirty="0"/>
                        <a:t>무료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신규회원</a:t>
                      </a:r>
                      <a:endParaRPr lang="en-US" altLang="ko-KR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서비스종료회원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접속자수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접속률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동영상시청자수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동영상시청률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조회수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인당 조회수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이용시간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분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인당 이용시간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분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36073" y="2705527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□ 재계약현황</a:t>
            </a:r>
            <a:endParaRPr lang="en-US" altLang="ko-KR" sz="1200" dirty="0"/>
          </a:p>
        </p:txBody>
      </p:sp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668987" y="2982526"/>
          <a:ext cx="5595626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5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재계약 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baseline="0" dirty="0"/>
                        <a:t>명 중 </a:t>
                      </a:r>
                      <a:r>
                        <a:rPr lang="en-US" altLang="ko-KR" sz="800" u="sng" baseline="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baseline="0" dirty="0"/>
                        <a:t>명 완료</a:t>
                      </a:r>
                      <a:r>
                        <a:rPr lang="en-US" altLang="ko-KR" sz="800" baseline="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</a:t>
                      </a:r>
                      <a:r>
                        <a:rPr lang="ko-KR" altLang="en-US" sz="800"/>
                        <a:t>연간 재계약 </a:t>
                      </a:r>
                      <a:r>
                        <a:rPr lang="ko-KR" altLang="en-US" sz="800" dirty="0"/>
                        <a:t>현황</a:t>
                      </a:r>
                    </a:p>
                  </a:txBody>
                  <a:tcPr marL="36000" marR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00,000</a:t>
                      </a:r>
                      <a:r>
                        <a:rPr lang="ko-KR" altLang="en-US" sz="800" dirty="0"/>
                        <a:t>명 중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dirty="0"/>
                        <a:t>명 완료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/>
                        <a:t>담당 재계약 </a:t>
                      </a:r>
                      <a:r>
                        <a:rPr lang="ko-KR" altLang="en-US" sz="800" dirty="0"/>
                        <a:t>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baseline="0" dirty="0"/>
                        <a:t>명 중 </a:t>
                      </a:r>
                      <a:r>
                        <a:rPr lang="en-US" altLang="ko-KR" sz="800" u="sng" baseline="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baseline="0" dirty="0"/>
                        <a:t>명 완료</a:t>
                      </a:r>
                      <a:r>
                        <a:rPr lang="en-US" altLang="ko-KR" sz="800" baseline="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담당 </a:t>
                      </a:r>
                      <a:r>
                        <a:rPr lang="ko-KR" altLang="en-US" sz="800"/>
                        <a:t>연간 재계약 </a:t>
                      </a:r>
                      <a:r>
                        <a:rPr lang="ko-KR" altLang="en-US" sz="800" dirty="0"/>
                        <a:t>현황</a:t>
                      </a:r>
                    </a:p>
                  </a:txBody>
                  <a:tcPr marL="36000" marR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00,000</a:t>
                      </a:r>
                      <a:r>
                        <a:rPr lang="ko-KR" altLang="en-US" sz="800" dirty="0"/>
                        <a:t>명 중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dirty="0"/>
                        <a:t>명 완료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36073" y="5323023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□ 매출현황 </a:t>
            </a:r>
            <a:endParaRPr lang="en-US" altLang="ko-KR" sz="1200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/>
        </p:nvGraphicFramePr>
        <p:xfrm>
          <a:off x="662501" y="5792279"/>
          <a:ext cx="5602112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8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확정매출</a:t>
                      </a:r>
                      <a:r>
                        <a:rPr lang="ko-KR" altLang="en-US" sz="500" dirty="0"/>
                        <a:t> </a:t>
                      </a:r>
                      <a:r>
                        <a:rPr lang="en-US" altLang="ko-KR" sz="500" dirty="0"/>
                        <a:t>(MIS </a:t>
                      </a:r>
                      <a:r>
                        <a:rPr lang="ko-KR" altLang="en-US" sz="500" dirty="0"/>
                        <a:t>연동 완료</a:t>
                      </a:r>
                      <a:r>
                        <a:rPr lang="en-US" altLang="ko-KR" sz="500" dirty="0"/>
                        <a:t>)</a:t>
                      </a:r>
                      <a:endParaRPr lang="ko-KR" altLang="en-US" sz="5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미확정매출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500" dirty="0"/>
                        <a:t>(MIS </a:t>
                      </a:r>
                      <a:r>
                        <a:rPr lang="ko-KR" altLang="en-US" sz="500" dirty="0" err="1"/>
                        <a:t>미연동</a:t>
                      </a:r>
                      <a:r>
                        <a:rPr lang="en-US" altLang="ko-KR" sz="500" dirty="0"/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예상매출 </a:t>
                      </a:r>
                      <a:r>
                        <a:rPr lang="en-US" altLang="ko-KR" sz="500" dirty="0"/>
                        <a:t>(</a:t>
                      </a:r>
                      <a:r>
                        <a:rPr lang="ko-KR" altLang="en-US" sz="500" dirty="0"/>
                        <a:t>집계용</a:t>
                      </a:r>
                      <a:r>
                        <a:rPr lang="en-US" altLang="ko-KR" sz="500" dirty="0"/>
                        <a:t>)</a:t>
                      </a:r>
                      <a:endParaRPr lang="ko-KR" altLang="en-US" sz="5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/>
        </p:nvGraphicFramePr>
        <p:xfrm>
          <a:off x="668987" y="3706346"/>
          <a:ext cx="8856339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93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65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9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99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793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no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아이디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법인명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/>
                        <a:t>계약 </a:t>
                      </a:r>
                      <a:r>
                        <a:rPr lang="ko-KR" altLang="en-US" sz="800" dirty="0"/>
                        <a:t>만료일 ▼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대상자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담당자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메모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/>
                        <a:t>법인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-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0000.00.00.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(+10)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sng" dirty="0"/>
                        <a:t>법인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온라인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-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0000.00.00. (+2)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sng" dirty="0"/>
                        <a:t>개인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test3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0000.00.00.(-3)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sng" dirty="0"/>
                        <a:t>개인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test4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이순신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0000.00.00.(-11)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sng" dirty="0"/>
                        <a:t>법인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매거진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-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0000.00.00.(-12)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1254" y="3490226"/>
            <a:ext cx="17956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○ 전체   ● 담당                     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587319" y="3527231"/>
            <a:ext cx="680936" cy="123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홍길동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668985" y="951188"/>
            <a:ext cx="518260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249088" y="951189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692797" y="951188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312886" y="3527231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graphicFrame>
        <p:nvGraphicFramePr>
          <p:cNvPr id="24" name="표 23"/>
          <p:cNvGraphicFramePr>
            <a:graphicFrameLocks noGrp="1"/>
          </p:cNvGraphicFramePr>
          <p:nvPr/>
        </p:nvGraphicFramePr>
        <p:xfrm>
          <a:off x="6440701" y="1125189"/>
          <a:ext cx="3172764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3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정회원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프리미엄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리움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온라인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매거진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" name="직사각형 28"/>
          <p:cNvSpPr/>
          <p:nvPr/>
        </p:nvSpPr>
        <p:spPr>
          <a:xfrm>
            <a:off x="662501" y="5600022"/>
            <a:ext cx="518260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242604" y="5600023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686313" y="5600022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9525325" y="3705670"/>
            <a:ext cx="59853" cy="103778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628318" y="4999857"/>
            <a:ext cx="8168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Total 000</a:t>
            </a:r>
            <a:endParaRPr lang="ko-KR" altLang="en-US" sz="800" dirty="0"/>
          </a:p>
        </p:txBody>
      </p:sp>
      <p:sp>
        <p:nvSpPr>
          <p:cNvPr id="21" name="직사각형 20"/>
          <p:cNvSpPr/>
          <p:nvPr/>
        </p:nvSpPr>
        <p:spPr>
          <a:xfrm>
            <a:off x="6391082" y="1076415"/>
            <a:ext cx="308033" cy="1687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3227494" y="136518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3226801" y="1567577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220316" y="178967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6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219623" y="199206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8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3225395" y="222049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10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224702" y="242288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graphicFrame>
        <p:nvGraphicFramePr>
          <p:cNvPr id="53" name="표 52"/>
          <p:cNvGraphicFramePr>
            <a:graphicFrameLocks noGrp="1"/>
          </p:cNvGraphicFramePr>
          <p:nvPr/>
        </p:nvGraphicFramePr>
        <p:xfrm>
          <a:off x="6492993" y="2982526"/>
          <a:ext cx="309218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9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350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담당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dirty="0"/>
                        <a:t>개 중 </a:t>
                      </a: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</a:t>
                      </a:r>
                      <a:r>
                        <a:rPr lang="ko-KR" altLang="en-US" sz="800" dirty="0"/>
                        <a:t>개 완료 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dirty="0"/>
                        <a:t>명 중 </a:t>
                      </a: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</a:t>
                      </a:r>
                      <a:r>
                        <a:rPr lang="ko-KR" altLang="en-US" sz="800" dirty="0"/>
                        <a:t>명 완료 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4" name="직사각형 53"/>
          <p:cNvSpPr/>
          <p:nvPr/>
        </p:nvSpPr>
        <p:spPr>
          <a:xfrm>
            <a:off x="1817011" y="789485"/>
            <a:ext cx="6746518" cy="578136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919521" y="1276331"/>
            <a:ext cx="1760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회원현황</a:t>
            </a:r>
            <a:r>
              <a:rPr lang="en-US" altLang="ko-KR" sz="1200" dirty="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YYYY.MM  </a:t>
            </a:r>
            <a:r>
              <a:rPr lang="ko-KR" altLang="en-US" sz="1200" dirty="0"/>
              <a:t>총 </a:t>
            </a:r>
            <a:r>
              <a:rPr lang="en-US" altLang="ko-KR" sz="1200" dirty="0"/>
              <a:t>00,000</a:t>
            </a:r>
            <a:r>
              <a:rPr lang="ko-KR" altLang="en-US" sz="1200" dirty="0"/>
              <a:t>명</a:t>
            </a:r>
          </a:p>
        </p:txBody>
      </p:sp>
      <p:cxnSp>
        <p:nvCxnSpPr>
          <p:cNvPr id="56" name="직선 연결선 55"/>
          <p:cNvCxnSpPr/>
          <p:nvPr/>
        </p:nvCxnSpPr>
        <p:spPr>
          <a:xfrm flipV="1">
            <a:off x="1919521" y="2010913"/>
            <a:ext cx="6410650" cy="29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098240" y="2093694"/>
            <a:ext cx="45223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회원구분    아이디    이름     회사명    </a:t>
            </a:r>
            <a:r>
              <a:rPr lang="ko-KR" altLang="en-US" sz="1000" dirty="0" err="1"/>
              <a:t>총접속수</a:t>
            </a:r>
            <a:r>
              <a:rPr lang="ko-KR" altLang="en-US" sz="1000" dirty="0"/>
              <a:t>     </a:t>
            </a:r>
            <a:r>
              <a:rPr lang="en-US" altLang="ko-KR" sz="1000" dirty="0"/>
              <a:t>PC</a:t>
            </a:r>
            <a:r>
              <a:rPr lang="ko-KR" altLang="en-US" sz="1000" dirty="0" err="1"/>
              <a:t>접속수</a:t>
            </a:r>
            <a:r>
              <a:rPr lang="ko-KR" altLang="en-US" sz="1000" dirty="0"/>
              <a:t>    </a:t>
            </a:r>
            <a:r>
              <a:rPr lang="en-US" altLang="ko-KR" sz="1000" dirty="0"/>
              <a:t>Mo</a:t>
            </a:r>
            <a:r>
              <a:rPr lang="ko-KR" altLang="en-US" sz="1000" dirty="0" err="1"/>
              <a:t>접속수</a:t>
            </a:r>
            <a:endParaRPr lang="ko-KR" altLang="en-US" sz="1000" dirty="0"/>
          </a:p>
        </p:txBody>
      </p:sp>
      <p:sp>
        <p:nvSpPr>
          <p:cNvPr id="59" name="TextBox 58"/>
          <p:cNvSpPr txBox="1"/>
          <p:nvPr/>
        </p:nvSpPr>
        <p:spPr>
          <a:xfrm>
            <a:off x="9953340" y="591381"/>
            <a:ext cx="151195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접속자수 상세 팝업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ko-KR" altLang="en-US" sz="800" dirty="0"/>
          </a:p>
          <a:p>
            <a:endParaRPr lang="ko-KR" altLang="en-US" sz="800" dirty="0"/>
          </a:p>
        </p:txBody>
      </p:sp>
      <p:sp>
        <p:nvSpPr>
          <p:cNvPr id="42" name="직사각형 41"/>
          <p:cNvSpPr/>
          <p:nvPr/>
        </p:nvSpPr>
        <p:spPr>
          <a:xfrm>
            <a:off x="1979668" y="899189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63439" y="6043615"/>
            <a:ext cx="16399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Total 000      Page</a:t>
            </a:r>
            <a:r>
              <a:rPr lang="ko-KR" altLang="en-US" sz="800" dirty="0"/>
              <a:t> </a:t>
            </a:r>
            <a:r>
              <a:rPr lang="en-US" altLang="ko-KR" sz="800" dirty="0"/>
              <a:t>000   </a:t>
            </a:r>
            <a:endParaRPr lang="ko-KR" altLang="en-US" sz="800" dirty="0"/>
          </a:p>
        </p:txBody>
      </p:sp>
      <p:sp>
        <p:nvSpPr>
          <p:cNvPr id="46" name="TextBox 45"/>
          <p:cNvSpPr txBox="1"/>
          <p:nvPr/>
        </p:nvSpPr>
        <p:spPr>
          <a:xfrm>
            <a:off x="6421342" y="6043108"/>
            <a:ext cx="15231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◀  </a:t>
            </a:r>
            <a:r>
              <a:rPr lang="en-US" altLang="ko-KR" sz="800" dirty="0"/>
              <a:t>1 2 3 4 5 6 7 8 9 10   </a:t>
            </a:r>
            <a:r>
              <a:rPr lang="ko-KR" altLang="en-US" sz="800" dirty="0"/>
              <a:t>▶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7970004" y="6071468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50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7504573" y="6325178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닫기</a:t>
            </a:r>
          </a:p>
        </p:txBody>
      </p:sp>
    </p:spTree>
    <p:extLst>
      <p:ext uri="{BB962C8B-B14F-4D97-AF65-F5344CB8AC3E}">
        <p14:creationId xmlns:p14="http://schemas.microsoft.com/office/powerpoint/2010/main" val="391368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07822" y="33279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907822" y="73529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0604310" y="73529"/>
            <a:ext cx="151971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966300" y="591381"/>
            <a:ext cx="2157721" cy="621070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접속 메인 구성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Main &gt; Main(B2B)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8498" y="684646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□ 이용현황</a:t>
            </a:r>
            <a:endParaRPr lang="en-US" altLang="ko-KR" sz="1200" dirty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662502" y="1131027"/>
          <a:ext cx="5602111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3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유료회원</a:t>
                      </a:r>
                      <a:endParaRPr lang="en-US" altLang="ko-KR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전체회원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유료</a:t>
                      </a:r>
                      <a:r>
                        <a:rPr lang="en-US" altLang="ko-KR" sz="800" dirty="0"/>
                        <a:t>+</a:t>
                      </a:r>
                      <a:r>
                        <a:rPr lang="ko-KR" altLang="en-US" sz="800" dirty="0"/>
                        <a:t>무료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신규회원</a:t>
                      </a:r>
                      <a:endParaRPr lang="en-US" altLang="ko-KR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서비스종료회원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접속자수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접속률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동영상시청자수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동영상시청률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조회수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인당 조회수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이용시간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분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인당 이용시간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분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36073" y="2705527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□ 재계약현황</a:t>
            </a:r>
            <a:endParaRPr lang="en-US" altLang="ko-KR" sz="1200" dirty="0"/>
          </a:p>
        </p:txBody>
      </p:sp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668987" y="2982526"/>
          <a:ext cx="5595626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5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재계약 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baseline="0" dirty="0"/>
                        <a:t>명 중 </a:t>
                      </a:r>
                      <a:r>
                        <a:rPr lang="en-US" altLang="ko-KR" sz="800" u="sng" baseline="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baseline="0" dirty="0"/>
                        <a:t>명 완료</a:t>
                      </a:r>
                      <a:r>
                        <a:rPr lang="en-US" altLang="ko-KR" sz="800" baseline="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</a:t>
                      </a:r>
                      <a:r>
                        <a:rPr lang="ko-KR" altLang="en-US" sz="800"/>
                        <a:t>연간 재계약 </a:t>
                      </a:r>
                      <a:r>
                        <a:rPr lang="ko-KR" altLang="en-US" sz="800" dirty="0"/>
                        <a:t>현황</a:t>
                      </a:r>
                    </a:p>
                  </a:txBody>
                  <a:tcPr marL="36000" marR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00,000</a:t>
                      </a:r>
                      <a:r>
                        <a:rPr lang="ko-KR" altLang="en-US" sz="800" dirty="0"/>
                        <a:t>명 중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dirty="0"/>
                        <a:t>명 완료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/>
                        <a:t>담당 재계약 </a:t>
                      </a:r>
                      <a:r>
                        <a:rPr lang="ko-KR" altLang="en-US" sz="800" dirty="0"/>
                        <a:t>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baseline="0" dirty="0"/>
                        <a:t>명 중 </a:t>
                      </a:r>
                      <a:r>
                        <a:rPr lang="en-US" altLang="ko-KR" sz="800" u="sng" baseline="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baseline="0" dirty="0"/>
                        <a:t>명 완료</a:t>
                      </a:r>
                      <a:r>
                        <a:rPr lang="en-US" altLang="ko-KR" sz="800" baseline="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담당 </a:t>
                      </a:r>
                      <a:r>
                        <a:rPr lang="ko-KR" altLang="en-US" sz="800"/>
                        <a:t>연간 재계약 </a:t>
                      </a:r>
                      <a:r>
                        <a:rPr lang="ko-KR" altLang="en-US" sz="800" dirty="0"/>
                        <a:t>현황</a:t>
                      </a:r>
                    </a:p>
                  </a:txBody>
                  <a:tcPr marL="36000" marR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00,000</a:t>
                      </a:r>
                      <a:r>
                        <a:rPr lang="ko-KR" altLang="en-US" sz="800" dirty="0"/>
                        <a:t>명 중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dirty="0"/>
                        <a:t>명 완료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36073" y="5323023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□ 매출현황 </a:t>
            </a:r>
            <a:endParaRPr lang="en-US" altLang="ko-KR" sz="1200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/>
        </p:nvGraphicFramePr>
        <p:xfrm>
          <a:off x="662501" y="5792279"/>
          <a:ext cx="5602112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8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확정매출</a:t>
                      </a:r>
                      <a:r>
                        <a:rPr lang="ko-KR" altLang="en-US" sz="500" dirty="0"/>
                        <a:t> </a:t>
                      </a:r>
                      <a:r>
                        <a:rPr lang="en-US" altLang="ko-KR" sz="500" dirty="0"/>
                        <a:t>(MIS </a:t>
                      </a:r>
                      <a:r>
                        <a:rPr lang="ko-KR" altLang="en-US" sz="500" dirty="0"/>
                        <a:t>연동 완료</a:t>
                      </a:r>
                      <a:r>
                        <a:rPr lang="en-US" altLang="ko-KR" sz="500" dirty="0"/>
                        <a:t>)</a:t>
                      </a:r>
                      <a:endParaRPr lang="ko-KR" altLang="en-US" sz="5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미확정매출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500" dirty="0"/>
                        <a:t>(MIS </a:t>
                      </a:r>
                      <a:r>
                        <a:rPr lang="ko-KR" altLang="en-US" sz="500" dirty="0" err="1"/>
                        <a:t>미연동</a:t>
                      </a:r>
                      <a:r>
                        <a:rPr lang="en-US" altLang="ko-KR" sz="500" dirty="0"/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예상매출 </a:t>
                      </a:r>
                      <a:r>
                        <a:rPr lang="en-US" altLang="ko-KR" sz="500" dirty="0"/>
                        <a:t>(</a:t>
                      </a:r>
                      <a:r>
                        <a:rPr lang="ko-KR" altLang="en-US" sz="500" dirty="0"/>
                        <a:t>집계용</a:t>
                      </a:r>
                      <a:r>
                        <a:rPr lang="en-US" altLang="ko-KR" sz="500" dirty="0"/>
                        <a:t>)</a:t>
                      </a:r>
                      <a:endParaRPr lang="ko-KR" altLang="en-US" sz="5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/>
        </p:nvGraphicFramePr>
        <p:xfrm>
          <a:off x="668987" y="3706346"/>
          <a:ext cx="8856339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93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65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9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99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793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no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아이디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법인명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/>
                        <a:t>계약 </a:t>
                      </a:r>
                      <a:r>
                        <a:rPr lang="ko-KR" altLang="en-US" sz="800" dirty="0"/>
                        <a:t>만료일 ▼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대상자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담당자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메모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/>
                        <a:t>법인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-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0000.00.00.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(+10)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sng" dirty="0"/>
                        <a:t>법인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온라인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-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0000.00.00. (+2)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sng" dirty="0"/>
                        <a:t>개인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test3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0000.00.00.(-3)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sng" dirty="0"/>
                        <a:t>개인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test4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이순신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0000.00.00.(-11)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sng" dirty="0"/>
                        <a:t>법인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매거진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-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0000.00.00.(-12)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1254" y="3490226"/>
            <a:ext cx="17956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○ 전체   ● 담당                     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587319" y="3527231"/>
            <a:ext cx="680936" cy="123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홍길동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668985" y="951188"/>
            <a:ext cx="518260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249088" y="951189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692797" y="951188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312886" y="3527231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graphicFrame>
        <p:nvGraphicFramePr>
          <p:cNvPr id="24" name="표 23"/>
          <p:cNvGraphicFramePr>
            <a:graphicFrameLocks noGrp="1"/>
          </p:cNvGraphicFramePr>
          <p:nvPr/>
        </p:nvGraphicFramePr>
        <p:xfrm>
          <a:off x="6440701" y="1125189"/>
          <a:ext cx="3172764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3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정회원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프리미엄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리움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온라인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매거진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" name="직사각형 28"/>
          <p:cNvSpPr/>
          <p:nvPr/>
        </p:nvSpPr>
        <p:spPr>
          <a:xfrm>
            <a:off x="662501" y="5600022"/>
            <a:ext cx="518260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242604" y="5600023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686313" y="5600022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9525325" y="3705670"/>
            <a:ext cx="59853" cy="103778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628318" y="4999857"/>
            <a:ext cx="8168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Total 000</a:t>
            </a:r>
            <a:endParaRPr lang="ko-KR" altLang="en-US" sz="800" dirty="0"/>
          </a:p>
        </p:txBody>
      </p:sp>
      <p:sp>
        <p:nvSpPr>
          <p:cNvPr id="21" name="직사각형 20"/>
          <p:cNvSpPr/>
          <p:nvPr/>
        </p:nvSpPr>
        <p:spPr>
          <a:xfrm>
            <a:off x="6391082" y="1076415"/>
            <a:ext cx="308033" cy="1687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3227494" y="136518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3226801" y="1567577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220316" y="178967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6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219623" y="199206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8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3225395" y="222049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10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224702" y="242288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graphicFrame>
        <p:nvGraphicFramePr>
          <p:cNvPr id="53" name="표 52"/>
          <p:cNvGraphicFramePr>
            <a:graphicFrameLocks noGrp="1"/>
          </p:cNvGraphicFramePr>
          <p:nvPr/>
        </p:nvGraphicFramePr>
        <p:xfrm>
          <a:off x="6492993" y="2982526"/>
          <a:ext cx="309218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9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350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담당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dirty="0"/>
                        <a:t>개 중 </a:t>
                      </a: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</a:t>
                      </a:r>
                      <a:r>
                        <a:rPr lang="ko-KR" altLang="en-US" sz="800" dirty="0"/>
                        <a:t>개 완료 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dirty="0"/>
                        <a:t>명 중 </a:t>
                      </a: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</a:t>
                      </a:r>
                      <a:r>
                        <a:rPr lang="ko-KR" altLang="en-US" sz="800" dirty="0"/>
                        <a:t>명 완료 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4" name="직사각형 53"/>
          <p:cNvSpPr/>
          <p:nvPr/>
        </p:nvSpPr>
        <p:spPr>
          <a:xfrm>
            <a:off x="1817012" y="789485"/>
            <a:ext cx="7529200" cy="578136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909854" y="1175818"/>
            <a:ext cx="1760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회원현황</a:t>
            </a:r>
            <a:r>
              <a:rPr lang="en-US" altLang="ko-KR" sz="1200" dirty="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YYYY.MM  </a:t>
            </a:r>
            <a:r>
              <a:rPr lang="ko-KR" altLang="en-US" sz="1200" dirty="0"/>
              <a:t>총 </a:t>
            </a:r>
            <a:r>
              <a:rPr lang="en-US" altLang="ko-KR" sz="1200" dirty="0"/>
              <a:t>00,000</a:t>
            </a:r>
            <a:r>
              <a:rPr lang="ko-KR" altLang="en-US" sz="1200" dirty="0"/>
              <a:t>명</a:t>
            </a:r>
          </a:p>
        </p:txBody>
      </p:sp>
      <p:cxnSp>
        <p:nvCxnSpPr>
          <p:cNvPr id="56" name="직선 연결선 55"/>
          <p:cNvCxnSpPr/>
          <p:nvPr/>
        </p:nvCxnSpPr>
        <p:spPr>
          <a:xfrm>
            <a:off x="1909854" y="1939898"/>
            <a:ext cx="7253601" cy="237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986152" y="1992068"/>
            <a:ext cx="82894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회원구분    아이디    이름         회사명    총 시청편수    </a:t>
            </a:r>
            <a:r>
              <a:rPr lang="ko-KR" altLang="en-US" sz="1000" dirty="0" err="1"/>
              <a:t>총시청수</a:t>
            </a:r>
            <a:r>
              <a:rPr lang="ko-KR" altLang="en-US" sz="1000" dirty="0"/>
              <a:t>     </a:t>
            </a:r>
            <a:r>
              <a:rPr lang="en-US" altLang="ko-KR" sz="1000" dirty="0"/>
              <a:t>PC</a:t>
            </a:r>
            <a:r>
              <a:rPr lang="ko-KR" altLang="en-US" sz="1000" dirty="0" err="1"/>
              <a:t>시청수</a:t>
            </a:r>
            <a:r>
              <a:rPr lang="ko-KR" altLang="en-US" sz="1000" dirty="0"/>
              <a:t>    </a:t>
            </a:r>
            <a:r>
              <a:rPr lang="en-US" altLang="ko-KR" sz="1000" dirty="0"/>
              <a:t>Mo</a:t>
            </a:r>
            <a:r>
              <a:rPr lang="ko-KR" altLang="en-US" sz="1000" dirty="0" err="1"/>
              <a:t>시청수</a:t>
            </a:r>
            <a:r>
              <a:rPr lang="ko-KR" altLang="en-US" sz="1000" dirty="0"/>
              <a:t>   </a:t>
            </a:r>
            <a:r>
              <a:rPr lang="ko-KR" altLang="en-US" sz="1000" dirty="0" err="1"/>
              <a:t>총이용시간</a:t>
            </a:r>
            <a:r>
              <a:rPr lang="en-US" altLang="ko-KR" sz="1000" dirty="0"/>
              <a:t>(</a:t>
            </a:r>
            <a:r>
              <a:rPr lang="ko-KR" altLang="en-US" sz="1000" dirty="0"/>
              <a:t>분</a:t>
            </a:r>
            <a:r>
              <a:rPr lang="en-US" altLang="ko-KR" sz="1000" dirty="0"/>
              <a:t>)</a:t>
            </a:r>
            <a:r>
              <a:rPr lang="ko-KR" altLang="en-US" sz="1000" dirty="0"/>
              <a:t>     </a:t>
            </a:r>
            <a:r>
              <a:rPr lang="en-US" altLang="ko-KR" sz="1000" dirty="0"/>
              <a:t>PC</a:t>
            </a:r>
            <a:r>
              <a:rPr lang="ko-KR" altLang="en-US" sz="1000" dirty="0"/>
              <a:t>이용시간    </a:t>
            </a:r>
            <a:r>
              <a:rPr lang="en-US" altLang="ko-KR" sz="1000" dirty="0"/>
              <a:t>Mo</a:t>
            </a:r>
            <a:r>
              <a:rPr lang="ko-KR" altLang="en-US" sz="1000" dirty="0"/>
              <a:t>이용시간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53340" y="591381"/>
            <a:ext cx="2497800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동영상시청자수 상세 팝업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FF0000"/>
                </a:solidFill>
              </a:rPr>
              <a:t>학습시간 및 시청횟수 계산 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r>
              <a:rPr lang="en-US" altLang="ko-KR" sz="1000" b="1" dirty="0">
                <a:solidFill>
                  <a:srgbClr val="FF0000"/>
                </a:solidFill>
              </a:rPr>
              <a:t>-&gt; </a:t>
            </a:r>
            <a:r>
              <a:rPr lang="ko-KR" altLang="en-US" sz="1000" b="1" dirty="0">
                <a:solidFill>
                  <a:srgbClr val="FF0000"/>
                </a:solidFill>
              </a:rPr>
              <a:t>중복 포함 기준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endParaRPr lang="en-US" altLang="ko-KR" sz="1000" b="1" dirty="0">
              <a:solidFill>
                <a:srgbClr val="FF0000"/>
              </a:solidFill>
            </a:endParaRPr>
          </a:p>
          <a:p>
            <a:r>
              <a:rPr lang="ko-KR" altLang="en-US" sz="800" dirty="0"/>
              <a:t>편수 </a:t>
            </a:r>
            <a:r>
              <a:rPr lang="en-US" altLang="ko-KR" sz="800" dirty="0"/>
              <a:t>: </a:t>
            </a:r>
            <a:r>
              <a:rPr lang="ko-KR" altLang="en-US" sz="800" dirty="0" err="1"/>
              <a:t>콘텐츠</a:t>
            </a:r>
            <a:r>
              <a:rPr lang="ko-KR" altLang="en-US" sz="800" dirty="0"/>
              <a:t> 편수</a:t>
            </a:r>
            <a:r>
              <a:rPr lang="en-US" altLang="ko-KR" sz="800" dirty="0"/>
              <a:t>(</a:t>
            </a:r>
            <a:r>
              <a:rPr lang="ko-KR" altLang="en-US" sz="800" dirty="0"/>
              <a:t>동일한 </a:t>
            </a:r>
            <a:r>
              <a:rPr lang="ko-KR" altLang="en-US" sz="800" dirty="0" err="1"/>
              <a:t>콘텐츠는</a:t>
            </a:r>
            <a:r>
              <a:rPr lang="ko-KR" altLang="en-US" sz="800" dirty="0"/>
              <a:t> </a:t>
            </a:r>
            <a:r>
              <a:rPr lang="en-US" altLang="ko-KR" sz="800" dirty="0"/>
              <a:t>1</a:t>
            </a:r>
            <a:r>
              <a:rPr lang="ko-KR" altLang="en-US" sz="800" dirty="0"/>
              <a:t>편으로 계산</a:t>
            </a:r>
            <a:r>
              <a:rPr lang="en-US" altLang="ko-KR" sz="800" dirty="0"/>
              <a:t>)</a:t>
            </a:r>
          </a:p>
          <a:p>
            <a:r>
              <a:rPr lang="ko-KR" altLang="en-US" sz="800" dirty="0" err="1"/>
              <a:t>시청수</a:t>
            </a:r>
            <a:r>
              <a:rPr lang="ko-KR" altLang="en-US" sz="800" dirty="0"/>
              <a:t> </a:t>
            </a:r>
            <a:r>
              <a:rPr lang="en-US" altLang="ko-KR" sz="800" dirty="0"/>
              <a:t>: </a:t>
            </a:r>
            <a:r>
              <a:rPr lang="ko-KR" altLang="en-US" sz="800" dirty="0"/>
              <a:t>조회수 </a:t>
            </a:r>
            <a:r>
              <a:rPr lang="en-US" altLang="ko-KR" sz="800" dirty="0"/>
              <a:t>(1</a:t>
            </a:r>
            <a:r>
              <a:rPr lang="ko-KR" altLang="en-US" sz="800" dirty="0"/>
              <a:t>편을 </a:t>
            </a:r>
            <a:r>
              <a:rPr lang="en-US" altLang="ko-KR" sz="800" dirty="0"/>
              <a:t>2</a:t>
            </a:r>
            <a:r>
              <a:rPr lang="ko-KR" altLang="en-US" sz="800" dirty="0"/>
              <a:t>회 조회하면</a:t>
            </a:r>
            <a:r>
              <a:rPr lang="en-US" altLang="ko-KR" sz="800" dirty="0"/>
              <a:t>, 2</a:t>
            </a:r>
            <a:r>
              <a:rPr lang="ko-KR" altLang="en-US" sz="800" dirty="0"/>
              <a:t>회로 계산</a:t>
            </a:r>
            <a:r>
              <a:rPr lang="en-US" altLang="ko-KR" sz="800" dirty="0"/>
              <a:t>)</a:t>
            </a:r>
            <a:endParaRPr lang="ko-KR" altLang="en-US" sz="800" dirty="0"/>
          </a:p>
        </p:txBody>
      </p:sp>
      <p:sp>
        <p:nvSpPr>
          <p:cNvPr id="42" name="직사각형 41"/>
          <p:cNvSpPr/>
          <p:nvPr/>
        </p:nvSpPr>
        <p:spPr>
          <a:xfrm>
            <a:off x="1966995" y="929970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66995" y="6107577"/>
            <a:ext cx="16399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Total 000      Page</a:t>
            </a:r>
            <a:r>
              <a:rPr lang="ko-KR" altLang="en-US" sz="800" dirty="0"/>
              <a:t> </a:t>
            </a:r>
            <a:r>
              <a:rPr lang="en-US" altLang="ko-KR" sz="800" dirty="0"/>
              <a:t>000   </a:t>
            </a:r>
            <a:endParaRPr lang="ko-KR" altLang="en-US" sz="800" dirty="0"/>
          </a:p>
        </p:txBody>
      </p:sp>
      <p:sp>
        <p:nvSpPr>
          <p:cNvPr id="46" name="TextBox 45"/>
          <p:cNvSpPr txBox="1"/>
          <p:nvPr/>
        </p:nvSpPr>
        <p:spPr>
          <a:xfrm>
            <a:off x="6624898" y="6107070"/>
            <a:ext cx="15231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◀  </a:t>
            </a:r>
            <a:r>
              <a:rPr lang="en-US" altLang="ko-KR" sz="800" dirty="0"/>
              <a:t>1 2 3 4 5 6 7 8 9 10   </a:t>
            </a:r>
            <a:r>
              <a:rPr lang="ko-KR" altLang="en-US" sz="800" dirty="0"/>
              <a:t>▶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8173560" y="6135430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50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7708129" y="6389140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닫기</a:t>
            </a:r>
          </a:p>
        </p:txBody>
      </p:sp>
    </p:spTree>
    <p:extLst>
      <p:ext uri="{BB962C8B-B14F-4D97-AF65-F5344CB8AC3E}">
        <p14:creationId xmlns:p14="http://schemas.microsoft.com/office/powerpoint/2010/main" val="253870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07822" y="33279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907822" y="73529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0604310" y="73529"/>
            <a:ext cx="151971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966300" y="591381"/>
            <a:ext cx="2157721" cy="621070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접속 메인 구성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Main &gt; Main(B2B)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8498" y="684646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□ 이용현황</a:t>
            </a:r>
            <a:endParaRPr lang="en-US" altLang="ko-KR" sz="1200" dirty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662502" y="1131027"/>
          <a:ext cx="5602111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3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유료회원</a:t>
                      </a:r>
                      <a:endParaRPr lang="en-US" altLang="ko-KR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전체회원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유료</a:t>
                      </a:r>
                      <a:r>
                        <a:rPr lang="en-US" altLang="ko-KR" sz="800" dirty="0"/>
                        <a:t>+</a:t>
                      </a:r>
                      <a:r>
                        <a:rPr lang="ko-KR" altLang="en-US" sz="800" dirty="0"/>
                        <a:t>무료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신규회원</a:t>
                      </a:r>
                      <a:endParaRPr lang="en-US" altLang="ko-KR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탈퇴회원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접속자수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접속률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동영상시청자수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동영상시청률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조회수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인당 조회수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이용시간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분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인당 이용시간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분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36073" y="2705527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□ 재계약현황</a:t>
            </a:r>
            <a:endParaRPr lang="en-US" altLang="ko-KR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536073" y="5323023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□ 매출현황 </a:t>
            </a:r>
            <a:endParaRPr lang="en-US" altLang="ko-KR" sz="1200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/>
        </p:nvGraphicFramePr>
        <p:xfrm>
          <a:off x="662501" y="5792279"/>
          <a:ext cx="5602112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8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확정매출</a:t>
                      </a:r>
                      <a:r>
                        <a:rPr lang="ko-KR" altLang="en-US" sz="500" dirty="0"/>
                        <a:t> </a:t>
                      </a:r>
                      <a:r>
                        <a:rPr lang="en-US" altLang="ko-KR" sz="500" dirty="0"/>
                        <a:t>(MIS </a:t>
                      </a:r>
                      <a:r>
                        <a:rPr lang="ko-KR" altLang="en-US" sz="500" dirty="0"/>
                        <a:t>연동 완료</a:t>
                      </a:r>
                      <a:r>
                        <a:rPr lang="en-US" altLang="ko-KR" sz="500" dirty="0"/>
                        <a:t>)</a:t>
                      </a:r>
                      <a:endParaRPr lang="ko-KR" altLang="en-US" sz="5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미확정매출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500" dirty="0"/>
                        <a:t>(MIS </a:t>
                      </a:r>
                      <a:r>
                        <a:rPr lang="ko-KR" altLang="en-US" sz="500" dirty="0" err="1"/>
                        <a:t>미연동</a:t>
                      </a:r>
                      <a:r>
                        <a:rPr lang="en-US" altLang="ko-KR" sz="500" dirty="0"/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예상매출 </a:t>
                      </a:r>
                      <a:r>
                        <a:rPr lang="en-US" altLang="ko-KR" sz="500" dirty="0"/>
                        <a:t>(</a:t>
                      </a:r>
                      <a:r>
                        <a:rPr lang="ko-KR" altLang="en-US" sz="500" dirty="0"/>
                        <a:t>집계용</a:t>
                      </a:r>
                      <a:r>
                        <a:rPr lang="en-US" altLang="ko-KR" sz="500" dirty="0"/>
                        <a:t>)</a:t>
                      </a:r>
                      <a:endParaRPr lang="ko-KR" altLang="en-US" sz="5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직사각형 18"/>
          <p:cNvSpPr/>
          <p:nvPr/>
        </p:nvSpPr>
        <p:spPr>
          <a:xfrm>
            <a:off x="668985" y="951188"/>
            <a:ext cx="518260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249088" y="951189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692797" y="951188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662501" y="5600022"/>
            <a:ext cx="518260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242604" y="5600023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686313" y="5600022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9525325" y="3705670"/>
            <a:ext cx="59853" cy="103778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628317" y="4999857"/>
            <a:ext cx="16399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Total 000      Page</a:t>
            </a:r>
            <a:r>
              <a:rPr lang="ko-KR" altLang="en-US" sz="800" dirty="0"/>
              <a:t> </a:t>
            </a:r>
            <a:r>
              <a:rPr lang="en-US" altLang="ko-KR" sz="800" dirty="0"/>
              <a:t>000   </a:t>
            </a:r>
            <a:endParaRPr lang="ko-KR" altLang="en-US" sz="800" dirty="0"/>
          </a:p>
        </p:txBody>
      </p:sp>
      <p:sp>
        <p:nvSpPr>
          <p:cNvPr id="54" name="직사각형 53"/>
          <p:cNvSpPr/>
          <p:nvPr/>
        </p:nvSpPr>
        <p:spPr>
          <a:xfrm>
            <a:off x="458696" y="3027107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3235878" y="302710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58003" y="322949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3235185" y="3229495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502243" y="349656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5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96471" y="372116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6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941620" y="591381"/>
            <a:ext cx="3608680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전체 재계약 현황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해당 월 전체 재계약 대상자와</a:t>
            </a:r>
            <a:endParaRPr lang="en-US" altLang="ko-KR" sz="800" dirty="0"/>
          </a:p>
          <a:p>
            <a:r>
              <a:rPr lang="ko-KR" altLang="en-US" sz="800" dirty="0"/>
              <a:t>그 중 재계약 완료 처리된 </a:t>
            </a:r>
            <a:r>
              <a:rPr lang="ko-KR" altLang="en-US" sz="800" dirty="0" err="1"/>
              <a:t>회원수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클릭 시 각 대상자 상세 조회 화면 팝업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>
                <a:solidFill>
                  <a:srgbClr val="FF0000"/>
                </a:solidFill>
              </a:rPr>
              <a:t>재계약 대상자 </a:t>
            </a:r>
            <a:r>
              <a:rPr lang="en-US" altLang="ko-KR" sz="800" dirty="0">
                <a:solidFill>
                  <a:srgbClr val="FF0000"/>
                </a:solidFill>
              </a:rPr>
              <a:t>: </a:t>
            </a:r>
            <a:r>
              <a:rPr lang="ko-KR" altLang="en-US" sz="800" dirty="0">
                <a:solidFill>
                  <a:srgbClr val="FF0000"/>
                </a:solidFill>
              </a:rPr>
              <a:t>계약 종료일이 이번 </a:t>
            </a:r>
            <a:r>
              <a:rPr lang="en-US" altLang="ko-KR" sz="800" dirty="0">
                <a:solidFill>
                  <a:srgbClr val="FF0000"/>
                </a:solidFill>
              </a:rPr>
              <a:t>1</a:t>
            </a:r>
            <a:r>
              <a:rPr lang="ko-KR" altLang="en-US" sz="800" dirty="0">
                <a:solidFill>
                  <a:srgbClr val="FF0000"/>
                </a:solidFill>
              </a:rPr>
              <a:t>일</a:t>
            </a:r>
            <a:r>
              <a:rPr lang="en-US" altLang="ko-KR" sz="800" dirty="0">
                <a:solidFill>
                  <a:srgbClr val="FF0000"/>
                </a:solidFill>
              </a:rPr>
              <a:t>~31</a:t>
            </a:r>
            <a:r>
              <a:rPr lang="ko-KR" altLang="en-US" sz="800" dirty="0">
                <a:solidFill>
                  <a:srgbClr val="FF0000"/>
                </a:solidFill>
              </a:rPr>
              <a:t>일까지 포함된 유료회원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재계약 완료 카운트 </a:t>
            </a:r>
            <a:r>
              <a:rPr lang="en-US" altLang="ko-KR" sz="800" dirty="0">
                <a:solidFill>
                  <a:srgbClr val="FF0000"/>
                </a:solidFill>
              </a:rPr>
              <a:t>: </a:t>
            </a:r>
            <a:r>
              <a:rPr lang="ko-KR" altLang="en-US" sz="800" dirty="0" err="1">
                <a:solidFill>
                  <a:srgbClr val="FF0000"/>
                </a:solidFill>
              </a:rPr>
              <a:t>구분값이</a:t>
            </a:r>
            <a:r>
              <a:rPr lang="ko-KR" altLang="en-US" sz="800" dirty="0">
                <a:solidFill>
                  <a:srgbClr val="FF0000"/>
                </a:solidFill>
              </a:rPr>
              <a:t> 신규교체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>
                <a:solidFill>
                  <a:srgbClr val="FF0000"/>
                </a:solidFill>
              </a:rPr>
              <a:t>재가입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>
                <a:solidFill>
                  <a:srgbClr val="FF0000"/>
                </a:solidFill>
              </a:rPr>
              <a:t>재가입교체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>
                <a:solidFill>
                  <a:srgbClr val="FF0000"/>
                </a:solidFill>
              </a:rPr>
              <a:t>재가입</a:t>
            </a:r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 err="1">
                <a:solidFill>
                  <a:srgbClr val="FF0000"/>
                </a:solidFill>
              </a:rPr>
              <a:t>돌재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전체 연간 재계약 현황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연간 전체 재계약 대상자와</a:t>
            </a:r>
            <a:endParaRPr lang="en-US" altLang="ko-KR" sz="800" dirty="0"/>
          </a:p>
          <a:p>
            <a:r>
              <a:rPr lang="ko-KR" altLang="en-US" sz="800" dirty="0"/>
              <a:t>그 중 재계약 완료 처리된 </a:t>
            </a:r>
            <a:r>
              <a:rPr lang="ko-KR" altLang="en-US" sz="800" dirty="0" err="1"/>
              <a:t>회원수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/>
              <a:t>계약 종료일 기준</a:t>
            </a:r>
            <a:r>
              <a:rPr lang="en-US" altLang="ko-KR" sz="800" dirty="0"/>
              <a:t>,</a:t>
            </a:r>
            <a:r>
              <a:rPr lang="ko-KR" altLang="en-US" sz="800" dirty="0"/>
              <a:t> 연내 재계약 해야 하는</a:t>
            </a:r>
            <a:endParaRPr lang="en-US" altLang="ko-KR" sz="800" dirty="0"/>
          </a:p>
          <a:p>
            <a:r>
              <a:rPr lang="ko-KR" altLang="en-US" sz="800" dirty="0"/>
              <a:t>차수가 존재하는 회원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담당 재계약 현황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담당 </a:t>
            </a:r>
            <a:r>
              <a:rPr lang="en-US" altLang="ko-KR" sz="800" dirty="0"/>
              <a:t>: </a:t>
            </a:r>
            <a:r>
              <a:rPr lang="ko-KR" altLang="en-US" sz="800" dirty="0"/>
              <a:t>회원정보 </a:t>
            </a:r>
            <a:r>
              <a:rPr lang="en-US" altLang="ko-KR" sz="800" dirty="0"/>
              <a:t>&gt; </a:t>
            </a:r>
            <a:r>
              <a:rPr lang="ko-KR" altLang="en-US" sz="800" dirty="0"/>
              <a:t>부가정보 </a:t>
            </a:r>
            <a:r>
              <a:rPr lang="en-US" altLang="ko-KR" sz="800" dirty="0"/>
              <a:t>&gt; 1</a:t>
            </a:r>
            <a:r>
              <a:rPr lang="ko-KR" altLang="en-US" sz="800" dirty="0"/>
              <a:t>차 담당자</a:t>
            </a:r>
            <a:endParaRPr lang="en-US" altLang="ko-KR" sz="800" dirty="0"/>
          </a:p>
          <a:p>
            <a:r>
              <a:rPr lang="en-US" altLang="ko-KR" sz="800" dirty="0"/>
              <a:t>(=</a:t>
            </a:r>
            <a:r>
              <a:rPr lang="ko-KR" altLang="en-US" sz="800" dirty="0"/>
              <a:t>영업대표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800" dirty="0"/>
              <a:t>CRM </a:t>
            </a:r>
            <a:r>
              <a:rPr lang="ko-KR" altLang="en-US" sz="800" dirty="0"/>
              <a:t>이용자 본인이 영업대표로 지정된</a:t>
            </a:r>
            <a:endParaRPr lang="en-US" altLang="ko-KR" sz="800" dirty="0"/>
          </a:p>
          <a:p>
            <a:r>
              <a:rPr lang="ko-KR" altLang="en-US" sz="800" dirty="0"/>
              <a:t>회원 중 금월 재계약 대상자</a:t>
            </a:r>
            <a:r>
              <a:rPr lang="en-US" altLang="ko-KR" sz="800" dirty="0"/>
              <a:t>(</a:t>
            </a:r>
            <a:r>
              <a:rPr lang="ko-KR" altLang="en-US" sz="800" dirty="0"/>
              <a:t>계약종료일 기준</a:t>
            </a:r>
            <a:r>
              <a:rPr lang="en-US" altLang="ko-KR" sz="800" dirty="0"/>
              <a:t>)</a:t>
            </a:r>
            <a:r>
              <a:rPr lang="ko-KR" altLang="en-US" sz="800" dirty="0"/>
              <a:t>와</a:t>
            </a:r>
            <a:endParaRPr lang="en-US" altLang="ko-KR" sz="800" dirty="0"/>
          </a:p>
          <a:p>
            <a:r>
              <a:rPr lang="ko-KR" altLang="en-US" sz="800" dirty="0"/>
              <a:t>그 중 재계약 완료 처리된 </a:t>
            </a:r>
            <a:r>
              <a:rPr lang="ko-KR" altLang="en-US" sz="800" dirty="0" err="1"/>
              <a:t>회원수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>
                <a:solidFill>
                  <a:srgbClr val="00B0F0"/>
                </a:solidFill>
              </a:rPr>
              <a:t>담당 연간 재계약 현황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담당 </a:t>
            </a:r>
            <a:r>
              <a:rPr lang="en-US" altLang="ko-KR" sz="800" dirty="0"/>
              <a:t>: </a:t>
            </a:r>
            <a:r>
              <a:rPr lang="ko-KR" altLang="en-US" sz="800" dirty="0"/>
              <a:t>회원정보 </a:t>
            </a:r>
            <a:r>
              <a:rPr lang="en-US" altLang="ko-KR" sz="800" dirty="0"/>
              <a:t>&gt; </a:t>
            </a:r>
            <a:r>
              <a:rPr lang="ko-KR" altLang="en-US" sz="800" dirty="0"/>
              <a:t>부가정보 </a:t>
            </a:r>
            <a:r>
              <a:rPr lang="en-US" altLang="ko-KR" sz="800" dirty="0"/>
              <a:t>&gt; 1</a:t>
            </a:r>
            <a:r>
              <a:rPr lang="ko-KR" altLang="en-US" sz="800" dirty="0"/>
              <a:t>차 담당자</a:t>
            </a:r>
            <a:endParaRPr lang="en-US" altLang="ko-KR" sz="800" dirty="0"/>
          </a:p>
          <a:p>
            <a:r>
              <a:rPr lang="en-US" altLang="ko-KR" sz="800" dirty="0"/>
              <a:t>(=</a:t>
            </a:r>
            <a:r>
              <a:rPr lang="ko-KR" altLang="en-US" sz="800" dirty="0"/>
              <a:t>영업대표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800" dirty="0"/>
              <a:t>CRM </a:t>
            </a:r>
            <a:r>
              <a:rPr lang="ko-KR" altLang="en-US" sz="800" dirty="0"/>
              <a:t>이용자 본인이 영업대표로 지정된</a:t>
            </a:r>
            <a:endParaRPr lang="en-US" altLang="ko-KR" sz="800" dirty="0"/>
          </a:p>
          <a:p>
            <a:r>
              <a:rPr lang="ko-KR" altLang="en-US" sz="800" dirty="0"/>
              <a:t>회원 중 연간 전체 재계약 대상자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/>
              <a:t>계약종료일 기준</a:t>
            </a:r>
            <a:r>
              <a:rPr lang="en-US" altLang="ko-KR" sz="800" dirty="0"/>
              <a:t>)</a:t>
            </a:r>
            <a:r>
              <a:rPr lang="ko-KR" altLang="en-US" sz="800" dirty="0"/>
              <a:t>와</a:t>
            </a:r>
            <a:endParaRPr lang="en-US" altLang="ko-KR" sz="800" dirty="0"/>
          </a:p>
          <a:p>
            <a:r>
              <a:rPr lang="ko-KR" altLang="en-US" sz="800" dirty="0"/>
              <a:t>그 중 재계약 완료 처리된 </a:t>
            </a:r>
            <a:r>
              <a:rPr lang="ko-KR" altLang="en-US" sz="800" dirty="0" err="1"/>
              <a:t>회원수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[5] </a:t>
            </a:r>
            <a:r>
              <a:rPr lang="ko-KR" altLang="en-US" sz="1000" b="1" dirty="0">
                <a:solidFill>
                  <a:srgbClr val="00B0F0"/>
                </a:solidFill>
              </a:rPr>
              <a:t>재계약 만료일 기준 리스트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기본 리스트는 </a:t>
            </a:r>
            <a:r>
              <a:rPr lang="en-US" altLang="ko-KR" sz="800" dirty="0"/>
              <a:t>“</a:t>
            </a:r>
            <a:r>
              <a:rPr lang="ko-KR" altLang="en-US" sz="800" dirty="0"/>
              <a:t>나의 재계약 회원</a:t>
            </a:r>
            <a:r>
              <a:rPr lang="en-US" altLang="ko-KR" sz="800" dirty="0"/>
              <a:t>”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[6] </a:t>
            </a:r>
            <a:r>
              <a:rPr lang="ko-KR" altLang="en-US" sz="1000" b="1" dirty="0">
                <a:solidFill>
                  <a:srgbClr val="00B0F0"/>
                </a:solidFill>
              </a:rPr>
              <a:t>재계약 회원 리스트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/>
              <a:t>D-30</a:t>
            </a:r>
            <a:r>
              <a:rPr lang="ko-KR" altLang="en-US" sz="800" dirty="0"/>
              <a:t>일까지 </a:t>
            </a:r>
            <a:r>
              <a:rPr lang="ko-KR" altLang="en-US" sz="800" dirty="0" err="1"/>
              <a:t>리스트업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아이디 혹은 </a:t>
            </a:r>
            <a:r>
              <a:rPr lang="ko-KR" altLang="en-US" sz="800" dirty="0" err="1"/>
              <a:t>법인명을</a:t>
            </a:r>
            <a:r>
              <a:rPr lang="ko-KR" altLang="en-US" sz="800" dirty="0"/>
              <a:t> 클릭하여 상세 정보 조회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[7] </a:t>
            </a:r>
            <a:r>
              <a:rPr lang="ko-KR" altLang="en-US" sz="1000" b="1" dirty="0">
                <a:solidFill>
                  <a:srgbClr val="00B0F0"/>
                </a:solidFill>
              </a:rPr>
              <a:t>월 재계약 대상 법인 현황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해당 월 재계약 대상 </a:t>
            </a:r>
            <a:r>
              <a:rPr lang="ko-KR" altLang="en-US" sz="800" dirty="0" err="1"/>
              <a:t>회사수와</a:t>
            </a:r>
            <a:endParaRPr lang="en-US" altLang="ko-KR" sz="800" dirty="0"/>
          </a:p>
          <a:p>
            <a:r>
              <a:rPr lang="ko-KR" altLang="en-US" sz="800" dirty="0"/>
              <a:t>재계약 완료 처리된 </a:t>
            </a:r>
            <a:r>
              <a:rPr lang="ko-KR" altLang="en-US" sz="800" dirty="0" err="1"/>
              <a:t>회사수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[8] </a:t>
            </a:r>
            <a:r>
              <a:rPr lang="ko-KR" altLang="en-US" sz="1000" b="1" dirty="0">
                <a:solidFill>
                  <a:srgbClr val="00B0F0"/>
                </a:solidFill>
              </a:rPr>
              <a:t>월 재계약 대상 개인회원 현황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해당 월 재계약 대상 </a:t>
            </a:r>
            <a:r>
              <a:rPr lang="ko-KR" altLang="en-US" sz="800" dirty="0" err="1"/>
              <a:t>개인회원수와</a:t>
            </a:r>
            <a:endParaRPr lang="en-US" altLang="ko-KR" sz="800" dirty="0"/>
          </a:p>
          <a:p>
            <a:r>
              <a:rPr lang="ko-KR" altLang="en-US" sz="800" dirty="0"/>
              <a:t>재계약 완료 처리된 </a:t>
            </a:r>
            <a:r>
              <a:rPr lang="ko-KR" altLang="en-US" sz="800" dirty="0" err="1"/>
              <a:t>개인회원수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</p:txBody>
      </p:sp>
      <p:sp>
        <p:nvSpPr>
          <p:cNvPr id="61" name="직사각형 60"/>
          <p:cNvSpPr/>
          <p:nvPr/>
        </p:nvSpPr>
        <p:spPr>
          <a:xfrm>
            <a:off x="7726685" y="3006925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7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7725992" y="320931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8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330426"/>
              </p:ext>
            </p:extLst>
          </p:nvPr>
        </p:nvGraphicFramePr>
        <p:xfrm>
          <a:off x="668987" y="2982526"/>
          <a:ext cx="5595626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5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재계약 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baseline="0" dirty="0"/>
                        <a:t>명 중 </a:t>
                      </a:r>
                      <a:r>
                        <a:rPr lang="en-US" altLang="ko-KR" sz="800" u="sng" baseline="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baseline="0" dirty="0"/>
                        <a:t>명 완료</a:t>
                      </a:r>
                      <a:r>
                        <a:rPr lang="en-US" altLang="ko-KR" sz="800" baseline="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</a:t>
                      </a:r>
                      <a:r>
                        <a:rPr lang="ko-KR" altLang="en-US" sz="800"/>
                        <a:t>연간 재계약 </a:t>
                      </a:r>
                      <a:r>
                        <a:rPr lang="ko-KR" altLang="en-US" sz="800" dirty="0"/>
                        <a:t>현황</a:t>
                      </a:r>
                    </a:p>
                  </a:txBody>
                  <a:tcPr marL="36000" marR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00,000</a:t>
                      </a:r>
                      <a:r>
                        <a:rPr lang="ko-KR" altLang="en-US" sz="800" dirty="0"/>
                        <a:t>명 중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dirty="0"/>
                        <a:t>명 완료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00B0F0"/>
                          </a:solidFill>
                        </a:rPr>
                        <a:t>홍길동</a:t>
                      </a:r>
                      <a:r>
                        <a:rPr lang="ko-KR" altLang="en-US" sz="800" dirty="0">
                          <a:solidFill>
                            <a:schemeClr val="accent1"/>
                          </a:solidFill>
                        </a:rPr>
                        <a:t> </a:t>
                      </a:r>
                      <a:r>
                        <a:rPr lang="ko-KR" altLang="en-US" sz="800" dirty="0"/>
                        <a:t>재계약 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baseline="0" dirty="0"/>
                        <a:t>명 중 </a:t>
                      </a:r>
                      <a:r>
                        <a:rPr lang="en-US" altLang="ko-KR" sz="800" u="sng" baseline="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baseline="0" dirty="0"/>
                        <a:t>명 완료</a:t>
                      </a:r>
                      <a:r>
                        <a:rPr lang="en-US" altLang="ko-KR" sz="800" baseline="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00B0F0"/>
                          </a:solidFill>
                        </a:rPr>
                        <a:t>홍길동</a:t>
                      </a:r>
                      <a:r>
                        <a:rPr lang="ko-KR" altLang="en-US" sz="800" dirty="0"/>
                        <a:t> 연간 재계약 현황</a:t>
                      </a:r>
                    </a:p>
                  </a:txBody>
                  <a:tcPr marL="36000" marR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00,000</a:t>
                      </a:r>
                      <a:r>
                        <a:rPr lang="ko-KR" altLang="en-US" sz="800" dirty="0"/>
                        <a:t>명 중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dirty="0"/>
                        <a:t>명 완료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131450"/>
              </p:ext>
            </p:extLst>
          </p:nvPr>
        </p:nvGraphicFramePr>
        <p:xfrm>
          <a:off x="6440701" y="1125189"/>
          <a:ext cx="3172764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3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정회원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온라인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매거진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월회원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리움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프리미엄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756334"/>
              </p:ext>
            </p:extLst>
          </p:nvPr>
        </p:nvGraphicFramePr>
        <p:xfrm>
          <a:off x="6492993" y="2982526"/>
          <a:ext cx="309218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9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350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rgbClr val="00B0F0"/>
                          </a:solidFill>
                        </a:rPr>
                        <a:t>홍길동</a:t>
                      </a:r>
                      <a:endParaRPr lang="en-US" altLang="ko-KR" sz="800" dirty="0">
                        <a:solidFill>
                          <a:srgbClr val="00B0F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800" dirty="0"/>
                        <a:t>재계약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현황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dirty="0"/>
                        <a:t>개 중 </a:t>
                      </a: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</a:t>
                      </a:r>
                      <a:r>
                        <a:rPr lang="ko-KR" altLang="en-US" sz="800" dirty="0"/>
                        <a:t>개 완료 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dirty="0"/>
                        <a:t>명 중 </a:t>
                      </a: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</a:t>
                      </a:r>
                      <a:r>
                        <a:rPr lang="ko-KR" altLang="en-US" sz="800" dirty="0"/>
                        <a:t>명 완료 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116976"/>
              </p:ext>
            </p:extLst>
          </p:nvPr>
        </p:nvGraphicFramePr>
        <p:xfrm>
          <a:off x="668987" y="3706346"/>
          <a:ext cx="885634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8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7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1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1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9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9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571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no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아이디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 만료일 ▼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대상자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담당자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메모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test1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0000.00.00.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(+10)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온라인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test2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0000.00.00. (+2)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test3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0000.00.00.(-3)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test4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이순신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0000.00.00.(-11)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매거진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test5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0000.00.00.(-12)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611254" y="3490226"/>
            <a:ext cx="20008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○ 전체   ● 영업대표                      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1794839" y="3527231"/>
            <a:ext cx="680936" cy="123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홍길동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2520406" y="3527231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8734" y="3301203"/>
            <a:ext cx="2499402" cy="600164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rgbClr val="FF0000"/>
                </a:solidFill>
              </a:rPr>
              <a:t>영업대표가 아닌 계정으로 로그인시 </a:t>
            </a:r>
            <a:endParaRPr lang="en-US" altLang="ko-KR" sz="1100" b="1" dirty="0">
              <a:solidFill>
                <a:srgbClr val="FF0000"/>
              </a:solidFill>
            </a:endParaRPr>
          </a:p>
          <a:p>
            <a:r>
              <a:rPr lang="en-US" altLang="ko-KR" sz="1100" b="1" dirty="0">
                <a:solidFill>
                  <a:srgbClr val="FF0000"/>
                </a:solidFill>
              </a:rPr>
              <a:t>-&gt; </a:t>
            </a:r>
            <a:r>
              <a:rPr lang="ko-KR" altLang="en-US" sz="1100" b="1" dirty="0">
                <a:solidFill>
                  <a:srgbClr val="FF0000"/>
                </a:solidFill>
              </a:rPr>
              <a:t>계산식에 의해 </a:t>
            </a:r>
            <a:r>
              <a:rPr lang="en-US" altLang="ko-KR" sz="1100" b="1" dirty="0">
                <a:solidFill>
                  <a:srgbClr val="FF0000"/>
                </a:solidFill>
              </a:rPr>
              <a:t>0</a:t>
            </a:r>
            <a:r>
              <a:rPr lang="ko-KR" altLang="en-US" sz="1100" b="1" dirty="0">
                <a:solidFill>
                  <a:srgbClr val="FF0000"/>
                </a:solidFill>
              </a:rPr>
              <a:t>으로 표기</a:t>
            </a:r>
            <a:endParaRPr lang="en-US" altLang="ko-KR" sz="1100" b="1" dirty="0">
              <a:solidFill>
                <a:srgbClr val="FF0000"/>
              </a:solidFill>
            </a:endParaRPr>
          </a:p>
          <a:p>
            <a:r>
              <a:rPr lang="en-US" altLang="ko-KR" sz="1100" b="1" dirty="0">
                <a:solidFill>
                  <a:srgbClr val="FF0000"/>
                </a:solidFill>
              </a:rPr>
              <a:t>-&gt; CRM </a:t>
            </a:r>
            <a:r>
              <a:rPr lang="ko-KR" altLang="en-US" sz="1100" b="1" dirty="0">
                <a:solidFill>
                  <a:srgbClr val="FF0000"/>
                </a:solidFill>
              </a:rPr>
              <a:t>계정에 </a:t>
            </a:r>
            <a:r>
              <a:rPr lang="ko-KR" altLang="en-US" sz="1100" b="1" dirty="0" err="1">
                <a:solidFill>
                  <a:srgbClr val="FF0000"/>
                </a:solidFill>
              </a:rPr>
              <a:t>사번</a:t>
            </a:r>
            <a:r>
              <a:rPr lang="ko-KR" altLang="en-US" sz="1100" b="1" dirty="0">
                <a:solidFill>
                  <a:srgbClr val="FF0000"/>
                </a:solidFill>
              </a:rPr>
              <a:t> 정보 연동 필요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165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07822" y="33279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907822" y="73529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0604310" y="73529"/>
            <a:ext cx="151971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966300" y="591381"/>
            <a:ext cx="2157721" cy="621070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접속 메인 구성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Main &gt; Main(B2B)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8498" y="684646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□ 이용현황</a:t>
            </a:r>
            <a:endParaRPr lang="en-US" altLang="ko-KR" sz="1200" dirty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662502" y="1131027"/>
          <a:ext cx="5602111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3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유료회원</a:t>
                      </a:r>
                      <a:endParaRPr lang="en-US" altLang="ko-KR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전체회원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유료</a:t>
                      </a:r>
                      <a:r>
                        <a:rPr lang="en-US" altLang="ko-KR" sz="800" dirty="0"/>
                        <a:t>+</a:t>
                      </a:r>
                      <a:r>
                        <a:rPr lang="ko-KR" altLang="en-US" sz="800" dirty="0"/>
                        <a:t>무료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신규회원</a:t>
                      </a:r>
                      <a:endParaRPr lang="en-US" altLang="ko-KR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탈퇴회원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접속자수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접속률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동영상시청자수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동영상시청률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조회수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인당 조회수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이용시간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분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인당 이용시간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분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36073" y="2705527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□ 재계약현황</a:t>
            </a:r>
            <a:endParaRPr lang="en-US" altLang="ko-KR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536073" y="5323023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□ 매출현황 </a:t>
            </a:r>
            <a:endParaRPr lang="en-US" altLang="ko-KR" sz="1200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/>
        </p:nvGraphicFramePr>
        <p:xfrm>
          <a:off x="662501" y="5792279"/>
          <a:ext cx="5602112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8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확정매출</a:t>
                      </a:r>
                      <a:r>
                        <a:rPr lang="ko-KR" altLang="en-US" sz="500" dirty="0"/>
                        <a:t> </a:t>
                      </a:r>
                      <a:r>
                        <a:rPr lang="en-US" altLang="ko-KR" sz="500" dirty="0"/>
                        <a:t>(MIS </a:t>
                      </a:r>
                      <a:r>
                        <a:rPr lang="ko-KR" altLang="en-US" sz="500" dirty="0"/>
                        <a:t>연동 완료</a:t>
                      </a:r>
                      <a:r>
                        <a:rPr lang="en-US" altLang="ko-KR" sz="500" dirty="0"/>
                        <a:t>)</a:t>
                      </a:r>
                      <a:endParaRPr lang="ko-KR" altLang="en-US" sz="5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미확정매출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500" dirty="0"/>
                        <a:t>(MIS </a:t>
                      </a:r>
                      <a:r>
                        <a:rPr lang="ko-KR" altLang="en-US" sz="500" dirty="0" err="1"/>
                        <a:t>미연동</a:t>
                      </a:r>
                      <a:r>
                        <a:rPr lang="en-US" altLang="ko-KR" sz="500" dirty="0"/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예상매출 </a:t>
                      </a:r>
                      <a:r>
                        <a:rPr lang="en-US" altLang="ko-KR" sz="500" dirty="0"/>
                        <a:t>(</a:t>
                      </a:r>
                      <a:r>
                        <a:rPr lang="ko-KR" altLang="en-US" sz="500" dirty="0"/>
                        <a:t>집계용</a:t>
                      </a:r>
                      <a:r>
                        <a:rPr lang="en-US" altLang="ko-KR" sz="500" dirty="0"/>
                        <a:t>)</a:t>
                      </a:r>
                      <a:endParaRPr lang="ko-KR" altLang="en-US" sz="5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직사각형 18"/>
          <p:cNvSpPr/>
          <p:nvPr/>
        </p:nvSpPr>
        <p:spPr>
          <a:xfrm>
            <a:off x="668985" y="951188"/>
            <a:ext cx="518260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249088" y="951189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692797" y="951188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/>
        </p:nvGraphicFramePr>
        <p:xfrm>
          <a:off x="6440701" y="1125189"/>
          <a:ext cx="3172764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3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정회원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프리미엄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리움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온라인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매거진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" name="직사각형 28"/>
          <p:cNvSpPr/>
          <p:nvPr/>
        </p:nvSpPr>
        <p:spPr>
          <a:xfrm>
            <a:off x="662501" y="5600022"/>
            <a:ext cx="518260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242604" y="5600023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686313" y="5600022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953995" y="591381"/>
            <a:ext cx="169469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</a:t>
            </a:r>
            <a:r>
              <a:rPr lang="ko-KR" altLang="en-US" sz="1000" b="1" dirty="0">
                <a:solidFill>
                  <a:srgbClr val="00B0F0"/>
                </a:solidFill>
              </a:rPr>
              <a:t>재계약 </a:t>
            </a:r>
            <a:r>
              <a:rPr lang="ko-KR" altLang="en-US" sz="1000" b="1" dirty="0" err="1">
                <a:solidFill>
                  <a:srgbClr val="00B0F0"/>
                </a:solidFill>
              </a:rPr>
              <a:t>회원수</a:t>
            </a:r>
            <a:r>
              <a:rPr lang="ko-KR" altLang="en-US" sz="1000" b="1" dirty="0">
                <a:solidFill>
                  <a:srgbClr val="00B0F0"/>
                </a:solidFill>
              </a:rPr>
              <a:t> 상세 팝업</a:t>
            </a:r>
            <a:r>
              <a:rPr lang="en-US" altLang="ko-KR" sz="1000" b="1" dirty="0">
                <a:solidFill>
                  <a:srgbClr val="00B0F0"/>
                </a:solidFill>
              </a:rPr>
              <a:t>]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</p:txBody>
      </p:sp>
      <p:sp>
        <p:nvSpPr>
          <p:cNvPr id="42" name="왼쪽 중괄호 41"/>
          <p:cNvSpPr/>
          <p:nvPr/>
        </p:nvSpPr>
        <p:spPr>
          <a:xfrm>
            <a:off x="454300" y="3006925"/>
            <a:ext cx="156954" cy="396571"/>
          </a:xfrm>
          <a:prstGeom prst="leftBrace">
            <a:avLst>
              <a:gd name="adj1" fmla="val 136918"/>
              <a:gd name="adj2" fmla="val 50000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꺾인 연결선 42"/>
          <p:cNvCxnSpPr>
            <a:stCxn id="42" idx="1"/>
          </p:cNvCxnSpPr>
          <p:nvPr/>
        </p:nvCxnSpPr>
        <p:spPr>
          <a:xfrm rot="10800000" flipH="1">
            <a:off x="454299" y="2251645"/>
            <a:ext cx="2097609" cy="953567"/>
          </a:xfrm>
          <a:prstGeom prst="bentConnector3">
            <a:avLst>
              <a:gd name="adj1" fmla="val -10898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9525325" y="3705670"/>
            <a:ext cx="59853" cy="103778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3235878" y="302710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235185" y="3229495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7726685" y="3006925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7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7725992" y="320931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8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graphicFrame>
        <p:nvGraphicFramePr>
          <p:cNvPr id="49" name="표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254714"/>
              </p:ext>
            </p:extLst>
          </p:nvPr>
        </p:nvGraphicFramePr>
        <p:xfrm>
          <a:off x="668987" y="2982526"/>
          <a:ext cx="5595626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5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재계약 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baseline="0" dirty="0"/>
                        <a:t>명 중 </a:t>
                      </a:r>
                      <a:r>
                        <a:rPr lang="en-US" altLang="ko-KR" sz="800" u="sng" baseline="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baseline="0" dirty="0"/>
                        <a:t>명 완료</a:t>
                      </a:r>
                      <a:r>
                        <a:rPr lang="en-US" altLang="ko-KR" sz="800" baseline="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</a:t>
                      </a:r>
                      <a:r>
                        <a:rPr lang="ko-KR" altLang="en-US" sz="800"/>
                        <a:t>연간 재계약 </a:t>
                      </a:r>
                      <a:r>
                        <a:rPr lang="ko-KR" altLang="en-US" sz="800" dirty="0"/>
                        <a:t>현황</a:t>
                      </a:r>
                    </a:p>
                  </a:txBody>
                  <a:tcPr marL="36000" marR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00,000</a:t>
                      </a:r>
                      <a:r>
                        <a:rPr lang="ko-KR" altLang="en-US" sz="800" dirty="0"/>
                        <a:t>명 중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dirty="0"/>
                        <a:t>명 완료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00B0F0"/>
                          </a:solidFill>
                        </a:rPr>
                        <a:t>홍길동</a:t>
                      </a:r>
                      <a:r>
                        <a:rPr lang="ko-KR" altLang="en-US" sz="800" dirty="0">
                          <a:solidFill>
                            <a:schemeClr val="accent1"/>
                          </a:solidFill>
                        </a:rPr>
                        <a:t> </a:t>
                      </a:r>
                      <a:r>
                        <a:rPr lang="ko-KR" altLang="en-US" sz="800" dirty="0"/>
                        <a:t>재계약 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baseline="0" dirty="0"/>
                        <a:t>명 중 </a:t>
                      </a:r>
                      <a:r>
                        <a:rPr lang="en-US" altLang="ko-KR" sz="800" u="sng" baseline="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baseline="0" dirty="0"/>
                        <a:t>명 완료</a:t>
                      </a:r>
                      <a:r>
                        <a:rPr lang="en-US" altLang="ko-KR" sz="800" baseline="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00B0F0"/>
                          </a:solidFill>
                        </a:rPr>
                        <a:t>홍길동</a:t>
                      </a:r>
                      <a:r>
                        <a:rPr lang="ko-KR" altLang="en-US" sz="800" dirty="0"/>
                        <a:t> 연간 재계약 현황</a:t>
                      </a:r>
                    </a:p>
                  </a:txBody>
                  <a:tcPr marL="36000" marR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00,000</a:t>
                      </a:r>
                      <a:r>
                        <a:rPr lang="ko-KR" altLang="en-US" sz="800" dirty="0"/>
                        <a:t>명 중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dirty="0"/>
                        <a:t>명 완료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" name="표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786744"/>
              </p:ext>
            </p:extLst>
          </p:nvPr>
        </p:nvGraphicFramePr>
        <p:xfrm>
          <a:off x="6492993" y="2982526"/>
          <a:ext cx="309218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9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350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rgbClr val="00B0F0"/>
                          </a:solidFill>
                        </a:rPr>
                        <a:t>홍길동</a:t>
                      </a:r>
                      <a:endParaRPr lang="en-US" altLang="ko-KR" sz="800" dirty="0">
                        <a:solidFill>
                          <a:srgbClr val="00B0F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800" dirty="0"/>
                        <a:t>재계약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현황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dirty="0"/>
                        <a:t>개 중 </a:t>
                      </a: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</a:t>
                      </a:r>
                      <a:r>
                        <a:rPr lang="ko-KR" altLang="en-US" sz="800" dirty="0"/>
                        <a:t>개 완료 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dirty="0"/>
                        <a:t>명 중 </a:t>
                      </a: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</a:t>
                      </a:r>
                      <a:r>
                        <a:rPr lang="ko-KR" altLang="en-US" sz="800" dirty="0"/>
                        <a:t>명 완료 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370493"/>
              </p:ext>
            </p:extLst>
          </p:nvPr>
        </p:nvGraphicFramePr>
        <p:xfrm>
          <a:off x="668987" y="3706346"/>
          <a:ext cx="885634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8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7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1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1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9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9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571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no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아이디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 만료일 ▼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대상자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담당자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메모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test1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0000.00.00.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(+10)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온라인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test2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0000.00.00. (+2)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test3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0000.00.00.(-3)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test4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이순신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0000.00.00.(-11)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매거진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test5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0000.00.00.(-12)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611254" y="3490226"/>
            <a:ext cx="20008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○ 전체   ● 영업대표                      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1794839" y="3527231"/>
            <a:ext cx="680936" cy="123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홍길동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2520406" y="3527231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2551909" y="814986"/>
            <a:ext cx="6850770" cy="578136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646301" y="1259930"/>
            <a:ext cx="1760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회원현황</a:t>
            </a:r>
            <a:r>
              <a:rPr lang="en-US" altLang="ko-KR" sz="1200" dirty="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YYYY.MM  </a:t>
            </a:r>
            <a:r>
              <a:rPr lang="ko-KR" altLang="en-US" sz="1200" dirty="0"/>
              <a:t>총 </a:t>
            </a:r>
            <a:r>
              <a:rPr lang="en-US" altLang="ko-KR" sz="1200" dirty="0"/>
              <a:t>00,000</a:t>
            </a:r>
            <a:r>
              <a:rPr lang="ko-KR" altLang="en-US" sz="1200" dirty="0"/>
              <a:t>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06710" y="1953704"/>
            <a:ext cx="6808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회원구분    아이디    이름     회사명     계약시작일   계약종료일   서비스 시작일   서비스 종료일          영업대표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2761316" y="930695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46301" y="6101720"/>
            <a:ext cx="16399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Total 000      Page</a:t>
            </a:r>
            <a:r>
              <a:rPr lang="ko-KR" altLang="en-US" sz="800" dirty="0"/>
              <a:t> </a:t>
            </a:r>
            <a:r>
              <a:rPr lang="en-US" altLang="ko-KR" sz="800" dirty="0"/>
              <a:t>000   </a:t>
            </a:r>
            <a:endParaRPr lang="ko-KR" altLang="en-US" sz="800" dirty="0"/>
          </a:p>
        </p:txBody>
      </p:sp>
      <p:sp>
        <p:nvSpPr>
          <p:cNvPr id="66" name="TextBox 65"/>
          <p:cNvSpPr txBox="1"/>
          <p:nvPr/>
        </p:nvSpPr>
        <p:spPr>
          <a:xfrm>
            <a:off x="7304204" y="6101213"/>
            <a:ext cx="15231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◀  </a:t>
            </a:r>
            <a:r>
              <a:rPr lang="en-US" altLang="ko-KR" sz="800" dirty="0"/>
              <a:t>1 2 3 4 5 6 7 8 9 10   </a:t>
            </a:r>
            <a:r>
              <a:rPr lang="ko-KR" altLang="en-US" sz="800" dirty="0"/>
              <a:t>▶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8852866" y="6129573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50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8387435" y="6383283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닫기</a:t>
            </a:r>
          </a:p>
        </p:txBody>
      </p:sp>
    </p:spTree>
    <p:extLst>
      <p:ext uri="{BB962C8B-B14F-4D97-AF65-F5344CB8AC3E}">
        <p14:creationId xmlns:p14="http://schemas.microsoft.com/office/powerpoint/2010/main" val="3121542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07822" y="33279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907822" y="73529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0604310" y="73529"/>
            <a:ext cx="151971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966300" y="591381"/>
            <a:ext cx="2157721" cy="621070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접속 메인 구성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Main &gt; Main(B2B)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8498" y="684646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□ 이용현황</a:t>
            </a:r>
            <a:endParaRPr lang="en-US" altLang="ko-KR" sz="1200" dirty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662502" y="1131027"/>
          <a:ext cx="5602111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3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유료회원</a:t>
                      </a:r>
                      <a:endParaRPr lang="en-US" altLang="ko-KR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전체회원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유료</a:t>
                      </a:r>
                      <a:r>
                        <a:rPr lang="en-US" altLang="ko-KR" sz="800" dirty="0"/>
                        <a:t>+</a:t>
                      </a:r>
                      <a:r>
                        <a:rPr lang="ko-KR" altLang="en-US" sz="800" dirty="0"/>
                        <a:t>무료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신규회원</a:t>
                      </a:r>
                      <a:endParaRPr lang="en-US" altLang="ko-KR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탈퇴회원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/>
                        <a:t>00,000</a:t>
                      </a:r>
                      <a:r>
                        <a:rPr lang="en-US" altLang="ko-KR" sz="800" u="none" baseline="0" dirty="0"/>
                        <a:t> (+000)</a:t>
                      </a:r>
                      <a:endParaRPr lang="ko-KR" altLang="en-US" sz="800" u="none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접속자수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접속률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동영상시청자수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동영상시청률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조회수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인당 조회수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이용시간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분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인당 이용시간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분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36073" y="2705527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□ 재계약현황</a:t>
            </a:r>
            <a:endParaRPr lang="en-US" altLang="ko-KR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536073" y="5323023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□ 매출현황 </a:t>
            </a:r>
            <a:endParaRPr lang="en-US" altLang="ko-KR" sz="1200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/>
        </p:nvGraphicFramePr>
        <p:xfrm>
          <a:off x="662501" y="5792279"/>
          <a:ext cx="5602112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8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확정매출</a:t>
                      </a:r>
                      <a:r>
                        <a:rPr lang="ko-KR" altLang="en-US" sz="500" dirty="0"/>
                        <a:t> </a:t>
                      </a:r>
                      <a:r>
                        <a:rPr lang="en-US" altLang="ko-KR" sz="500" dirty="0"/>
                        <a:t>(MIS </a:t>
                      </a:r>
                      <a:r>
                        <a:rPr lang="ko-KR" altLang="en-US" sz="500" dirty="0"/>
                        <a:t>연동 완료</a:t>
                      </a:r>
                      <a:r>
                        <a:rPr lang="en-US" altLang="ko-KR" sz="500" dirty="0"/>
                        <a:t>)</a:t>
                      </a:r>
                      <a:endParaRPr lang="ko-KR" altLang="en-US" sz="5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미확정매출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500" dirty="0"/>
                        <a:t>(MIS </a:t>
                      </a:r>
                      <a:r>
                        <a:rPr lang="ko-KR" altLang="en-US" sz="500" dirty="0" err="1"/>
                        <a:t>미연동</a:t>
                      </a:r>
                      <a:r>
                        <a:rPr lang="en-US" altLang="ko-KR" sz="500" dirty="0"/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예상매출 </a:t>
                      </a:r>
                      <a:r>
                        <a:rPr lang="en-US" altLang="ko-KR" sz="500" dirty="0"/>
                        <a:t>(</a:t>
                      </a:r>
                      <a:r>
                        <a:rPr lang="ko-KR" altLang="en-US" sz="500" dirty="0"/>
                        <a:t>집계용</a:t>
                      </a:r>
                      <a:r>
                        <a:rPr lang="en-US" altLang="ko-KR" sz="500" dirty="0"/>
                        <a:t>)</a:t>
                      </a:r>
                      <a:endParaRPr lang="ko-KR" altLang="en-US" sz="5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직사각형 18"/>
          <p:cNvSpPr/>
          <p:nvPr/>
        </p:nvSpPr>
        <p:spPr>
          <a:xfrm>
            <a:off x="668985" y="951188"/>
            <a:ext cx="518260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249088" y="951189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692797" y="951188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662501" y="5600022"/>
            <a:ext cx="518260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242604" y="5600023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686313" y="5600022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953995" y="591381"/>
            <a:ext cx="20778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</a:t>
            </a:r>
            <a:r>
              <a:rPr lang="ko-KR" altLang="en-US" sz="1000" b="1" dirty="0">
                <a:solidFill>
                  <a:srgbClr val="00B0F0"/>
                </a:solidFill>
              </a:rPr>
              <a:t>재계약 리스트에서 회원 클릭 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00B0F0"/>
                </a:solidFill>
              </a:rPr>
              <a:t>상세 팝업</a:t>
            </a:r>
            <a:r>
              <a:rPr lang="en-US" altLang="ko-KR" sz="1000" b="1" dirty="0">
                <a:solidFill>
                  <a:srgbClr val="00B0F0"/>
                </a:solidFill>
              </a:rPr>
              <a:t>]</a:t>
            </a: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계약정보 읽기</a:t>
            </a:r>
            <a:r>
              <a:rPr lang="en-US" altLang="ko-KR" sz="800" dirty="0"/>
              <a:t> +</a:t>
            </a:r>
          </a:p>
          <a:p>
            <a:r>
              <a:rPr lang="ko-KR" altLang="en-US" sz="800" dirty="0"/>
              <a:t>계약 추가</a:t>
            </a:r>
            <a:r>
              <a:rPr lang="en-US" altLang="ko-KR" sz="800" dirty="0"/>
              <a:t>, </a:t>
            </a:r>
            <a:r>
              <a:rPr lang="ko-KR" altLang="en-US" sz="800" dirty="0" err="1"/>
              <a:t>컨택</a:t>
            </a:r>
            <a:r>
              <a:rPr lang="ko-KR" altLang="en-US" sz="800" dirty="0"/>
              <a:t> 기능</a:t>
            </a:r>
            <a:endParaRPr lang="en-US" altLang="ko-KR" sz="800" dirty="0"/>
          </a:p>
        </p:txBody>
      </p:sp>
      <p:sp>
        <p:nvSpPr>
          <p:cNvPr id="25" name="왼쪽 중괄호 24"/>
          <p:cNvSpPr/>
          <p:nvPr/>
        </p:nvSpPr>
        <p:spPr>
          <a:xfrm>
            <a:off x="466928" y="3962400"/>
            <a:ext cx="161390" cy="934237"/>
          </a:xfrm>
          <a:prstGeom prst="leftBrace">
            <a:avLst>
              <a:gd name="adj1" fmla="val 136918"/>
              <a:gd name="adj2" fmla="val 50000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9525325" y="3705670"/>
            <a:ext cx="59853" cy="103778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628317" y="4999857"/>
            <a:ext cx="16399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Total 000      Page</a:t>
            </a:r>
            <a:r>
              <a:rPr lang="ko-KR" altLang="en-US" sz="800" dirty="0"/>
              <a:t> </a:t>
            </a:r>
            <a:r>
              <a:rPr lang="en-US" altLang="ko-KR" sz="800" dirty="0"/>
              <a:t>000   </a:t>
            </a:r>
            <a:endParaRPr lang="ko-KR" altLang="en-US" sz="800" dirty="0"/>
          </a:p>
        </p:txBody>
      </p:sp>
      <p:sp>
        <p:nvSpPr>
          <p:cNvPr id="52" name="직사각형 51"/>
          <p:cNvSpPr/>
          <p:nvPr/>
        </p:nvSpPr>
        <p:spPr>
          <a:xfrm>
            <a:off x="3235878" y="302710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3235185" y="3229495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7726685" y="3006925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7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7725992" y="320931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8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graphicFrame>
        <p:nvGraphicFramePr>
          <p:cNvPr id="59" name="표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257102"/>
              </p:ext>
            </p:extLst>
          </p:nvPr>
        </p:nvGraphicFramePr>
        <p:xfrm>
          <a:off x="668987" y="2982526"/>
          <a:ext cx="5595626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5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재계약 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baseline="0" dirty="0"/>
                        <a:t>명 중 </a:t>
                      </a:r>
                      <a:r>
                        <a:rPr lang="en-US" altLang="ko-KR" sz="800" u="sng" baseline="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baseline="0" dirty="0"/>
                        <a:t>명 완료</a:t>
                      </a:r>
                      <a:r>
                        <a:rPr lang="en-US" altLang="ko-KR" sz="800" baseline="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전체 </a:t>
                      </a:r>
                      <a:r>
                        <a:rPr lang="ko-KR" altLang="en-US" sz="800"/>
                        <a:t>연간 재계약 </a:t>
                      </a:r>
                      <a:r>
                        <a:rPr lang="ko-KR" altLang="en-US" sz="800" dirty="0"/>
                        <a:t>현황</a:t>
                      </a:r>
                    </a:p>
                  </a:txBody>
                  <a:tcPr marL="36000" marR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00,000</a:t>
                      </a:r>
                      <a:r>
                        <a:rPr lang="ko-KR" altLang="en-US" sz="800" dirty="0"/>
                        <a:t>명 중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dirty="0"/>
                        <a:t>명 완료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00B0F0"/>
                          </a:solidFill>
                        </a:rPr>
                        <a:t>홍길동</a:t>
                      </a:r>
                      <a:r>
                        <a:rPr lang="ko-KR" altLang="en-US" sz="800" dirty="0">
                          <a:solidFill>
                            <a:schemeClr val="accent1"/>
                          </a:solidFill>
                        </a:rPr>
                        <a:t> </a:t>
                      </a:r>
                      <a:r>
                        <a:rPr lang="ko-KR" altLang="en-US" sz="800" dirty="0"/>
                        <a:t>재계약 현황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baseline="0" dirty="0"/>
                        <a:t>명 중 </a:t>
                      </a:r>
                      <a:r>
                        <a:rPr lang="en-US" altLang="ko-KR" sz="800" u="sng" baseline="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baseline="0" dirty="0"/>
                        <a:t>명 완료</a:t>
                      </a:r>
                      <a:r>
                        <a:rPr lang="en-US" altLang="ko-KR" sz="800" baseline="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00B0F0"/>
                          </a:solidFill>
                        </a:rPr>
                        <a:t>홍길동</a:t>
                      </a:r>
                      <a:r>
                        <a:rPr lang="ko-KR" altLang="en-US" sz="800" dirty="0"/>
                        <a:t> 연간 재계약 현황</a:t>
                      </a:r>
                    </a:p>
                  </a:txBody>
                  <a:tcPr marL="36000" marR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00,000</a:t>
                      </a:r>
                      <a:r>
                        <a:rPr lang="ko-KR" altLang="en-US" sz="800" dirty="0"/>
                        <a:t>명 중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0,000</a:t>
                      </a:r>
                      <a:r>
                        <a:rPr lang="ko-KR" altLang="en-US" sz="800" dirty="0"/>
                        <a:t>명 완료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3" name="표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91178"/>
              </p:ext>
            </p:extLst>
          </p:nvPr>
        </p:nvGraphicFramePr>
        <p:xfrm>
          <a:off x="6492993" y="2982526"/>
          <a:ext cx="309218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9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350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rgbClr val="00B0F0"/>
                          </a:solidFill>
                        </a:rPr>
                        <a:t>홍길동</a:t>
                      </a:r>
                      <a:endParaRPr lang="en-US" altLang="ko-KR" sz="800" dirty="0">
                        <a:solidFill>
                          <a:srgbClr val="00B0F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800" dirty="0"/>
                        <a:t>재계약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현황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dirty="0"/>
                        <a:t>개 중 </a:t>
                      </a: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</a:t>
                      </a:r>
                      <a:r>
                        <a:rPr lang="ko-KR" altLang="en-US" sz="800" dirty="0"/>
                        <a:t>개 완료 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</a:t>
                      </a:r>
                      <a:r>
                        <a:rPr lang="ko-KR" altLang="en-US" sz="800" dirty="0"/>
                        <a:t>명 중 </a:t>
                      </a: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</a:t>
                      </a:r>
                      <a:r>
                        <a:rPr lang="ko-KR" altLang="en-US" sz="800" dirty="0"/>
                        <a:t>명 완료 </a:t>
                      </a:r>
                      <a:r>
                        <a:rPr lang="en-US" altLang="ko-KR" sz="800" dirty="0"/>
                        <a:t>(00%)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4" name="표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388885"/>
              </p:ext>
            </p:extLst>
          </p:nvPr>
        </p:nvGraphicFramePr>
        <p:xfrm>
          <a:off x="668987" y="3706346"/>
          <a:ext cx="885634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8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7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1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1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9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9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571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no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아이디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 만료일 ▼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대상자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담당자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메모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test1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0000.00.00.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(+10)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온라인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test2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0000.00.00. (+2)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test3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0000.00.00.(-3)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test4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이순신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0000.00.00.(-11)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매거진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test5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0000.00.00.(-12)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611254" y="3490226"/>
            <a:ext cx="20008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○ 전체   ● 영업대표                      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1794839" y="3527231"/>
            <a:ext cx="680936" cy="123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홍길동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2520406" y="3527231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cxnSp>
        <p:nvCxnSpPr>
          <p:cNvPr id="27" name="꺾인 연결선 26"/>
          <p:cNvCxnSpPr>
            <a:stCxn id="25" idx="1"/>
          </p:cNvCxnSpPr>
          <p:nvPr/>
        </p:nvCxnSpPr>
        <p:spPr>
          <a:xfrm rot="10800000" flipH="1">
            <a:off x="466927" y="3383315"/>
            <a:ext cx="1350083" cy="1046204"/>
          </a:xfrm>
          <a:prstGeom prst="bentConnector3">
            <a:avLst>
              <a:gd name="adj1" fmla="val -16932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/>
          <p:cNvSpPr/>
          <p:nvPr/>
        </p:nvSpPr>
        <p:spPr>
          <a:xfrm>
            <a:off x="1817011" y="789485"/>
            <a:ext cx="7941721" cy="578136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9" name="그림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242" y="1481102"/>
            <a:ext cx="7689714" cy="3240048"/>
          </a:xfrm>
          <a:prstGeom prst="rect">
            <a:avLst/>
          </a:prstGeom>
        </p:spPr>
      </p:pic>
      <p:sp>
        <p:nvSpPr>
          <p:cNvPr id="70" name="직사각형 69"/>
          <p:cNvSpPr/>
          <p:nvPr/>
        </p:nvSpPr>
        <p:spPr>
          <a:xfrm rot="20547490">
            <a:off x="4758411" y="2771531"/>
            <a:ext cx="2126053" cy="2791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SAMPLE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1" name="그림 70"/>
          <p:cNvPicPr>
            <a:picLocks noChangeAspect="1"/>
          </p:cNvPicPr>
          <p:nvPr/>
        </p:nvPicPr>
        <p:blipFill rotWithShape="1">
          <a:blip r:embed="rId3"/>
          <a:srcRect l="2030" t="16658"/>
          <a:stretch/>
        </p:blipFill>
        <p:spPr>
          <a:xfrm>
            <a:off x="1956238" y="5123319"/>
            <a:ext cx="7217505" cy="82345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901098" y="1238174"/>
            <a:ext cx="6591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[</a:t>
            </a:r>
            <a:r>
              <a:rPr lang="ko-KR" altLang="en-US" sz="800" dirty="0"/>
              <a:t>계약정보</a:t>
            </a:r>
            <a:r>
              <a:rPr lang="en-US" altLang="ko-KR" sz="800" dirty="0"/>
              <a:t>]</a:t>
            </a:r>
            <a:endParaRPr lang="ko-KR" altLang="en-US" sz="800" dirty="0"/>
          </a:p>
        </p:txBody>
      </p:sp>
      <p:sp>
        <p:nvSpPr>
          <p:cNvPr id="73" name="직사각형 72"/>
          <p:cNvSpPr/>
          <p:nvPr/>
        </p:nvSpPr>
        <p:spPr>
          <a:xfrm>
            <a:off x="2918917" y="1044719"/>
            <a:ext cx="998707" cy="1459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컨택</a:t>
            </a:r>
            <a:r>
              <a:rPr lang="ko-KR" altLang="en-US" sz="800" dirty="0">
                <a:solidFill>
                  <a:schemeClr val="tx1"/>
                </a:solidFill>
              </a:rPr>
              <a:t> 채널  ▼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1971054" y="1048011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계약 추가</a:t>
            </a:r>
          </a:p>
        </p:txBody>
      </p:sp>
      <p:sp>
        <p:nvSpPr>
          <p:cNvPr id="75" name="직사각형 74"/>
          <p:cNvSpPr/>
          <p:nvPr/>
        </p:nvSpPr>
        <p:spPr>
          <a:xfrm rot="20547490">
            <a:off x="4385830" y="5273194"/>
            <a:ext cx="2126053" cy="2791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SAMPLE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8001271" y="2878458"/>
            <a:ext cx="1504037" cy="6487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t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선택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정가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일할계산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793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21" y="1037617"/>
            <a:ext cx="7959102" cy="3871652"/>
          </a:xfrm>
          <a:prstGeom prst="rect">
            <a:avLst/>
          </a:prstGeom>
        </p:spPr>
      </p:pic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336807"/>
              </p:ext>
            </p:extLst>
          </p:nvPr>
        </p:nvGraphicFramePr>
        <p:xfrm>
          <a:off x="235972" y="2390775"/>
          <a:ext cx="9475840" cy="30393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2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01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704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270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/>
                          <a:ea typeface="맑은 고딕" panose="020B0503020000020004" pitchFamily="50" charset="-127"/>
                        </a:rPr>
                        <a:t>대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/>
                          <a:ea typeface="맑은 고딕" panose="020B0503020000020004" pitchFamily="50" charset="-127"/>
                        </a:rPr>
                        <a:t>중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/>
                          <a:ea typeface="맑은 고딕" panose="020B0503020000020004" pitchFamily="50" charset="-127"/>
                        </a:rPr>
                        <a:t>소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나눔스퀘어"/>
                          <a:ea typeface="맑은 고딕" panose="020B0503020000020004" pitchFamily="50" charset="-127"/>
                        </a:rPr>
                        <a:t>현재 사용 중인 기능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나눔스퀘어"/>
                          <a:ea typeface="맑은 고딕" panose="020B0503020000020004" pitchFamily="50" charset="-127"/>
                        </a:rPr>
                        <a:t>향후 필요성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/>
                          <a:ea typeface="맑은 고딕" panose="020B0503020000020004" pitchFamily="50" charset="-127"/>
                        </a:rPr>
                        <a:t>메모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52"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회원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회원관리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회원관리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○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○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엑셀 다운로드 시 데이터 보완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그룹관리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900" b="1" i="0" u="none" strike="noStrike" dirty="0">
                        <a:solidFill>
                          <a:srgbClr val="FF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900" b="1" i="0" u="none" strike="noStrike" dirty="0">
                        <a:solidFill>
                          <a:srgbClr val="FF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요구정의 </a:t>
                      </a:r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CRM_02_008 </a:t>
                      </a: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사항과 배치됨</a:t>
                      </a:r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.  </a:t>
                      </a: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필요한 것으로 정리</a:t>
                      </a:r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!</a:t>
                      </a:r>
                      <a:endParaRPr lang="ko-KR" altLang="en-US" sz="900" b="1" i="0" u="none" strike="noStrike" dirty="0">
                        <a:solidFill>
                          <a:srgbClr val="FF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대량업로드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○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○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일괄탈퇴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○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○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나눔스퀘어"/>
                          <a:ea typeface="+mn-ea"/>
                        </a:rPr>
                        <a:t>법인 승계 대량 업로드와 통합</a:t>
                      </a:r>
                      <a:endParaRPr lang="en-US" altLang="ko-KR" sz="900" b="1" i="0" u="none" strike="noStrike" dirty="0">
                        <a:solidFill>
                          <a:srgbClr val="FF0000"/>
                        </a:solidFill>
                        <a:effectLst/>
                        <a:latin typeface="나눔스퀘어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나눔스퀘어"/>
                          <a:ea typeface="+mn-ea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나눔스퀘어"/>
                          <a:ea typeface="+mn-ea"/>
                        </a:rPr>
                        <a:t>파일 양식을 수정하여</a:t>
                      </a:r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나눔스퀘어"/>
                          <a:ea typeface="+mn-ea"/>
                        </a:rPr>
                        <a:t>, </a:t>
                      </a: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나눔스퀘어"/>
                          <a:ea typeface="+mn-ea"/>
                        </a:rPr>
                        <a:t>하나의 메뉴에서 운영</a:t>
                      </a:r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나눔스퀘어"/>
                          <a:ea typeface="+mn-ea"/>
                        </a:rPr>
                        <a:t>)</a:t>
                      </a:r>
                      <a:endParaRPr lang="ko-KR" altLang="en-US" sz="900" b="1" i="0" u="none" strike="noStrike" dirty="0">
                        <a:solidFill>
                          <a:srgbClr val="FF0000"/>
                        </a:solidFill>
                        <a:effectLst/>
                        <a:latin typeface="나눔스퀘어"/>
                        <a:ea typeface="+mn-ea"/>
                      </a:endParaRPr>
                    </a:p>
                  </a:txBody>
                  <a:tcPr marL="7145" marR="7145" marT="714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회원정보일괄수정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○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○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/>
                          <a:ea typeface="맑은 고딕" panose="020B0503020000020004" pitchFamily="50" charset="-127"/>
                        </a:rPr>
                        <a:t>가망고객 관리</a:t>
                      </a: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○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나눔스퀘어"/>
                          <a:ea typeface="맑은 고딕" panose="020B0503020000020004" pitchFamily="50" charset="-127"/>
                        </a:rPr>
                        <a:t>신규 추가</a:t>
                      </a:r>
                    </a:p>
                  </a:txBody>
                  <a:tcPr marL="7145" marR="7145" marT="714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/>
                          <a:ea typeface="맑은 고딕" panose="020B0503020000020004" pitchFamily="50" charset="-127"/>
                        </a:rPr>
                        <a:t>커뮤니케이션 관리</a:t>
                      </a: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○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나눔스퀘어"/>
                          <a:ea typeface="+mn-ea"/>
                        </a:rPr>
                        <a:t>신규 추가</a:t>
                      </a:r>
                    </a:p>
                  </a:txBody>
                  <a:tcPr marL="7145" marR="7145" marT="714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법인관리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법인관리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○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○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　회사관리로 변경</a:t>
                      </a:r>
                      <a:endParaRPr lang="ko-KR" altLang="en-US" sz="900" b="1" i="0" u="none" strike="noStrike" dirty="0">
                        <a:solidFill>
                          <a:srgbClr val="FF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법인담당자일괄수정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○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○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　영업대표 일괄 수정으로 변경</a:t>
                      </a:r>
                      <a:endParaRPr lang="ko-KR" altLang="en-US" sz="900" b="1" i="0" u="none" strike="noStrike" dirty="0">
                        <a:solidFill>
                          <a:srgbClr val="FF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상담관리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○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회원관리 내 연동</a:t>
                      </a:r>
                      <a:r>
                        <a:rPr lang="en-US" altLang="ko-KR" sz="900" u="none" strike="noStrike">
                          <a:effectLst/>
                        </a:rPr>
                        <a:t>(</a:t>
                      </a:r>
                      <a:r>
                        <a:rPr lang="ko-KR" altLang="en-US" sz="900" u="none" strike="noStrike">
                          <a:effectLst/>
                        </a:rPr>
                        <a:t>활성화</a:t>
                      </a:r>
                      <a:r>
                        <a:rPr lang="en-US" altLang="ko-KR" sz="900" u="none" strike="noStrike">
                          <a:effectLst/>
                        </a:rPr>
                        <a:t>), </a:t>
                      </a:r>
                      <a:r>
                        <a:rPr lang="ko-KR" altLang="en-US" sz="900" u="none" strike="noStrike">
                          <a:effectLst/>
                        </a:rPr>
                        <a:t>어드민과 중복</a:t>
                      </a:r>
                      <a:r>
                        <a:rPr lang="en-US" altLang="ko-KR" sz="900" u="none" strike="noStrike">
                          <a:effectLst/>
                        </a:rPr>
                        <a:t>(</a:t>
                      </a:r>
                      <a:r>
                        <a:rPr lang="ko-KR" altLang="en-US" sz="900" u="none" strike="noStrike">
                          <a:effectLst/>
                        </a:rPr>
                        <a:t>데이터 연동 필요</a:t>
                      </a:r>
                      <a:r>
                        <a:rPr lang="en-US" altLang="ko-KR" sz="900" u="none" strike="noStrike">
                          <a:effectLst/>
                        </a:rPr>
                        <a:t>)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마음리지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마음리지관리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○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○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엑셀 다운로드</a:t>
                      </a:r>
                      <a:r>
                        <a:rPr lang="en-US" altLang="ko-KR" sz="900" u="none" strike="noStrike">
                          <a:effectLst/>
                        </a:rPr>
                        <a:t>, </a:t>
                      </a:r>
                      <a:r>
                        <a:rPr lang="ko-KR" altLang="en-US" sz="900" u="none" strike="noStrike">
                          <a:effectLst/>
                        </a:rPr>
                        <a:t>개인 회원의 마음리지 획득</a:t>
                      </a:r>
                      <a:r>
                        <a:rPr lang="en-US" altLang="ko-KR" sz="900" u="none" strike="noStrike">
                          <a:effectLst/>
                        </a:rPr>
                        <a:t>/</a:t>
                      </a:r>
                      <a:r>
                        <a:rPr lang="ko-KR" altLang="en-US" sz="900" u="none" strike="noStrike">
                          <a:effectLst/>
                        </a:rPr>
                        <a:t>사용 상세 다운로드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 err="1">
                          <a:effectLst/>
                        </a:rPr>
                        <a:t>마음리지현황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○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○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/>
                        <a:ea typeface="맑은 고딕" panose="020B0503020000020004" pitchFamily="50" charset="-127"/>
                      </a:endParaRPr>
                    </a:p>
                  </a:txBody>
                  <a:tcPr marL="7145" marR="7145" marT="714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254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52" y="1554019"/>
            <a:ext cx="8612010" cy="4655981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274221" y="977261"/>
            <a:ext cx="711440" cy="3697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t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유료회원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무료회원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780671" y="2079314"/>
            <a:ext cx="3190672" cy="220494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9" name="꺾인 연결선 28"/>
          <p:cNvCxnSpPr>
            <a:stCxn id="25" idx="0"/>
            <a:endCxn id="3" idx="1"/>
          </p:cNvCxnSpPr>
          <p:nvPr/>
        </p:nvCxnSpPr>
        <p:spPr>
          <a:xfrm rot="5400000" flipH="1" flipV="1">
            <a:off x="2866534" y="671627"/>
            <a:ext cx="917161" cy="18982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4131656" y="91296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46969" y="2648697"/>
            <a:ext cx="9476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○ 대내  ● 대외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7917531" y="2648697"/>
            <a:ext cx="1329210" cy="215444"/>
            <a:chOff x="7247107" y="1905315"/>
            <a:chExt cx="1329210" cy="215444"/>
          </a:xfrm>
        </p:grpSpPr>
        <p:sp>
          <p:nvSpPr>
            <p:cNvPr id="35" name="TextBox 34"/>
            <p:cNvSpPr txBox="1"/>
            <p:nvPr/>
          </p:nvSpPr>
          <p:spPr>
            <a:xfrm>
              <a:off x="7247107" y="1905315"/>
              <a:ext cx="13292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/>
                <a:t>□ </a:t>
              </a:r>
              <a:r>
                <a:rPr lang="ko-KR" altLang="en-US" sz="800" dirty="0" err="1"/>
                <a:t>실매출</a:t>
              </a:r>
              <a:r>
                <a:rPr lang="ko-KR" altLang="en-US" sz="800" dirty="0"/>
                <a:t>    □ 배분매출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66562" y="1920704"/>
              <a:ext cx="24237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/>
                <a:t>V</a:t>
              </a:r>
              <a:endParaRPr lang="ko-KR" altLang="en-US" sz="700" dirty="0"/>
            </a:p>
          </p:txBody>
        </p:sp>
      </p:grpSp>
      <p:pic>
        <p:nvPicPr>
          <p:cNvPr id="45" name="그림 44"/>
          <p:cNvPicPr>
            <a:picLocks noChangeAspect="1"/>
          </p:cNvPicPr>
          <p:nvPr/>
        </p:nvPicPr>
        <p:blipFill rotWithShape="1">
          <a:blip r:embed="rId3"/>
          <a:srcRect r="54156"/>
          <a:stretch/>
        </p:blipFill>
        <p:spPr>
          <a:xfrm>
            <a:off x="2667314" y="2580880"/>
            <a:ext cx="953415" cy="1076539"/>
          </a:xfrm>
          <a:prstGeom prst="rect">
            <a:avLst/>
          </a:prstGeom>
        </p:spPr>
      </p:pic>
      <p:sp>
        <p:nvSpPr>
          <p:cNvPr id="46" name="직사각형 45"/>
          <p:cNvSpPr/>
          <p:nvPr/>
        </p:nvSpPr>
        <p:spPr>
          <a:xfrm>
            <a:off x="713673" y="343556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873881" y="3431330"/>
            <a:ext cx="1684964" cy="115657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4005199" y="3431330"/>
            <a:ext cx="2668446" cy="115657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4005199" y="3732396"/>
            <a:ext cx="2668446" cy="146430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6723950" y="3729080"/>
            <a:ext cx="2668446" cy="146430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832552" y="5454941"/>
            <a:ext cx="4235162" cy="159577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6561092" y="282743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953340" y="591381"/>
            <a:ext cx="3013967" cy="7494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회원분류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900" b="1" dirty="0" err="1">
                <a:solidFill>
                  <a:srgbClr val="FF0000"/>
                </a:solidFill>
              </a:rPr>
              <a:t>분류별</a:t>
            </a:r>
            <a:r>
              <a:rPr lang="ko-KR" altLang="en-US" sz="900" b="1" dirty="0">
                <a:solidFill>
                  <a:srgbClr val="FF0000"/>
                </a:solidFill>
              </a:rPr>
              <a:t> 리스트 정렬 기준 유지</a:t>
            </a:r>
            <a:endParaRPr lang="en-US" altLang="ko-KR" sz="900" b="1" dirty="0">
              <a:solidFill>
                <a:srgbClr val="FF000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유료</a:t>
            </a:r>
            <a:r>
              <a:rPr lang="en-US" altLang="ko-KR" sz="800" dirty="0"/>
              <a:t>, </a:t>
            </a:r>
            <a:r>
              <a:rPr lang="ko-KR" altLang="en-US" sz="800" dirty="0"/>
              <a:t>무료 중 선택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기본값 </a:t>
            </a:r>
            <a:r>
              <a:rPr lang="en-US" altLang="ko-KR" sz="800" dirty="0"/>
              <a:t>: </a:t>
            </a:r>
            <a:r>
              <a:rPr lang="ko-KR" altLang="en-US" sz="800" dirty="0"/>
              <a:t>유료회원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[1-1] </a:t>
            </a:r>
            <a:r>
              <a:rPr lang="ko-KR" altLang="en-US" sz="800" dirty="0"/>
              <a:t>유료회원의 상세 분류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[1-2] </a:t>
            </a:r>
            <a:r>
              <a:rPr lang="ko-KR" altLang="en-US" sz="800" dirty="0"/>
              <a:t>무료회원의 상세 분류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항목 삭제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패스워드 </a:t>
            </a:r>
            <a:r>
              <a:rPr lang="en-US" altLang="ko-KR" sz="800" dirty="0"/>
              <a:t>2 </a:t>
            </a:r>
            <a:r>
              <a:rPr lang="ko-KR" altLang="en-US" sz="800" dirty="0"/>
              <a:t>질문</a:t>
            </a:r>
            <a:r>
              <a:rPr lang="en-US" altLang="ko-KR" sz="800" dirty="0"/>
              <a:t>, </a:t>
            </a:r>
            <a:r>
              <a:rPr lang="ko-KR" altLang="en-US" sz="800" dirty="0"/>
              <a:t>패스워드</a:t>
            </a:r>
            <a:r>
              <a:rPr lang="en-US" altLang="ko-KR" sz="800" dirty="0"/>
              <a:t>2, </a:t>
            </a:r>
            <a:r>
              <a:rPr lang="ko-KR" altLang="en-US" sz="800" dirty="0"/>
              <a:t>세미나교재수령</a:t>
            </a:r>
            <a:r>
              <a:rPr lang="en-US" altLang="ko-KR" sz="800" dirty="0"/>
              <a:t>,</a:t>
            </a:r>
          </a:p>
          <a:p>
            <a:r>
              <a:rPr lang="ko-KR" altLang="en-US" sz="800" dirty="0"/>
              <a:t>관리대상</a:t>
            </a:r>
            <a:r>
              <a:rPr lang="en-US" altLang="ko-KR" sz="800" dirty="0"/>
              <a:t>, </a:t>
            </a:r>
            <a:r>
              <a:rPr lang="ko-KR" altLang="en-US" sz="800" dirty="0"/>
              <a:t>전문분야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지역구분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사용 주소 입력 시 자동 </a:t>
            </a:r>
            <a:r>
              <a:rPr lang="ko-KR" altLang="en-US" sz="800" dirty="0" err="1"/>
              <a:t>매핑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>
                <a:solidFill>
                  <a:srgbClr val="00B0F0"/>
                </a:solidFill>
              </a:rPr>
              <a:t>항목 텍스트 수정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매거진 수신 여부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○ 수신  ○ 거부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[5] </a:t>
            </a:r>
            <a:r>
              <a:rPr lang="ko-KR" altLang="en-US" sz="1000" b="1" dirty="0">
                <a:solidFill>
                  <a:srgbClr val="00B0F0"/>
                </a:solidFill>
              </a:rPr>
              <a:t>비서 추가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필요 시 비서 정보를 추가할 수 있음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[6] </a:t>
            </a:r>
            <a:r>
              <a:rPr lang="ko-KR" altLang="en-US" sz="1000" b="1" dirty="0">
                <a:solidFill>
                  <a:srgbClr val="00B0F0"/>
                </a:solidFill>
              </a:rPr>
              <a:t>항목 텍스트 및 내용 수정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직책구분 </a:t>
            </a:r>
            <a:r>
              <a:rPr lang="en-US" altLang="ko-KR" sz="800" dirty="0"/>
              <a:t>(</a:t>
            </a:r>
            <a:r>
              <a:rPr lang="ko-KR" altLang="en-US" sz="800" dirty="0"/>
              <a:t>상단 직책 입력 시 자동 </a:t>
            </a:r>
            <a:r>
              <a:rPr lang="ko-KR" altLang="en-US" sz="800" dirty="0" err="1"/>
              <a:t>매핑</a:t>
            </a:r>
            <a:r>
              <a:rPr lang="en-US" altLang="ko-KR" sz="800" dirty="0"/>
              <a:t>)</a:t>
            </a:r>
          </a:p>
          <a:p>
            <a:r>
              <a:rPr lang="en-US" altLang="ko-KR" sz="1200" b="1" dirty="0">
                <a:solidFill>
                  <a:srgbClr val="FF0000"/>
                </a:solidFill>
              </a:rPr>
              <a:t>-&gt; </a:t>
            </a:r>
            <a:r>
              <a:rPr lang="ko-KR" altLang="en-US" sz="1200" b="1" dirty="0" err="1">
                <a:solidFill>
                  <a:srgbClr val="FF0000"/>
                </a:solidFill>
              </a:rPr>
              <a:t>직책값은</a:t>
            </a:r>
            <a:r>
              <a:rPr lang="ko-KR" altLang="en-US" sz="1200" b="1" dirty="0">
                <a:solidFill>
                  <a:srgbClr val="FF0000"/>
                </a:solidFill>
              </a:rPr>
              <a:t> 수기로 </a:t>
            </a:r>
            <a:r>
              <a:rPr lang="ko-KR" altLang="en-US" sz="1200" b="1" dirty="0" err="1">
                <a:solidFill>
                  <a:srgbClr val="FF0000"/>
                </a:solidFill>
              </a:rPr>
              <a:t>입력받고</a:t>
            </a:r>
            <a:r>
              <a:rPr lang="en-US" altLang="ko-KR" sz="1200" b="1" dirty="0">
                <a:solidFill>
                  <a:srgbClr val="FF0000"/>
                </a:solidFill>
              </a:rPr>
              <a:t>,</a:t>
            </a:r>
            <a:br>
              <a:rPr lang="en-US" altLang="ko-KR" sz="1200" b="1" dirty="0">
                <a:solidFill>
                  <a:srgbClr val="FF0000"/>
                </a:solidFill>
              </a:rPr>
            </a:br>
            <a:r>
              <a:rPr lang="ko-KR" altLang="en-US" sz="1200" b="1" dirty="0">
                <a:solidFill>
                  <a:srgbClr val="FF0000"/>
                </a:solidFill>
              </a:rPr>
              <a:t>입력한 값이 아래의 코드랑 동일할 때</a:t>
            </a:r>
            <a:r>
              <a:rPr lang="en-US" altLang="ko-KR" sz="1200" b="1" dirty="0">
                <a:solidFill>
                  <a:srgbClr val="FF0000"/>
                </a:solidFill>
              </a:rPr>
              <a:t>,</a:t>
            </a:r>
            <a:br>
              <a:rPr lang="en-US" altLang="ko-KR" sz="1200" b="1" dirty="0">
                <a:solidFill>
                  <a:srgbClr val="FF0000"/>
                </a:solidFill>
              </a:rPr>
            </a:br>
            <a:r>
              <a:rPr lang="ko-KR" altLang="en-US" sz="1200" b="1" dirty="0">
                <a:solidFill>
                  <a:srgbClr val="FF0000"/>
                </a:solidFill>
              </a:rPr>
              <a:t>자동 선택되어짐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CEO, </a:t>
            </a:r>
            <a:r>
              <a:rPr lang="ko-KR" altLang="en-US" sz="800" dirty="0"/>
              <a:t>대표 </a:t>
            </a:r>
            <a:r>
              <a:rPr lang="en-US" altLang="ko-KR" sz="800" dirty="0"/>
              <a:t> - </a:t>
            </a:r>
            <a:r>
              <a:rPr lang="ko-KR" altLang="en-US" sz="800" dirty="0"/>
              <a:t>최고경영자</a:t>
            </a:r>
            <a:r>
              <a:rPr lang="en-US" altLang="ko-KR" sz="800" dirty="0"/>
              <a:t>(CEO)</a:t>
            </a:r>
          </a:p>
          <a:p>
            <a:r>
              <a:rPr lang="en-US" altLang="ko-KR" sz="800" dirty="0"/>
              <a:t>CHO</a:t>
            </a:r>
            <a:r>
              <a:rPr lang="ko-KR" altLang="en-US" sz="800" dirty="0"/>
              <a:t> </a:t>
            </a:r>
            <a:r>
              <a:rPr lang="en-US" altLang="ko-KR" sz="800" dirty="0"/>
              <a:t>– </a:t>
            </a:r>
            <a:r>
              <a:rPr lang="ko-KR" altLang="en-US" sz="800" dirty="0"/>
              <a:t>최고인사책임자</a:t>
            </a:r>
            <a:r>
              <a:rPr lang="en-US" altLang="ko-KR" sz="800" dirty="0"/>
              <a:t>(CHO)</a:t>
            </a:r>
          </a:p>
          <a:p>
            <a:r>
              <a:rPr lang="en-US" altLang="ko-KR" sz="800" dirty="0"/>
              <a:t>CFO – </a:t>
            </a:r>
            <a:r>
              <a:rPr lang="ko-KR" altLang="en-US" sz="800" dirty="0"/>
              <a:t>최고재무관리자</a:t>
            </a:r>
            <a:r>
              <a:rPr lang="en-US" altLang="ko-KR" sz="800" dirty="0"/>
              <a:t>(CFO)</a:t>
            </a:r>
          </a:p>
          <a:p>
            <a:r>
              <a:rPr lang="en-US" altLang="ko-KR" sz="800" dirty="0"/>
              <a:t>CTO – </a:t>
            </a:r>
            <a:r>
              <a:rPr lang="ko-KR" altLang="en-US" sz="800" dirty="0"/>
              <a:t>최고기술경영자</a:t>
            </a:r>
            <a:r>
              <a:rPr lang="en-US" altLang="ko-KR" sz="800" dirty="0"/>
              <a:t>(CTO)</a:t>
            </a:r>
          </a:p>
          <a:p>
            <a:r>
              <a:rPr lang="en-US" altLang="ko-KR" sz="800" dirty="0"/>
              <a:t>CMO – </a:t>
            </a:r>
            <a:r>
              <a:rPr lang="ko-KR" altLang="en-US" sz="800" dirty="0"/>
              <a:t>최고마케팅책임자</a:t>
            </a:r>
            <a:r>
              <a:rPr lang="en-US" altLang="ko-KR" sz="800" dirty="0"/>
              <a:t>(CMO</a:t>
            </a:r>
          </a:p>
          <a:p>
            <a:r>
              <a:rPr lang="en-US" altLang="ko-KR" sz="800" dirty="0"/>
              <a:t>CCO – </a:t>
            </a:r>
            <a:r>
              <a:rPr lang="ko-KR" altLang="en-US" sz="800" dirty="0"/>
              <a:t>최고고객책임자</a:t>
            </a:r>
            <a:r>
              <a:rPr lang="en-US" altLang="ko-KR" sz="800" dirty="0"/>
              <a:t>(CCO)</a:t>
            </a:r>
          </a:p>
          <a:p>
            <a:r>
              <a:rPr lang="en-US" altLang="ko-KR" sz="800" dirty="0"/>
              <a:t>CIO – </a:t>
            </a:r>
            <a:r>
              <a:rPr lang="ko-KR" altLang="en-US" sz="800" dirty="0"/>
              <a:t>최고정보책임자</a:t>
            </a:r>
            <a:r>
              <a:rPr lang="en-US" altLang="ko-KR" sz="800" dirty="0"/>
              <a:t>(CIO)</a:t>
            </a:r>
          </a:p>
          <a:p>
            <a:r>
              <a:rPr lang="en-US" altLang="ko-KR" sz="800" dirty="0"/>
              <a:t>COO – </a:t>
            </a:r>
            <a:r>
              <a:rPr lang="ko-KR" altLang="en-US" sz="800" dirty="0"/>
              <a:t>최고운영책임자</a:t>
            </a:r>
            <a:r>
              <a:rPr lang="en-US" altLang="ko-KR" sz="800" dirty="0"/>
              <a:t>(COO)</a:t>
            </a:r>
          </a:p>
          <a:p>
            <a:r>
              <a:rPr lang="ko-KR" altLang="en-US" sz="800" dirty="0"/>
              <a:t>빈칸 </a:t>
            </a:r>
            <a:r>
              <a:rPr lang="en-US" altLang="ko-KR" sz="800" dirty="0"/>
              <a:t>– </a:t>
            </a:r>
            <a:r>
              <a:rPr lang="ko-KR" altLang="en-US" sz="800" dirty="0" err="1"/>
              <a:t>미분류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[7] </a:t>
            </a:r>
            <a:r>
              <a:rPr lang="ko-KR" altLang="en-US" sz="1000" b="1" dirty="0">
                <a:solidFill>
                  <a:srgbClr val="00B0F0"/>
                </a:solidFill>
              </a:rPr>
              <a:t>항목 텍스트 수정 및 자동화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영업대표 </a:t>
            </a:r>
            <a:r>
              <a:rPr lang="en-US" altLang="ko-KR" sz="800" dirty="0"/>
              <a:t>(</a:t>
            </a:r>
            <a:r>
              <a:rPr lang="ko-KR" altLang="en-US" sz="800" dirty="0"/>
              <a:t>담당 영업대표를 의미함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1200" b="1" dirty="0">
                <a:solidFill>
                  <a:srgbClr val="FF0000"/>
                </a:solidFill>
              </a:rPr>
              <a:t>CRM </a:t>
            </a:r>
            <a:r>
              <a:rPr lang="ko-KR" altLang="en-US" sz="1200" b="1" dirty="0">
                <a:solidFill>
                  <a:srgbClr val="FF0000"/>
                </a:solidFill>
              </a:rPr>
              <a:t>로그인 계정 정보 자동 입력된 상태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en-US" altLang="ko-KR" sz="1200" b="1" dirty="0">
                <a:solidFill>
                  <a:srgbClr val="FF0000"/>
                </a:solidFill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</a:rPr>
              <a:t>검색 후 직접 수정도 가능</a:t>
            </a:r>
            <a:r>
              <a:rPr lang="en-US" altLang="ko-KR" sz="1200" b="1" dirty="0">
                <a:solidFill>
                  <a:srgbClr val="FF0000"/>
                </a:solidFill>
              </a:rPr>
              <a:t>) </a:t>
            </a:r>
          </a:p>
          <a:p>
            <a:r>
              <a:rPr lang="en-US" altLang="ko-KR" sz="1200" b="1" dirty="0">
                <a:solidFill>
                  <a:srgbClr val="FF0000"/>
                </a:solidFill>
              </a:rPr>
              <a:t>-&gt; CRM</a:t>
            </a:r>
            <a:r>
              <a:rPr lang="ko-KR" altLang="en-US" sz="1200" b="1" dirty="0">
                <a:solidFill>
                  <a:srgbClr val="FF0000"/>
                </a:solidFill>
              </a:rPr>
              <a:t>계정에 </a:t>
            </a:r>
            <a:r>
              <a:rPr lang="ko-KR" altLang="en-US" sz="1200" b="1" dirty="0" err="1">
                <a:solidFill>
                  <a:srgbClr val="FF0000"/>
                </a:solidFill>
              </a:rPr>
              <a:t>사번</a:t>
            </a:r>
            <a:r>
              <a:rPr lang="ko-KR" altLang="en-US" sz="1200" b="1" dirty="0">
                <a:solidFill>
                  <a:srgbClr val="FF0000"/>
                </a:solidFill>
              </a:rPr>
              <a:t> 정보 연동 필요</a:t>
            </a:r>
            <a:endParaRPr lang="en-US" altLang="ko-KR" sz="1200" b="1" dirty="0">
              <a:solidFill>
                <a:srgbClr val="FF0000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6561092" y="342158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381328" y="3882009"/>
            <a:ext cx="674451" cy="10633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+ 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비서 추가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1227070" y="376826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5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3819322" y="515767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6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회원정보 입력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조회 수정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CRM_02_001~004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7205010" y="2494545"/>
            <a:ext cx="2425429" cy="205592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6" name="꺾인 연결선 5"/>
          <p:cNvCxnSpPr>
            <a:endCxn id="38" idx="3"/>
          </p:cNvCxnSpPr>
          <p:nvPr/>
        </p:nvCxnSpPr>
        <p:spPr>
          <a:xfrm flipV="1">
            <a:off x="4005199" y="2597341"/>
            <a:ext cx="5625240" cy="2647337"/>
          </a:xfrm>
          <a:prstGeom prst="bentConnector3">
            <a:avLst>
              <a:gd name="adj1" fmla="val 103142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620734" y="5440517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455154" y="3386383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4585594" y="372908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7127877" y="372334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688004" y="517050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7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5101759" y="946763"/>
            <a:ext cx="1147969" cy="187283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t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정회원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온라인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매거진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월회원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리움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프리미엄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정회원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온라인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매거진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개인</a:t>
            </a:r>
            <a:r>
              <a:rPr lang="en-US" altLang="ko-KR" sz="800" dirty="0">
                <a:solidFill>
                  <a:srgbClr val="FF0000"/>
                </a:solidFill>
              </a:rPr>
              <a:t>-</a:t>
            </a:r>
            <a:r>
              <a:rPr lang="ko-KR" altLang="en-US" sz="800" dirty="0">
                <a:solidFill>
                  <a:srgbClr val="FF0000"/>
                </a:solidFill>
              </a:rPr>
              <a:t>은퇴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개인</a:t>
            </a:r>
            <a:r>
              <a:rPr lang="en-US" altLang="ko-KR" sz="800" dirty="0">
                <a:solidFill>
                  <a:srgbClr val="FF0000"/>
                </a:solidFill>
              </a:rPr>
              <a:t>-</a:t>
            </a:r>
            <a:r>
              <a:rPr lang="ko-KR" altLang="en-US" sz="800" dirty="0">
                <a:solidFill>
                  <a:srgbClr val="FF0000"/>
                </a:solidFill>
              </a:rPr>
              <a:t>은퇴</a:t>
            </a:r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온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월회원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리움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프리미엄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6503280" y="975450"/>
            <a:ext cx="1147969" cy="1135026"/>
          </a:xfrm>
          <a:prstGeom prst="rect">
            <a:avLst/>
          </a:prstGeom>
          <a:solidFill>
            <a:schemeClr val="bg1"/>
          </a:solidFill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t"/>
          <a:lstStyle/>
          <a:p>
            <a:r>
              <a:rPr lang="ko-KR" altLang="en-US" sz="800" dirty="0">
                <a:solidFill>
                  <a:srgbClr val="FF0000"/>
                </a:solidFill>
              </a:rPr>
              <a:t>캠페인</a:t>
            </a:r>
            <a:r>
              <a:rPr lang="en-US" altLang="ko-KR" sz="800" dirty="0">
                <a:solidFill>
                  <a:srgbClr val="FF0000"/>
                </a:solidFill>
              </a:rPr>
              <a:t>-</a:t>
            </a:r>
            <a:r>
              <a:rPr lang="ko-KR" altLang="en-US" sz="800" dirty="0">
                <a:solidFill>
                  <a:srgbClr val="FF0000"/>
                </a:solidFill>
              </a:rPr>
              <a:t>검토용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800" dirty="0">
                <a:solidFill>
                  <a:srgbClr val="FF0000"/>
                </a:solidFill>
              </a:rPr>
              <a:t>VIP</a:t>
            </a:r>
          </a:p>
          <a:p>
            <a:r>
              <a:rPr lang="en-US" altLang="ko-KR" sz="800" dirty="0">
                <a:solidFill>
                  <a:srgbClr val="FF0000"/>
                </a:solidFill>
              </a:rPr>
              <a:t>VIP(</a:t>
            </a:r>
            <a:r>
              <a:rPr lang="ko-KR" altLang="en-US" sz="800" dirty="0">
                <a:solidFill>
                  <a:srgbClr val="FF0000"/>
                </a:solidFill>
              </a:rPr>
              <a:t>온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sz="800" dirty="0">
                <a:solidFill>
                  <a:srgbClr val="FF0000"/>
                </a:solidFill>
              </a:rPr>
              <a:t>캠페인</a:t>
            </a:r>
            <a:r>
              <a:rPr lang="en-US" altLang="ko-KR" sz="800" dirty="0">
                <a:solidFill>
                  <a:srgbClr val="FF0000"/>
                </a:solidFill>
              </a:rPr>
              <a:t>-</a:t>
            </a:r>
            <a:r>
              <a:rPr lang="ko-KR" altLang="en-US" sz="800" dirty="0">
                <a:solidFill>
                  <a:srgbClr val="FF0000"/>
                </a:solidFill>
              </a:rPr>
              <a:t>오프라인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캠페인</a:t>
            </a:r>
            <a:r>
              <a:rPr lang="en-US" altLang="ko-KR" sz="800" dirty="0">
                <a:solidFill>
                  <a:srgbClr val="FF0000"/>
                </a:solidFill>
              </a:rPr>
              <a:t>-2</a:t>
            </a:r>
            <a:r>
              <a:rPr lang="ko-KR" altLang="en-US" sz="800" dirty="0" err="1">
                <a:solidFill>
                  <a:srgbClr val="FF0000"/>
                </a:solidFill>
              </a:rPr>
              <a:t>주체험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모니터링</a:t>
            </a:r>
            <a:r>
              <a:rPr lang="en-US" altLang="ko-KR" sz="800" dirty="0">
                <a:solidFill>
                  <a:srgbClr val="FF0000"/>
                </a:solidFill>
              </a:rPr>
              <a:t>-</a:t>
            </a:r>
            <a:r>
              <a:rPr lang="ko-KR" altLang="en-US" sz="800" dirty="0">
                <a:solidFill>
                  <a:srgbClr val="FF0000"/>
                </a:solidFill>
              </a:rPr>
              <a:t>법인담당자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모니터링</a:t>
            </a:r>
            <a:r>
              <a:rPr lang="en-US" altLang="ko-KR" sz="800" dirty="0">
                <a:solidFill>
                  <a:srgbClr val="FF0000"/>
                </a:solidFill>
              </a:rPr>
              <a:t>-</a:t>
            </a:r>
            <a:r>
              <a:rPr lang="ko-KR" altLang="en-US" sz="800" dirty="0">
                <a:solidFill>
                  <a:srgbClr val="FF0000"/>
                </a:solidFill>
              </a:rPr>
              <a:t>출연진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임직원</a:t>
            </a:r>
            <a:r>
              <a:rPr lang="en-US" altLang="ko-KR" sz="800" dirty="0">
                <a:solidFill>
                  <a:srgbClr val="FF0000"/>
                </a:solidFill>
              </a:rPr>
              <a:t>-</a:t>
            </a:r>
            <a:r>
              <a:rPr lang="ko-KR" altLang="en-US" sz="800" dirty="0">
                <a:solidFill>
                  <a:srgbClr val="FF0000"/>
                </a:solidFill>
              </a:rPr>
              <a:t>운영자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임직원</a:t>
            </a:r>
            <a:r>
              <a:rPr lang="en-US" altLang="ko-KR" sz="800" dirty="0">
                <a:solidFill>
                  <a:srgbClr val="FF0000"/>
                </a:solidFill>
              </a:rPr>
              <a:t>-</a:t>
            </a:r>
            <a:r>
              <a:rPr lang="ko-KR" altLang="en-US" sz="800" dirty="0">
                <a:solidFill>
                  <a:srgbClr val="FF0000"/>
                </a:solidFill>
              </a:rPr>
              <a:t>일반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6344005" y="878453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1-2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5087905" y="863063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1-1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842075" y="72853"/>
            <a:ext cx="3968151" cy="608634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유료회원 </a:t>
            </a:r>
            <a:r>
              <a:rPr lang="ko-KR" altLang="en-US" sz="1200" b="1" dirty="0" err="1">
                <a:solidFill>
                  <a:schemeClr val="tx1"/>
                </a:solidFill>
              </a:rPr>
              <a:t>구분값</a:t>
            </a:r>
            <a:r>
              <a:rPr lang="ko-KR" altLang="en-US" sz="1200" b="1" dirty="0">
                <a:solidFill>
                  <a:schemeClr val="tx1"/>
                </a:solidFill>
              </a:rPr>
              <a:t> 추가 </a:t>
            </a:r>
            <a:r>
              <a:rPr lang="en-US" altLang="ko-KR" sz="1200" b="1" dirty="0">
                <a:solidFill>
                  <a:schemeClr val="tx1"/>
                </a:solidFill>
              </a:rPr>
              <a:t>:  </a:t>
            </a:r>
            <a:r>
              <a:rPr lang="ko-KR" altLang="en-US" sz="1200" b="1" dirty="0">
                <a:solidFill>
                  <a:schemeClr val="tx1"/>
                </a:solidFill>
              </a:rPr>
              <a:t>개인</a:t>
            </a:r>
            <a:r>
              <a:rPr lang="en-US" altLang="ko-KR" sz="1200" b="1" dirty="0">
                <a:solidFill>
                  <a:schemeClr val="tx1"/>
                </a:solidFill>
              </a:rPr>
              <a:t>-</a:t>
            </a:r>
            <a:r>
              <a:rPr lang="ko-KR" altLang="en-US" sz="1200" b="1" dirty="0">
                <a:solidFill>
                  <a:schemeClr val="tx1"/>
                </a:solidFill>
              </a:rPr>
              <a:t>은퇴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개인</a:t>
            </a:r>
            <a:r>
              <a:rPr lang="en-US" altLang="ko-KR" sz="1200" b="1" dirty="0">
                <a:solidFill>
                  <a:schemeClr val="tx1"/>
                </a:solidFill>
              </a:rPr>
              <a:t>-</a:t>
            </a:r>
            <a:r>
              <a:rPr lang="ko-KR" altLang="en-US" sz="1200" b="1" dirty="0">
                <a:solidFill>
                  <a:schemeClr val="tx1"/>
                </a:solidFill>
              </a:rPr>
              <a:t>은퇴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</a:rPr>
              <a:t>온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무료회원 </a:t>
            </a:r>
            <a:r>
              <a:rPr lang="ko-KR" altLang="en-US" sz="1200" b="1" dirty="0" err="1">
                <a:solidFill>
                  <a:schemeClr val="tx1"/>
                </a:solidFill>
              </a:rPr>
              <a:t>구분값</a:t>
            </a:r>
            <a:r>
              <a:rPr lang="ko-KR" altLang="en-US" sz="1200" b="1" dirty="0">
                <a:solidFill>
                  <a:schemeClr val="tx1"/>
                </a:solidFill>
              </a:rPr>
              <a:t> 수정 </a:t>
            </a:r>
            <a:r>
              <a:rPr lang="en-US" altLang="ko-KR" sz="1200" b="1" dirty="0">
                <a:solidFill>
                  <a:schemeClr val="tx1"/>
                </a:solidFill>
              </a:rPr>
              <a:t>: VIP, VIP(</a:t>
            </a:r>
            <a:r>
              <a:rPr lang="ko-KR" altLang="en-US" sz="1200" b="1" dirty="0">
                <a:solidFill>
                  <a:schemeClr val="tx1"/>
                </a:solidFill>
              </a:rPr>
              <a:t>온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262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52" y="1554019"/>
            <a:ext cx="8612010" cy="465598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746969" y="2648697"/>
            <a:ext cx="9476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○ 대내  ● 대외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7917531" y="2648697"/>
            <a:ext cx="1329210" cy="215444"/>
            <a:chOff x="7247107" y="1905315"/>
            <a:chExt cx="1329210" cy="215444"/>
          </a:xfrm>
        </p:grpSpPr>
        <p:sp>
          <p:nvSpPr>
            <p:cNvPr id="35" name="TextBox 34"/>
            <p:cNvSpPr txBox="1"/>
            <p:nvPr/>
          </p:nvSpPr>
          <p:spPr>
            <a:xfrm>
              <a:off x="7247107" y="1905315"/>
              <a:ext cx="13292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/>
                <a:t>□ </a:t>
              </a:r>
              <a:r>
                <a:rPr lang="ko-KR" altLang="en-US" sz="800" dirty="0" err="1"/>
                <a:t>실매출</a:t>
              </a:r>
              <a:r>
                <a:rPr lang="ko-KR" altLang="en-US" sz="800" dirty="0"/>
                <a:t>    □ 배분매출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66562" y="1920704"/>
              <a:ext cx="24237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/>
                <a:t>V</a:t>
              </a:r>
              <a:endParaRPr lang="ko-KR" altLang="en-US" sz="700" dirty="0"/>
            </a:p>
          </p:txBody>
        </p:sp>
      </p:grpSp>
      <p:pic>
        <p:nvPicPr>
          <p:cNvPr id="45" name="그림 44"/>
          <p:cNvPicPr>
            <a:picLocks noChangeAspect="1"/>
          </p:cNvPicPr>
          <p:nvPr/>
        </p:nvPicPr>
        <p:blipFill rotWithShape="1">
          <a:blip r:embed="rId3"/>
          <a:srcRect r="54156"/>
          <a:stretch/>
        </p:blipFill>
        <p:spPr>
          <a:xfrm>
            <a:off x="2667314" y="2580880"/>
            <a:ext cx="953415" cy="1076539"/>
          </a:xfrm>
          <a:prstGeom prst="rect">
            <a:avLst/>
          </a:prstGeom>
        </p:spPr>
      </p:pic>
      <p:sp>
        <p:nvSpPr>
          <p:cNvPr id="47" name="직사각형 46"/>
          <p:cNvSpPr/>
          <p:nvPr/>
        </p:nvSpPr>
        <p:spPr>
          <a:xfrm>
            <a:off x="873881" y="3431330"/>
            <a:ext cx="1684964" cy="115657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4005199" y="3431330"/>
            <a:ext cx="2668446" cy="115657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4005199" y="3732396"/>
            <a:ext cx="2668446" cy="146430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6723950" y="3729080"/>
            <a:ext cx="2668446" cy="146430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832552" y="5454941"/>
            <a:ext cx="4235162" cy="159577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53340" y="591381"/>
            <a:ext cx="235032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법인</a:t>
            </a:r>
            <a:r>
              <a:rPr lang="en-US" altLang="ko-KR" sz="1000" b="1" dirty="0">
                <a:solidFill>
                  <a:srgbClr val="00B0F0"/>
                </a:solidFill>
              </a:rPr>
              <a:t>, </a:t>
            </a:r>
            <a:r>
              <a:rPr lang="ko-KR" altLang="en-US" sz="1000" b="1" dirty="0">
                <a:solidFill>
                  <a:srgbClr val="00B0F0"/>
                </a:solidFill>
              </a:rPr>
              <a:t>회사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00B0F0"/>
                </a:solidFill>
              </a:rPr>
              <a:t>회사명으로 통합 운영함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법인 삭제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회사명 검색 시  회원 </a:t>
            </a:r>
            <a:r>
              <a:rPr lang="en-US" altLang="ko-KR" sz="800" dirty="0"/>
              <a:t>&gt; </a:t>
            </a:r>
            <a:r>
              <a:rPr lang="ko-KR" altLang="en-US" sz="800" dirty="0"/>
              <a:t>회사관리 에서 등록된</a:t>
            </a:r>
            <a:endParaRPr lang="en-US" altLang="ko-KR" sz="800" dirty="0"/>
          </a:p>
          <a:p>
            <a:r>
              <a:rPr lang="ko-KR" altLang="en-US" sz="800" dirty="0"/>
              <a:t>회사명 중에서 선택하여 등록함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소속구분 </a:t>
            </a:r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인풋</a:t>
            </a:r>
            <a:r>
              <a:rPr lang="en-US" altLang="ko-KR" sz="1000" b="1" dirty="0">
                <a:solidFill>
                  <a:srgbClr val="00B0F0"/>
                </a:solidFill>
              </a:rPr>
              <a:t>X)</a:t>
            </a:r>
          </a:p>
          <a:p>
            <a:r>
              <a:rPr lang="ko-KR" altLang="en-US" sz="1000" b="1" dirty="0">
                <a:solidFill>
                  <a:srgbClr val="FF0000"/>
                </a:solidFill>
              </a:rPr>
              <a:t>회사정보에 연결된</a:t>
            </a:r>
            <a:br>
              <a:rPr lang="en-US" altLang="ko-KR" sz="1000" b="1" dirty="0">
                <a:solidFill>
                  <a:srgbClr val="FF0000"/>
                </a:solidFill>
              </a:rPr>
            </a:br>
            <a:r>
              <a:rPr lang="en-US" altLang="ko-KR" sz="1000" b="1" dirty="0">
                <a:solidFill>
                  <a:srgbClr val="FF0000"/>
                </a:solidFill>
              </a:rPr>
              <a:t>“</a:t>
            </a:r>
            <a:r>
              <a:rPr lang="ko-KR" altLang="en-US" sz="1000" b="1" dirty="0">
                <a:solidFill>
                  <a:srgbClr val="FF0000"/>
                </a:solidFill>
              </a:rPr>
              <a:t>업태</a:t>
            </a:r>
            <a:r>
              <a:rPr lang="en-US" altLang="ko-KR" sz="1000" b="1" dirty="0">
                <a:solidFill>
                  <a:srgbClr val="FF0000"/>
                </a:solidFill>
              </a:rPr>
              <a:t>“ </a:t>
            </a:r>
            <a:r>
              <a:rPr lang="ko-KR" altLang="en-US" sz="1000" b="1" dirty="0">
                <a:solidFill>
                  <a:srgbClr val="FF0000"/>
                </a:solidFill>
              </a:rPr>
              <a:t>정보로 자동 </a:t>
            </a:r>
            <a:r>
              <a:rPr lang="ko-KR" altLang="en-US" sz="1000" b="1" dirty="0" err="1">
                <a:solidFill>
                  <a:srgbClr val="FF0000"/>
                </a:solidFill>
              </a:rPr>
              <a:t>매핑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지역구분 자동 </a:t>
            </a:r>
            <a:r>
              <a:rPr lang="ko-KR" altLang="en-US" sz="1000" b="1" dirty="0" err="1">
                <a:solidFill>
                  <a:srgbClr val="00B0F0"/>
                </a:solidFill>
              </a:rPr>
              <a:t>매핑</a:t>
            </a:r>
            <a:r>
              <a:rPr lang="ko-KR" altLang="en-US" sz="1000" b="1" dirty="0">
                <a:solidFill>
                  <a:srgbClr val="00B0F0"/>
                </a:solidFill>
              </a:rPr>
              <a:t> </a:t>
            </a:r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인풋</a:t>
            </a:r>
            <a:r>
              <a:rPr lang="en-US" altLang="ko-KR" sz="1000" b="1" dirty="0">
                <a:solidFill>
                  <a:srgbClr val="00B0F0"/>
                </a:solidFill>
              </a:rPr>
              <a:t>X)</a:t>
            </a:r>
          </a:p>
          <a:p>
            <a:endParaRPr lang="en-US" altLang="ko-KR" sz="800" dirty="0"/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[5] </a:t>
            </a:r>
            <a:r>
              <a:rPr lang="ko-KR" altLang="en-US" sz="1000" b="1" dirty="0">
                <a:solidFill>
                  <a:srgbClr val="00B0F0"/>
                </a:solidFill>
              </a:rPr>
              <a:t>가입경로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가망고객</a:t>
            </a:r>
            <a:r>
              <a:rPr lang="en-US" altLang="ko-KR" sz="800" dirty="0"/>
              <a:t>, </a:t>
            </a:r>
            <a:r>
              <a:rPr lang="ko-KR" altLang="en-US" sz="800" dirty="0"/>
              <a:t>체험캠페인 고객 중 </a:t>
            </a:r>
            <a:r>
              <a:rPr lang="en-US" altLang="ko-KR" sz="800" dirty="0"/>
              <a:t>“</a:t>
            </a:r>
            <a:r>
              <a:rPr lang="ko-KR" altLang="en-US" sz="800" dirty="0"/>
              <a:t>전환</a:t>
            </a:r>
            <a:r>
              <a:rPr lang="en-US" altLang="ko-KR" sz="800" dirty="0"/>
              <a:t>＂</a:t>
            </a:r>
            <a:r>
              <a:rPr lang="ko-KR" altLang="en-US" sz="800" dirty="0"/>
              <a:t>된 경우</a:t>
            </a:r>
            <a:endParaRPr lang="en-US" altLang="ko-KR" sz="800" dirty="0"/>
          </a:p>
          <a:p>
            <a:r>
              <a:rPr lang="ko-KR" altLang="en-US" sz="800" dirty="0"/>
              <a:t>자동으로 입력됨</a:t>
            </a:r>
            <a:r>
              <a:rPr lang="en-US" altLang="ko-KR" sz="800" dirty="0"/>
              <a:t>(ID </a:t>
            </a:r>
            <a:r>
              <a:rPr lang="ko-KR" altLang="en-US" sz="800" dirty="0"/>
              <a:t>기반으로 </a:t>
            </a:r>
            <a:r>
              <a:rPr lang="ko-KR" altLang="en-US" sz="800" dirty="0" err="1"/>
              <a:t>매핑</a:t>
            </a:r>
            <a:r>
              <a:rPr lang="en-US" altLang="ko-KR" sz="800" dirty="0"/>
              <a:t>) </a:t>
            </a:r>
            <a:br>
              <a:rPr lang="en-US" altLang="ko-KR" sz="800" dirty="0"/>
            </a:br>
            <a:r>
              <a:rPr lang="en-US" altLang="ko-KR" sz="1000" b="1" dirty="0">
                <a:solidFill>
                  <a:srgbClr val="FF0000"/>
                </a:solidFill>
              </a:rPr>
              <a:t>-&gt; </a:t>
            </a:r>
            <a:r>
              <a:rPr lang="ko-KR" altLang="en-US" sz="1000" b="1" dirty="0">
                <a:solidFill>
                  <a:srgbClr val="FF0000"/>
                </a:solidFill>
              </a:rPr>
              <a:t>가망고객 혹은 체험캠페인의 경우 </a:t>
            </a:r>
            <a:br>
              <a:rPr lang="en-US" altLang="ko-KR" sz="1000" b="1" dirty="0">
                <a:solidFill>
                  <a:srgbClr val="FF0000"/>
                </a:solidFill>
              </a:rPr>
            </a:br>
            <a:r>
              <a:rPr lang="ko-KR" altLang="en-US" sz="1000" b="1" dirty="0">
                <a:solidFill>
                  <a:srgbClr val="FF0000"/>
                </a:solidFill>
              </a:rPr>
              <a:t>해당 캠페인의 </a:t>
            </a:r>
            <a:r>
              <a:rPr lang="ko-KR" altLang="en-US" sz="1000" b="1" dirty="0" err="1">
                <a:solidFill>
                  <a:srgbClr val="FF0000"/>
                </a:solidFill>
              </a:rPr>
              <a:t>코드값</a:t>
            </a:r>
            <a:r>
              <a:rPr lang="ko-KR" altLang="en-US" sz="1000" b="1" dirty="0">
                <a:solidFill>
                  <a:srgbClr val="FF0000"/>
                </a:solidFill>
              </a:rPr>
              <a:t> 연동 필요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[6] </a:t>
            </a:r>
            <a:r>
              <a:rPr lang="ko-KR" altLang="en-US" sz="1000" b="1" dirty="0">
                <a:solidFill>
                  <a:srgbClr val="00B0F0"/>
                </a:solidFill>
              </a:rPr>
              <a:t>업종 </a:t>
            </a:r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인풋</a:t>
            </a:r>
            <a:r>
              <a:rPr lang="en-US" altLang="ko-KR" sz="1000" b="1" dirty="0">
                <a:solidFill>
                  <a:srgbClr val="00B0F0"/>
                </a:solidFill>
              </a:rPr>
              <a:t>X)</a:t>
            </a:r>
          </a:p>
          <a:p>
            <a:endParaRPr lang="en-US" altLang="ko-KR" sz="800" dirty="0"/>
          </a:p>
          <a:p>
            <a:r>
              <a:rPr lang="ko-KR" altLang="en-US" sz="1000" b="1" dirty="0">
                <a:solidFill>
                  <a:srgbClr val="FF0000"/>
                </a:solidFill>
              </a:rPr>
              <a:t>회사정보에 연결된</a:t>
            </a:r>
            <a:br>
              <a:rPr lang="en-US" altLang="ko-KR" sz="1000" b="1" dirty="0">
                <a:solidFill>
                  <a:srgbClr val="FF0000"/>
                </a:solidFill>
              </a:rPr>
            </a:br>
            <a:r>
              <a:rPr lang="ko-KR" altLang="en-US" sz="1000" b="1" dirty="0">
                <a:solidFill>
                  <a:srgbClr val="FF0000"/>
                </a:solidFill>
              </a:rPr>
              <a:t>“</a:t>
            </a:r>
            <a:r>
              <a:rPr lang="ko-KR" altLang="en-US" sz="1000" b="1" dirty="0" err="1">
                <a:solidFill>
                  <a:srgbClr val="FF0000"/>
                </a:solidFill>
              </a:rPr>
              <a:t>표준업종대분류</a:t>
            </a:r>
            <a:r>
              <a:rPr lang="ko-KR" altLang="en-US" sz="1000" b="1" dirty="0">
                <a:solidFill>
                  <a:srgbClr val="FF0000"/>
                </a:solidFill>
              </a:rPr>
              <a:t>“ 정보로 자동 </a:t>
            </a:r>
            <a:r>
              <a:rPr lang="ko-KR" altLang="en-US" sz="1000" b="1" dirty="0" err="1">
                <a:solidFill>
                  <a:srgbClr val="FF0000"/>
                </a:solidFill>
              </a:rPr>
              <a:t>매핑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[7] </a:t>
            </a:r>
            <a:r>
              <a:rPr lang="ko-KR" altLang="en-US" sz="1000" b="1" dirty="0">
                <a:solidFill>
                  <a:srgbClr val="00B0F0"/>
                </a:solidFill>
              </a:rPr>
              <a:t>현재 </a:t>
            </a:r>
            <a:r>
              <a:rPr lang="ko-KR" altLang="en-US" sz="1000" b="1" dirty="0" err="1">
                <a:solidFill>
                  <a:srgbClr val="00B0F0"/>
                </a:solidFill>
              </a:rPr>
              <a:t>마음리지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현재 사용 가능한 </a:t>
            </a:r>
            <a:r>
              <a:rPr lang="ko-KR" altLang="en-US" sz="800" dirty="0" err="1"/>
              <a:t>마음리지</a:t>
            </a:r>
            <a:r>
              <a:rPr lang="ko-KR" altLang="en-US" sz="800" dirty="0"/>
              <a:t> 표기</a:t>
            </a:r>
            <a:endParaRPr lang="en-US" altLang="ko-KR" sz="800" b="1" dirty="0">
              <a:solidFill>
                <a:srgbClr val="00B0F0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381328" y="3882009"/>
            <a:ext cx="674451" cy="10633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+ 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비서 추가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회원정보 입력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조회 수정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CRM_02_001~004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73645" y="1799147"/>
            <a:ext cx="837089" cy="2154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현재 </a:t>
            </a:r>
            <a:r>
              <a:rPr lang="ko-KR" altLang="en-US" sz="800" dirty="0" err="1"/>
              <a:t>마음리지</a:t>
            </a:r>
            <a:endParaRPr lang="ko-KR" altLang="en-US" sz="800" dirty="0"/>
          </a:p>
        </p:txBody>
      </p:sp>
      <p:sp>
        <p:nvSpPr>
          <p:cNvPr id="32" name="TextBox 31"/>
          <p:cNvSpPr txBox="1"/>
          <p:nvPr/>
        </p:nvSpPr>
        <p:spPr>
          <a:xfrm>
            <a:off x="7510734" y="1787423"/>
            <a:ext cx="577402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0000000</a:t>
            </a:r>
            <a:endParaRPr lang="ko-KR" altLang="en-US" sz="800" dirty="0"/>
          </a:p>
        </p:txBody>
      </p:sp>
      <p:sp>
        <p:nvSpPr>
          <p:cNvPr id="33" name="직사각형 32"/>
          <p:cNvSpPr/>
          <p:nvPr/>
        </p:nvSpPr>
        <p:spPr>
          <a:xfrm>
            <a:off x="3819322" y="2234033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005199" y="2236758"/>
            <a:ext cx="5540878" cy="168813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10531" y="252564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538929" y="280660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7555579" y="2820434"/>
            <a:ext cx="786948" cy="162364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691186" y="5012703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5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688004" y="528094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6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6520298" y="180814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7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683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49830"/>
          <a:stretch/>
        </p:blipFill>
        <p:spPr>
          <a:xfrm>
            <a:off x="544387" y="948268"/>
            <a:ext cx="9222347" cy="21191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53340" y="591381"/>
            <a:ext cx="2177199" cy="606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성명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회원 이름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아이디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아이디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b="1" dirty="0">
                <a:solidFill>
                  <a:srgbClr val="00B0F0"/>
                </a:solidFill>
              </a:rPr>
              <a:t>[</a:t>
            </a:r>
            <a:r>
              <a:rPr lang="en-US" altLang="ko-KR" sz="1000" b="1" dirty="0">
                <a:solidFill>
                  <a:srgbClr val="00B0F0"/>
                </a:solidFill>
              </a:rPr>
              <a:t>3] </a:t>
            </a:r>
            <a:r>
              <a:rPr lang="ko-KR" altLang="en-US" sz="1000" b="1" dirty="0">
                <a:solidFill>
                  <a:srgbClr val="00B0F0"/>
                </a:solidFill>
              </a:rPr>
              <a:t>회사검색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회사명 검색</a:t>
            </a:r>
            <a:r>
              <a:rPr lang="en-US" altLang="ko-KR" sz="800" dirty="0"/>
              <a:t>(</a:t>
            </a:r>
            <a:r>
              <a:rPr lang="ko-KR" altLang="en-US" sz="800" dirty="0"/>
              <a:t>검색 상세 팝업 실행</a:t>
            </a:r>
            <a:r>
              <a:rPr lang="en-US" altLang="ko-KR" sz="800" dirty="0"/>
              <a:t>)</a:t>
            </a:r>
            <a:endParaRPr lang="en-US" altLang="ko-KR" sz="800" b="1" dirty="0">
              <a:solidFill>
                <a:srgbClr val="00B0F0"/>
              </a:solidFill>
            </a:endParaRPr>
          </a:p>
          <a:p>
            <a:endParaRPr lang="en-US" altLang="ko-KR" sz="8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>
                <a:solidFill>
                  <a:srgbClr val="00B0F0"/>
                </a:solidFill>
              </a:rPr>
              <a:t>회원 분류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/>
              <a:t>2Depth </a:t>
            </a:r>
            <a:r>
              <a:rPr lang="ko-KR" altLang="en-US" sz="800" dirty="0"/>
              <a:t>회원 분류 트리 선택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Ex) </a:t>
            </a:r>
            <a:r>
              <a:rPr lang="ko-KR" altLang="en-US" sz="800" dirty="0"/>
              <a:t>유료회원 </a:t>
            </a:r>
            <a:r>
              <a:rPr lang="en-US" altLang="ko-KR" sz="800" dirty="0"/>
              <a:t>– </a:t>
            </a:r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정회원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[5] </a:t>
            </a:r>
            <a:r>
              <a:rPr lang="ko-KR" altLang="en-US" sz="1000" b="1" dirty="0">
                <a:solidFill>
                  <a:srgbClr val="00B0F0"/>
                </a:solidFill>
              </a:rPr>
              <a:t>사용여부 선택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사용</a:t>
            </a:r>
            <a:r>
              <a:rPr lang="en-US" altLang="ko-KR" sz="800" dirty="0"/>
              <a:t>, </a:t>
            </a:r>
            <a:r>
              <a:rPr lang="ko-KR" altLang="en-US" sz="800" dirty="0"/>
              <a:t>미사용</a:t>
            </a:r>
            <a:r>
              <a:rPr lang="en-US" altLang="ko-KR" sz="800" dirty="0"/>
              <a:t>, </a:t>
            </a:r>
            <a:r>
              <a:rPr lang="ko-KR" altLang="en-US" sz="800" dirty="0"/>
              <a:t>전체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[6] </a:t>
            </a:r>
            <a:r>
              <a:rPr lang="ko-KR" altLang="en-US" sz="1000" b="1" dirty="0">
                <a:solidFill>
                  <a:srgbClr val="00B0F0"/>
                </a:solidFill>
              </a:rPr>
              <a:t>일자 기준 선택 후 검색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회원등록일</a:t>
            </a:r>
            <a:endParaRPr lang="en-US" altLang="ko-KR" sz="800" dirty="0"/>
          </a:p>
          <a:p>
            <a:r>
              <a:rPr lang="ko-KR" altLang="en-US" sz="800" dirty="0"/>
              <a:t>서비스시작일</a:t>
            </a:r>
            <a:endParaRPr lang="en-US" altLang="ko-KR" sz="800" dirty="0"/>
          </a:p>
          <a:p>
            <a:r>
              <a:rPr lang="ko-KR" altLang="en-US" sz="800" dirty="0"/>
              <a:t>서비스종료일</a:t>
            </a:r>
            <a:endParaRPr lang="en-US" altLang="ko-KR" sz="800" dirty="0"/>
          </a:p>
          <a:p>
            <a:r>
              <a:rPr lang="ko-KR" altLang="en-US" sz="800" dirty="0"/>
              <a:t>계약시작일</a:t>
            </a:r>
            <a:endParaRPr lang="en-US" altLang="ko-KR" sz="800" dirty="0"/>
          </a:p>
          <a:p>
            <a:r>
              <a:rPr lang="ko-KR" altLang="en-US" sz="800" dirty="0"/>
              <a:t>계약종료일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b="1" dirty="0">
                <a:solidFill>
                  <a:srgbClr val="00B0F0"/>
                </a:solidFill>
              </a:rPr>
              <a:t>[</a:t>
            </a:r>
            <a:r>
              <a:rPr lang="en-US" altLang="ko-KR" sz="1000" b="1" dirty="0">
                <a:solidFill>
                  <a:srgbClr val="00B0F0"/>
                </a:solidFill>
              </a:rPr>
              <a:t>7] </a:t>
            </a:r>
            <a:r>
              <a:rPr lang="ko-KR" altLang="en-US" sz="1000" b="1" dirty="0">
                <a:solidFill>
                  <a:srgbClr val="00B0F0"/>
                </a:solidFill>
              </a:rPr>
              <a:t>비서이름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비서 이름</a:t>
            </a:r>
            <a:endParaRPr lang="en-US" altLang="ko-KR" sz="800" dirty="0"/>
          </a:p>
          <a:p>
            <a:endParaRPr lang="en-US" altLang="ko-KR" sz="8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[8] </a:t>
            </a:r>
            <a:r>
              <a:rPr lang="ko-KR" altLang="en-US" sz="1000" b="1" dirty="0">
                <a:solidFill>
                  <a:srgbClr val="00B0F0"/>
                </a:solidFill>
              </a:rPr>
              <a:t>전화번호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회원 휴대폰</a:t>
            </a:r>
            <a:r>
              <a:rPr lang="en-US" altLang="ko-KR" sz="800" dirty="0"/>
              <a:t>, </a:t>
            </a:r>
            <a:r>
              <a:rPr lang="ko-KR" altLang="en-US" sz="800" dirty="0"/>
              <a:t>전화번호  </a:t>
            </a:r>
            <a:r>
              <a:rPr lang="en-US" altLang="ko-KR" sz="800" dirty="0"/>
              <a:t>+ </a:t>
            </a:r>
            <a:r>
              <a:rPr lang="ko-KR" altLang="en-US" sz="800" dirty="0"/>
              <a:t>비서 전화번호</a:t>
            </a:r>
            <a:endParaRPr lang="en-US" altLang="ko-KR" sz="800" dirty="0"/>
          </a:p>
          <a:p>
            <a:r>
              <a:rPr lang="ko-KR" altLang="en-US" sz="800" dirty="0"/>
              <a:t>모든 전화번호 필드 검색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b="1" dirty="0">
                <a:solidFill>
                  <a:srgbClr val="00B0F0"/>
                </a:solidFill>
              </a:rPr>
              <a:t>[</a:t>
            </a:r>
            <a:r>
              <a:rPr lang="en-US" altLang="ko-KR" sz="1000" b="1" dirty="0">
                <a:solidFill>
                  <a:srgbClr val="00B0F0"/>
                </a:solidFill>
              </a:rPr>
              <a:t>9] </a:t>
            </a:r>
            <a:r>
              <a:rPr lang="ko-KR" altLang="en-US" sz="1000" b="1" dirty="0">
                <a:solidFill>
                  <a:srgbClr val="00B0F0"/>
                </a:solidFill>
              </a:rPr>
              <a:t>영업대표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담당 </a:t>
            </a:r>
            <a:r>
              <a:rPr lang="ko-KR" altLang="en-US" sz="800" dirty="0" err="1"/>
              <a:t>영업대표명</a:t>
            </a:r>
            <a:r>
              <a:rPr lang="ko-KR" altLang="en-US" sz="800" dirty="0"/>
              <a:t> 검색</a:t>
            </a:r>
            <a:r>
              <a:rPr lang="en-US" altLang="ko-KR" sz="800" dirty="0"/>
              <a:t>(</a:t>
            </a:r>
            <a:r>
              <a:rPr lang="ko-KR" altLang="en-US" sz="800" dirty="0"/>
              <a:t>검색 상세 팝업 실행</a:t>
            </a:r>
            <a:r>
              <a:rPr lang="en-US" altLang="ko-KR" sz="800" dirty="0"/>
              <a:t>)</a:t>
            </a:r>
          </a:p>
          <a:p>
            <a:endParaRPr lang="en-US" altLang="ko-KR" sz="8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[10] </a:t>
            </a:r>
            <a:r>
              <a:rPr lang="ko-KR" altLang="en-US" sz="1000" b="1" dirty="0" err="1">
                <a:solidFill>
                  <a:srgbClr val="00B0F0"/>
                </a:solidFill>
              </a:rPr>
              <a:t>이메일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회원 </a:t>
            </a:r>
            <a:r>
              <a:rPr lang="ko-KR" altLang="en-US" sz="800" dirty="0" err="1"/>
              <a:t>이메일</a:t>
            </a:r>
            <a:r>
              <a:rPr lang="ko-KR" altLang="en-US" sz="800" dirty="0"/>
              <a:t> </a:t>
            </a:r>
            <a:r>
              <a:rPr lang="en-US" altLang="ko-KR" sz="800" dirty="0"/>
              <a:t>+ </a:t>
            </a:r>
            <a:r>
              <a:rPr lang="ko-KR" altLang="en-US" sz="800" dirty="0"/>
              <a:t>비서 </a:t>
            </a:r>
            <a:r>
              <a:rPr lang="ko-KR" altLang="en-US" sz="800" dirty="0" err="1"/>
              <a:t>이메일</a:t>
            </a:r>
            <a:r>
              <a:rPr lang="en-US" altLang="ko-KR" sz="800" dirty="0"/>
              <a:t> </a:t>
            </a:r>
          </a:p>
          <a:p>
            <a:r>
              <a:rPr lang="ko-KR" altLang="en-US" sz="800" dirty="0"/>
              <a:t>모든 </a:t>
            </a:r>
            <a:r>
              <a:rPr lang="ko-KR" altLang="en-US" sz="800" dirty="0" err="1"/>
              <a:t>이메일</a:t>
            </a:r>
            <a:r>
              <a:rPr lang="ko-KR" altLang="en-US" sz="800" dirty="0"/>
              <a:t> 필드 검색</a:t>
            </a:r>
            <a:endParaRPr lang="en-US" altLang="ko-KR" sz="800" dirty="0"/>
          </a:p>
          <a:p>
            <a:endParaRPr lang="en-US" altLang="ko-KR" sz="800" dirty="0"/>
          </a:p>
        </p:txBody>
      </p:sp>
      <p:sp>
        <p:nvSpPr>
          <p:cNvPr id="14" name="직사각형 13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회원정보 입력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조회 수정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CRM_02_001~004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469282"/>
              </p:ext>
            </p:extLst>
          </p:nvPr>
        </p:nvGraphicFramePr>
        <p:xfrm>
          <a:off x="1104630" y="3756888"/>
          <a:ext cx="8337685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8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5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5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8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성명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회사검색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비서이름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전화번호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이메일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1821093" y="3781719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821092" y="3986768"/>
            <a:ext cx="649734" cy="1808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7828141" y="3984112"/>
            <a:ext cx="442439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489" y="3987639"/>
            <a:ext cx="186718" cy="154639"/>
          </a:xfrm>
          <a:prstGeom prst="rect">
            <a:avLst/>
          </a:prstGeom>
        </p:spPr>
      </p:pic>
      <p:sp>
        <p:nvSpPr>
          <p:cNvPr id="25" name="직사각형 24"/>
          <p:cNvSpPr/>
          <p:nvPr/>
        </p:nvSpPr>
        <p:spPr>
          <a:xfrm>
            <a:off x="8708507" y="3984112"/>
            <a:ext cx="442439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304" y="3982365"/>
            <a:ext cx="186718" cy="15463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464864" y="3921186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28" name="직사각형 27"/>
          <p:cNvSpPr/>
          <p:nvPr/>
        </p:nvSpPr>
        <p:spPr>
          <a:xfrm>
            <a:off x="1821091" y="4211204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7138740" y="3781719"/>
            <a:ext cx="226028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852026" y="374659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3625931" y="375936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6267480" y="375688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851664" y="396532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537553" y="3986282"/>
            <a:ext cx="1048709" cy="18133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450801" y="3993669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138741" y="3977248"/>
            <a:ext cx="649734" cy="1808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450801" y="4201430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450801" y="3783168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821090" y="4417251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913750" y="1727174"/>
            <a:ext cx="7431288" cy="724196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3623649" y="400093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5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6267480" y="4000935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6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56525" y="4200063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7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851664" y="440423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10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3623648" y="423023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8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6278201" y="421433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9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7138739" y="4212483"/>
            <a:ext cx="226028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8842075" y="72853"/>
            <a:ext cx="3968151" cy="608634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회원 정보 조회 옵션에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“</a:t>
            </a:r>
            <a:r>
              <a:rPr lang="ko-KR" altLang="en-US" sz="1200" b="1" dirty="0">
                <a:solidFill>
                  <a:schemeClr val="tx1"/>
                </a:solidFill>
              </a:rPr>
              <a:t>그룹</a:t>
            </a:r>
            <a:r>
              <a:rPr lang="en-US" altLang="ko-KR" sz="1200" b="1" dirty="0">
                <a:solidFill>
                  <a:schemeClr val="tx1"/>
                </a:solidFill>
              </a:rPr>
              <a:t>“ </a:t>
            </a:r>
            <a:r>
              <a:rPr lang="ko-KR" altLang="en-US" sz="1200" b="1" dirty="0">
                <a:solidFill>
                  <a:schemeClr val="tx1"/>
                </a:solidFill>
              </a:rPr>
              <a:t>혹은 </a:t>
            </a:r>
            <a:r>
              <a:rPr lang="en-US" altLang="ko-KR" sz="1200" b="1" dirty="0">
                <a:solidFill>
                  <a:schemeClr val="tx1"/>
                </a:solidFill>
              </a:rPr>
              <a:t>”</a:t>
            </a:r>
            <a:r>
              <a:rPr lang="ko-KR" altLang="en-US" sz="1200" b="1" dirty="0" err="1">
                <a:solidFill>
                  <a:schemeClr val="tx1"/>
                </a:solidFill>
              </a:rPr>
              <a:t>캠페인명</a:t>
            </a:r>
            <a:r>
              <a:rPr lang="en-US" altLang="ko-KR" sz="1200" b="1" dirty="0">
                <a:solidFill>
                  <a:schemeClr val="tx1"/>
                </a:solidFill>
              </a:rPr>
              <a:t>“ </a:t>
            </a:r>
            <a:r>
              <a:rPr lang="ko-KR" altLang="en-US" sz="1200" b="1" dirty="0">
                <a:solidFill>
                  <a:schemeClr val="tx1"/>
                </a:solidFill>
              </a:rPr>
              <a:t>검색 추가 희망함</a:t>
            </a:r>
          </a:p>
        </p:txBody>
      </p:sp>
    </p:spTree>
    <p:extLst>
      <p:ext uri="{BB962C8B-B14F-4D97-AF65-F5344CB8AC3E}">
        <p14:creationId xmlns:p14="http://schemas.microsoft.com/office/powerpoint/2010/main" val="2202532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87" y="948267"/>
            <a:ext cx="9222347" cy="422405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512" y="2619228"/>
            <a:ext cx="8203659" cy="56285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723744" y="230099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53340" y="591381"/>
            <a:ext cx="2755883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 err="1">
                <a:solidFill>
                  <a:srgbClr val="00B0F0"/>
                </a:solidFill>
              </a:rPr>
              <a:t>컨택</a:t>
            </a:r>
            <a:r>
              <a:rPr lang="ko-KR" altLang="en-US" sz="1000" b="1" dirty="0">
                <a:solidFill>
                  <a:srgbClr val="00B0F0"/>
                </a:solidFill>
              </a:rPr>
              <a:t> 채널 선택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 err="1"/>
              <a:t>이메일</a:t>
            </a:r>
            <a:r>
              <a:rPr lang="en-US" altLang="ko-KR" sz="800" dirty="0"/>
              <a:t>, </a:t>
            </a:r>
            <a:r>
              <a:rPr lang="ko-KR" altLang="en-US" sz="800" dirty="0"/>
              <a:t>문자</a:t>
            </a:r>
            <a:r>
              <a:rPr lang="en-US" altLang="ko-KR" sz="800" dirty="0"/>
              <a:t>, </a:t>
            </a:r>
            <a:r>
              <a:rPr lang="ko-KR" altLang="en-US" sz="800" dirty="0" err="1"/>
              <a:t>카카오톡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선택 시 각 프로세스 상세 팝업 실행</a:t>
            </a:r>
            <a:endParaRPr lang="en-US" altLang="ko-KR" sz="800" dirty="0"/>
          </a:p>
          <a:p>
            <a:endParaRPr lang="en-US" altLang="ko-KR" sz="800" dirty="0"/>
          </a:p>
          <a:p>
            <a:pPr marL="171450" indent="-171450">
              <a:buFontTx/>
              <a:buChar char="-"/>
            </a:pPr>
            <a:r>
              <a:rPr lang="ko-KR" altLang="en-US" sz="800" dirty="0"/>
              <a:t>실제 운영되도록 테스트 필수</a:t>
            </a:r>
            <a:endParaRPr lang="en-US" altLang="ko-KR" sz="800" dirty="0"/>
          </a:p>
          <a:p>
            <a:pPr marL="171450" indent="-171450">
              <a:buFontTx/>
              <a:buChar char="-"/>
            </a:pPr>
            <a:r>
              <a:rPr lang="ko-KR" altLang="en-US" sz="800" dirty="0"/>
              <a:t>발송 </a:t>
            </a:r>
            <a:r>
              <a:rPr lang="ko-KR" altLang="en-US" sz="800" dirty="0" err="1"/>
              <a:t>히스토리</a:t>
            </a:r>
            <a:r>
              <a:rPr lang="ko-KR" altLang="en-US" sz="800" dirty="0"/>
              <a:t> 조회 가능하다면</a:t>
            </a:r>
            <a:r>
              <a:rPr lang="en-US" altLang="ko-KR" sz="800" dirty="0"/>
              <a:t>, </a:t>
            </a:r>
            <a:r>
              <a:rPr lang="ko-KR" altLang="en-US" sz="800" dirty="0"/>
              <a:t>일괄 조회화면 신설</a:t>
            </a:r>
            <a:endParaRPr lang="en-US" altLang="ko-KR" sz="800" dirty="0"/>
          </a:p>
          <a:p>
            <a:pPr marL="171450" indent="-171450">
              <a:buFontTx/>
              <a:buChar char="-"/>
            </a:pP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>
                <a:solidFill>
                  <a:srgbClr val="FF0000"/>
                </a:solidFill>
              </a:rPr>
              <a:t>단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 err="1">
                <a:solidFill>
                  <a:srgbClr val="FF0000"/>
                </a:solidFill>
              </a:rPr>
              <a:t>컨택하려는</a:t>
            </a:r>
            <a:r>
              <a:rPr lang="ko-KR" altLang="en-US" sz="800" dirty="0">
                <a:solidFill>
                  <a:srgbClr val="FF0000"/>
                </a:solidFill>
              </a:rPr>
              <a:t> 회원의 </a:t>
            </a:r>
            <a:r>
              <a:rPr lang="ko-KR" altLang="en-US" sz="800" dirty="0" err="1">
                <a:solidFill>
                  <a:srgbClr val="FF0000"/>
                </a:solidFill>
              </a:rPr>
              <a:t>퍼미션</a:t>
            </a:r>
            <a:r>
              <a:rPr lang="ko-KR" altLang="en-US" sz="800" dirty="0">
                <a:solidFill>
                  <a:srgbClr val="FF0000"/>
                </a:solidFill>
              </a:rPr>
              <a:t> 정보를 체크한 후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설정된 값에 따라 운영함</a:t>
            </a:r>
            <a:endParaRPr lang="en-US" altLang="ko-KR" sz="800" dirty="0">
              <a:solidFill>
                <a:srgbClr val="FF0000"/>
              </a:solidFill>
            </a:endParaRPr>
          </a:p>
          <a:p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 err="1">
                <a:solidFill>
                  <a:srgbClr val="FF0000"/>
                </a:solidFill>
              </a:rPr>
              <a:t>설정값이</a:t>
            </a:r>
            <a:r>
              <a:rPr lang="ko-KR" altLang="en-US" sz="800" dirty="0">
                <a:solidFill>
                  <a:srgbClr val="FF0000"/>
                </a:solidFill>
              </a:rPr>
              <a:t> 다른 회원을 복수 선택 후 채널을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선택하면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 err="1">
                <a:solidFill>
                  <a:srgbClr val="FF0000"/>
                </a:solidFill>
              </a:rPr>
              <a:t>얼럿</a:t>
            </a:r>
            <a:r>
              <a:rPr lang="ko-KR" altLang="en-US" sz="800" dirty="0">
                <a:solidFill>
                  <a:srgbClr val="FF0000"/>
                </a:solidFill>
              </a:rPr>
              <a:t> 안내</a:t>
            </a:r>
            <a:endParaRPr lang="en-US" altLang="ko-KR" sz="800" dirty="0">
              <a:solidFill>
                <a:srgbClr val="FF0000"/>
              </a:solidFill>
            </a:endParaRPr>
          </a:p>
          <a:p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800" dirty="0">
                <a:solidFill>
                  <a:srgbClr val="FF0000"/>
                </a:solidFill>
              </a:rPr>
              <a:t>“</a:t>
            </a:r>
            <a:r>
              <a:rPr lang="ko-KR" altLang="en-US" sz="800" dirty="0" err="1">
                <a:solidFill>
                  <a:srgbClr val="FF0000"/>
                </a:solidFill>
              </a:rPr>
              <a:t>퍼미션</a:t>
            </a:r>
            <a:r>
              <a:rPr lang="ko-KR" altLang="en-US" sz="800" dirty="0">
                <a:solidFill>
                  <a:srgbClr val="FF0000"/>
                </a:solidFill>
              </a:rPr>
              <a:t> 정보가 다른 회원이 포함되어 있습니다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개별로 발송하세요</a:t>
            </a:r>
            <a:r>
              <a:rPr lang="en-US" altLang="ko-KR" sz="800" dirty="0">
                <a:solidFill>
                  <a:srgbClr val="FF0000"/>
                </a:solidFill>
              </a:rPr>
              <a:t>.”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회원 조회 결과 필드 수정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회원분류</a:t>
            </a:r>
            <a:r>
              <a:rPr lang="en-US" altLang="ko-KR" sz="800" dirty="0"/>
              <a:t>~ </a:t>
            </a:r>
            <a:r>
              <a:rPr lang="ko-KR" altLang="en-US" sz="800" dirty="0"/>
              <a:t>서비스종료일까지</a:t>
            </a:r>
            <a:r>
              <a:rPr lang="en-US" altLang="ko-KR" sz="800" dirty="0"/>
              <a:t> </a:t>
            </a:r>
            <a:r>
              <a:rPr lang="ko-KR" altLang="en-US" sz="800" dirty="0"/>
              <a:t>노출함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[2-1] </a:t>
            </a:r>
            <a:r>
              <a:rPr lang="ko-KR" altLang="en-US" sz="800" dirty="0"/>
              <a:t>회사명만 남김 </a:t>
            </a:r>
            <a:r>
              <a:rPr lang="en-US" altLang="ko-KR" sz="800" dirty="0"/>
              <a:t>(</a:t>
            </a:r>
            <a:r>
              <a:rPr lang="ko-KR" altLang="en-US" sz="800" dirty="0" err="1"/>
              <a:t>법인명</a:t>
            </a:r>
            <a:r>
              <a:rPr lang="ko-KR" altLang="en-US" sz="800" dirty="0"/>
              <a:t> 삭제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800" dirty="0"/>
              <a:t>[2-2] </a:t>
            </a:r>
            <a:r>
              <a:rPr lang="ko-KR" altLang="en-US" sz="800" dirty="0" err="1"/>
              <a:t>법인명</a:t>
            </a:r>
            <a:r>
              <a:rPr lang="ko-KR" altLang="en-US" sz="800" dirty="0"/>
              <a:t> 위치에 </a:t>
            </a:r>
            <a:r>
              <a:rPr lang="en-US" altLang="ko-KR" sz="800" dirty="0"/>
              <a:t>“</a:t>
            </a:r>
            <a:r>
              <a:rPr lang="ko-KR" altLang="en-US" sz="800" dirty="0"/>
              <a:t>현재 </a:t>
            </a:r>
            <a:r>
              <a:rPr lang="ko-KR" altLang="en-US" sz="800" dirty="0" err="1"/>
              <a:t>마음리지</a:t>
            </a:r>
            <a:r>
              <a:rPr lang="en-US" altLang="ko-KR" sz="800" dirty="0"/>
              <a:t>“</a:t>
            </a:r>
          </a:p>
          <a:p>
            <a:r>
              <a:rPr lang="en-US" altLang="ko-KR" sz="800" dirty="0"/>
              <a:t>       </a:t>
            </a:r>
            <a:r>
              <a:rPr lang="ko-KR" altLang="en-US" sz="800" dirty="0"/>
              <a:t>정보 표기</a:t>
            </a:r>
            <a:endParaRPr lang="en-US" altLang="ko-KR" sz="800" dirty="0"/>
          </a:p>
          <a:p>
            <a:endParaRPr lang="en-US" altLang="ko-KR" sz="800" dirty="0"/>
          </a:p>
        </p:txBody>
      </p:sp>
      <p:sp>
        <p:nvSpPr>
          <p:cNvPr id="14" name="직사각형 13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회원정보 입력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조회 수정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CRM_02_001~004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382748" y="281365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824448" y="2702835"/>
            <a:ext cx="217452" cy="197818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2-1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824448" y="2921001"/>
            <a:ext cx="217452" cy="197818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2-2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864871" y="2450167"/>
            <a:ext cx="1285597" cy="169062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4" name="직선 화살표 연결선 3"/>
          <p:cNvCxnSpPr/>
          <p:nvPr/>
        </p:nvCxnSpPr>
        <p:spPr>
          <a:xfrm flipH="1">
            <a:off x="3223098" y="2619228"/>
            <a:ext cx="64851" cy="2909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2725061" y="5594443"/>
            <a:ext cx="998707" cy="14591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컨택</a:t>
            </a:r>
            <a:r>
              <a:rPr lang="ko-KR" altLang="en-US" sz="1050" dirty="0">
                <a:solidFill>
                  <a:schemeClr val="tx1"/>
                </a:solidFill>
              </a:rPr>
              <a:t> 채널  ▼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2723744" y="5788468"/>
            <a:ext cx="998707" cy="4507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t"/>
          <a:lstStyle/>
          <a:p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이메일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문자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카카오톡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287886"/>
              </p:ext>
            </p:extLst>
          </p:nvPr>
        </p:nvGraphicFramePr>
        <p:xfrm>
          <a:off x="8644812" y="3182078"/>
          <a:ext cx="387809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7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73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3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350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이메일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문자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카카오톡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퍼미션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정보 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 err="1"/>
                        <a:t>체크된경우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수신거부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이메일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O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O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SMS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O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광고성</a:t>
                      </a:r>
                      <a:r>
                        <a:rPr lang="ko-KR" altLang="en-US" sz="800" dirty="0"/>
                        <a:t> 정보 수진</a:t>
                      </a:r>
                      <a:r>
                        <a:rPr lang="en-US" altLang="ko-KR" sz="800" dirty="0"/>
                        <a:t>(DM)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226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156324"/>
              </p:ext>
            </p:extLst>
          </p:nvPr>
        </p:nvGraphicFramePr>
        <p:xfrm>
          <a:off x="573120" y="1624223"/>
          <a:ext cx="8953977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3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5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5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5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5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85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85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859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859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5859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5859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평균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유료회원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u="sng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전체회원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유료</a:t>
                      </a:r>
                      <a:r>
                        <a:rPr lang="en-US" altLang="ko-KR" sz="800" dirty="0"/>
                        <a:t>+</a:t>
                      </a:r>
                      <a:r>
                        <a:rPr lang="ko-KR" altLang="en-US" sz="800" dirty="0"/>
                        <a:t>무료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신규회원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탈퇴회원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573120" y="1403330"/>
            <a:ext cx="518260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121120" y="1403329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728605"/>
              </p:ext>
            </p:extLst>
          </p:nvPr>
        </p:nvGraphicFramePr>
        <p:xfrm>
          <a:off x="573120" y="3251835"/>
          <a:ext cx="8953984" cy="2346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9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9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9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9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9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92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대내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대외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정회원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온라인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매거진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은퇴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은퇴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온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월회원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프리미엄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리움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2004" y="2966899"/>
            <a:ext cx="8194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[</a:t>
            </a:r>
            <a:r>
              <a:rPr lang="ko-KR" altLang="en-US" sz="1000" dirty="0"/>
              <a:t>유료 회원</a:t>
            </a:r>
            <a:r>
              <a:rPr lang="en-US" altLang="ko-KR" sz="1000" dirty="0"/>
              <a:t>]</a:t>
            </a:r>
            <a:endParaRPr lang="ko-KR" altLang="en-US" sz="1000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923619"/>
              </p:ext>
            </p:extLst>
          </p:nvPr>
        </p:nvGraphicFramePr>
        <p:xfrm>
          <a:off x="754602" y="5811233"/>
          <a:ext cx="5154226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0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2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2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2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/>
                        <a:t>캠페인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인원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모니터링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인원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임직원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인원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검토용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법인담당자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운영자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VIP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출연진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일반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VIP(</a:t>
                      </a:r>
                      <a:r>
                        <a:rPr lang="ko-KR" altLang="en-US" sz="800" dirty="0"/>
                        <a:t>온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오프라인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 err="1"/>
                        <a:t>주체험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92004" y="5598795"/>
            <a:ext cx="8194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 dirty="0"/>
              <a:t>무료 회원</a:t>
            </a:r>
            <a:r>
              <a:rPr lang="en-US" altLang="ko-KR" sz="1000" dirty="0"/>
              <a:t>]</a:t>
            </a:r>
            <a:endParaRPr lang="ko-KR" altLang="en-US" sz="1000" dirty="0"/>
          </a:p>
        </p:txBody>
      </p:sp>
      <p:sp>
        <p:nvSpPr>
          <p:cNvPr id="20" name="직사각형 19"/>
          <p:cNvSpPr/>
          <p:nvPr/>
        </p:nvSpPr>
        <p:spPr>
          <a:xfrm>
            <a:off x="573120" y="2802902"/>
            <a:ext cx="518260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153223" y="2802903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596932" y="2802902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7769" y="660265"/>
            <a:ext cx="1327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현황 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회원현황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 현황 요약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상세내역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다운로드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CRM_02_005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32649" y="1871541"/>
            <a:ext cx="2073003" cy="3447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기본값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연도 구분 </a:t>
            </a:r>
            <a:r>
              <a:rPr lang="en-US" altLang="ko-KR" sz="800" dirty="0"/>
              <a:t>: </a:t>
            </a:r>
            <a:r>
              <a:rPr lang="ko-KR" altLang="en-US" sz="800" dirty="0"/>
              <a:t>현재 연도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월 </a:t>
            </a:r>
            <a:r>
              <a:rPr lang="en-US" altLang="ko-KR" sz="800" dirty="0"/>
              <a:t>: </a:t>
            </a:r>
            <a:r>
              <a:rPr lang="ko-KR" altLang="en-US" sz="800" dirty="0" err="1"/>
              <a:t>조회월</a:t>
            </a:r>
            <a:r>
              <a:rPr lang="ko-KR" altLang="en-US" sz="800" dirty="0"/>
              <a:t> </a:t>
            </a:r>
            <a:r>
              <a:rPr lang="en-US" altLang="ko-KR" sz="800" dirty="0"/>
              <a:t>1</a:t>
            </a:r>
            <a:r>
              <a:rPr lang="ko-KR" altLang="en-US" sz="800" dirty="0"/>
              <a:t>일부터 현재까지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대상 </a:t>
            </a:r>
            <a:r>
              <a:rPr lang="en-US" altLang="ko-KR" sz="800" dirty="0"/>
              <a:t>: </a:t>
            </a:r>
            <a:r>
              <a:rPr lang="ko-KR" altLang="en-US" sz="800" dirty="0"/>
              <a:t>전체 유료회원 대상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각 상세 데이터</a:t>
            </a:r>
            <a:r>
              <a:rPr lang="en-US" altLang="ko-KR" sz="800" dirty="0"/>
              <a:t>(</a:t>
            </a:r>
            <a:r>
              <a:rPr lang="ko-KR" altLang="en-US" sz="800" dirty="0"/>
              <a:t>숫자</a:t>
            </a:r>
            <a:r>
              <a:rPr lang="en-US" altLang="ko-KR" sz="800" dirty="0"/>
              <a:t>)</a:t>
            </a:r>
            <a:r>
              <a:rPr lang="ko-KR" altLang="en-US" sz="800" dirty="0"/>
              <a:t>는</a:t>
            </a:r>
            <a:endParaRPr lang="en-US" altLang="ko-KR" sz="800" dirty="0"/>
          </a:p>
          <a:p>
            <a:r>
              <a:rPr lang="ko-KR" altLang="en-US" sz="800" dirty="0"/>
              <a:t>클릭하면 상세 팝업을 실행</a:t>
            </a:r>
            <a:r>
              <a:rPr lang="en-US" altLang="ko-KR" sz="800" dirty="0"/>
              <a:t>,</a:t>
            </a:r>
          </a:p>
          <a:p>
            <a:r>
              <a:rPr lang="ko-KR" altLang="en-US" sz="800" dirty="0"/>
              <a:t>해당 데이터의 소스를 보여주어야 함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 err="1"/>
              <a:t>회원수</a:t>
            </a:r>
            <a:r>
              <a:rPr lang="ko-KR" altLang="en-US" sz="800" dirty="0"/>
              <a:t> </a:t>
            </a:r>
            <a:r>
              <a:rPr lang="en-US" altLang="ko-KR" sz="800" dirty="0"/>
              <a:t>: </a:t>
            </a:r>
            <a:r>
              <a:rPr lang="ko-KR" altLang="en-US" sz="800" dirty="0"/>
              <a:t>회원 리스트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유료회원</a:t>
            </a:r>
            <a:r>
              <a:rPr lang="en-US" altLang="ko-KR" sz="800" dirty="0"/>
              <a:t>/</a:t>
            </a:r>
            <a:r>
              <a:rPr lang="ko-KR" altLang="en-US" sz="800" dirty="0"/>
              <a:t>전체회원의</a:t>
            </a:r>
            <a:endParaRPr lang="en-US" altLang="ko-KR" sz="800" dirty="0"/>
          </a:p>
          <a:p>
            <a:r>
              <a:rPr lang="ko-KR" altLang="en-US" sz="800" dirty="0"/>
              <a:t>연간 합계 데이터는 불필요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신규</a:t>
            </a:r>
            <a:r>
              <a:rPr lang="en-US" altLang="ko-KR" sz="800" dirty="0"/>
              <a:t>/</a:t>
            </a:r>
            <a:r>
              <a:rPr lang="ko-KR" altLang="en-US" sz="800" dirty="0"/>
              <a:t>탈퇴 데이터는 평균</a:t>
            </a:r>
            <a:r>
              <a:rPr lang="en-US" altLang="ko-KR" sz="800" dirty="0"/>
              <a:t>, </a:t>
            </a:r>
            <a:r>
              <a:rPr lang="ko-KR" altLang="en-US" sz="800" dirty="0"/>
              <a:t>합계 모두 필요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800" dirty="0">
                <a:solidFill>
                  <a:srgbClr val="FF0000"/>
                </a:solidFill>
              </a:rPr>
              <a:t>※ </a:t>
            </a:r>
            <a:r>
              <a:rPr lang="ko-KR" altLang="en-US" sz="800" dirty="0">
                <a:solidFill>
                  <a:srgbClr val="FF0000"/>
                </a:solidFill>
              </a:rPr>
              <a:t>월별 </a:t>
            </a:r>
            <a:r>
              <a:rPr lang="ko-KR" altLang="en-US" sz="800" dirty="0" err="1">
                <a:solidFill>
                  <a:srgbClr val="FF0000"/>
                </a:solidFill>
              </a:rPr>
              <a:t>회원수</a:t>
            </a:r>
            <a:r>
              <a:rPr lang="ko-KR" altLang="en-US" sz="800" dirty="0">
                <a:solidFill>
                  <a:srgbClr val="FF0000"/>
                </a:solidFill>
              </a:rPr>
              <a:t> 추이 그래프 필요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800" dirty="0">
                <a:solidFill>
                  <a:srgbClr val="FF0000"/>
                </a:solidFill>
              </a:rPr>
              <a:t>  (</a:t>
            </a:r>
            <a:r>
              <a:rPr lang="ko-KR" altLang="en-US" sz="800" dirty="0">
                <a:solidFill>
                  <a:srgbClr val="FF0000"/>
                </a:solidFill>
              </a:rPr>
              <a:t>선 그래프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</a:p>
          <a:p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800" dirty="0">
                <a:solidFill>
                  <a:srgbClr val="FF0000"/>
                </a:solidFill>
              </a:rPr>
              <a:t>※ </a:t>
            </a:r>
            <a:r>
              <a:rPr lang="ko-KR" altLang="en-US" sz="800" dirty="0">
                <a:solidFill>
                  <a:srgbClr val="FF0000"/>
                </a:solidFill>
              </a:rPr>
              <a:t>월별 </a:t>
            </a:r>
            <a:r>
              <a:rPr lang="ko-KR" altLang="en-US" sz="800" dirty="0" err="1">
                <a:solidFill>
                  <a:srgbClr val="FF0000"/>
                </a:solidFill>
              </a:rPr>
              <a:t>회원수</a:t>
            </a:r>
            <a:r>
              <a:rPr lang="ko-KR" altLang="en-US" sz="800" dirty="0">
                <a:solidFill>
                  <a:srgbClr val="FF0000"/>
                </a:solidFill>
              </a:rPr>
              <a:t> 분포 현황 그래프 필요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800" dirty="0">
                <a:solidFill>
                  <a:srgbClr val="FF0000"/>
                </a:solidFill>
              </a:rPr>
              <a:t>  (</a:t>
            </a:r>
            <a:r>
              <a:rPr lang="ko-KR" altLang="en-US" sz="800" dirty="0">
                <a:solidFill>
                  <a:srgbClr val="FF0000"/>
                </a:solidFill>
              </a:rPr>
              <a:t>원형 그래프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</a:p>
          <a:p>
            <a:endParaRPr lang="en-US" altLang="ko-KR" sz="800" dirty="0"/>
          </a:p>
        </p:txBody>
      </p:sp>
      <p:sp>
        <p:nvSpPr>
          <p:cNvPr id="24" name="직사각형 23"/>
          <p:cNvSpPr/>
          <p:nvPr/>
        </p:nvSpPr>
        <p:spPr>
          <a:xfrm>
            <a:off x="8647212" y="1382167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8647212" y="3028726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90287" y="2768817"/>
            <a:ext cx="10951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※ </a:t>
            </a:r>
            <a:r>
              <a:rPr lang="ko-KR" altLang="en-US" sz="800" dirty="0">
                <a:solidFill>
                  <a:srgbClr val="FF0000"/>
                </a:solidFill>
              </a:rPr>
              <a:t>서비스 기간 기준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215" y="1377291"/>
            <a:ext cx="10951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※ </a:t>
            </a:r>
            <a:r>
              <a:rPr lang="ko-KR" altLang="en-US" sz="800" dirty="0">
                <a:solidFill>
                  <a:srgbClr val="FF0000"/>
                </a:solidFill>
              </a:rPr>
              <a:t>서비스 기간 기준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8842075" y="72853"/>
            <a:ext cx="3968151" cy="608634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marL="228600" indent="-228600" algn="ctr"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</a:rPr>
              <a:t>날짜 옆에 기준 표기 </a:t>
            </a:r>
            <a:r>
              <a:rPr lang="en-US" altLang="ko-KR" sz="1200" b="1" dirty="0">
                <a:solidFill>
                  <a:schemeClr val="tx1"/>
                </a:solidFill>
              </a:rPr>
              <a:t>“</a:t>
            </a:r>
            <a:r>
              <a:rPr lang="ko-KR" altLang="en-US" sz="1200" b="1" dirty="0">
                <a:solidFill>
                  <a:schemeClr val="tx1"/>
                </a:solidFill>
              </a:rPr>
              <a:t>서비스 기간 기준</a:t>
            </a:r>
            <a:r>
              <a:rPr lang="en-US" altLang="ko-KR" sz="1200" b="1" dirty="0">
                <a:solidFill>
                  <a:schemeClr val="tx1"/>
                </a:solidFill>
              </a:rPr>
              <a:t>“</a:t>
            </a:r>
          </a:p>
          <a:p>
            <a:pPr marL="228600" indent="-228600" algn="ctr"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</a:rPr>
              <a:t>유료회원 </a:t>
            </a:r>
            <a:r>
              <a:rPr lang="ko-KR" altLang="en-US" sz="1200" b="1" dirty="0" err="1">
                <a:solidFill>
                  <a:schemeClr val="tx1"/>
                </a:solidFill>
              </a:rPr>
              <a:t>구분값에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“</a:t>
            </a:r>
            <a:r>
              <a:rPr lang="ko-KR" altLang="en-US" sz="1200" b="1" dirty="0">
                <a:solidFill>
                  <a:schemeClr val="tx1"/>
                </a:solidFill>
              </a:rPr>
              <a:t>은퇴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은퇴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</a:rPr>
              <a:t>온</a:t>
            </a:r>
            <a:r>
              <a:rPr lang="en-US" altLang="ko-KR" sz="1200" b="1" dirty="0">
                <a:solidFill>
                  <a:schemeClr val="tx1"/>
                </a:solidFill>
              </a:rPr>
              <a:t>)” </a:t>
            </a:r>
            <a:r>
              <a:rPr lang="ko-KR" altLang="en-US" sz="1200" b="1" dirty="0">
                <a:solidFill>
                  <a:schemeClr val="tx1"/>
                </a:solidFill>
              </a:rPr>
              <a:t>추가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7769" y="934593"/>
            <a:ext cx="1004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요약     전체현황        </a:t>
            </a:r>
            <a:r>
              <a:rPr lang="ko-KR" altLang="en-US" sz="1200" dirty="0" err="1"/>
              <a:t>계약구분별</a:t>
            </a:r>
            <a:r>
              <a:rPr lang="ko-KR" altLang="en-US" sz="1200" dirty="0"/>
              <a:t> 회원현황            상품별 회원현황        서비스종료현황           가망고객현황     </a:t>
            </a:r>
            <a:r>
              <a:rPr lang="ko-KR" altLang="en-US" sz="1200" dirty="0" err="1"/>
              <a:t>퍼미션</a:t>
            </a:r>
            <a:r>
              <a:rPr lang="ko-KR" altLang="en-US" sz="1200" dirty="0"/>
              <a:t> 정보 현황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62D5436-4A0D-EEDD-BB41-CAF0A7151C2A}"/>
              </a:ext>
            </a:extLst>
          </p:cNvPr>
          <p:cNvSpPr/>
          <p:nvPr/>
        </p:nvSpPr>
        <p:spPr>
          <a:xfrm>
            <a:off x="651548" y="2718386"/>
            <a:ext cx="9041366" cy="2477170"/>
          </a:xfrm>
          <a:prstGeom prst="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200" dirty="0">
                <a:solidFill>
                  <a:schemeClr val="bg1"/>
                </a:solidFill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541210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2837224" y="1372292"/>
            <a:ext cx="534978" cy="1688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56004" y="1361534"/>
            <a:ext cx="534978" cy="1688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 현황 요약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상세내역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다운로드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CRM_02_005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7769" y="660265"/>
            <a:ext cx="1327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현황 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회원현황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045173" y="1386749"/>
            <a:ext cx="518260" cy="15435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625276" y="1386750"/>
            <a:ext cx="410106" cy="15435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53340" y="591381"/>
            <a:ext cx="214033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각 상세 데이터</a:t>
            </a:r>
            <a:r>
              <a:rPr lang="en-US" altLang="ko-KR" sz="800" dirty="0"/>
              <a:t>(</a:t>
            </a:r>
            <a:r>
              <a:rPr lang="ko-KR" altLang="en-US" sz="800" dirty="0"/>
              <a:t>숫자</a:t>
            </a:r>
            <a:r>
              <a:rPr lang="en-US" altLang="ko-KR" sz="800" dirty="0"/>
              <a:t>)</a:t>
            </a:r>
            <a:r>
              <a:rPr lang="ko-KR" altLang="en-US" sz="800" dirty="0"/>
              <a:t>는</a:t>
            </a:r>
            <a:endParaRPr lang="en-US" altLang="ko-KR" sz="800" dirty="0"/>
          </a:p>
          <a:p>
            <a:r>
              <a:rPr lang="ko-KR" altLang="en-US" sz="800" dirty="0"/>
              <a:t>클릭하면 상세 팝업을 실행</a:t>
            </a:r>
            <a:r>
              <a:rPr lang="en-US" altLang="ko-KR" sz="800" dirty="0"/>
              <a:t>,</a:t>
            </a:r>
          </a:p>
          <a:p>
            <a:r>
              <a:rPr lang="ko-KR" altLang="en-US" sz="800" dirty="0"/>
              <a:t>해당 데이터의 소스를 보여주어야 함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 err="1"/>
              <a:t>회원수</a:t>
            </a:r>
            <a:r>
              <a:rPr lang="ko-KR" altLang="en-US" sz="800" dirty="0"/>
              <a:t> </a:t>
            </a:r>
            <a:r>
              <a:rPr lang="en-US" altLang="ko-KR" sz="800" dirty="0"/>
              <a:t>: </a:t>
            </a:r>
            <a:r>
              <a:rPr lang="ko-KR" altLang="en-US" sz="800" dirty="0"/>
              <a:t>회원 리스트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/>
              <a:t>데이터 </a:t>
            </a:r>
            <a:r>
              <a:rPr lang="en-US" altLang="ko-KR" sz="800" dirty="0"/>
              <a:t>: </a:t>
            </a:r>
            <a:r>
              <a:rPr lang="ko-KR" altLang="en-US" sz="800" dirty="0"/>
              <a:t>회원 리스트 </a:t>
            </a:r>
            <a:r>
              <a:rPr lang="en-US" altLang="ko-KR" sz="800" dirty="0"/>
              <a:t>+ </a:t>
            </a:r>
            <a:r>
              <a:rPr lang="ko-KR" altLang="en-US" sz="800" dirty="0"/>
              <a:t>각 항목별 데이터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000517"/>
              </p:ext>
            </p:extLst>
          </p:nvPr>
        </p:nvGraphicFramePr>
        <p:xfrm>
          <a:off x="656004" y="1662444"/>
          <a:ext cx="8883586" cy="59968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7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9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92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92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616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회원수</a:t>
                      </a:r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 err="1"/>
                        <a:t>유료회원수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전체회원수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/>
                        <a:t>유료</a:t>
                      </a:r>
                      <a:r>
                        <a:rPr lang="en-US" altLang="ko-KR" sz="800" u="none" dirty="0"/>
                        <a:t>+</a:t>
                      </a:r>
                      <a:r>
                        <a:rPr lang="ko-KR" altLang="en-US" sz="800" u="none" dirty="0"/>
                        <a:t>무료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신규회원수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서비스종료회원수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정회원수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온라인회원수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매거진회원수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월회원수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프리미엄회원수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3501"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정회원수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온라인회원수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매거진회원수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은퇴회원수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은퇴회원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/>
                        <a:t>온</a:t>
                      </a:r>
                      <a:r>
                        <a:rPr lang="en-US" altLang="ko-KR" sz="800" u="none" dirty="0"/>
                        <a:t>)</a:t>
                      </a:r>
                      <a:r>
                        <a:rPr lang="ko-KR" altLang="en-US" sz="800" u="none" dirty="0"/>
                        <a:t>수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월회원수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프리미엄회원수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리움회원수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350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대내외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대내회원수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대외회원수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43501"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이용현황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접속자수</a:t>
                      </a:r>
                      <a:endParaRPr lang="en-US" altLang="ko-KR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접속률</a:t>
                      </a:r>
                      <a:endParaRPr lang="en-US" altLang="ko-KR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동영상시청자수</a:t>
                      </a:r>
                      <a:endParaRPr lang="en-US" altLang="ko-KR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동영상시청률</a:t>
                      </a:r>
                      <a:endParaRPr lang="en-US" altLang="ko-KR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전체조회수</a:t>
                      </a:r>
                      <a:endParaRPr lang="en-US" altLang="ko-KR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dirty="0"/>
                        <a:t>1</a:t>
                      </a:r>
                      <a:r>
                        <a:rPr lang="ko-KR" altLang="en-US" sz="800" u="none" dirty="0"/>
                        <a:t>인당조회수</a:t>
                      </a:r>
                      <a:endParaRPr lang="en-US" altLang="ko-KR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전체 이용시간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/>
                        <a:t>분</a:t>
                      </a:r>
                      <a:r>
                        <a:rPr lang="en-US" altLang="ko-KR" sz="800" u="none" dirty="0"/>
                        <a:t>)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dirty="0"/>
                        <a:t>1</a:t>
                      </a:r>
                      <a:r>
                        <a:rPr lang="ko-KR" altLang="en-US" sz="800" u="none" dirty="0"/>
                        <a:t>인당 이용시간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/>
                        <a:t>분</a:t>
                      </a:r>
                      <a:r>
                        <a:rPr lang="en-US" altLang="ko-KR" sz="800" u="none" dirty="0"/>
                        <a:t>)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</a:tbl>
          </a:graphicData>
        </a:graphic>
      </p:graphicFrame>
      <p:sp>
        <p:nvSpPr>
          <p:cNvPr id="14" name="직사각형 13"/>
          <p:cNvSpPr/>
          <p:nvPr/>
        </p:nvSpPr>
        <p:spPr>
          <a:xfrm>
            <a:off x="5149369" y="1386749"/>
            <a:ext cx="518260" cy="15435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729472" y="1386750"/>
            <a:ext cx="410106" cy="15435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173181" y="1386749"/>
            <a:ext cx="293355" cy="15435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6590" y="1349114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회사명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1241592" y="1397126"/>
            <a:ext cx="1504208" cy="12218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r"/>
            <a:r>
              <a:rPr lang="ko-KR" altLang="en-US" sz="800">
                <a:solidFill>
                  <a:schemeClr val="tx1"/>
                </a:solidFill>
              </a:rPr>
              <a:t>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81742" y="1351650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/>
              <a:t>기간</a:t>
            </a:r>
            <a:endParaRPr lang="ko-KR" altLang="en-US" sz="800" dirty="0"/>
          </a:p>
        </p:txBody>
      </p:sp>
      <p:sp>
        <p:nvSpPr>
          <p:cNvPr id="23" name="TextBox 22"/>
          <p:cNvSpPr txBox="1"/>
          <p:nvPr/>
        </p:nvSpPr>
        <p:spPr>
          <a:xfrm>
            <a:off x="4967209" y="1338601"/>
            <a:ext cx="2568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~</a:t>
            </a:r>
            <a:endParaRPr lang="ko-KR" altLang="en-US" sz="800" dirty="0"/>
          </a:p>
        </p:txBody>
      </p:sp>
      <p:sp>
        <p:nvSpPr>
          <p:cNvPr id="19" name="직사각형 18"/>
          <p:cNvSpPr/>
          <p:nvPr/>
        </p:nvSpPr>
        <p:spPr>
          <a:xfrm>
            <a:off x="8659705" y="1444433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8842075" y="72852"/>
            <a:ext cx="3968151" cy="842371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marL="228600" indent="-228600" algn="ctr"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</a:rPr>
              <a:t>개인회원 </a:t>
            </a:r>
            <a:r>
              <a:rPr lang="ko-KR" altLang="en-US" sz="1200" b="1" dirty="0" err="1">
                <a:solidFill>
                  <a:schemeClr val="tx1"/>
                </a:solidFill>
              </a:rPr>
              <a:t>구분값에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“</a:t>
            </a:r>
            <a:r>
              <a:rPr lang="ko-KR" altLang="en-US" sz="1200" b="1" dirty="0">
                <a:solidFill>
                  <a:schemeClr val="tx1"/>
                </a:solidFill>
              </a:rPr>
              <a:t>은퇴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은퇴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</a:rPr>
              <a:t>온</a:t>
            </a:r>
            <a:r>
              <a:rPr lang="en-US" altLang="ko-KR" sz="1200" b="1" dirty="0">
                <a:solidFill>
                  <a:schemeClr val="tx1"/>
                </a:solidFill>
              </a:rPr>
              <a:t>)” </a:t>
            </a:r>
            <a:r>
              <a:rPr lang="ko-KR" altLang="en-US" sz="1200" b="1" dirty="0">
                <a:solidFill>
                  <a:schemeClr val="tx1"/>
                </a:solidFill>
              </a:rPr>
              <a:t>추가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 algn="ctr"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</a:rPr>
              <a:t>기간 검색 옵션을 분리하여 제공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</a:rPr>
              <a:t>서비스 기간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계약기간 선택할 수 있도록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428379" y="1392695"/>
            <a:ext cx="589659" cy="1484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800">
                <a:solidFill>
                  <a:schemeClr val="tx1"/>
                </a:solidFill>
              </a:rPr>
              <a:t>서비스</a:t>
            </a:r>
            <a:r>
              <a:rPr lang="en-US" altLang="ko-KR" sz="800" dirty="0">
                <a:solidFill>
                  <a:schemeClr val="tx1"/>
                </a:solidFill>
              </a:rPr>
              <a:t>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7769" y="934593"/>
            <a:ext cx="1004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요약     </a:t>
            </a:r>
            <a:r>
              <a:rPr lang="ko-KR" altLang="en-US" sz="1200" b="1" dirty="0"/>
              <a:t>전체현황</a:t>
            </a:r>
            <a:r>
              <a:rPr lang="ko-KR" altLang="en-US" sz="1200" dirty="0"/>
              <a:t>        </a:t>
            </a:r>
            <a:r>
              <a:rPr lang="ko-KR" altLang="en-US" sz="1200" dirty="0" err="1"/>
              <a:t>계약구분별</a:t>
            </a:r>
            <a:r>
              <a:rPr lang="ko-KR" altLang="en-US" sz="1200" dirty="0"/>
              <a:t> 회원현황            상품별 회원현황        서비스종료현황           가망고객현황     </a:t>
            </a:r>
            <a:r>
              <a:rPr lang="ko-KR" altLang="en-US" sz="1200" dirty="0" err="1"/>
              <a:t>퍼미션</a:t>
            </a:r>
            <a:r>
              <a:rPr lang="ko-KR" altLang="en-US" sz="1200" dirty="0"/>
              <a:t> 정보 현황</a:t>
            </a:r>
          </a:p>
        </p:txBody>
      </p:sp>
    </p:spTree>
    <p:extLst>
      <p:ext uri="{BB962C8B-B14F-4D97-AF65-F5344CB8AC3E}">
        <p14:creationId xmlns:p14="http://schemas.microsoft.com/office/powerpoint/2010/main" val="1525797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4860236" y="1371596"/>
            <a:ext cx="534978" cy="1688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2463435" y="1381467"/>
            <a:ext cx="534978" cy="1688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619371" y="1384038"/>
            <a:ext cx="534978" cy="1688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7769" y="660265"/>
            <a:ext cx="1327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현황 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회원현황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3340" y="591381"/>
            <a:ext cx="1871025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데이터 기준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계약기간으로 검색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유료회원 결과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 err="1"/>
              <a:t>조회월</a:t>
            </a:r>
            <a:r>
              <a:rPr lang="ko-KR" altLang="en-US" sz="800" dirty="0"/>
              <a:t> </a:t>
            </a:r>
            <a:r>
              <a:rPr lang="en-US" altLang="ko-KR" sz="800" dirty="0"/>
              <a:t>1</a:t>
            </a:r>
            <a:r>
              <a:rPr lang="ko-KR" altLang="en-US" sz="800" dirty="0"/>
              <a:t>일부터 현재까지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전체 유료회원</a:t>
            </a:r>
            <a:r>
              <a:rPr lang="en-US" altLang="ko-KR" sz="800" dirty="0"/>
              <a:t>(</a:t>
            </a:r>
            <a:r>
              <a:rPr lang="ko-KR" altLang="en-US" sz="800" dirty="0"/>
              <a:t>유료회원</a:t>
            </a:r>
            <a:r>
              <a:rPr lang="en-US" altLang="ko-KR" sz="800" dirty="0"/>
              <a:t>)</a:t>
            </a:r>
            <a:r>
              <a:rPr lang="ko-KR" altLang="en-US" sz="800" dirty="0"/>
              <a:t> 대상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무료회원 결과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각 상세 데이터</a:t>
            </a:r>
            <a:r>
              <a:rPr lang="en-US" altLang="ko-KR" sz="800" dirty="0"/>
              <a:t>(</a:t>
            </a:r>
            <a:r>
              <a:rPr lang="ko-KR" altLang="en-US" sz="800" dirty="0"/>
              <a:t>숫자</a:t>
            </a:r>
            <a:r>
              <a:rPr lang="en-US" altLang="ko-KR" sz="800" dirty="0"/>
              <a:t>)</a:t>
            </a:r>
            <a:r>
              <a:rPr lang="ko-KR" altLang="en-US" sz="800" dirty="0"/>
              <a:t>는</a:t>
            </a:r>
            <a:endParaRPr lang="en-US" altLang="ko-KR" sz="800" dirty="0"/>
          </a:p>
          <a:p>
            <a:r>
              <a:rPr lang="ko-KR" altLang="en-US" sz="800" dirty="0"/>
              <a:t>클릭하면 상세 팝업을 실행</a:t>
            </a:r>
            <a:r>
              <a:rPr lang="en-US" altLang="ko-KR" sz="800" dirty="0"/>
              <a:t>,</a:t>
            </a:r>
          </a:p>
          <a:p>
            <a:r>
              <a:rPr lang="ko-KR" altLang="en-US" sz="800" dirty="0"/>
              <a:t>해당 데이터의 소스를 보여주어야 함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 err="1"/>
              <a:t>회원수</a:t>
            </a:r>
            <a:r>
              <a:rPr lang="ko-KR" altLang="en-US" sz="800" dirty="0"/>
              <a:t> </a:t>
            </a:r>
            <a:r>
              <a:rPr lang="en-US" altLang="ko-KR" sz="800" dirty="0"/>
              <a:t>: </a:t>
            </a:r>
            <a:r>
              <a:rPr lang="ko-KR" altLang="en-US" sz="800" dirty="0"/>
              <a:t>회원 리스트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569718"/>
              </p:ext>
            </p:extLst>
          </p:nvPr>
        </p:nvGraphicFramePr>
        <p:xfrm>
          <a:off x="656004" y="1662444"/>
          <a:ext cx="9045718" cy="2392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9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15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15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15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6166"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166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신규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신규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신규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돌신</a:t>
                      </a:r>
                      <a:r>
                        <a:rPr lang="en-US" altLang="ko-KR" sz="800" u="none" dirty="0"/>
                        <a:t>) 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재계약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신규교체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재가입교체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돌재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 탈퇴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서비스종료 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dirty="0"/>
                        <a:t>-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교체탈퇴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350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합계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" name="직사각형 13"/>
          <p:cNvSpPr/>
          <p:nvPr/>
        </p:nvSpPr>
        <p:spPr>
          <a:xfrm>
            <a:off x="6572291" y="1385832"/>
            <a:ext cx="518260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7152394" y="1385833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7596103" y="1385832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73290" y="1349470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회사명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168345" y="1384038"/>
            <a:ext cx="1504208" cy="12218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r"/>
            <a:r>
              <a:rPr lang="ko-KR" altLang="en-US" sz="800">
                <a:solidFill>
                  <a:schemeClr val="tx1"/>
                </a:solidFill>
              </a:rPr>
              <a:t>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02052" y="1342651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계약기간</a:t>
            </a: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658924"/>
              </p:ext>
            </p:extLst>
          </p:nvPr>
        </p:nvGraphicFramePr>
        <p:xfrm>
          <a:off x="656004" y="4305124"/>
          <a:ext cx="9045717" cy="23697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4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1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11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11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11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311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616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캠페인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검토용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dirty="0"/>
                        <a:t>VIP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dirty="0"/>
                        <a:t>VIP(</a:t>
                      </a:r>
                      <a:r>
                        <a:rPr lang="ko-KR" altLang="en-US" sz="800" u="none" dirty="0"/>
                        <a:t>온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오프라인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dirty="0"/>
                        <a:t>2</a:t>
                      </a:r>
                      <a:r>
                        <a:rPr lang="ko-KR" altLang="en-US" sz="800" u="none" dirty="0" err="1"/>
                        <a:t>주체험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모니터링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법인담당자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출연진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350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임직원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운영자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일반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350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합계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19371" y="1354712"/>
            <a:ext cx="18790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회원구분   ● 유료회원  ○ 무료회원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5455464" y="1383515"/>
            <a:ext cx="518260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6035567" y="1383516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73787" y="1336886"/>
            <a:ext cx="2568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~</a:t>
            </a:r>
            <a:endParaRPr lang="ko-KR" altLang="en-US" sz="800" dirty="0"/>
          </a:p>
        </p:txBody>
      </p:sp>
      <p:sp>
        <p:nvSpPr>
          <p:cNvPr id="31" name="직사각형 30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 현황 요약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상세내역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다운로드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CRM_02_006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20793" y="167284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2301076" y="850715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16337" y="430512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9953340" y="3761480"/>
            <a:ext cx="233516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계약구분값에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</a:rPr>
              <a:t>&lt;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</a:rPr>
              <a:t>교체탈퇴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</a:rPr>
              <a:t>추가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</a:rPr>
              <a:t>. </a:t>
            </a:r>
          </a:p>
          <a:p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</a:rPr>
              <a:t>단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</a:rPr>
              <a:t>교체탈퇴는 탈퇴 </a:t>
            </a:r>
            <a:r>
              <a:rPr lang="ko-KR" altLang="en-US" sz="80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회원수에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</a:rPr>
              <a:t> 포함되면 안 됨</a:t>
            </a:r>
            <a:r>
              <a:rPr lang="ko-KR" altLang="en-US" sz="8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371" y="4039582"/>
            <a:ext cx="2383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 </a:t>
            </a:r>
            <a:r>
              <a:rPr lang="ko-KR" altLang="en-US" sz="800" dirty="0">
                <a:solidFill>
                  <a:srgbClr val="FF0000"/>
                </a:solidFill>
              </a:rPr>
              <a:t>교체탈퇴는 탈퇴 </a:t>
            </a:r>
            <a:r>
              <a:rPr lang="ko-KR" altLang="en-US" sz="800" dirty="0" err="1">
                <a:solidFill>
                  <a:srgbClr val="FF0000"/>
                </a:solidFill>
              </a:rPr>
              <a:t>회원수에</a:t>
            </a:r>
            <a:r>
              <a:rPr lang="ko-KR" altLang="en-US" sz="800" dirty="0">
                <a:solidFill>
                  <a:srgbClr val="FF0000"/>
                </a:solidFill>
              </a:rPr>
              <a:t> 포함되지 않습니다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8817485" y="1426823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7769" y="934593"/>
            <a:ext cx="1004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요약     전체현황        </a:t>
            </a:r>
            <a:r>
              <a:rPr lang="ko-KR" altLang="en-US" sz="1200" b="1" dirty="0" err="1"/>
              <a:t>계약구분별</a:t>
            </a:r>
            <a:r>
              <a:rPr lang="ko-KR" altLang="en-US" sz="1200" b="1" dirty="0"/>
              <a:t> 회원현황            </a:t>
            </a:r>
            <a:r>
              <a:rPr lang="ko-KR" altLang="en-US" sz="1200" dirty="0"/>
              <a:t>상품별 회원현황        서비스종료현황           가망고객현황     </a:t>
            </a:r>
            <a:r>
              <a:rPr lang="ko-KR" altLang="en-US" sz="1200" dirty="0" err="1"/>
              <a:t>퍼미션</a:t>
            </a:r>
            <a:r>
              <a:rPr lang="ko-KR" altLang="en-US" sz="1200" dirty="0"/>
              <a:t> 정보 현황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963AA1-CF36-A958-A550-B8B8225DF15D}"/>
              </a:ext>
            </a:extLst>
          </p:cNvPr>
          <p:cNvSpPr/>
          <p:nvPr/>
        </p:nvSpPr>
        <p:spPr>
          <a:xfrm>
            <a:off x="607042" y="2552876"/>
            <a:ext cx="9041366" cy="2477170"/>
          </a:xfrm>
          <a:prstGeom prst="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200" dirty="0">
                <a:solidFill>
                  <a:schemeClr val="bg1"/>
                </a:solidFill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962091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619371" y="1384038"/>
            <a:ext cx="534978" cy="1688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7769" y="660265"/>
            <a:ext cx="1327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현황 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회원현황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3340" y="591381"/>
            <a:ext cx="2151551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클럽 </a:t>
            </a:r>
            <a:r>
              <a:rPr lang="ko-KR" altLang="en-US" sz="1000" b="1" dirty="0" err="1">
                <a:solidFill>
                  <a:srgbClr val="00B0F0"/>
                </a:solidFill>
              </a:rPr>
              <a:t>회원수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 err="1"/>
              <a:t>리뉴얼되는</a:t>
            </a:r>
            <a:r>
              <a:rPr lang="ko-KR" altLang="en-US" sz="800" dirty="0"/>
              <a:t> 클럽 정보로 </a:t>
            </a:r>
            <a:r>
              <a:rPr lang="ko-KR" altLang="en-US" sz="800" dirty="0" err="1"/>
              <a:t>매핑함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각 클럽에 </a:t>
            </a:r>
            <a:r>
              <a:rPr lang="en-US" altLang="ko-KR" sz="800" dirty="0"/>
              <a:t>“</a:t>
            </a:r>
            <a:r>
              <a:rPr lang="ko-KR" altLang="en-US" sz="800" dirty="0"/>
              <a:t>참여자</a:t>
            </a:r>
            <a:r>
              <a:rPr lang="en-US" altLang="ko-KR" sz="800" dirty="0"/>
              <a:t>＂</a:t>
            </a:r>
            <a:r>
              <a:rPr lang="ko-KR" altLang="en-US" sz="800" dirty="0"/>
              <a:t>로 등록된 회원 카운트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각 상세 데이터</a:t>
            </a:r>
            <a:r>
              <a:rPr lang="en-US" altLang="ko-KR" sz="800" dirty="0"/>
              <a:t>(</a:t>
            </a:r>
            <a:r>
              <a:rPr lang="ko-KR" altLang="en-US" sz="800" dirty="0"/>
              <a:t>숫자</a:t>
            </a:r>
            <a:r>
              <a:rPr lang="en-US" altLang="ko-KR" sz="800" dirty="0"/>
              <a:t>)</a:t>
            </a:r>
            <a:r>
              <a:rPr lang="ko-KR" altLang="en-US" sz="800" dirty="0"/>
              <a:t>는</a:t>
            </a:r>
            <a:endParaRPr lang="en-US" altLang="ko-KR" sz="800" dirty="0"/>
          </a:p>
          <a:p>
            <a:r>
              <a:rPr lang="ko-KR" altLang="en-US" sz="800" dirty="0"/>
              <a:t>클릭하면 상세 팝업을 실행</a:t>
            </a:r>
            <a:r>
              <a:rPr lang="en-US" altLang="ko-KR" sz="800" dirty="0"/>
              <a:t>,</a:t>
            </a:r>
          </a:p>
          <a:p>
            <a:r>
              <a:rPr lang="ko-KR" altLang="en-US" sz="800" dirty="0"/>
              <a:t>해당 데이터의 소스를 보여주어야 함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 err="1"/>
              <a:t>회원수</a:t>
            </a:r>
            <a:r>
              <a:rPr lang="ko-KR" altLang="en-US" sz="800" dirty="0"/>
              <a:t> </a:t>
            </a:r>
            <a:r>
              <a:rPr lang="en-US" altLang="ko-KR" sz="800" dirty="0"/>
              <a:t>: </a:t>
            </a:r>
            <a:r>
              <a:rPr lang="ko-KR" altLang="en-US" sz="800" dirty="0"/>
              <a:t>회원 리스트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965491"/>
              </p:ext>
            </p:extLst>
          </p:nvPr>
        </p:nvGraphicFramePr>
        <p:xfrm>
          <a:off x="656004" y="1662444"/>
          <a:ext cx="8883586" cy="23818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7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9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92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92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63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회원권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en-US" altLang="ko-KR" sz="800" dirty="0"/>
                        <a:t>(CEO)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 err="1"/>
                        <a:t>유료회원수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전체회원수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/>
                        <a:t>유료</a:t>
                      </a:r>
                      <a:r>
                        <a:rPr lang="en-US" altLang="ko-KR" sz="800" u="none" dirty="0"/>
                        <a:t>+</a:t>
                      </a:r>
                      <a:r>
                        <a:rPr lang="ko-KR" altLang="en-US" sz="800" u="none" dirty="0"/>
                        <a:t>무료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신규회원수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서비스종료회원수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클래스 카테고리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클래스 </a:t>
                      </a:r>
                      <a:r>
                        <a:rPr lang="ko-KR" altLang="en-US" sz="800" u="none" dirty="0" err="1"/>
                        <a:t>콘텐츠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클래스 </a:t>
                      </a:r>
                      <a:r>
                        <a:rPr lang="ko-KR" altLang="en-US" sz="800" u="none" dirty="0" err="1"/>
                        <a:t>콘텐츠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클래스 카테고리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클래스 </a:t>
                      </a:r>
                      <a:r>
                        <a:rPr lang="ko-KR" altLang="en-US" sz="800" u="none" dirty="0" err="1"/>
                        <a:t>콘텐츠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56004" y="1367284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회사명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1203169" y="1400051"/>
            <a:ext cx="1504208" cy="12218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r"/>
            <a:r>
              <a:rPr lang="ko-KR" altLang="en-US" sz="800">
                <a:solidFill>
                  <a:schemeClr val="tx1"/>
                </a:solidFill>
              </a:rPr>
              <a:t>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 현황 요약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상세내역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다운로드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CRM_02_007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433494" y="2879593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8657763" y="1420902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2837224" y="1372292"/>
            <a:ext cx="534978" cy="1688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045173" y="1386749"/>
            <a:ext cx="518260" cy="15435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625276" y="1386750"/>
            <a:ext cx="410106" cy="15435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5149369" y="1386749"/>
            <a:ext cx="518260" cy="15435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5729472" y="1386750"/>
            <a:ext cx="410106" cy="15435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6173181" y="1386749"/>
            <a:ext cx="293355" cy="15435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81742" y="1351650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/>
              <a:t>기간</a:t>
            </a:r>
            <a:endParaRPr lang="ko-KR" altLang="en-US" sz="800" dirty="0"/>
          </a:p>
        </p:txBody>
      </p:sp>
      <p:sp>
        <p:nvSpPr>
          <p:cNvPr id="34" name="TextBox 33"/>
          <p:cNvSpPr txBox="1"/>
          <p:nvPr/>
        </p:nvSpPr>
        <p:spPr>
          <a:xfrm>
            <a:off x="4967209" y="1338601"/>
            <a:ext cx="2568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~</a:t>
            </a:r>
            <a:endParaRPr lang="ko-KR" altLang="en-US" sz="800" dirty="0"/>
          </a:p>
        </p:txBody>
      </p:sp>
      <p:sp>
        <p:nvSpPr>
          <p:cNvPr id="35" name="직사각형 34"/>
          <p:cNvSpPr/>
          <p:nvPr/>
        </p:nvSpPr>
        <p:spPr>
          <a:xfrm>
            <a:off x="3428379" y="1392695"/>
            <a:ext cx="589659" cy="1484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800">
                <a:solidFill>
                  <a:schemeClr val="tx1"/>
                </a:solidFill>
              </a:rPr>
              <a:t>서비스</a:t>
            </a:r>
            <a:r>
              <a:rPr lang="en-US" altLang="ko-KR" sz="800" dirty="0">
                <a:solidFill>
                  <a:schemeClr val="tx1"/>
                </a:solidFill>
              </a:rPr>
              <a:t>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8842075" y="72852"/>
            <a:ext cx="3968151" cy="842371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marL="228600" indent="-228600" algn="ctr"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</a:rPr>
              <a:t>기간 검색 옵션을 분리하여 제공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</a:rPr>
              <a:t>서비스 기간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계약기간 선택할 수 있도록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 algn="ctr"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</a:rPr>
              <a:t>클럽 → 클래스  </a:t>
            </a:r>
            <a:r>
              <a:rPr lang="ko-KR" altLang="en-US" sz="1200" b="1" dirty="0" err="1">
                <a:solidFill>
                  <a:schemeClr val="tx1"/>
                </a:solidFill>
              </a:rPr>
              <a:t>네이밍</a:t>
            </a:r>
            <a:r>
              <a:rPr lang="ko-KR" altLang="en-US" sz="1200" b="1" dirty="0">
                <a:solidFill>
                  <a:schemeClr val="tx1"/>
                </a:solidFill>
              </a:rPr>
              <a:t> 변경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7769" y="934593"/>
            <a:ext cx="1004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요약     전체현황        </a:t>
            </a:r>
            <a:r>
              <a:rPr lang="ko-KR" altLang="en-US" sz="1200" dirty="0" err="1"/>
              <a:t>계약구분별</a:t>
            </a:r>
            <a:r>
              <a:rPr lang="ko-KR" altLang="en-US" sz="1200" dirty="0"/>
              <a:t> 회원현황            </a:t>
            </a:r>
            <a:r>
              <a:rPr lang="ko-KR" altLang="en-US" sz="1200" b="1" dirty="0"/>
              <a:t>상품별 회원현황        </a:t>
            </a:r>
            <a:r>
              <a:rPr lang="ko-KR" altLang="en-US" sz="1200" dirty="0"/>
              <a:t>서비스종료현황           가망고객현황     </a:t>
            </a:r>
            <a:r>
              <a:rPr lang="ko-KR" altLang="en-US" sz="1200" dirty="0" err="1"/>
              <a:t>퍼미션</a:t>
            </a:r>
            <a:r>
              <a:rPr lang="ko-KR" altLang="en-US" sz="1200" dirty="0"/>
              <a:t> 정보 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916288B-0950-708A-E538-C9C170750879}"/>
              </a:ext>
            </a:extLst>
          </p:cNvPr>
          <p:cNvSpPr/>
          <p:nvPr/>
        </p:nvSpPr>
        <p:spPr>
          <a:xfrm>
            <a:off x="477195" y="2404134"/>
            <a:ext cx="9041366" cy="2477170"/>
          </a:xfrm>
          <a:prstGeom prst="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200" dirty="0">
                <a:solidFill>
                  <a:schemeClr val="bg1"/>
                </a:solidFill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660298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7769" y="660265"/>
            <a:ext cx="1327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현황 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회원현황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 현황 요약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상세내역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다운로드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769" y="934593"/>
            <a:ext cx="1004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요약     전체현황        </a:t>
            </a:r>
            <a:r>
              <a:rPr lang="ko-KR" altLang="en-US" sz="1200" dirty="0" err="1"/>
              <a:t>계약구분별</a:t>
            </a:r>
            <a:r>
              <a:rPr lang="ko-KR" altLang="en-US" sz="1200" dirty="0"/>
              <a:t> 회원현황            상품별 회원현황        서비스종료현황           가망고객현황     </a:t>
            </a:r>
            <a:r>
              <a:rPr lang="ko-KR" altLang="en-US" sz="1200" b="1" dirty="0" err="1"/>
              <a:t>퍼미션</a:t>
            </a:r>
            <a:r>
              <a:rPr lang="ko-KR" altLang="en-US" sz="1200" b="1" dirty="0"/>
              <a:t> 정보 현황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8842075" y="72852"/>
            <a:ext cx="3968151" cy="842371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marL="228600" indent="-228600" algn="ctr"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</a:rPr>
              <a:t>상세 내용 추가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619371" y="1384038"/>
            <a:ext cx="534978" cy="1688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6004" y="1367284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회사명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203169" y="1400051"/>
            <a:ext cx="1504208" cy="12218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r"/>
            <a:r>
              <a:rPr lang="ko-KR" altLang="en-US" sz="800">
                <a:solidFill>
                  <a:schemeClr val="tx1"/>
                </a:solidFill>
              </a:rPr>
              <a:t>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8657763" y="1420902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2837224" y="1372292"/>
            <a:ext cx="534978" cy="1688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045173" y="1386749"/>
            <a:ext cx="518260" cy="15435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625276" y="1386750"/>
            <a:ext cx="410106" cy="15435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149369" y="1386749"/>
            <a:ext cx="518260" cy="15435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729472" y="1386750"/>
            <a:ext cx="410106" cy="15435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173181" y="1386749"/>
            <a:ext cx="293355" cy="15435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81742" y="1351650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/>
              <a:t>기간</a:t>
            </a:r>
            <a:endParaRPr lang="ko-KR" altLang="en-US" sz="800" dirty="0"/>
          </a:p>
        </p:txBody>
      </p:sp>
      <p:sp>
        <p:nvSpPr>
          <p:cNvPr id="24" name="TextBox 23"/>
          <p:cNvSpPr txBox="1"/>
          <p:nvPr/>
        </p:nvSpPr>
        <p:spPr>
          <a:xfrm>
            <a:off x="4967209" y="1338601"/>
            <a:ext cx="2568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~</a:t>
            </a:r>
            <a:endParaRPr lang="ko-KR" altLang="en-US" sz="800" dirty="0"/>
          </a:p>
        </p:txBody>
      </p:sp>
      <p:sp>
        <p:nvSpPr>
          <p:cNvPr id="25" name="직사각형 24"/>
          <p:cNvSpPr/>
          <p:nvPr/>
        </p:nvSpPr>
        <p:spPr>
          <a:xfrm>
            <a:off x="3428379" y="1392695"/>
            <a:ext cx="589659" cy="1484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서비스</a:t>
            </a:r>
            <a:r>
              <a:rPr lang="en-US" altLang="ko-KR" sz="800" dirty="0">
                <a:solidFill>
                  <a:schemeClr val="tx1"/>
                </a:solidFill>
              </a:rPr>
              <a:t>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356065"/>
              </p:ext>
            </p:extLst>
          </p:nvPr>
        </p:nvGraphicFramePr>
        <p:xfrm>
          <a:off x="417148" y="1771187"/>
          <a:ext cx="9120495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8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8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8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81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81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426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접촉거부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광고수신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이메일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휴대폰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회원수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직사각형 27"/>
          <p:cNvSpPr/>
          <p:nvPr/>
        </p:nvSpPr>
        <p:spPr>
          <a:xfrm>
            <a:off x="1817012" y="3553838"/>
            <a:ext cx="7529200" cy="301701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909850" y="3711697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6995" y="6107577"/>
            <a:ext cx="16399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Total 000      Page</a:t>
            </a:r>
            <a:r>
              <a:rPr lang="ko-KR" altLang="en-US" sz="800" dirty="0"/>
              <a:t> </a:t>
            </a:r>
            <a:r>
              <a:rPr lang="en-US" altLang="ko-KR" sz="800" dirty="0"/>
              <a:t>000   </a:t>
            </a:r>
            <a:endParaRPr lang="ko-KR" altLang="en-US" sz="800" dirty="0"/>
          </a:p>
        </p:txBody>
      </p:sp>
      <p:sp>
        <p:nvSpPr>
          <p:cNvPr id="34" name="TextBox 33"/>
          <p:cNvSpPr txBox="1"/>
          <p:nvPr/>
        </p:nvSpPr>
        <p:spPr>
          <a:xfrm>
            <a:off x="7204687" y="6079217"/>
            <a:ext cx="15231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◀  </a:t>
            </a:r>
            <a:r>
              <a:rPr lang="en-US" altLang="ko-KR" sz="800" dirty="0"/>
              <a:t>1 2 3 4 5 6 7 8 9 10   </a:t>
            </a:r>
            <a:r>
              <a:rPr lang="ko-KR" altLang="en-US" sz="800" dirty="0"/>
              <a:t>▶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8753349" y="6107577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50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8287918" y="6361287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닫기</a:t>
            </a:r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480203"/>
              </p:ext>
            </p:extLst>
          </p:nvPr>
        </p:nvGraphicFramePr>
        <p:xfrm>
          <a:off x="1909850" y="3968088"/>
          <a:ext cx="7253605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5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0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No.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회원 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직위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핸드폰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이메일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계약시작일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계약종료일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서비스시작일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서비스종료일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접촉거부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광고수신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이메일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휴대폰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9953311" y="962237"/>
            <a:ext cx="1871025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 err="1">
                <a:solidFill>
                  <a:srgbClr val="00B0F0"/>
                </a:solidFill>
              </a:rPr>
              <a:t>퍼미션</a:t>
            </a:r>
            <a:r>
              <a:rPr lang="ko-KR" altLang="en-US" sz="1000" b="1" dirty="0">
                <a:solidFill>
                  <a:srgbClr val="00B0F0"/>
                </a:solidFill>
              </a:rPr>
              <a:t> </a:t>
            </a:r>
            <a:r>
              <a:rPr lang="ko-KR" altLang="en-US" sz="1000" b="1" dirty="0" err="1">
                <a:solidFill>
                  <a:srgbClr val="00B0F0"/>
                </a:solidFill>
              </a:rPr>
              <a:t>정보별</a:t>
            </a:r>
            <a:r>
              <a:rPr lang="ko-KR" altLang="en-US" sz="1000" b="1" dirty="0">
                <a:solidFill>
                  <a:srgbClr val="00B0F0"/>
                </a:solidFill>
              </a:rPr>
              <a:t> </a:t>
            </a:r>
            <a:r>
              <a:rPr lang="ko-KR" altLang="en-US" sz="1000" b="1" dirty="0" err="1">
                <a:solidFill>
                  <a:srgbClr val="00B0F0"/>
                </a:solidFill>
              </a:rPr>
              <a:t>회원수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각각 등록된 </a:t>
            </a:r>
            <a:r>
              <a:rPr lang="ko-KR" altLang="en-US" sz="800" dirty="0" err="1"/>
              <a:t>회원수</a:t>
            </a:r>
            <a:r>
              <a:rPr lang="ko-KR" altLang="en-US" sz="800" dirty="0"/>
              <a:t> 집계 안내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각 상세 데이터</a:t>
            </a:r>
            <a:r>
              <a:rPr lang="en-US" altLang="ko-KR" sz="800" dirty="0"/>
              <a:t>(</a:t>
            </a:r>
            <a:r>
              <a:rPr lang="ko-KR" altLang="en-US" sz="800" dirty="0"/>
              <a:t>숫자</a:t>
            </a:r>
            <a:r>
              <a:rPr lang="en-US" altLang="ko-KR" sz="800" dirty="0"/>
              <a:t>)</a:t>
            </a:r>
            <a:r>
              <a:rPr lang="ko-KR" altLang="en-US" sz="800" dirty="0"/>
              <a:t>는</a:t>
            </a:r>
            <a:endParaRPr lang="en-US" altLang="ko-KR" sz="800" dirty="0"/>
          </a:p>
          <a:p>
            <a:r>
              <a:rPr lang="ko-KR" altLang="en-US" sz="800" dirty="0"/>
              <a:t>클릭하면 상세 팝업을 실행</a:t>
            </a:r>
            <a:r>
              <a:rPr lang="en-US" altLang="ko-KR" sz="800" dirty="0"/>
              <a:t>,</a:t>
            </a:r>
          </a:p>
          <a:p>
            <a:r>
              <a:rPr lang="ko-KR" altLang="en-US" sz="800" dirty="0"/>
              <a:t>해당 데이터의 소스를 보여주어야 함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 err="1"/>
              <a:t>회원수</a:t>
            </a:r>
            <a:r>
              <a:rPr lang="ko-KR" altLang="en-US" sz="800" dirty="0"/>
              <a:t> </a:t>
            </a:r>
            <a:r>
              <a:rPr lang="en-US" altLang="ko-KR" sz="800" dirty="0"/>
              <a:t>: </a:t>
            </a:r>
            <a:r>
              <a:rPr lang="ko-KR" altLang="en-US" sz="800" dirty="0"/>
              <a:t>회원 리스트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0BC69C-C778-3878-085F-8BB20B455562}"/>
              </a:ext>
            </a:extLst>
          </p:cNvPr>
          <p:cNvSpPr/>
          <p:nvPr/>
        </p:nvSpPr>
        <p:spPr>
          <a:xfrm>
            <a:off x="574927" y="2671480"/>
            <a:ext cx="9041366" cy="2477170"/>
          </a:xfrm>
          <a:prstGeom prst="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200" dirty="0">
                <a:solidFill>
                  <a:schemeClr val="bg1"/>
                </a:solidFill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3288602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7769" y="660265"/>
            <a:ext cx="16353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회원관리 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그룹관리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3340" y="591381"/>
            <a:ext cx="23326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00B0F0"/>
                </a:solidFill>
              </a:rPr>
              <a:t>법인 혹은 개인을 묶어서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00B0F0"/>
                </a:solidFill>
              </a:rPr>
              <a:t>그룹으로 만들어 관리할 수 있어야 함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&lt;</a:t>
            </a:r>
            <a:r>
              <a:rPr lang="ko-KR" altLang="en-US" sz="1000" b="1" dirty="0">
                <a:solidFill>
                  <a:srgbClr val="00B0F0"/>
                </a:solidFill>
              </a:rPr>
              <a:t>그룹 활용 범위</a:t>
            </a:r>
            <a:r>
              <a:rPr lang="en-US" altLang="ko-KR" sz="1000" b="1" dirty="0">
                <a:solidFill>
                  <a:srgbClr val="00B0F0"/>
                </a:solidFill>
              </a:rPr>
              <a:t>&gt;</a:t>
            </a: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/>
              <a:t>메일</a:t>
            </a:r>
            <a:r>
              <a:rPr lang="en-US" altLang="ko-KR" sz="800" dirty="0"/>
              <a:t>/</a:t>
            </a:r>
            <a:r>
              <a:rPr lang="ko-KR" altLang="en-US" sz="800" dirty="0"/>
              <a:t>문자</a:t>
            </a:r>
            <a:r>
              <a:rPr lang="en-US" altLang="ko-KR" sz="800" dirty="0"/>
              <a:t>/</a:t>
            </a:r>
            <a:r>
              <a:rPr lang="ko-KR" altLang="en-US" sz="800" dirty="0" err="1"/>
              <a:t>카카오톡</a:t>
            </a:r>
            <a:r>
              <a:rPr lang="ko-KR" altLang="en-US" sz="800" dirty="0"/>
              <a:t> 등 </a:t>
            </a:r>
            <a:r>
              <a:rPr lang="ko-KR" altLang="en-US" sz="800" dirty="0" err="1"/>
              <a:t>컨택</a:t>
            </a:r>
            <a:endParaRPr lang="en-US" altLang="ko-KR" sz="800" dirty="0"/>
          </a:p>
          <a:p>
            <a:pPr marL="171450" indent="-171450">
              <a:buFontTx/>
              <a:buChar char="-"/>
            </a:pPr>
            <a:r>
              <a:rPr lang="ko-KR" altLang="en-US" sz="800" dirty="0"/>
              <a:t>자동 메시지 발송</a:t>
            </a:r>
            <a:r>
              <a:rPr lang="en-US" altLang="ko-KR" sz="800" dirty="0"/>
              <a:t>(</a:t>
            </a:r>
            <a:r>
              <a:rPr lang="ko-KR" altLang="en-US" sz="800" dirty="0"/>
              <a:t>그룹별</a:t>
            </a:r>
            <a:r>
              <a:rPr lang="en-US" altLang="ko-KR" sz="8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/>
              <a:t>이용현황 보고서 생성</a:t>
            </a:r>
            <a:endParaRPr lang="en-US" altLang="ko-KR" sz="800" dirty="0"/>
          </a:p>
          <a:p>
            <a:pPr marL="171450" indent="-171450">
              <a:buFontTx/>
              <a:buChar char="-"/>
            </a:pPr>
            <a:endParaRPr lang="en-US" altLang="ko-KR" sz="800" dirty="0"/>
          </a:p>
          <a:p>
            <a:endParaRPr lang="en-US" altLang="ko-KR" sz="800" dirty="0"/>
          </a:p>
        </p:txBody>
      </p:sp>
      <p:sp>
        <p:nvSpPr>
          <p:cNvPr id="19" name="직사각형 18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회관리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그룹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CRM_02_008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68106"/>
          <a:stretch/>
        </p:blipFill>
        <p:spPr>
          <a:xfrm>
            <a:off x="907822" y="1092815"/>
            <a:ext cx="7544243" cy="917568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085994"/>
              </p:ext>
            </p:extLst>
          </p:nvPr>
        </p:nvGraphicFramePr>
        <p:xfrm>
          <a:off x="1008441" y="4924278"/>
          <a:ext cx="7974519" cy="12300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1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5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그룹명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■ 사용            □ 미사용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3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대상 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latinLnBrk="1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800" dirty="0"/>
                        <a:t>회사   </a:t>
                      </a:r>
                      <a:r>
                        <a:rPr lang="en-US" altLang="ko-KR" sz="800" dirty="0"/>
                        <a:t>I     $</a:t>
                      </a:r>
                      <a:r>
                        <a:rPr lang="ko-KR" altLang="en-US" sz="800" dirty="0"/>
                        <a:t>회사명</a:t>
                      </a:r>
                      <a:r>
                        <a:rPr lang="en-US" altLang="ko-KR" sz="800" dirty="0"/>
                        <a:t>$   [</a:t>
                      </a:r>
                      <a:r>
                        <a:rPr lang="ko-KR" altLang="en-US" sz="800" dirty="0"/>
                        <a:t>삭제</a:t>
                      </a:r>
                      <a:r>
                        <a:rPr lang="en-US" altLang="ko-KR" sz="800" dirty="0"/>
                        <a:t>]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800" dirty="0"/>
                        <a:t>회사</a:t>
                      </a:r>
                      <a:r>
                        <a:rPr lang="en-US" altLang="ko-KR" sz="800" baseline="0" dirty="0"/>
                        <a:t>   I     </a:t>
                      </a:r>
                      <a:r>
                        <a:rPr lang="en-US" altLang="ko-KR" sz="800" dirty="0"/>
                        <a:t>$</a:t>
                      </a:r>
                      <a:r>
                        <a:rPr lang="ko-KR" altLang="en-US" sz="800" dirty="0"/>
                        <a:t>회사명</a:t>
                      </a:r>
                      <a:r>
                        <a:rPr lang="en-US" altLang="ko-KR" sz="800" dirty="0"/>
                        <a:t>$   [</a:t>
                      </a:r>
                      <a:r>
                        <a:rPr lang="ko-KR" altLang="en-US" sz="800" dirty="0"/>
                        <a:t>삭제</a:t>
                      </a:r>
                      <a:r>
                        <a:rPr lang="en-US" altLang="ko-KR" sz="800" dirty="0"/>
                        <a:t>]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800" dirty="0"/>
                        <a:t>회사   </a:t>
                      </a:r>
                      <a:r>
                        <a:rPr lang="en-US" altLang="ko-KR" sz="800" dirty="0"/>
                        <a:t>I</a:t>
                      </a:r>
                      <a:r>
                        <a:rPr lang="en-US" altLang="ko-KR" sz="800" baseline="0" dirty="0"/>
                        <a:t>     </a:t>
                      </a:r>
                      <a:r>
                        <a:rPr lang="en-US" altLang="ko-KR" sz="800" dirty="0"/>
                        <a:t>$</a:t>
                      </a:r>
                      <a:r>
                        <a:rPr lang="ko-KR" altLang="en-US" sz="800" dirty="0"/>
                        <a:t>회사명</a:t>
                      </a:r>
                      <a:r>
                        <a:rPr lang="en-US" altLang="ko-KR" sz="800" dirty="0"/>
                        <a:t>$   [</a:t>
                      </a:r>
                      <a:r>
                        <a:rPr lang="ko-KR" altLang="en-US" sz="800" dirty="0"/>
                        <a:t>삭제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2120496" y="4955264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85665" y="4930096"/>
            <a:ext cx="54053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/>
              <a:t>[</a:t>
            </a:r>
            <a:r>
              <a:rPr lang="ko-KR" altLang="en-US" sz="600" dirty="0"/>
              <a:t>중복체크</a:t>
            </a:r>
            <a:r>
              <a:rPr lang="en-US" altLang="ko-KR" sz="600" dirty="0"/>
              <a:t>]</a:t>
            </a:r>
            <a:endParaRPr lang="ko-KR" altLang="en-US" sz="600" dirty="0"/>
          </a:p>
        </p:txBody>
      </p:sp>
      <p:sp>
        <p:nvSpPr>
          <p:cNvPr id="33" name="직사각형 32"/>
          <p:cNvSpPr/>
          <p:nvPr/>
        </p:nvSpPr>
        <p:spPr>
          <a:xfrm>
            <a:off x="2120495" y="5158874"/>
            <a:ext cx="2724967" cy="15242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723530" y="5407991"/>
            <a:ext cx="226028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graphicFrame>
        <p:nvGraphicFramePr>
          <p:cNvPr id="39" name="표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613399"/>
              </p:ext>
            </p:extLst>
          </p:nvPr>
        </p:nvGraphicFramePr>
        <p:xfrm>
          <a:off x="956559" y="2449580"/>
          <a:ext cx="7974519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1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5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그룹명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" name="직사각형 39"/>
          <p:cNvSpPr/>
          <p:nvPr/>
        </p:nvSpPr>
        <p:spPr>
          <a:xfrm>
            <a:off x="2068613" y="2472663"/>
            <a:ext cx="226028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6139903" y="2468566"/>
            <a:ext cx="226028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홍길동                                             🔍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956559" y="2781538"/>
            <a:ext cx="529123" cy="1489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1569260" y="2781538"/>
            <a:ext cx="998707" cy="1459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컨택</a:t>
            </a:r>
            <a:r>
              <a:rPr lang="ko-KR" altLang="en-US" sz="800" dirty="0">
                <a:solidFill>
                  <a:schemeClr val="tx1"/>
                </a:solidFill>
              </a:rPr>
              <a:t> 채널  ▼</a:t>
            </a:r>
          </a:p>
        </p:txBody>
      </p:sp>
      <p:graphicFrame>
        <p:nvGraphicFramePr>
          <p:cNvPr id="46" name="표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284264"/>
              </p:ext>
            </p:extLst>
          </p:nvPr>
        </p:nvGraphicFramePr>
        <p:xfrm>
          <a:off x="956558" y="3050985"/>
          <a:ext cx="7974519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□               </a:t>
                      </a:r>
                      <a:r>
                        <a:rPr lang="ko-KR" altLang="en-US" sz="800" dirty="0" err="1"/>
                        <a:t>그룹명</a:t>
                      </a:r>
                      <a:r>
                        <a:rPr lang="ko-KR" altLang="en-US" sz="800" dirty="0"/>
                        <a:t>                     영업대표                                                       내용                                                       사용여부       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" name="직사각형 46"/>
          <p:cNvSpPr/>
          <p:nvPr/>
        </p:nvSpPr>
        <p:spPr>
          <a:xfrm>
            <a:off x="1008441" y="4640360"/>
            <a:ext cx="529123" cy="1489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신규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640739" y="4640360"/>
            <a:ext cx="529123" cy="1489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저장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2273037" y="4643511"/>
            <a:ext cx="998707" cy="1459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컨택</a:t>
            </a:r>
            <a:r>
              <a:rPr lang="ko-KR" altLang="en-US" sz="800" dirty="0">
                <a:solidFill>
                  <a:schemeClr val="tx1"/>
                </a:solidFill>
              </a:rPr>
              <a:t> 채널  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6558" y="4317081"/>
            <a:ext cx="12378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Total 00000     Page 0</a:t>
            </a:r>
            <a:endParaRPr lang="ko-KR" altLang="en-US" sz="800" dirty="0"/>
          </a:p>
        </p:txBody>
      </p:sp>
      <p:sp>
        <p:nvSpPr>
          <p:cNvPr id="50" name="직사각형 49"/>
          <p:cNvSpPr/>
          <p:nvPr/>
        </p:nvSpPr>
        <p:spPr>
          <a:xfrm>
            <a:off x="956558" y="1072117"/>
            <a:ext cx="7431288" cy="724196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674451" y="2282757"/>
            <a:ext cx="8605736" cy="4202349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05648" y="1900135"/>
            <a:ext cx="2079415" cy="3801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&lt;</a:t>
            </a:r>
            <a:r>
              <a:rPr lang="ko-KR" altLang="en-US" sz="1000" dirty="0">
                <a:solidFill>
                  <a:srgbClr val="FF0000"/>
                </a:solidFill>
              </a:rPr>
              <a:t>그룹</a:t>
            </a:r>
            <a:r>
              <a:rPr lang="en-US" altLang="ko-KR" sz="1000" dirty="0">
                <a:solidFill>
                  <a:srgbClr val="FF0000"/>
                </a:solidFill>
              </a:rPr>
              <a:t>&gt;</a:t>
            </a:r>
            <a:r>
              <a:rPr lang="ko-KR" altLang="en-US" sz="1000" dirty="0">
                <a:solidFill>
                  <a:srgbClr val="FF0000"/>
                </a:solidFill>
              </a:rPr>
              <a:t>을 활용할 수 있는</a:t>
            </a: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ko-KR" altLang="en-US" sz="1000" dirty="0">
                <a:solidFill>
                  <a:srgbClr val="FF0000"/>
                </a:solidFill>
              </a:rPr>
              <a:t>기능이 무엇인지 확인 필요</a:t>
            </a:r>
            <a:endParaRPr lang="en-US" altLang="ko-KR" sz="1000" dirty="0">
              <a:solidFill>
                <a:srgbClr val="FF0000"/>
              </a:solidFill>
            </a:endParaRPr>
          </a:p>
          <a:p>
            <a:endParaRPr lang="en-US" altLang="ko-KR" sz="1000" dirty="0">
              <a:solidFill>
                <a:srgbClr val="FF0000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>
                <a:solidFill>
                  <a:srgbClr val="FF0000"/>
                </a:solidFill>
              </a:rPr>
              <a:t>현황조회만 가능한지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>
                <a:solidFill>
                  <a:srgbClr val="FF0000"/>
                </a:solidFill>
              </a:rPr>
              <a:t>커뮤니케이션도 가능한지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marL="171450" indent="-171450">
              <a:buFontTx/>
              <a:buChar char="-"/>
            </a:pP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ko-KR" altLang="en-US" sz="1000" dirty="0">
                <a:solidFill>
                  <a:srgbClr val="FF0000"/>
                </a:solidFill>
              </a:rPr>
              <a:t>정의되는 내용에 따라</a:t>
            </a: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ko-KR" altLang="en-US" sz="1000" dirty="0">
                <a:solidFill>
                  <a:srgbClr val="FF0000"/>
                </a:solidFill>
              </a:rPr>
              <a:t>대상선택의 기준 추가가 가능함</a:t>
            </a: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현재는 회사 기준으로만 가능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</a:p>
          <a:p>
            <a:endParaRPr lang="en-US" altLang="ko-KR" sz="1000" dirty="0">
              <a:solidFill>
                <a:srgbClr val="FF0000"/>
              </a:solidFill>
            </a:endParaRPr>
          </a:p>
          <a:p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en-US" altLang="ko-KR" sz="1000" dirty="0">
                <a:solidFill>
                  <a:srgbClr val="FF0000"/>
                </a:solidFill>
              </a:rPr>
              <a:t>(24.3.29 </a:t>
            </a:r>
            <a:r>
              <a:rPr lang="ko-KR" altLang="en-US" sz="1000" dirty="0">
                <a:solidFill>
                  <a:srgbClr val="FF0000"/>
                </a:solidFill>
              </a:rPr>
              <a:t>추가사항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1000" b="1" dirty="0">
                <a:solidFill>
                  <a:srgbClr val="00B0F0"/>
                </a:solidFill>
              </a:rPr>
              <a:t>[</a:t>
            </a:r>
            <a:r>
              <a:rPr lang="en-US" altLang="ko-KR" sz="1050" b="1" dirty="0">
                <a:solidFill>
                  <a:srgbClr val="00B0F0"/>
                </a:solidFill>
              </a:rPr>
              <a:t>1] </a:t>
            </a:r>
            <a:r>
              <a:rPr lang="ko-KR" altLang="en-US" sz="1050" b="1" dirty="0">
                <a:solidFill>
                  <a:srgbClr val="00B0F0"/>
                </a:solidFill>
              </a:rPr>
              <a:t>회원을 검색하여 투입함</a:t>
            </a:r>
            <a:endParaRPr lang="en-US" altLang="ko-KR" sz="1050" b="1" dirty="0">
              <a:solidFill>
                <a:srgbClr val="00B0F0"/>
              </a:solidFill>
            </a:endParaRPr>
          </a:p>
          <a:p>
            <a:endParaRPr lang="en-US" altLang="ko-KR" sz="105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회사 선택 후 검색 시  회사명 검색</a:t>
            </a:r>
            <a:endParaRPr lang="en-US" altLang="ko-KR" sz="800" dirty="0"/>
          </a:p>
          <a:p>
            <a:r>
              <a:rPr lang="ko-KR" altLang="en-US" sz="800" dirty="0"/>
              <a:t>이름 선택 후 검색 시 </a:t>
            </a:r>
            <a:r>
              <a:rPr lang="ko-KR" altLang="en-US" sz="800" dirty="0" err="1"/>
              <a:t>회원명</a:t>
            </a:r>
            <a:r>
              <a:rPr lang="ko-KR" altLang="en-US" sz="800" dirty="0"/>
              <a:t> 검색</a:t>
            </a:r>
            <a:endParaRPr lang="en-US" altLang="ko-KR" sz="800" dirty="0"/>
          </a:p>
          <a:p>
            <a:endParaRPr lang="en-US" altLang="ko-KR" sz="1050" b="1" dirty="0">
              <a:solidFill>
                <a:srgbClr val="00B0F0"/>
              </a:solidFill>
            </a:endParaRPr>
          </a:p>
          <a:p>
            <a:r>
              <a:rPr lang="en-US" altLang="ko-KR" sz="1050" b="1" dirty="0">
                <a:solidFill>
                  <a:srgbClr val="00B0F0"/>
                </a:solidFill>
              </a:rPr>
              <a:t>[2] </a:t>
            </a:r>
            <a:r>
              <a:rPr lang="ko-KR" altLang="en-US" sz="1050" b="1" dirty="0">
                <a:solidFill>
                  <a:srgbClr val="00B0F0"/>
                </a:solidFill>
              </a:rPr>
              <a:t>일괄 업로드 양식</a:t>
            </a:r>
            <a:r>
              <a:rPr lang="en-US" altLang="ko-KR" sz="1050" b="1" dirty="0">
                <a:solidFill>
                  <a:srgbClr val="00B0F0"/>
                </a:solidFill>
              </a:rPr>
              <a:t>(</a:t>
            </a:r>
            <a:r>
              <a:rPr lang="ko-KR" altLang="en-US" sz="1050" b="1" dirty="0">
                <a:solidFill>
                  <a:srgbClr val="00B0F0"/>
                </a:solidFill>
              </a:rPr>
              <a:t>엑셀</a:t>
            </a:r>
            <a:r>
              <a:rPr lang="en-US" altLang="ko-KR" sz="1050" b="1" dirty="0">
                <a:solidFill>
                  <a:srgbClr val="00B0F0"/>
                </a:solidFill>
              </a:rPr>
              <a:t>)</a:t>
            </a:r>
          </a:p>
          <a:p>
            <a:r>
              <a:rPr lang="ko-KR" altLang="en-US" sz="1050" b="1" dirty="0">
                <a:solidFill>
                  <a:srgbClr val="00B0F0"/>
                </a:solidFill>
              </a:rPr>
              <a:t> 아이디 </a:t>
            </a:r>
            <a:r>
              <a:rPr lang="en-US" altLang="ko-KR" sz="1050" b="1" dirty="0">
                <a:solidFill>
                  <a:srgbClr val="00B0F0"/>
                </a:solidFill>
              </a:rPr>
              <a:t>/ </a:t>
            </a:r>
            <a:r>
              <a:rPr lang="ko-KR" altLang="en-US" sz="1050" b="1" dirty="0">
                <a:solidFill>
                  <a:srgbClr val="00B0F0"/>
                </a:solidFill>
              </a:rPr>
              <a:t>회사명</a:t>
            </a:r>
            <a:endParaRPr lang="en-US" altLang="ko-KR" sz="1050" b="1" dirty="0">
              <a:solidFill>
                <a:srgbClr val="00B0F0"/>
              </a:solidFill>
            </a:endParaRPr>
          </a:p>
          <a:p>
            <a:endParaRPr lang="en-US" altLang="ko-KR" sz="1050" b="1" dirty="0">
              <a:solidFill>
                <a:srgbClr val="00B0F0"/>
              </a:solidFill>
            </a:endParaRPr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</a:t>
            </a:r>
            <a:r>
              <a:rPr lang="en-US" altLang="ko-KR" sz="1050" b="1" dirty="0">
                <a:solidFill>
                  <a:srgbClr val="00B0F0"/>
                </a:solidFill>
              </a:rPr>
              <a:t>3] </a:t>
            </a:r>
            <a:r>
              <a:rPr lang="ko-KR" altLang="en-US" sz="1050" b="1" dirty="0">
                <a:solidFill>
                  <a:srgbClr val="00B0F0"/>
                </a:solidFill>
              </a:rPr>
              <a:t>그룹 생성 이후 대상자 수정</a:t>
            </a:r>
            <a:endParaRPr lang="en-US" altLang="ko-KR" sz="1050" b="1" dirty="0">
              <a:solidFill>
                <a:srgbClr val="00B0F0"/>
              </a:solidFill>
            </a:endParaRPr>
          </a:p>
          <a:p>
            <a:pPr lvl="0"/>
            <a:endParaRPr lang="en-US" altLang="ko-KR" sz="800" dirty="0"/>
          </a:p>
          <a:p>
            <a:pPr lvl="0"/>
            <a:r>
              <a:rPr lang="ko-KR" altLang="en-US" sz="800" dirty="0"/>
              <a:t>그룹 목록에서 선택한 후</a:t>
            </a:r>
            <a:endParaRPr lang="en-US" altLang="ko-KR" sz="800" dirty="0"/>
          </a:p>
          <a:p>
            <a:pPr lvl="0"/>
            <a:r>
              <a:rPr lang="ko-KR" altLang="en-US" sz="800" dirty="0"/>
              <a:t>대상자를 추가</a:t>
            </a:r>
            <a:r>
              <a:rPr lang="en-US" altLang="ko-KR" sz="800" dirty="0"/>
              <a:t>/</a:t>
            </a:r>
            <a:r>
              <a:rPr lang="ko-KR" altLang="en-US" sz="800" dirty="0"/>
              <a:t>삭제 할 수 있음</a:t>
            </a:r>
            <a:endParaRPr lang="en-US" altLang="ko-KR" sz="800" dirty="0"/>
          </a:p>
        </p:txBody>
      </p:sp>
      <p:sp>
        <p:nvSpPr>
          <p:cNvPr id="27" name="직사각형 26"/>
          <p:cNvSpPr/>
          <p:nvPr/>
        </p:nvSpPr>
        <p:spPr>
          <a:xfrm>
            <a:off x="5141196" y="5402506"/>
            <a:ext cx="1061196" cy="16646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일괄 업로드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8842075" y="72852"/>
            <a:ext cx="3968151" cy="997562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marL="228600" indent="-228600" algn="ctr"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</a:rPr>
              <a:t>회사 기준 외 회원 기준으로 투입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 algn="ctr"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</a:rPr>
              <a:t>일괄 업로드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 algn="ctr"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</a:rPr>
              <a:t>보고서 외 다른 현황</a:t>
            </a:r>
            <a:r>
              <a:rPr lang="en-US" altLang="ko-KR" sz="1200" b="1" dirty="0">
                <a:solidFill>
                  <a:schemeClr val="tx1"/>
                </a:solidFill>
              </a:rPr>
              <a:t>/</a:t>
            </a:r>
            <a:r>
              <a:rPr lang="ko-KR" altLang="en-US" sz="1200" b="1" dirty="0">
                <a:solidFill>
                  <a:schemeClr val="tx1"/>
                </a:solidFill>
              </a:rPr>
              <a:t>조회 페이지에서 그룹 기준으로 검색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2110324" y="5402507"/>
            <a:ext cx="589659" cy="16646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회사  </a:t>
            </a:r>
            <a:r>
              <a:rPr lang="en-US" altLang="ko-KR" sz="800" dirty="0">
                <a:solidFill>
                  <a:schemeClr val="tx1"/>
                </a:solidFill>
              </a:rPr>
              <a:t>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8853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09" y="668912"/>
            <a:ext cx="9169940" cy="1919532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447174" y="1180998"/>
            <a:ext cx="500962" cy="161419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5967931" y="1180997"/>
            <a:ext cx="368018" cy="161419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744510" y="1180996"/>
            <a:ext cx="343711" cy="161420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삭제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908523"/>
              </p:ext>
            </p:extLst>
          </p:nvPr>
        </p:nvGraphicFramePr>
        <p:xfrm>
          <a:off x="864143" y="2733747"/>
          <a:ext cx="8967277" cy="3779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9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176486"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계약이력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</a:rPr>
                        <a:t>리스트 조회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회원구분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차수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계약번호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계약분류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계약금액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계약시작일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계약종료일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상태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청구일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아이디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성명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직위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법인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회사명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휴대번화번호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이메일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취소일자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승계</a:t>
                      </a:r>
                      <a:r>
                        <a:rPr lang="en-US" sz="800" u="none" strike="noStrike" dirty="0">
                          <a:effectLst/>
                        </a:rPr>
                        <a:t>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71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>
                          <a:effectLst/>
                        </a:rPr>
                        <a:t>개인계약추가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71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</a:rPr>
                        <a:t>삭제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716"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콘텐츠이력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>
                          <a:effectLst/>
                        </a:rPr>
                        <a:t>날짜 검색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48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</a:rPr>
                        <a:t>리스트 조회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시청일시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대메뉴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프로그램명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제목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시청시간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분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r>
                        <a:rPr lang="ko-KR" altLang="en-US" sz="800" u="none" strike="noStrike">
                          <a:effectLst/>
                        </a:rPr>
                        <a:t>초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기기구분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사이트구분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71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>
                          <a:effectLst/>
                        </a:rPr>
                        <a:t>다운로드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4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Off-Line </a:t>
                      </a:r>
                      <a:r>
                        <a:rPr lang="ko-KR" altLang="en-US" sz="800" u="none" strike="noStrike">
                          <a:effectLst/>
                        </a:rPr>
                        <a:t>세미나 이력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</a:rPr>
                        <a:t>리스트 조회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날짜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종류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Off-Line</a:t>
                      </a:r>
                      <a:r>
                        <a:rPr lang="ko-KR" altLang="en-US" sz="800" u="none" strike="noStrike">
                          <a:effectLst/>
                        </a:rPr>
                        <a:t>세미나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강사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장소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참석여부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48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프로모션이력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</a:rPr>
                        <a:t>리스트 조회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실행고객번호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프로모션명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타켓명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분류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프로모션시작일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프로모션종료일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상태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매체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반응여부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471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도서신청이력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>
                          <a:effectLst/>
                        </a:rPr>
                        <a:t>리스트 조회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등록일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성명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우편번호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주소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도서명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건수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발송일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4716"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상담이력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>
                          <a:effectLst/>
                        </a:rPr>
                        <a:t>리스트 조회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접수일자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상담유형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접수채널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접수자명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상담자명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상담내용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처리상태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471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</a:rPr>
                        <a:t>추가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상담자명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법인명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이메일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전화번호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휴대폰번호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주소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상담유형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접수채널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접수자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제목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접수일시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상담내용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처리담당자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처리일시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처리내용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471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>
                          <a:effectLst/>
                        </a:rPr>
                        <a:t>다운로드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471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마음리지이력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>
                          <a:effectLst/>
                        </a:rPr>
                        <a:t>리스트 조회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적립일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구분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적립점수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사유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14716"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콘텐츠선물이력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</a:rPr>
                        <a:t>날짜 검색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648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</a:rPr>
                        <a:t>리스트 조회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발송일자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제목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수신인이메일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수신자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직위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소속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14716"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스크랩이력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</a:rPr>
                        <a:t>날짜 검색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1471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</a:rPr>
                        <a:t>리스트 조회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등록일자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폴더명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프로그램명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콘텐츠명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14716"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콘택이력</a:t>
                      </a:r>
                      <a:endParaRPr lang="en-US" altLang="ko-KR" sz="800" u="none" strike="noStrike" dirty="0"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</a:rPr>
                        <a:t>리스트 조회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콘택일자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작업종류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담당자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고객명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콘택유형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주요내용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1471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</a:rPr>
                        <a:t>추가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접촉구분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접촉일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접촉유형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담당자명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제목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주요내용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1471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</a:rPr>
                        <a:t>다운로드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1471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메인</a:t>
                      </a:r>
                      <a:r>
                        <a:rPr lang="en-US" altLang="ko-KR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PC </a:t>
                      </a:r>
                      <a:r>
                        <a:rPr lang="ko-KR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변경 이력</a:t>
                      </a:r>
                      <a:endParaRPr lang="ko-KR" alt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</a:rPr>
                        <a:t>리스트 조회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구분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사용일시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1471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수정이력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</a:rPr>
                        <a:t>리스트 조회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변경일시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데이터명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필드명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이전값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이후값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등록자명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758757" y="1342416"/>
            <a:ext cx="8527915" cy="447473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0" name="꺾인 연결선 9"/>
          <p:cNvCxnSpPr>
            <a:endCxn id="7" idx="1"/>
          </p:cNvCxnSpPr>
          <p:nvPr/>
        </p:nvCxnSpPr>
        <p:spPr>
          <a:xfrm rot="5400000">
            <a:off x="-531276" y="3040007"/>
            <a:ext cx="2978920" cy="188081"/>
          </a:xfrm>
          <a:prstGeom prst="bentConnector4">
            <a:avLst>
              <a:gd name="adj1" fmla="val 18281"/>
              <a:gd name="adj2" fmla="val 22154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953340" y="591381"/>
            <a:ext cx="2526654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 err="1">
                <a:solidFill>
                  <a:srgbClr val="00B0F0"/>
                </a:solidFill>
              </a:rPr>
              <a:t>회원별</a:t>
            </a:r>
            <a:r>
              <a:rPr lang="ko-KR" altLang="en-US" sz="1000" b="1" dirty="0">
                <a:solidFill>
                  <a:srgbClr val="00B0F0"/>
                </a:solidFill>
              </a:rPr>
              <a:t> 상세 정보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항목 삭제 및 상세 데이터 정리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상담이력 </a:t>
            </a:r>
            <a:r>
              <a:rPr lang="en-US" altLang="ko-KR" sz="1000" b="1" dirty="0">
                <a:solidFill>
                  <a:srgbClr val="00B0F0"/>
                </a:solidFill>
              </a:rPr>
              <a:t>:</a:t>
            </a:r>
            <a:r>
              <a:rPr lang="ko-KR" altLang="en-US" sz="1000" b="1" dirty="0">
                <a:solidFill>
                  <a:srgbClr val="00B0F0"/>
                </a:solidFill>
              </a:rPr>
              <a:t>홈페이지 핫라인 데이터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00B0F0"/>
                </a:solidFill>
              </a:rPr>
              <a:t>연동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상담이력 리스트에</a:t>
            </a:r>
            <a:endParaRPr lang="en-US" altLang="ko-KR" sz="800" dirty="0"/>
          </a:p>
          <a:p>
            <a:r>
              <a:rPr lang="ko-KR" altLang="en-US" sz="800" dirty="0"/>
              <a:t>홈페이지 핫라인 데이터를 조회할 수 있음</a:t>
            </a:r>
            <a:endParaRPr lang="en-US" altLang="ko-KR" sz="800" dirty="0"/>
          </a:p>
          <a:p>
            <a:endParaRPr lang="en-US" altLang="ko-KR" sz="800" b="1" dirty="0">
              <a:solidFill>
                <a:srgbClr val="00B0F0"/>
              </a:solidFill>
            </a:endParaRPr>
          </a:p>
          <a:p>
            <a:r>
              <a:rPr lang="ko-KR" altLang="en-US" sz="800" b="1" dirty="0">
                <a:solidFill>
                  <a:srgbClr val="00B0F0"/>
                </a:solidFill>
              </a:rPr>
              <a:t>접속채널 </a:t>
            </a:r>
            <a:r>
              <a:rPr lang="en-US" altLang="ko-KR" sz="800" b="1" dirty="0">
                <a:solidFill>
                  <a:srgbClr val="00B0F0"/>
                </a:solidFill>
              </a:rPr>
              <a:t>: </a:t>
            </a:r>
            <a:r>
              <a:rPr lang="ko-KR" altLang="en-US" sz="800" b="1" dirty="0">
                <a:solidFill>
                  <a:srgbClr val="00B0F0"/>
                </a:solidFill>
              </a:rPr>
              <a:t>핫라인</a:t>
            </a:r>
            <a:endParaRPr lang="en-US" altLang="ko-KR" sz="800" b="1" dirty="0">
              <a:solidFill>
                <a:srgbClr val="00B0F0"/>
              </a:solidFill>
            </a:endParaRPr>
          </a:p>
          <a:p>
            <a:endParaRPr lang="en-US" altLang="ko-KR" sz="800" b="1" dirty="0">
              <a:solidFill>
                <a:srgbClr val="00B0F0"/>
              </a:solidFill>
            </a:endParaRPr>
          </a:p>
          <a:p>
            <a:endParaRPr lang="en-US" altLang="ko-KR" sz="800" b="1" dirty="0">
              <a:solidFill>
                <a:srgbClr val="00B0F0"/>
              </a:solidFill>
            </a:endParaRPr>
          </a:p>
          <a:p>
            <a:r>
              <a:rPr lang="en-US" altLang="ko-KR" sz="800" b="1" dirty="0">
                <a:solidFill>
                  <a:srgbClr val="00B0F0"/>
                </a:solidFill>
              </a:rPr>
              <a:t>[</a:t>
            </a:r>
            <a:r>
              <a:rPr lang="en-US" altLang="ko-KR" sz="1000" b="1" dirty="0">
                <a:solidFill>
                  <a:srgbClr val="00B0F0"/>
                </a:solidFill>
              </a:rPr>
              <a:t>3] </a:t>
            </a:r>
            <a:r>
              <a:rPr lang="ko-KR" altLang="en-US" sz="1000" b="1" dirty="0">
                <a:solidFill>
                  <a:srgbClr val="00B0F0"/>
                </a:solidFill>
              </a:rPr>
              <a:t>개인별 커뮤니케이션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회원정보 상단</a:t>
            </a:r>
            <a:r>
              <a:rPr lang="en-US" altLang="ko-KR" sz="800" dirty="0"/>
              <a:t>/ </a:t>
            </a:r>
            <a:r>
              <a:rPr lang="ko-KR" altLang="en-US" sz="800" dirty="0"/>
              <a:t>혹은 하단에</a:t>
            </a:r>
            <a:endParaRPr lang="en-US" altLang="ko-KR" sz="800" dirty="0"/>
          </a:p>
          <a:p>
            <a:r>
              <a:rPr lang="ko-KR" altLang="en-US" sz="800" dirty="0" err="1"/>
              <a:t>컨택</a:t>
            </a:r>
            <a:r>
              <a:rPr lang="ko-KR" altLang="en-US" sz="800" dirty="0"/>
              <a:t> 가능한 버튼 탑재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/>
              <a:t>메일</a:t>
            </a:r>
            <a:r>
              <a:rPr lang="en-US" altLang="ko-KR" sz="800" dirty="0"/>
              <a:t>, </a:t>
            </a:r>
            <a:r>
              <a:rPr lang="ko-KR" altLang="en-US" sz="800" dirty="0"/>
              <a:t>문자</a:t>
            </a:r>
            <a:r>
              <a:rPr lang="en-US" altLang="ko-KR" sz="800" dirty="0"/>
              <a:t>, </a:t>
            </a:r>
            <a:r>
              <a:rPr lang="ko-KR" altLang="en-US" sz="800" dirty="0" err="1"/>
              <a:t>카카오톡</a:t>
            </a:r>
            <a:r>
              <a:rPr lang="ko-KR" altLang="en-US" sz="800" dirty="0"/>
              <a:t> 등 채널 선택하여</a:t>
            </a:r>
            <a:endParaRPr lang="en-US" altLang="ko-KR" sz="800" dirty="0"/>
          </a:p>
          <a:p>
            <a:r>
              <a:rPr lang="ko-KR" altLang="en-US" sz="800" dirty="0"/>
              <a:t>접촉</a:t>
            </a:r>
            <a:r>
              <a:rPr lang="en-US" altLang="ko-KR" sz="800" dirty="0"/>
              <a:t>)</a:t>
            </a:r>
          </a:p>
          <a:p>
            <a:r>
              <a:rPr lang="en-US" altLang="ko-KR" sz="800" b="1" dirty="0">
                <a:solidFill>
                  <a:srgbClr val="00B0F0"/>
                </a:solidFill>
              </a:rPr>
              <a:t> </a:t>
            </a:r>
          </a:p>
          <a:p>
            <a:endParaRPr lang="en-US" altLang="ko-KR" sz="8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>
                <a:solidFill>
                  <a:srgbClr val="00B0F0"/>
                </a:solidFill>
              </a:rPr>
              <a:t>모든 이력 다운로드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모든 탭에서 각 다운로드 가능해야 하고</a:t>
            </a:r>
            <a:r>
              <a:rPr lang="en-US" altLang="ko-KR" sz="800" dirty="0"/>
              <a:t>,</a:t>
            </a:r>
          </a:p>
          <a:p>
            <a:r>
              <a:rPr lang="ko-KR" altLang="en-US" sz="800" dirty="0"/>
              <a:t>모든 이력 다운로드도 가능해야 함</a:t>
            </a:r>
            <a:endParaRPr lang="en-US" altLang="ko-KR" sz="800" dirty="0"/>
          </a:p>
          <a:p>
            <a:r>
              <a:rPr lang="en-US" altLang="ko-KR" sz="1200" b="1" dirty="0">
                <a:solidFill>
                  <a:srgbClr val="FF0000"/>
                </a:solidFill>
              </a:rPr>
              <a:t>-&gt; </a:t>
            </a:r>
            <a:r>
              <a:rPr lang="ko-KR" altLang="en-US" sz="1200" b="1" dirty="0">
                <a:solidFill>
                  <a:srgbClr val="FF0000"/>
                </a:solidFill>
              </a:rPr>
              <a:t>다운로드 포맷 확인 필요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ko-KR" altLang="en-US" sz="1200" b="1" dirty="0" err="1">
                <a:solidFill>
                  <a:srgbClr val="FF0000"/>
                </a:solidFill>
              </a:rPr>
              <a:t>시트별로</a:t>
            </a:r>
            <a:r>
              <a:rPr lang="ko-KR" altLang="en-US" sz="1200" b="1" dirty="0">
                <a:solidFill>
                  <a:srgbClr val="FF0000"/>
                </a:solidFill>
              </a:rPr>
              <a:t> 구분 가능한지 확인 후</a:t>
            </a:r>
            <a:r>
              <a:rPr lang="en-US" altLang="ko-KR" sz="1200" b="1" dirty="0">
                <a:solidFill>
                  <a:srgbClr val="FF0000"/>
                </a:solidFill>
              </a:rPr>
              <a:t>,</a:t>
            </a:r>
          </a:p>
          <a:p>
            <a:r>
              <a:rPr lang="ko-KR" altLang="en-US" sz="1200" b="1" dirty="0">
                <a:solidFill>
                  <a:srgbClr val="FF0000"/>
                </a:solidFill>
              </a:rPr>
              <a:t>불가시 제외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/>
              <a:t>단 모든 이력 다운로드 시 전체 계약기간의</a:t>
            </a:r>
            <a:endParaRPr lang="en-US" altLang="ko-KR" sz="800" dirty="0"/>
          </a:p>
          <a:p>
            <a:r>
              <a:rPr lang="ko-KR" altLang="en-US" sz="800" dirty="0"/>
              <a:t>모든 데이터를 다운로드 함</a:t>
            </a:r>
            <a:r>
              <a:rPr lang="en-US" altLang="ko-KR" sz="800" dirty="0"/>
              <a:t>)  </a:t>
            </a:r>
            <a:r>
              <a:rPr lang="ko-KR" altLang="en-US" sz="800" dirty="0"/>
              <a:t>기간 별도로 입력하기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[5] Off-Line </a:t>
            </a:r>
            <a:r>
              <a:rPr lang="ko-KR" altLang="en-US" sz="1000" b="1" dirty="0">
                <a:solidFill>
                  <a:srgbClr val="00B0F0"/>
                </a:solidFill>
              </a:rPr>
              <a:t>세미나 이력  데이터 보완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 err="1"/>
              <a:t>인사이트</a:t>
            </a:r>
            <a:r>
              <a:rPr lang="ko-KR" altLang="en-US" sz="800" dirty="0"/>
              <a:t> 포럼 외</a:t>
            </a:r>
            <a:r>
              <a:rPr lang="en-US" altLang="ko-KR" sz="800" dirty="0"/>
              <a:t>, </a:t>
            </a:r>
            <a:r>
              <a:rPr lang="ko-KR" altLang="en-US" sz="800" dirty="0"/>
              <a:t>오프라인 전체 참여</a:t>
            </a:r>
            <a:endParaRPr lang="en-US" altLang="ko-KR" sz="800" dirty="0"/>
          </a:p>
          <a:p>
            <a:r>
              <a:rPr lang="ko-KR" altLang="en-US" sz="800" dirty="0"/>
              <a:t>내역을 조회함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/>
              <a:t>다음 페이지 상세내용 참조</a:t>
            </a:r>
            <a:r>
              <a:rPr lang="en-US" altLang="ko-KR" sz="800" dirty="0"/>
              <a:t>)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2452087" y="1379112"/>
            <a:ext cx="998707" cy="14591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컨택</a:t>
            </a:r>
            <a:r>
              <a:rPr lang="ko-KR" altLang="en-US" sz="1050" dirty="0">
                <a:solidFill>
                  <a:schemeClr val="tx1"/>
                </a:solidFill>
              </a:rPr>
              <a:t> 채널  ▼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450770" y="1573137"/>
            <a:ext cx="998707" cy="4507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t"/>
          <a:lstStyle/>
          <a:p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이메일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문자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카카오톡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72880" y="1110113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487421" y="106422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266210" y="135102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814312" y="1380988"/>
            <a:ext cx="1503114" cy="13491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모든 이력 다운로드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3624096" y="134981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 이력조회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정보수정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시청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상담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계약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서비스 기간 등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CRM_02_009~011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937211" y="102311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5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7277100" y="1284114"/>
            <a:ext cx="76200" cy="739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916365" y="1962884"/>
            <a:ext cx="1402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메인</a:t>
            </a:r>
            <a:r>
              <a:rPr lang="en-US" altLang="ko-KR" sz="1200" dirty="0"/>
              <a:t>PC </a:t>
            </a:r>
            <a:r>
              <a:rPr lang="ko-KR" altLang="en-US" sz="1200" dirty="0"/>
              <a:t>변경 이력</a:t>
            </a:r>
          </a:p>
        </p:txBody>
      </p:sp>
    </p:spTree>
    <p:extLst>
      <p:ext uri="{BB962C8B-B14F-4D97-AF65-F5344CB8AC3E}">
        <p14:creationId xmlns:p14="http://schemas.microsoft.com/office/powerpoint/2010/main" val="33036054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70" y="1037615"/>
            <a:ext cx="8373705" cy="4070971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2445601" y="2428031"/>
            <a:ext cx="998707" cy="14591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컨택</a:t>
            </a:r>
            <a:r>
              <a:rPr lang="ko-KR" altLang="en-US" sz="1050" dirty="0">
                <a:solidFill>
                  <a:schemeClr val="tx1"/>
                </a:solidFill>
              </a:rPr>
              <a:t> 채널  ▼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444284" y="2622056"/>
            <a:ext cx="998707" cy="4507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t"/>
          <a:lstStyle/>
          <a:p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이메일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문자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카카오톡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53340" y="591381"/>
            <a:ext cx="2379177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접촉 채널 선택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개인 선택 혹은</a:t>
            </a:r>
            <a:endParaRPr lang="en-US" altLang="ko-KR" sz="800" dirty="0"/>
          </a:p>
          <a:p>
            <a:r>
              <a:rPr lang="ko-KR" altLang="en-US" sz="800" dirty="0"/>
              <a:t>단체 선택 후 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 err="1"/>
              <a:t>이메일</a:t>
            </a:r>
            <a:r>
              <a:rPr lang="en-US" altLang="ko-KR" sz="800" dirty="0"/>
              <a:t>, </a:t>
            </a:r>
            <a:r>
              <a:rPr lang="ko-KR" altLang="en-US" sz="800" dirty="0"/>
              <a:t>문자</a:t>
            </a:r>
            <a:r>
              <a:rPr lang="en-US" altLang="ko-KR" sz="800" dirty="0"/>
              <a:t>, </a:t>
            </a:r>
            <a:r>
              <a:rPr lang="ko-KR" altLang="en-US" sz="800" dirty="0" err="1"/>
              <a:t>카카오톡</a:t>
            </a:r>
            <a:r>
              <a:rPr lang="ko-KR" altLang="en-US" sz="800" dirty="0"/>
              <a:t> 채널로</a:t>
            </a:r>
            <a:endParaRPr lang="en-US" altLang="ko-KR" sz="800" dirty="0"/>
          </a:p>
          <a:p>
            <a:r>
              <a:rPr lang="ko-KR" altLang="en-US" sz="800" dirty="0"/>
              <a:t>메시지 발송 가능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>
                <a:solidFill>
                  <a:srgbClr val="FF0000"/>
                </a:solidFill>
              </a:rPr>
              <a:t>단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 err="1">
                <a:solidFill>
                  <a:srgbClr val="FF0000"/>
                </a:solidFill>
              </a:rPr>
              <a:t>컨택하려는</a:t>
            </a:r>
            <a:r>
              <a:rPr lang="ko-KR" altLang="en-US" sz="800" dirty="0">
                <a:solidFill>
                  <a:srgbClr val="FF0000"/>
                </a:solidFill>
              </a:rPr>
              <a:t> 회원의 </a:t>
            </a:r>
            <a:r>
              <a:rPr lang="ko-KR" altLang="en-US" sz="800" dirty="0" err="1">
                <a:solidFill>
                  <a:srgbClr val="FF0000"/>
                </a:solidFill>
              </a:rPr>
              <a:t>퍼미션</a:t>
            </a:r>
            <a:r>
              <a:rPr lang="ko-KR" altLang="en-US" sz="800" dirty="0">
                <a:solidFill>
                  <a:srgbClr val="FF0000"/>
                </a:solidFill>
              </a:rPr>
              <a:t> 정보를 체크한 후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설정된 값에 따라 운영함</a:t>
            </a:r>
            <a:endParaRPr lang="en-US" altLang="ko-KR" sz="800" dirty="0">
              <a:solidFill>
                <a:srgbClr val="FF0000"/>
              </a:solidFill>
            </a:endParaRPr>
          </a:p>
          <a:p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 err="1">
                <a:solidFill>
                  <a:srgbClr val="FF0000"/>
                </a:solidFill>
              </a:rPr>
              <a:t>설정값이</a:t>
            </a:r>
            <a:r>
              <a:rPr lang="ko-KR" altLang="en-US" sz="800" dirty="0">
                <a:solidFill>
                  <a:srgbClr val="FF0000"/>
                </a:solidFill>
              </a:rPr>
              <a:t> 다른 회원을 복수 선택 후 채널을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선택하면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 err="1">
                <a:solidFill>
                  <a:srgbClr val="FF0000"/>
                </a:solidFill>
              </a:rPr>
              <a:t>얼럿</a:t>
            </a:r>
            <a:r>
              <a:rPr lang="ko-KR" altLang="en-US" sz="800" dirty="0">
                <a:solidFill>
                  <a:srgbClr val="FF0000"/>
                </a:solidFill>
              </a:rPr>
              <a:t> 안내</a:t>
            </a:r>
            <a:endParaRPr lang="en-US" altLang="ko-KR" sz="800" dirty="0">
              <a:solidFill>
                <a:srgbClr val="FF0000"/>
              </a:solidFill>
            </a:endParaRPr>
          </a:p>
          <a:p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800" dirty="0">
                <a:solidFill>
                  <a:srgbClr val="FF0000"/>
                </a:solidFill>
              </a:rPr>
              <a:t>“</a:t>
            </a:r>
            <a:r>
              <a:rPr lang="ko-KR" altLang="en-US" sz="800" dirty="0" err="1">
                <a:solidFill>
                  <a:srgbClr val="FF0000"/>
                </a:solidFill>
              </a:rPr>
              <a:t>퍼미션</a:t>
            </a:r>
            <a:r>
              <a:rPr lang="ko-KR" altLang="en-US" sz="800" dirty="0">
                <a:solidFill>
                  <a:srgbClr val="FF0000"/>
                </a:solidFill>
              </a:rPr>
              <a:t> 정보가 다른 회원이 포함되어 있습니다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개별로 발송하세요</a:t>
            </a:r>
            <a:r>
              <a:rPr lang="en-US" altLang="ko-KR" sz="800" dirty="0">
                <a:solidFill>
                  <a:srgbClr val="FF0000"/>
                </a:solidFill>
              </a:rPr>
              <a:t>.”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</p:txBody>
      </p:sp>
      <p:sp>
        <p:nvSpPr>
          <p:cNvPr id="7" name="직사각형 6"/>
          <p:cNvSpPr/>
          <p:nvPr/>
        </p:nvSpPr>
        <p:spPr>
          <a:xfrm>
            <a:off x="1318667" y="268805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9" name="꺾인 연결선 8"/>
          <p:cNvCxnSpPr>
            <a:stCxn id="7" idx="3"/>
          </p:cNvCxnSpPr>
          <p:nvPr/>
        </p:nvCxnSpPr>
        <p:spPr>
          <a:xfrm flipV="1">
            <a:off x="1504544" y="2534283"/>
            <a:ext cx="939740" cy="240769"/>
          </a:xfrm>
          <a:prstGeom prst="bentConnector3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선택 혹은 일괄 커뮤니케이션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메일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문자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발송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조건별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자동 발송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CRM_02_012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18761" y="3940262"/>
            <a:ext cx="20697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정기 발송 관리 기능 추가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 err="1"/>
              <a:t>조건별</a:t>
            </a:r>
            <a:r>
              <a:rPr lang="ko-KR" altLang="en-US" sz="800" dirty="0"/>
              <a:t> 정기 </a:t>
            </a:r>
            <a:r>
              <a:rPr lang="ko-KR" altLang="en-US" sz="800" dirty="0" err="1"/>
              <a:t>자동발송되도록</a:t>
            </a:r>
            <a:endParaRPr lang="en-US" altLang="ko-KR" sz="800" dirty="0"/>
          </a:p>
          <a:p>
            <a:r>
              <a:rPr lang="ko-KR" altLang="en-US" sz="800" dirty="0"/>
              <a:t>미리 조건과 옵션을 입력</a:t>
            </a:r>
            <a:r>
              <a:rPr lang="en-US" altLang="ko-KR" sz="800" dirty="0"/>
              <a:t>, </a:t>
            </a:r>
            <a:r>
              <a:rPr lang="ko-KR" altLang="en-US" sz="800" dirty="0"/>
              <a:t>관리할 수 있는</a:t>
            </a:r>
            <a:endParaRPr lang="en-US" altLang="ko-KR" sz="800" dirty="0"/>
          </a:p>
          <a:p>
            <a:r>
              <a:rPr lang="ko-KR" altLang="en-US" sz="800" dirty="0"/>
              <a:t>기능 추가함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(( </a:t>
            </a:r>
            <a:r>
              <a:rPr lang="ko-KR" altLang="en-US" sz="800" dirty="0"/>
              <a:t>커뮤니케이션 관리에서 설정 </a:t>
            </a:r>
            <a:r>
              <a:rPr lang="en-US" altLang="ko-KR" sz="800" dirty="0"/>
              <a:t>)))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296098"/>
              </p:ext>
            </p:extLst>
          </p:nvPr>
        </p:nvGraphicFramePr>
        <p:xfrm>
          <a:off x="8397276" y="2775051"/>
          <a:ext cx="387809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7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73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3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350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이메일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문자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카카오톡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퍼미션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정보 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 err="1"/>
                        <a:t>체크된경우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수신거부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이메일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O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O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SMS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O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광고성</a:t>
                      </a:r>
                      <a:r>
                        <a:rPr lang="ko-KR" altLang="en-US" sz="800" dirty="0"/>
                        <a:t> 정보 수진</a:t>
                      </a:r>
                      <a:r>
                        <a:rPr lang="en-US" altLang="ko-KR" sz="800" dirty="0"/>
                        <a:t>(DM)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9929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04" y="1054282"/>
            <a:ext cx="7822525" cy="171934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466" y="3688240"/>
            <a:ext cx="5211515" cy="23722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90247" y="4329595"/>
            <a:ext cx="1080745" cy="161582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 err="1"/>
              <a:t>인사이트</a:t>
            </a:r>
            <a:r>
              <a:rPr lang="ko-KR" altLang="en-US" sz="1100" dirty="0"/>
              <a:t> 포럼</a:t>
            </a:r>
            <a:endParaRPr lang="en-US" altLang="ko-KR" sz="1100" dirty="0"/>
          </a:p>
          <a:p>
            <a:pPr algn="ctr"/>
            <a:r>
              <a:rPr lang="ko-KR" altLang="en-US" sz="1100" dirty="0"/>
              <a:t>다빈치</a:t>
            </a:r>
            <a:endParaRPr lang="en-US" altLang="ko-KR" sz="1100" dirty="0"/>
          </a:p>
          <a:p>
            <a:pPr algn="ctr"/>
            <a:r>
              <a:rPr lang="ko-KR" altLang="en-US" sz="1100" dirty="0"/>
              <a:t>만권만리</a:t>
            </a:r>
            <a:endParaRPr lang="en-US" altLang="ko-KR" sz="1100" dirty="0"/>
          </a:p>
          <a:p>
            <a:pPr algn="ctr"/>
            <a:r>
              <a:rPr lang="ko-KR" altLang="en-US" sz="1100" dirty="0" err="1"/>
              <a:t>시애라</a:t>
            </a:r>
            <a:endParaRPr lang="en-US" altLang="ko-KR" sz="1100" dirty="0"/>
          </a:p>
          <a:p>
            <a:pPr algn="ctr"/>
            <a:r>
              <a:rPr lang="ko-KR" altLang="en-US" sz="1100" dirty="0"/>
              <a:t>동행</a:t>
            </a:r>
            <a:endParaRPr lang="en-US" altLang="ko-KR" sz="1100" dirty="0"/>
          </a:p>
          <a:p>
            <a:pPr algn="ctr"/>
            <a:r>
              <a:rPr lang="ko-KR" altLang="en-US" sz="1100" dirty="0"/>
              <a:t>다빈치 </a:t>
            </a:r>
            <a:r>
              <a:rPr lang="ko-KR" altLang="en-US" sz="1100" dirty="0" err="1"/>
              <a:t>에센스</a:t>
            </a:r>
            <a:endParaRPr lang="en-US" altLang="ko-KR" sz="1100" dirty="0"/>
          </a:p>
          <a:p>
            <a:pPr algn="ctr"/>
            <a:r>
              <a:rPr lang="ko-KR" altLang="en-US" sz="1100" dirty="0"/>
              <a:t>마스터 클래스</a:t>
            </a:r>
            <a:endParaRPr lang="en-US" altLang="ko-KR" sz="1100" dirty="0"/>
          </a:p>
          <a:p>
            <a:pPr algn="ctr"/>
            <a:r>
              <a:rPr lang="ko-KR" altLang="en-US" sz="1100" dirty="0"/>
              <a:t>리더의 </a:t>
            </a:r>
            <a:r>
              <a:rPr lang="ko-KR" altLang="en-US" sz="1100" dirty="0" err="1"/>
              <a:t>문격</a:t>
            </a:r>
            <a:endParaRPr lang="en-US" altLang="ko-KR" sz="1100" dirty="0"/>
          </a:p>
          <a:p>
            <a:pPr algn="ctr"/>
            <a:r>
              <a:rPr lang="ko-KR" altLang="en-US" sz="1100" dirty="0"/>
              <a:t>사색의 서가</a:t>
            </a:r>
            <a:endParaRPr lang="en-US" altLang="ko-KR" sz="1100" dirty="0"/>
          </a:p>
        </p:txBody>
      </p:sp>
      <p:sp>
        <p:nvSpPr>
          <p:cNvPr id="6" name="직사각형 5"/>
          <p:cNvSpPr/>
          <p:nvPr/>
        </p:nvSpPr>
        <p:spPr>
          <a:xfrm>
            <a:off x="5808059" y="4469119"/>
            <a:ext cx="527890" cy="855153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8" name="직선 화살표 연결선 7"/>
          <p:cNvCxnSpPr>
            <a:stCxn id="6" idx="1"/>
          </p:cNvCxnSpPr>
          <p:nvPr/>
        </p:nvCxnSpPr>
        <p:spPr>
          <a:xfrm flipH="1" flipV="1">
            <a:off x="4079132" y="4896695"/>
            <a:ext cx="17289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1349548" y="1586490"/>
            <a:ext cx="527890" cy="855153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1" name="꺾인 연결선 10"/>
          <p:cNvCxnSpPr>
            <a:stCxn id="4" idx="1"/>
          </p:cNvCxnSpPr>
          <p:nvPr/>
        </p:nvCxnSpPr>
        <p:spPr>
          <a:xfrm rot="10800000">
            <a:off x="1614791" y="2464341"/>
            <a:ext cx="1375456" cy="2673169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953340" y="591381"/>
            <a:ext cx="2076209" cy="326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 err="1">
                <a:solidFill>
                  <a:srgbClr val="00B0F0"/>
                </a:solidFill>
              </a:rPr>
              <a:t>어드민</a:t>
            </a:r>
            <a:r>
              <a:rPr lang="ko-KR" altLang="en-US" sz="1000" b="1" dirty="0">
                <a:solidFill>
                  <a:srgbClr val="00B0F0"/>
                </a:solidFill>
              </a:rPr>
              <a:t> 데이터와 연동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 err="1"/>
              <a:t>어드민</a:t>
            </a:r>
            <a:r>
              <a:rPr lang="ko-KR" altLang="en-US" sz="800" dirty="0"/>
              <a:t>  오프라인 세미나 데이터 연동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참여자 업로드 시</a:t>
            </a:r>
            <a:endParaRPr lang="en-US" altLang="ko-KR" sz="800" dirty="0"/>
          </a:p>
          <a:p>
            <a:r>
              <a:rPr lang="ko-KR" altLang="en-US" sz="800" dirty="0"/>
              <a:t>개인별 이력에도 반영됨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세미나 종류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세미나 종류는 숫자가 아닌</a:t>
            </a:r>
            <a:endParaRPr lang="en-US" altLang="ko-KR" sz="800" dirty="0"/>
          </a:p>
          <a:p>
            <a:r>
              <a:rPr lang="ko-KR" altLang="en-US" sz="800" dirty="0" err="1"/>
              <a:t>어드민</a:t>
            </a:r>
            <a:r>
              <a:rPr lang="ko-KR" altLang="en-US" sz="800" dirty="0"/>
              <a:t> 입력된 </a:t>
            </a:r>
            <a:r>
              <a:rPr lang="ko-KR" altLang="en-US" sz="800" dirty="0" err="1"/>
              <a:t>구분값</a:t>
            </a:r>
            <a:r>
              <a:rPr lang="ko-KR" altLang="en-US" sz="800" dirty="0"/>
              <a:t> 그대로 노출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 (ex. </a:t>
            </a:r>
            <a:r>
              <a:rPr lang="ko-KR" altLang="en-US" sz="800" dirty="0" err="1"/>
              <a:t>인사이트</a:t>
            </a:r>
            <a:r>
              <a:rPr lang="ko-KR" altLang="en-US" sz="800" dirty="0"/>
              <a:t> 포럼</a:t>
            </a:r>
            <a:r>
              <a:rPr lang="en-US" altLang="ko-KR" sz="800" dirty="0"/>
              <a:t>, </a:t>
            </a:r>
            <a:r>
              <a:rPr lang="ko-KR" altLang="en-US" sz="800" dirty="0"/>
              <a:t>다빈치</a:t>
            </a:r>
            <a:r>
              <a:rPr lang="en-US" altLang="ko-KR" sz="800" dirty="0"/>
              <a:t>, </a:t>
            </a:r>
            <a:r>
              <a:rPr lang="ko-KR" altLang="en-US" sz="800" dirty="0"/>
              <a:t>만권만리 등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참석 정보 세분화 필요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 err="1">
                <a:solidFill>
                  <a:srgbClr val="00B0F0"/>
                </a:solidFill>
              </a:rPr>
              <a:t>어드민</a:t>
            </a:r>
            <a:r>
              <a:rPr lang="ko-KR" altLang="en-US" sz="1000" b="1" dirty="0">
                <a:solidFill>
                  <a:srgbClr val="00B0F0"/>
                </a:solidFill>
              </a:rPr>
              <a:t> 수정 개발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참여정보  </a:t>
            </a:r>
            <a:endParaRPr lang="en-US" altLang="ko-KR" sz="800" dirty="0"/>
          </a:p>
          <a:p>
            <a:pPr marL="171450" indent="-171450">
              <a:buFontTx/>
              <a:buChar char="-"/>
            </a:pPr>
            <a:r>
              <a:rPr lang="ko-KR" altLang="en-US" sz="800" dirty="0"/>
              <a:t>참석</a:t>
            </a:r>
            <a:r>
              <a:rPr lang="en-US" altLang="ko-KR" sz="800" dirty="0"/>
              <a:t>(</a:t>
            </a:r>
            <a:r>
              <a:rPr lang="ko-KR" altLang="en-US" sz="800" dirty="0"/>
              <a:t>온라인</a:t>
            </a:r>
            <a:r>
              <a:rPr lang="en-US" altLang="ko-KR" sz="8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/>
              <a:t>참석</a:t>
            </a:r>
            <a:r>
              <a:rPr lang="en-US" altLang="ko-KR" sz="800" dirty="0"/>
              <a:t>(</a:t>
            </a:r>
            <a:r>
              <a:rPr lang="ko-KR" altLang="en-US" sz="800" dirty="0"/>
              <a:t>오프라인</a:t>
            </a:r>
            <a:r>
              <a:rPr lang="en-US" altLang="ko-KR" sz="8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/>
              <a:t>불참</a:t>
            </a:r>
            <a:endParaRPr lang="en-US" altLang="ko-KR" sz="800" dirty="0"/>
          </a:p>
        </p:txBody>
      </p:sp>
      <p:sp>
        <p:nvSpPr>
          <p:cNvPr id="13" name="직사각형 12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회원권 외 상품 현황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참가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구매자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CRM_02_013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874360" y="1560877"/>
            <a:ext cx="1402637" cy="984766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520554" y="2796327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901379" y="424259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374638" y="205281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1668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61696"/>
          <a:stretch/>
        </p:blipFill>
        <p:spPr>
          <a:xfrm>
            <a:off x="252541" y="702927"/>
            <a:ext cx="9027268" cy="1255575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536323" y="1191545"/>
            <a:ext cx="3878741" cy="306515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996996"/>
              </p:ext>
            </p:extLst>
          </p:nvPr>
        </p:nvGraphicFramePr>
        <p:xfrm>
          <a:off x="1335284" y="2671029"/>
          <a:ext cx="7114809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7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7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현재 메뉴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처리 방법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신규계약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회원 관리 </a:t>
                      </a:r>
                      <a:r>
                        <a:rPr lang="en-US" altLang="ko-KR" sz="1000" dirty="0"/>
                        <a:t>&gt; (</a:t>
                      </a:r>
                      <a:r>
                        <a:rPr lang="ko-KR" altLang="en-US" sz="1000" dirty="0"/>
                        <a:t>하단 이력 탭</a:t>
                      </a:r>
                      <a:r>
                        <a:rPr lang="en-US" altLang="ko-KR" sz="1000" dirty="0"/>
                        <a:t>) &gt; </a:t>
                      </a:r>
                      <a:r>
                        <a:rPr lang="ko-KR" altLang="en-US" sz="1000" dirty="0"/>
                        <a:t>계약 차수 추가 기능 이용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재계약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회원 관리 </a:t>
                      </a:r>
                      <a:r>
                        <a:rPr lang="en-US" altLang="ko-KR" sz="1000" dirty="0"/>
                        <a:t>&gt; (</a:t>
                      </a:r>
                      <a:r>
                        <a:rPr lang="ko-KR" altLang="en-US" sz="1000" dirty="0"/>
                        <a:t>하단 이력 탭</a:t>
                      </a:r>
                      <a:r>
                        <a:rPr lang="en-US" altLang="ko-KR" sz="1000" dirty="0"/>
                        <a:t>) &gt; </a:t>
                      </a:r>
                      <a:r>
                        <a:rPr lang="ko-KR" altLang="en-US" sz="1000" dirty="0"/>
                        <a:t>계약 차수 추가 기능 이용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승계관리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회원 관리 </a:t>
                      </a:r>
                      <a:r>
                        <a:rPr lang="en-US" altLang="ko-KR" sz="1000" dirty="0"/>
                        <a:t>&gt; (</a:t>
                      </a:r>
                      <a:r>
                        <a:rPr lang="ko-KR" altLang="en-US" sz="1000" dirty="0"/>
                        <a:t>하단 이력 탭</a:t>
                      </a:r>
                      <a:r>
                        <a:rPr lang="en-US" altLang="ko-KR" sz="1000" dirty="0"/>
                        <a:t>) &gt; “</a:t>
                      </a:r>
                      <a:r>
                        <a:rPr lang="ko-KR" altLang="en-US" sz="1000" dirty="0"/>
                        <a:t>승계관리</a:t>
                      </a:r>
                      <a:r>
                        <a:rPr lang="en-US" altLang="ko-KR" sz="1000" dirty="0"/>
                        <a:t>” </a:t>
                      </a:r>
                      <a:r>
                        <a:rPr lang="ko-KR" altLang="en-US" sz="1000" dirty="0"/>
                        <a:t>버튼 생성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승계처리대량업로드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개인 대량 업로드 사용하지 않으므로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삭제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계약전체현황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(</a:t>
                      </a:r>
                      <a:r>
                        <a:rPr lang="ko-KR" altLang="en-US" sz="1000" baseline="0" dirty="0"/>
                        <a:t> 개인</a:t>
                      </a:r>
                      <a:r>
                        <a:rPr lang="en-US" altLang="ko-KR" sz="1000" baseline="0" dirty="0"/>
                        <a:t>, </a:t>
                      </a:r>
                      <a:r>
                        <a:rPr lang="ko-KR" altLang="en-US" sz="1000" baseline="0" dirty="0"/>
                        <a:t>법인을 통합하여 한 메뉴에서 조회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5" name="직선 화살표 연결선 4"/>
          <p:cNvCxnSpPr>
            <a:stCxn id="3" idx="2"/>
          </p:cNvCxnSpPr>
          <p:nvPr/>
        </p:nvCxnSpPr>
        <p:spPr>
          <a:xfrm flipH="1">
            <a:off x="3469532" y="1498060"/>
            <a:ext cx="6162" cy="1172969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 신규 계약 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 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개인계약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CRM_03_001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35676" y="2126517"/>
            <a:ext cx="3616696" cy="276999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개인계약 메뉴 정리 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타 </a:t>
            </a:r>
            <a:r>
              <a:rPr lang="ko-KR" altLang="en-US" sz="1200" dirty="0" err="1">
                <a:solidFill>
                  <a:schemeClr val="bg1"/>
                </a:solidFill>
              </a:rPr>
              <a:t>메뉴탭과</a:t>
            </a:r>
            <a:r>
              <a:rPr lang="ko-KR" altLang="en-US" sz="1200" dirty="0">
                <a:solidFill>
                  <a:schemeClr val="bg1"/>
                </a:solidFill>
              </a:rPr>
              <a:t> 통합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삭제 예정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9755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15438" y="693907"/>
            <a:ext cx="72106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개인 신규 계약</a:t>
            </a:r>
            <a:r>
              <a:rPr lang="en-US" altLang="ko-KR" sz="1200" b="1" dirty="0"/>
              <a:t>  : 1) </a:t>
            </a:r>
            <a:r>
              <a:rPr lang="ko-KR" altLang="en-US" sz="1200" b="1" dirty="0"/>
              <a:t>회원정보 등록 → </a:t>
            </a:r>
            <a:r>
              <a:rPr lang="en-US" altLang="ko-KR" sz="1200" b="1" dirty="0"/>
              <a:t>2) </a:t>
            </a:r>
            <a:r>
              <a:rPr lang="ko-KR" altLang="en-US" sz="1200" b="1" dirty="0"/>
              <a:t>하단 </a:t>
            </a:r>
            <a:r>
              <a:rPr lang="en-US" altLang="ko-KR" sz="1200" b="1" dirty="0"/>
              <a:t>[</a:t>
            </a:r>
            <a:r>
              <a:rPr lang="ko-KR" altLang="en-US" sz="1200" b="1" dirty="0"/>
              <a:t>계약이력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탭 → </a:t>
            </a:r>
            <a:r>
              <a:rPr lang="en-US" altLang="ko-KR" sz="1200" b="1" dirty="0"/>
              <a:t>[</a:t>
            </a:r>
            <a:r>
              <a:rPr lang="ko-KR" altLang="en-US" sz="1200" b="1" dirty="0"/>
              <a:t>개인계약 추가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버튼을 눌러서 처리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718" y="1231546"/>
            <a:ext cx="6670929" cy="399268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283849" y="4955857"/>
            <a:ext cx="489485" cy="115282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924" y="970906"/>
            <a:ext cx="5913044" cy="4762462"/>
          </a:xfrm>
          <a:prstGeom prst="rect">
            <a:avLst/>
          </a:prstGeom>
        </p:spPr>
      </p:pic>
      <p:cxnSp>
        <p:nvCxnSpPr>
          <p:cNvPr id="7" name="꺾인 연결선 6"/>
          <p:cNvCxnSpPr>
            <a:stCxn id="5" idx="0"/>
          </p:cNvCxnSpPr>
          <p:nvPr/>
        </p:nvCxnSpPr>
        <p:spPr>
          <a:xfrm rot="5400000" flipH="1" flipV="1">
            <a:off x="1790393" y="3850992"/>
            <a:ext cx="843064" cy="1366666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3051797" y="2030026"/>
            <a:ext cx="5745440" cy="359924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898397" y="2927961"/>
            <a:ext cx="646406" cy="19273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600" dirty="0">
                <a:solidFill>
                  <a:schemeClr val="tx1"/>
                </a:solidFill>
              </a:rPr>
              <a:t>금액산정방법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645" y="3261039"/>
            <a:ext cx="8739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[</a:t>
            </a:r>
            <a:r>
              <a:rPr lang="ko-KR" altLang="en-US" sz="800" b="1" dirty="0"/>
              <a:t>기준금액계산</a:t>
            </a:r>
            <a:r>
              <a:rPr lang="en-US" altLang="ko-KR" sz="800" b="1" dirty="0"/>
              <a:t>]</a:t>
            </a:r>
            <a:endParaRPr lang="ko-KR" altLang="en-US" sz="800" b="1" dirty="0"/>
          </a:p>
        </p:txBody>
      </p:sp>
      <p:sp>
        <p:nvSpPr>
          <p:cNvPr id="15" name="직사각형 14"/>
          <p:cNvSpPr/>
          <p:nvPr/>
        </p:nvSpPr>
        <p:spPr>
          <a:xfrm>
            <a:off x="4899999" y="4914337"/>
            <a:ext cx="700305" cy="19287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600" dirty="0">
                <a:solidFill>
                  <a:schemeClr val="tx1"/>
                </a:solidFill>
              </a:rPr>
              <a:t>매출 구분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4818409" y="4863946"/>
            <a:ext cx="163180" cy="146122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818409" y="2070351"/>
            <a:ext cx="163180" cy="146122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756216" y="2955254"/>
            <a:ext cx="163180" cy="146122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7065957" y="3430100"/>
            <a:ext cx="293508" cy="153370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2-2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853334" y="4507756"/>
            <a:ext cx="163180" cy="146122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73148" y="610173"/>
            <a:ext cx="2520242" cy="7478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회사정보 자동 연동</a:t>
            </a:r>
            <a:endParaRPr lang="en-US" altLang="ko-KR" sz="11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pPr lvl="0"/>
            <a:r>
              <a:rPr lang="ko-KR" altLang="en-US" sz="800" dirty="0"/>
              <a:t>해당 회원의 회사 정보에 입력된</a:t>
            </a:r>
            <a:endParaRPr lang="en-US" altLang="ko-KR" sz="800" dirty="0"/>
          </a:p>
          <a:p>
            <a:pPr lvl="0"/>
            <a:r>
              <a:rPr lang="ko-KR" altLang="en-US" sz="800" dirty="0"/>
              <a:t>세금계산서 정보 자동 인서트</a:t>
            </a:r>
            <a:endParaRPr lang="en-US" altLang="ko-KR" sz="800" dirty="0"/>
          </a:p>
          <a:p>
            <a:pPr lvl="0"/>
            <a:endParaRPr lang="en-US" altLang="ko-KR" sz="800" dirty="0"/>
          </a:p>
          <a:p>
            <a:pPr lvl="0"/>
            <a:r>
              <a:rPr lang="ko-KR" altLang="en-US" sz="800" dirty="0"/>
              <a:t>단</a:t>
            </a:r>
            <a:r>
              <a:rPr lang="en-US" altLang="ko-KR" sz="800" dirty="0"/>
              <a:t>, </a:t>
            </a:r>
            <a:r>
              <a:rPr lang="ko-KR" altLang="en-US" sz="800" dirty="0"/>
              <a:t>이 화면에서 수정 가능해야 함</a:t>
            </a:r>
            <a:endParaRPr lang="en-US" altLang="ko-KR" sz="800" dirty="0"/>
          </a:p>
          <a:p>
            <a:pPr lvl="0"/>
            <a:r>
              <a:rPr lang="en-US" altLang="ko-KR" sz="800" dirty="0"/>
              <a:t>(</a:t>
            </a:r>
            <a:r>
              <a:rPr lang="ko-KR" altLang="en-US" sz="800" dirty="0"/>
              <a:t>회사 정보로 업데이트 되지 않고</a:t>
            </a:r>
            <a:r>
              <a:rPr lang="en-US" altLang="ko-KR" sz="800" dirty="0"/>
              <a:t>,</a:t>
            </a:r>
          </a:p>
          <a:p>
            <a:pPr lvl="0"/>
            <a:r>
              <a:rPr lang="ko-KR" altLang="en-US" sz="800" dirty="0"/>
              <a:t>이번 계약차수의 정보로만 저장함</a:t>
            </a:r>
            <a:r>
              <a:rPr lang="en-US" altLang="ko-KR" sz="800" dirty="0"/>
              <a:t>)</a:t>
            </a:r>
            <a:endParaRPr lang="ko-KR" altLang="en-US" sz="800" dirty="0"/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금액산정방법 추가</a:t>
            </a:r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신설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endParaRPr lang="en-US" altLang="ko-KR" sz="800" dirty="0"/>
          </a:p>
          <a:p>
            <a:r>
              <a:rPr lang="ko-KR" altLang="en-US" sz="800" dirty="0"/>
              <a:t>정가</a:t>
            </a:r>
            <a:r>
              <a:rPr lang="en-US" altLang="ko-KR" sz="800" dirty="0"/>
              <a:t>/</a:t>
            </a:r>
            <a:r>
              <a:rPr lang="ko-KR" altLang="en-US" sz="800" dirty="0" err="1"/>
              <a:t>일할계산</a:t>
            </a:r>
            <a:r>
              <a:rPr lang="en-US" altLang="ko-KR" sz="800" dirty="0"/>
              <a:t>/</a:t>
            </a:r>
            <a:r>
              <a:rPr lang="ko-KR" altLang="en-US" sz="800" dirty="0" err="1"/>
              <a:t>턴키</a:t>
            </a:r>
            <a:r>
              <a:rPr lang="ko-KR" altLang="en-US" sz="800" dirty="0"/>
              <a:t> 중 선택할 수 있도록 함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b="1" dirty="0">
                <a:solidFill>
                  <a:srgbClr val="00B0F0"/>
                </a:solidFill>
              </a:rPr>
              <a:t>[2-1] </a:t>
            </a:r>
            <a:r>
              <a:rPr lang="ko-KR" altLang="en-US" sz="800" b="1" dirty="0">
                <a:solidFill>
                  <a:srgbClr val="00B0F0"/>
                </a:solidFill>
              </a:rPr>
              <a:t>산정 사유 </a:t>
            </a:r>
            <a:r>
              <a:rPr lang="en-US" altLang="ko-KR" sz="800" b="1" dirty="0">
                <a:solidFill>
                  <a:srgbClr val="00B0F0"/>
                </a:solidFill>
              </a:rPr>
              <a:t>(</a:t>
            </a:r>
            <a:r>
              <a:rPr lang="ko-KR" altLang="en-US" sz="800" b="1" dirty="0">
                <a:solidFill>
                  <a:srgbClr val="00B0F0"/>
                </a:solidFill>
              </a:rPr>
              <a:t>신설</a:t>
            </a:r>
            <a:r>
              <a:rPr lang="en-US" altLang="ko-KR" sz="800" b="1" dirty="0">
                <a:solidFill>
                  <a:srgbClr val="00B0F0"/>
                </a:solidFill>
              </a:rPr>
              <a:t>)</a:t>
            </a: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/>
              <a:t>[2]</a:t>
            </a:r>
            <a:r>
              <a:rPr lang="ko-KR" altLang="en-US" sz="800" dirty="0"/>
              <a:t>의 </a:t>
            </a:r>
            <a:r>
              <a:rPr lang="ko-KR" altLang="en-US" sz="800" dirty="0" err="1"/>
              <a:t>선택값이</a:t>
            </a:r>
            <a:r>
              <a:rPr lang="ko-KR" altLang="en-US" sz="800" dirty="0"/>
              <a:t> </a:t>
            </a:r>
            <a:r>
              <a:rPr lang="en-US" altLang="ko-KR" sz="800" dirty="0"/>
              <a:t>“</a:t>
            </a:r>
            <a:r>
              <a:rPr lang="ko-KR" altLang="en-US" sz="800" dirty="0"/>
              <a:t>특별할인</a:t>
            </a:r>
            <a:r>
              <a:rPr lang="en-US" altLang="ko-KR" sz="800" dirty="0"/>
              <a:t>＂</a:t>
            </a:r>
            <a:r>
              <a:rPr lang="ko-KR" altLang="en-US" sz="800" dirty="0"/>
              <a:t>인 경우</a:t>
            </a:r>
            <a:endParaRPr lang="en-US" altLang="ko-KR" sz="800" dirty="0"/>
          </a:p>
          <a:p>
            <a:r>
              <a:rPr lang="ko-KR" altLang="en-US" sz="800" dirty="0"/>
              <a:t>필수 </a:t>
            </a:r>
            <a:r>
              <a:rPr lang="ko-KR" altLang="en-US" sz="800" dirty="0" err="1"/>
              <a:t>입력값이어야</a:t>
            </a:r>
            <a:r>
              <a:rPr lang="ko-KR" altLang="en-US" sz="800" dirty="0"/>
              <a:t> 함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 err="1"/>
              <a:t>미입력</a:t>
            </a:r>
            <a:r>
              <a:rPr lang="ko-KR" altLang="en-US" sz="800" dirty="0"/>
              <a:t> 후 저장 버튼 클릭 시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/>
              <a:t>“</a:t>
            </a:r>
            <a:r>
              <a:rPr lang="ko-KR" altLang="en-US" sz="800" dirty="0"/>
              <a:t>특별할인은 산정 사유를 반드시 입력해야 합니다</a:t>
            </a:r>
            <a:r>
              <a:rPr lang="en-US" altLang="ko-KR" sz="800" dirty="0"/>
              <a:t>.”</a:t>
            </a:r>
          </a:p>
          <a:p>
            <a:r>
              <a:rPr lang="ko-KR" altLang="en-US" sz="800" dirty="0" err="1"/>
              <a:t>얼럿</a:t>
            </a:r>
            <a:r>
              <a:rPr lang="ko-KR" altLang="en-US" sz="800" dirty="0"/>
              <a:t> 메시지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b="1" dirty="0">
                <a:solidFill>
                  <a:srgbClr val="00B0F0"/>
                </a:solidFill>
              </a:rPr>
              <a:t>[2-2] </a:t>
            </a:r>
            <a:r>
              <a:rPr lang="ko-KR" altLang="en-US" sz="800" b="1" dirty="0">
                <a:solidFill>
                  <a:srgbClr val="00B0F0"/>
                </a:solidFill>
              </a:rPr>
              <a:t>기준금액계산</a:t>
            </a:r>
            <a:r>
              <a:rPr lang="en-US" altLang="ko-KR" sz="800" b="1" dirty="0">
                <a:solidFill>
                  <a:srgbClr val="00B0F0"/>
                </a:solidFill>
              </a:rPr>
              <a:t>(</a:t>
            </a:r>
            <a:r>
              <a:rPr lang="ko-KR" altLang="en-US" sz="800" b="1" dirty="0">
                <a:solidFill>
                  <a:srgbClr val="00B0F0"/>
                </a:solidFill>
              </a:rPr>
              <a:t>신설</a:t>
            </a:r>
            <a:r>
              <a:rPr lang="en-US" altLang="ko-KR" sz="800" b="1" dirty="0">
                <a:solidFill>
                  <a:srgbClr val="00B0F0"/>
                </a:solidFill>
              </a:rPr>
              <a:t>)</a:t>
            </a: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/>
              <a:t>[2]</a:t>
            </a:r>
            <a:r>
              <a:rPr lang="ko-KR" altLang="en-US" sz="800" dirty="0"/>
              <a:t>에서 선택한 방법에 맞게 금액 </a:t>
            </a:r>
            <a:r>
              <a:rPr lang="ko-KR" altLang="en-US" sz="800" dirty="0" err="1"/>
              <a:t>재산정</a:t>
            </a:r>
            <a:endParaRPr lang="en-US" altLang="ko-KR" sz="800" dirty="0"/>
          </a:p>
          <a:p>
            <a:endParaRPr lang="en-US" altLang="ko-KR" sz="800" dirty="0"/>
          </a:p>
          <a:p>
            <a:pPr lvl="0"/>
            <a:br>
              <a:rPr lang="en-US" altLang="ko-KR" sz="800" dirty="0"/>
            </a:br>
            <a:r>
              <a:rPr lang="en-US" altLang="ko-KR" sz="1000" b="1" dirty="0">
                <a:solidFill>
                  <a:srgbClr val="00B0F0"/>
                </a:solidFill>
              </a:rPr>
              <a:t>[3]</a:t>
            </a:r>
            <a:r>
              <a:rPr lang="ko-KR" altLang="en-US" sz="1000" b="1" dirty="0">
                <a:solidFill>
                  <a:srgbClr val="00B0F0"/>
                </a:solidFill>
              </a:rPr>
              <a:t> 매출 관리 </a:t>
            </a:r>
            <a:r>
              <a:rPr lang="en-US" altLang="ko-KR" sz="1000" b="1" dirty="0">
                <a:solidFill>
                  <a:srgbClr val="FF0000"/>
                </a:solidFill>
              </a:rPr>
              <a:t>(</a:t>
            </a:r>
            <a:r>
              <a:rPr lang="ko-KR" altLang="en-US" sz="1000" b="1" dirty="0">
                <a:solidFill>
                  <a:srgbClr val="FF0000"/>
                </a:solidFill>
              </a:rPr>
              <a:t>실행하지 않음</a:t>
            </a:r>
            <a:r>
              <a:rPr lang="en-US" altLang="ko-KR" sz="1000" b="1" dirty="0">
                <a:solidFill>
                  <a:srgbClr val="FF0000"/>
                </a:solidFill>
              </a:rPr>
              <a:t>)</a:t>
            </a:r>
          </a:p>
          <a:p>
            <a:pPr lvl="0"/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r>
              <a:rPr lang="ko-KR" altLang="en-US" sz="800" dirty="0"/>
              <a:t>매출 승인 요청 프로세스 신설</a:t>
            </a:r>
            <a:endParaRPr lang="en-US" altLang="ko-KR" sz="800" dirty="0"/>
          </a:p>
          <a:p>
            <a:pPr lvl="0"/>
            <a:endParaRPr lang="en-US" altLang="ko-KR" sz="800" dirty="0">
              <a:solidFill>
                <a:srgbClr val="FF0000"/>
              </a:solidFill>
            </a:endParaRPr>
          </a:p>
          <a:p>
            <a:pPr lvl="0"/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승인 완료 시 </a:t>
            </a:r>
            <a:r>
              <a:rPr lang="en-US" altLang="ko-KR" sz="800" dirty="0">
                <a:solidFill>
                  <a:srgbClr val="FF0000"/>
                </a:solidFill>
              </a:rPr>
              <a:t>MIS </a:t>
            </a:r>
            <a:r>
              <a:rPr lang="ko-KR" altLang="en-US" sz="800" dirty="0">
                <a:solidFill>
                  <a:srgbClr val="FF0000"/>
                </a:solidFill>
              </a:rPr>
              <a:t>매출 연동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</a:p>
          <a:p>
            <a:pPr lvl="0"/>
            <a:r>
              <a:rPr lang="en-US" altLang="ko-KR" sz="800" dirty="0">
                <a:solidFill>
                  <a:srgbClr val="FF0000"/>
                </a:solidFill>
              </a:rPr>
              <a:t>MIS </a:t>
            </a:r>
            <a:r>
              <a:rPr lang="ko-KR" altLang="en-US" sz="800" dirty="0">
                <a:solidFill>
                  <a:srgbClr val="FF0000"/>
                </a:solidFill>
              </a:rPr>
              <a:t>매출 연동 시 계약 마스터 정보만 연동됨</a:t>
            </a:r>
            <a:endParaRPr lang="en-US" altLang="ko-KR" sz="800" dirty="0">
              <a:solidFill>
                <a:srgbClr val="FF0000"/>
              </a:solidFill>
            </a:endParaRPr>
          </a:p>
          <a:p>
            <a:pPr lvl="0"/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상세 내용 </a:t>
            </a:r>
            <a:r>
              <a:rPr lang="en-US" altLang="ko-KR" sz="800" dirty="0">
                <a:solidFill>
                  <a:srgbClr val="FF0000"/>
                </a:solidFill>
              </a:rPr>
              <a:t>: </a:t>
            </a:r>
            <a:r>
              <a:rPr lang="ko-KR" altLang="en-US" sz="800" dirty="0">
                <a:solidFill>
                  <a:srgbClr val="FF0000"/>
                </a:solidFill>
              </a:rPr>
              <a:t>매출 </a:t>
            </a:r>
            <a:r>
              <a:rPr lang="en-US" altLang="ko-KR" sz="800" dirty="0">
                <a:solidFill>
                  <a:srgbClr val="FF0000"/>
                </a:solidFill>
              </a:rPr>
              <a:t>&gt; </a:t>
            </a:r>
            <a:r>
              <a:rPr lang="ko-KR" altLang="en-US" sz="800" dirty="0">
                <a:solidFill>
                  <a:srgbClr val="FF0000"/>
                </a:solidFill>
              </a:rPr>
              <a:t>매출승인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</a:p>
          <a:p>
            <a:endParaRPr lang="en-US" altLang="ko-KR" sz="800" dirty="0">
              <a:solidFill>
                <a:srgbClr val="FF0000"/>
              </a:solidFill>
            </a:endParaRPr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>
                <a:solidFill>
                  <a:srgbClr val="00B0F0"/>
                </a:solidFill>
              </a:rPr>
              <a:t>매출 구분</a:t>
            </a:r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신설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pPr lvl="0"/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r>
              <a:rPr lang="ko-KR" altLang="en-US" sz="800" dirty="0">
                <a:solidFill>
                  <a:prstClr val="black"/>
                </a:solidFill>
              </a:rPr>
              <a:t>기본값 </a:t>
            </a:r>
            <a:r>
              <a:rPr lang="en-US" altLang="ko-KR" sz="800" dirty="0">
                <a:solidFill>
                  <a:prstClr val="black"/>
                </a:solidFill>
              </a:rPr>
              <a:t>: </a:t>
            </a:r>
            <a:r>
              <a:rPr lang="ko-KR" altLang="en-US" sz="800" dirty="0" err="1">
                <a:solidFill>
                  <a:prstClr val="black"/>
                </a:solidFill>
              </a:rPr>
              <a:t>실매출</a:t>
            </a:r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r>
              <a:rPr lang="ko-KR" altLang="en-US" sz="800" dirty="0">
                <a:solidFill>
                  <a:prstClr val="black"/>
                </a:solidFill>
              </a:rPr>
              <a:t>매출 현황 집계 </a:t>
            </a:r>
            <a:r>
              <a:rPr lang="ko-KR" altLang="en-US" sz="800" dirty="0" err="1">
                <a:solidFill>
                  <a:prstClr val="black"/>
                </a:solidFill>
              </a:rPr>
              <a:t>조회시</a:t>
            </a:r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r>
              <a:rPr lang="ko-KR" altLang="en-US" sz="800" dirty="0" err="1">
                <a:solidFill>
                  <a:prstClr val="black"/>
                </a:solidFill>
              </a:rPr>
              <a:t>실매출</a:t>
            </a:r>
            <a:r>
              <a:rPr lang="en-US" altLang="ko-KR" sz="800" dirty="0">
                <a:solidFill>
                  <a:prstClr val="black"/>
                </a:solidFill>
              </a:rPr>
              <a:t>, </a:t>
            </a:r>
            <a:r>
              <a:rPr lang="ko-KR" altLang="en-US" sz="800" dirty="0">
                <a:solidFill>
                  <a:prstClr val="black"/>
                </a:solidFill>
              </a:rPr>
              <a:t>배분매출 구분하여 검색 가능</a:t>
            </a:r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endParaRPr lang="en-US" altLang="ko-KR" sz="800" dirty="0">
              <a:solidFill>
                <a:srgbClr val="FF0000"/>
              </a:solidFill>
            </a:endParaRPr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[5] </a:t>
            </a:r>
            <a:r>
              <a:rPr lang="ko-KR" altLang="en-US" sz="1000" b="1" dirty="0">
                <a:solidFill>
                  <a:srgbClr val="00B0F0"/>
                </a:solidFill>
              </a:rPr>
              <a:t>삭제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r>
              <a:rPr lang="ko-KR" altLang="en-US" sz="800" dirty="0">
                <a:solidFill>
                  <a:prstClr val="black"/>
                </a:solidFill>
              </a:rPr>
              <a:t>결제주체 전체 삭제</a:t>
            </a:r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[6] </a:t>
            </a:r>
            <a:r>
              <a:rPr lang="ko-KR" altLang="en-US" sz="1000" b="1" dirty="0">
                <a:solidFill>
                  <a:srgbClr val="00B0F0"/>
                </a:solidFill>
              </a:rPr>
              <a:t>계약 증빙 </a:t>
            </a:r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추가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pPr lvl="0"/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r>
              <a:rPr lang="ko-KR" altLang="en-US" sz="800" dirty="0" err="1">
                <a:solidFill>
                  <a:srgbClr val="FF0000"/>
                </a:solidFill>
              </a:rPr>
              <a:t>계약번호</a:t>
            </a:r>
            <a:r>
              <a:rPr lang="ko-KR" altLang="en-US" sz="800" dirty="0">
                <a:solidFill>
                  <a:srgbClr val="FF0000"/>
                </a:solidFill>
              </a:rPr>
              <a:t> 혹은 증빙서류를 업로드함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개인 계약의 경우 </a:t>
            </a:r>
            <a:r>
              <a:rPr lang="ko-KR" altLang="en-US" sz="800" dirty="0" err="1">
                <a:solidFill>
                  <a:srgbClr val="FF0000"/>
                </a:solidFill>
              </a:rPr>
              <a:t>선택값임</a:t>
            </a:r>
            <a:r>
              <a:rPr lang="ko-KR" altLang="en-US" sz="800" dirty="0">
                <a:solidFill>
                  <a:srgbClr val="FF0000"/>
                </a:solidFill>
              </a:rPr>
              <a:t> </a:t>
            </a:r>
            <a:br>
              <a:rPr lang="en-US" altLang="ko-KR" sz="800" dirty="0">
                <a:solidFill>
                  <a:srgbClr val="FF0000"/>
                </a:solidFill>
              </a:rPr>
            </a:br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둘다 등록이 </a:t>
            </a:r>
            <a:r>
              <a:rPr lang="ko-KR" altLang="en-US" sz="800" dirty="0" err="1">
                <a:solidFill>
                  <a:srgbClr val="FF0000"/>
                </a:solidFill>
              </a:rPr>
              <a:t>안되도</a:t>
            </a:r>
            <a:r>
              <a:rPr lang="ko-KR" altLang="en-US" sz="800" dirty="0">
                <a:solidFill>
                  <a:srgbClr val="FF0000"/>
                </a:solidFill>
              </a:rPr>
              <a:t> 무방함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</a:p>
          <a:p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조회화면에서는 등록된 값이 있을 경우  </a:t>
            </a:r>
            <a:br>
              <a:rPr lang="en-US" altLang="ko-KR" sz="800" dirty="0">
                <a:solidFill>
                  <a:srgbClr val="FF0000"/>
                </a:solidFill>
              </a:rPr>
            </a:br>
            <a:r>
              <a:rPr lang="ko-KR" altLang="en-US" sz="800" dirty="0" err="1">
                <a:solidFill>
                  <a:srgbClr val="FF0000"/>
                </a:solidFill>
              </a:rPr>
              <a:t>계약번호</a:t>
            </a:r>
            <a:r>
              <a:rPr lang="ko-KR" altLang="en-US" sz="800" dirty="0">
                <a:solidFill>
                  <a:srgbClr val="FF0000"/>
                </a:solidFill>
              </a:rPr>
              <a:t> 혹은 업로드한 파일명이 노출</a:t>
            </a:r>
            <a:endParaRPr lang="en-US" altLang="ko-KR" sz="800" dirty="0">
              <a:solidFill>
                <a:prstClr val="black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84702" y="4891302"/>
            <a:ext cx="12923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● </a:t>
            </a:r>
            <a:r>
              <a:rPr lang="ko-KR" altLang="en-US" sz="800" dirty="0" err="1"/>
              <a:t>실매출</a:t>
            </a:r>
            <a:r>
              <a:rPr lang="ko-KR" altLang="en-US" sz="800" dirty="0"/>
              <a:t>   ○ 배분매출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 신규 계약 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 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개인계약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CRM_03_001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6890761" y="2723028"/>
            <a:ext cx="1811538" cy="185609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819559" y="2699116"/>
            <a:ext cx="163180" cy="146122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5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3047189" y="4354812"/>
            <a:ext cx="4013622" cy="322515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8077" y="5725899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/>
              <a:t>◎ 매출 관리</a:t>
            </a:r>
          </a:p>
        </p:txBody>
      </p:sp>
      <p:cxnSp>
        <p:nvCxnSpPr>
          <p:cNvPr id="20" name="꺾인 연결선 19"/>
          <p:cNvCxnSpPr/>
          <p:nvPr/>
        </p:nvCxnSpPr>
        <p:spPr>
          <a:xfrm rot="5400000">
            <a:off x="3016812" y="4719386"/>
            <a:ext cx="1348880" cy="1217862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616033"/>
              </p:ext>
            </p:extLst>
          </p:nvPr>
        </p:nvGraphicFramePr>
        <p:xfrm>
          <a:off x="6919396" y="3142583"/>
          <a:ext cx="2041022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6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77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산정 사유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7548870" y="2153543"/>
            <a:ext cx="1504037" cy="9402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t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선택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정가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일할계산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특별할인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7586403" y="3170222"/>
            <a:ext cx="1279075" cy="1575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6691052" y="3169277"/>
            <a:ext cx="293508" cy="153370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2-1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190647"/>
              </p:ext>
            </p:extLst>
          </p:nvPr>
        </p:nvGraphicFramePr>
        <p:xfrm>
          <a:off x="753241" y="6021736"/>
          <a:ext cx="4402419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5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60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매출 승인</a:t>
                      </a:r>
                      <a:endParaRPr lang="ko-KR" altLang="en-US" sz="7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/>
                        <a:t>                       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결재 상신되며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완료 시 </a:t>
                      </a:r>
                      <a:r>
                        <a:rPr lang="en-US" altLang="ko-KR" sz="800" dirty="0"/>
                        <a:t>MIS </a:t>
                      </a:r>
                      <a:r>
                        <a:rPr lang="ko-KR" altLang="en-US" sz="800" dirty="0"/>
                        <a:t>정산에 연동됩니다</a:t>
                      </a:r>
                      <a:r>
                        <a:rPr lang="en-US" altLang="ko-KR" sz="800" dirty="0"/>
                        <a:t>.)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모서리가 둥근 직사각형 37"/>
          <p:cNvSpPr/>
          <p:nvPr/>
        </p:nvSpPr>
        <p:spPr>
          <a:xfrm>
            <a:off x="1489998" y="6045549"/>
            <a:ext cx="721927" cy="16573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승인 요청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7850602" y="240332"/>
            <a:ext cx="3968151" cy="997562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r>
              <a:rPr lang="en-US" altLang="ko-KR" sz="1200" b="1" dirty="0">
                <a:solidFill>
                  <a:schemeClr val="tx1"/>
                </a:solidFill>
              </a:rPr>
              <a:t>  [3] </a:t>
            </a:r>
            <a:r>
              <a:rPr lang="ko-KR" altLang="en-US" sz="1200" b="1" dirty="0" err="1">
                <a:solidFill>
                  <a:schemeClr val="tx1"/>
                </a:solidFill>
              </a:rPr>
              <a:t>매출관리</a:t>
            </a:r>
            <a:r>
              <a:rPr lang="ko-KR" altLang="en-US" sz="1200" b="1" dirty="0">
                <a:solidFill>
                  <a:schemeClr val="tx1"/>
                </a:solidFill>
              </a:rPr>
              <a:t> 기능 추가 보류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b="1" dirty="0">
              <a:solidFill>
                <a:schemeClr val="tx1"/>
              </a:solidFill>
            </a:endParaRPr>
          </a:p>
          <a:p>
            <a:r>
              <a:rPr lang="en-US" altLang="ko-KR" sz="1200" b="1" dirty="0">
                <a:solidFill>
                  <a:srgbClr val="FF0000"/>
                </a:solidFill>
              </a:rPr>
              <a:t>[</a:t>
            </a:r>
            <a:r>
              <a:rPr lang="ko-KR" altLang="en-US" sz="1200" b="1" dirty="0">
                <a:solidFill>
                  <a:srgbClr val="FF0000"/>
                </a:solidFill>
              </a:rPr>
              <a:t>수정사항</a:t>
            </a:r>
            <a:r>
              <a:rPr lang="en-US" altLang="ko-KR" sz="1200" b="1" dirty="0">
                <a:solidFill>
                  <a:srgbClr val="FF0000"/>
                </a:solidFill>
              </a:rPr>
              <a:t>] 24.5.07</a:t>
            </a:r>
          </a:p>
          <a:p>
            <a:r>
              <a:rPr lang="en-US" altLang="ko-KR" sz="1200" b="1" dirty="0">
                <a:solidFill>
                  <a:srgbClr val="FF0000"/>
                </a:solidFill>
              </a:rPr>
              <a:t>  [6] </a:t>
            </a:r>
            <a:r>
              <a:rPr lang="ko-KR" altLang="en-US" sz="1200" b="1" dirty="0" err="1">
                <a:solidFill>
                  <a:srgbClr val="FF0000"/>
                </a:solidFill>
              </a:rPr>
              <a:t>계약증빙</a:t>
            </a:r>
            <a:r>
              <a:rPr lang="ko-KR" altLang="en-US" sz="1200" b="1" dirty="0">
                <a:solidFill>
                  <a:srgbClr val="FF0000"/>
                </a:solidFill>
              </a:rPr>
              <a:t> 내용 추가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4194501" y="3369068"/>
            <a:ext cx="5123430" cy="5337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데이터 필드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</a:rPr>
              <a:t>금액산정방법 </a:t>
            </a:r>
            <a:r>
              <a:rPr lang="en-US" altLang="ko-KR" sz="1200" b="1" dirty="0">
                <a:solidFill>
                  <a:schemeClr val="tx1"/>
                </a:solidFill>
              </a:rPr>
              <a:t>– </a:t>
            </a:r>
            <a:r>
              <a:rPr lang="ko-KR" altLang="en-US" sz="1200" b="1" dirty="0" err="1">
                <a:solidFill>
                  <a:schemeClr val="tx1"/>
                </a:solidFill>
              </a:rPr>
              <a:t>산정사유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en-US" altLang="ko-KR" sz="1200" b="1" dirty="0" err="1">
                <a:solidFill>
                  <a:schemeClr val="tx1"/>
                </a:solidFill>
              </a:rPr>
              <a:t>a_sign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테이블의 </a:t>
            </a:r>
            <a:r>
              <a:rPr lang="en-US" altLang="ko-KR" sz="1200" b="1" dirty="0">
                <a:solidFill>
                  <a:schemeClr val="tx1"/>
                </a:solidFill>
              </a:rPr>
              <a:t>etc2_note </a:t>
            </a:r>
            <a:r>
              <a:rPr lang="ko-KR" altLang="en-US" sz="1200" b="1" dirty="0">
                <a:solidFill>
                  <a:schemeClr val="tx1"/>
                </a:solidFill>
              </a:rPr>
              <a:t>필드 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 err="1">
                <a:solidFill>
                  <a:schemeClr val="tx1"/>
                </a:solidFill>
              </a:rPr>
              <a:t>신규생성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graphicFrame>
        <p:nvGraphicFramePr>
          <p:cNvPr id="39" name="표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928918"/>
              </p:ext>
            </p:extLst>
          </p:nvPr>
        </p:nvGraphicFramePr>
        <p:xfrm>
          <a:off x="3770376" y="4257671"/>
          <a:ext cx="5835477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3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30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72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60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계약번호</a:t>
                      </a:r>
                      <a:endParaRPr lang="ko-KR" altLang="en-US" sz="7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증빙 파일 업로드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" name="직사각형 39"/>
          <p:cNvSpPr/>
          <p:nvPr/>
        </p:nvSpPr>
        <p:spPr>
          <a:xfrm>
            <a:off x="3553492" y="4288099"/>
            <a:ext cx="163180" cy="146122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6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4976051" y="4479494"/>
            <a:ext cx="4629802" cy="69650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데이터 필드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ko-KR" altLang="en-US" sz="1200" b="1" dirty="0" err="1">
                <a:solidFill>
                  <a:schemeClr val="tx1"/>
                </a:solidFill>
              </a:rPr>
              <a:t>계약번호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en-US" altLang="ko-KR" sz="1200" b="1" dirty="0" err="1">
                <a:solidFill>
                  <a:schemeClr val="tx1"/>
                </a:solidFill>
              </a:rPr>
              <a:t>a_sign_acc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테이블의 </a:t>
            </a:r>
            <a:r>
              <a:rPr lang="en-US" altLang="ko-KR" sz="1200" b="1" dirty="0" err="1">
                <a:solidFill>
                  <a:schemeClr val="tx1"/>
                </a:solidFill>
              </a:rPr>
              <a:t>contract_no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필드 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 err="1">
                <a:solidFill>
                  <a:schemeClr val="tx1"/>
                </a:solidFill>
              </a:rPr>
              <a:t>신규생성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r>
              <a:rPr lang="ko-KR" altLang="en-US" sz="1200" b="1" dirty="0" err="1">
                <a:solidFill>
                  <a:schemeClr val="tx1"/>
                </a:solidFill>
              </a:rPr>
              <a:t>증빙파일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en-US" altLang="ko-KR" sz="1200" b="1" dirty="0" err="1">
                <a:solidFill>
                  <a:schemeClr val="tx1"/>
                </a:solidFill>
              </a:rPr>
              <a:t>a_sign_acc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테이블의 </a:t>
            </a:r>
            <a:br>
              <a:rPr lang="en-US" altLang="ko-KR" sz="1200" b="1" dirty="0">
                <a:solidFill>
                  <a:schemeClr val="tx1"/>
                </a:solidFill>
              </a:rPr>
            </a:br>
            <a:r>
              <a:rPr lang="en-US" altLang="ko-KR" sz="1200" b="1" dirty="0">
                <a:solidFill>
                  <a:schemeClr val="tx1"/>
                </a:solidFill>
              </a:rPr>
              <a:t>            </a:t>
            </a:r>
            <a:r>
              <a:rPr lang="en-US" altLang="ko-KR" sz="1200" b="1" dirty="0" err="1">
                <a:solidFill>
                  <a:schemeClr val="tx1"/>
                </a:solidFill>
              </a:rPr>
              <a:t>contract_filename</a:t>
            </a:r>
            <a:r>
              <a:rPr lang="en-US" altLang="ko-KR" sz="1200" b="1" dirty="0">
                <a:solidFill>
                  <a:schemeClr val="tx1"/>
                </a:solidFill>
              </a:rPr>
              <a:t> , </a:t>
            </a:r>
            <a:r>
              <a:rPr lang="en-US" altLang="ko-KR" sz="1200" b="1" dirty="0" err="1">
                <a:solidFill>
                  <a:schemeClr val="tx1"/>
                </a:solidFill>
              </a:rPr>
              <a:t>contract_filepath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필드 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 err="1">
                <a:solidFill>
                  <a:schemeClr val="tx1"/>
                </a:solidFill>
              </a:rPr>
              <a:t>신규생성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384846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1" y="802293"/>
            <a:ext cx="5913044" cy="4762462"/>
          </a:xfrm>
          <a:prstGeom prst="rect">
            <a:avLst/>
          </a:prstGeom>
        </p:spPr>
      </p:pic>
      <p:sp>
        <p:nvSpPr>
          <p:cNvPr id="26" name="직사각형 25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 신규 계약 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 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개인계약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CRM_03_001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14941" y="3052451"/>
            <a:ext cx="2000242" cy="313319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98527" y="2536962"/>
            <a:ext cx="4395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150</a:t>
            </a:r>
          </a:p>
          <a:p>
            <a:pPr algn="ctr"/>
            <a:r>
              <a:rPr lang="en-US" altLang="ko-KR" sz="1200" dirty="0"/>
              <a:t>121</a:t>
            </a:r>
          </a:p>
          <a:p>
            <a:pPr algn="ctr"/>
            <a:r>
              <a:rPr lang="en-US" altLang="ko-KR" sz="1200" dirty="0"/>
              <a:t>110</a:t>
            </a:r>
          </a:p>
          <a:p>
            <a:pPr algn="ctr"/>
            <a:r>
              <a:rPr lang="en-US" altLang="ko-KR" sz="1200" dirty="0"/>
              <a:t>99</a:t>
            </a:r>
          </a:p>
          <a:p>
            <a:pPr algn="ctr"/>
            <a:r>
              <a:rPr lang="en-US" altLang="ko-KR" sz="1200" dirty="0"/>
              <a:t>88</a:t>
            </a:r>
          </a:p>
          <a:p>
            <a:pPr algn="ctr"/>
            <a:r>
              <a:rPr lang="en-US" altLang="ko-KR" sz="1200" dirty="0"/>
              <a:t>77</a:t>
            </a:r>
          </a:p>
          <a:p>
            <a:pPr algn="ctr"/>
            <a:r>
              <a:rPr lang="en-US" altLang="ko-KR" sz="1200" dirty="0"/>
              <a:t>66</a:t>
            </a:r>
          </a:p>
          <a:p>
            <a:pPr algn="ctr"/>
            <a:r>
              <a:rPr lang="en-US" altLang="ko-KR" sz="1200" dirty="0"/>
              <a:t>44</a:t>
            </a:r>
            <a:endParaRPr lang="ko-KR" alt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6535465" y="2541124"/>
            <a:ext cx="93647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250</a:t>
            </a:r>
            <a:r>
              <a:rPr lang="ko-KR" altLang="en-US" sz="1600" dirty="0"/>
              <a:t>만원</a:t>
            </a:r>
            <a:endParaRPr lang="en-US" altLang="ko-KR" sz="1600" dirty="0"/>
          </a:p>
          <a:p>
            <a:pPr algn="ctr"/>
            <a:r>
              <a:rPr lang="en-US" altLang="ko-KR" sz="1600" dirty="0"/>
              <a:t>184</a:t>
            </a:r>
            <a:r>
              <a:rPr lang="ko-KR" altLang="en-US" sz="1600" dirty="0"/>
              <a:t>만원</a:t>
            </a:r>
            <a:endParaRPr lang="en-US" altLang="ko-KR" sz="1600" dirty="0"/>
          </a:p>
          <a:p>
            <a:pPr algn="ctr"/>
            <a:r>
              <a:rPr lang="en-US" altLang="ko-KR" sz="1600" dirty="0"/>
              <a:t>165</a:t>
            </a:r>
            <a:r>
              <a:rPr lang="ko-KR" altLang="en-US" sz="1600" dirty="0"/>
              <a:t>만원</a:t>
            </a:r>
            <a:endParaRPr lang="en-US" altLang="ko-KR" sz="1600" dirty="0"/>
          </a:p>
          <a:p>
            <a:pPr algn="ctr"/>
            <a:r>
              <a:rPr lang="en-US" altLang="ko-KR" sz="1600" dirty="0"/>
              <a:t>132</a:t>
            </a:r>
            <a:r>
              <a:rPr lang="ko-KR" altLang="en-US" sz="1600" dirty="0"/>
              <a:t>만원</a:t>
            </a:r>
            <a:endParaRPr lang="en-US" altLang="ko-KR" sz="1600" dirty="0"/>
          </a:p>
          <a:p>
            <a:pPr algn="ctr"/>
            <a:r>
              <a:rPr lang="en-US" altLang="ko-KR" sz="1600" dirty="0"/>
              <a:t>120</a:t>
            </a:r>
            <a:r>
              <a:rPr lang="ko-KR" altLang="en-US" sz="1600" dirty="0"/>
              <a:t>만원</a:t>
            </a:r>
            <a:endParaRPr lang="en-US" altLang="ko-KR" sz="1600" dirty="0"/>
          </a:p>
          <a:p>
            <a:pPr algn="ctr"/>
            <a:r>
              <a:rPr lang="en-US" altLang="ko-KR" sz="1600" dirty="0"/>
              <a:t>100</a:t>
            </a:r>
            <a:r>
              <a:rPr lang="ko-KR" altLang="en-US" sz="1600" dirty="0"/>
              <a:t>만원</a:t>
            </a:r>
            <a:endParaRPr lang="en-US" altLang="ko-KR" sz="1600" dirty="0"/>
          </a:p>
          <a:p>
            <a:pPr algn="ctr"/>
            <a:r>
              <a:rPr lang="en-US" altLang="ko-KR" sz="1600" dirty="0"/>
              <a:t>55</a:t>
            </a:r>
            <a:r>
              <a:rPr lang="ko-KR" altLang="en-US" sz="1600" dirty="0"/>
              <a:t>만원</a:t>
            </a:r>
            <a:endParaRPr lang="en-US" altLang="ko-KR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6757481" y="194553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운영</a:t>
            </a:r>
            <a:endParaRPr lang="ko-KR" alt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7825591" y="1945531"/>
            <a:ext cx="5854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삭제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28" name="꺾인 연결선 27"/>
          <p:cNvCxnSpPr>
            <a:stCxn id="32" idx="0"/>
            <a:endCxn id="16" idx="1"/>
          </p:cNvCxnSpPr>
          <p:nvPr/>
        </p:nvCxnSpPr>
        <p:spPr>
          <a:xfrm rot="5400000" flipH="1" flipV="1">
            <a:off x="3552062" y="-152967"/>
            <a:ext cx="968419" cy="5442419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85106" y="4675599"/>
            <a:ext cx="4507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※184</a:t>
            </a:r>
            <a:r>
              <a:rPr lang="ko-KR" altLang="en-US" sz="1200" dirty="0">
                <a:solidFill>
                  <a:srgbClr val="FF0000"/>
                </a:solidFill>
              </a:rPr>
              <a:t>만원 선택 시</a:t>
            </a: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계약금   </a:t>
            </a:r>
            <a:r>
              <a:rPr lang="en-US" altLang="ko-KR" sz="1200" dirty="0">
                <a:solidFill>
                  <a:srgbClr val="FF0000"/>
                </a:solidFill>
              </a:rPr>
              <a:t>1,845,455</a:t>
            </a:r>
            <a:r>
              <a:rPr lang="ko-KR" altLang="en-US" sz="1200" dirty="0">
                <a:solidFill>
                  <a:srgbClr val="FF0000"/>
                </a:solidFill>
              </a:rPr>
              <a:t>원   부가세 </a:t>
            </a:r>
            <a:r>
              <a:rPr lang="en-US" altLang="ko-KR" sz="1200" dirty="0">
                <a:solidFill>
                  <a:srgbClr val="FF0000"/>
                </a:solidFill>
              </a:rPr>
              <a:t>184,545</a:t>
            </a:r>
            <a:r>
              <a:rPr lang="ko-KR" altLang="en-US" sz="1200" dirty="0">
                <a:solidFill>
                  <a:srgbClr val="FF0000"/>
                </a:solidFill>
              </a:rPr>
              <a:t>원   </a:t>
            </a:r>
            <a:r>
              <a:rPr lang="ko-KR" altLang="en-US" sz="1200" dirty="0" err="1">
                <a:solidFill>
                  <a:srgbClr val="FF0000"/>
                </a:solidFill>
              </a:rPr>
              <a:t>총금액</a:t>
            </a:r>
            <a:r>
              <a:rPr lang="ko-KR" altLang="en-US" sz="1200" dirty="0">
                <a:solidFill>
                  <a:srgbClr val="FF0000"/>
                </a:solidFill>
              </a:rPr>
              <a:t>  </a:t>
            </a:r>
            <a:r>
              <a:rPr lang="en-US" altLang="ko-KR" sz="1200" dirty="0">
                <a:solidFill>
                  <a:srgbClr val="FF0000"/>
                </a:solidFill>
              </a:rPr>
              <a:t>2,030,000</a:t>
            </a:r>
            <a:r>
              <a:rPr lang="ko-KR" altLang="en-US" sz="1200" dirty="0">
                <a:solidFill>
                  <a:srgbClr val="FF0000"/>
                </a:solidFill>
              </a:rPr>
              <a:t> 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25450" y="2837007"/>
            <a:ext cx="4539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신설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261848" y="2785289"/>
            <a:ext cx="646406" cy="19273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600" dirty="0">
                <a:solidFill>
                  <a:schemeClr val="tx1"/>
                </a:solidFill>
              </a:rPr>
              <a:t>금액산정방법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912321" y="2010871"/>
            <a:ext cx="1504037" cy="9402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t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선택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정가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일할계산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특별할인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4908254" y="2187481"/>
            <a:ext cx="1508104" cy="224979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62943" y="757271"/>
            <a:ext cx="3230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개인 계약에서 </a:t>
            </a:r>
            <a:r>
              <a:rPr lang="en-US" altLang="ko-KR" sz="1200" b="1" dirty="0"/>
              <a:t>[</a:t>
            </a:r>
            <a:r>
              <a:rPr lang="ko-KR" altLang="en-US" sz="1200" b="1" dirty="0"/>
              <a:t>정가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선택 </a:t>
            </a:r>
            <a:r>
              <a:rPr lang="ko-KR" altLang="en-US" sz="1200" dirty="0"/>
              <a:t>시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단가는 아래와 같이 </a:t>
            </a:r>
            <a:r>
              <a:rPr lang="en-US" altLang="ko-KR" sz="1200" dirty="0"/>
              <a:t>7</a:t>
            </a:r>
            <a:r>
              <a:rPr lang="ko-KR" altLang="en-US" sz="1200" dirty="0" err="1"/>
              <a:t>개값만</a:t>
            </a:r>
            <a:r>
              <a:rPr lang="ko-KR" altLang="en-US" sz="1200" dirty="0"/>
              <a:t> 운영합니다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(</a:t>
            </a:r>
            <a:r>
              <a:rPr lang="ko-KR" altLang="en-US" sz="1200" dirty="0"/>
              <a:t>그 외 </a:t>
            </a:r>
            <a:r>
              <a:rPr lang="ko-KR" altLang="en-US" sz="1200" dirty="0" err="1"/>
              <a:t>선택값은</a:t>
            </a:r>
            <a:r>
              <a:rPr lang="ko-KR" altLang="en-US" sz="1200" dirty="0"/>
              <a:t> 현재 유지 </a:t>
            </a:r>
            <a:r>
              <a:rPr lang="en-US" altLang="ko-KR" sz="1200" dirty="0"/>
              <a:t>+ 184</a:t>
            </a:r>
            <a:r>
              <a:rPr lang="ko-KR" altLang="en-US" sz="1200" dirty="0"/>
              <a:t>만원 추가</a:t>
            </a:r>
            <a:r>
              <a:rPr lang="en-US" altLang="ko-KR" sz="1200" dirty="0"/>
              <a:t>)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49535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20433"/>
          <a:stretch/>
        </p:blipFill>
        <p:spPr>
          <a:xfrm>
            <a:off x="385864" y="1041695"/>
            <a:ext cx="8674556" cy="348490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46824" y="1901836"/>
            <a:ext cx="8496137" cy="575475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300918" y="1704041"/>
            <a:ext cx="5642043" cy="197795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53340" y="591381"/>
            <a:ext cx="2659702" cy="6370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텍스트 수정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r>
              <a:rPr lang="ko-KR" altLang="en-US" sz="800" dirty="0">
                <a:solidFill>
                  <a:prstClr val="black"/>
                </a:solidFill>
              </a:rPr>
              <a:t>법인  → 회사</a:t>
            </a:r>
            <a:endParaRPr lang="en-US" altLang="ko-KR" sz="800" b="1" dirty="0">
              <a:solidFill>
                <a:prstClr val="black"/>
              </a:solidFill>
            </a:endParaRPr>
          </a:p>
          <a:p>
            <a:pPr lvl="0"/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[1-1] </a:t>
            </a:r>
            <a:r>
              <a:rPr lang="ko-KR" altLang="en-US" sz="1000" b="1" dirty="0">
                <a:solidFill>
                  <a:srgbClr val="00B0F0"/>
                </a:solidFill>
              </a:rPr>
              <a:t>정보 자동 입력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r>
              <a:rPr lang="ko-KR" altLang="en-US" sz="800" dirty="0">
                <a:solidFill>
                  <a:prstClr val="black"/>
                </a:solidFill>
              </a:rPr>
              <a:t>회사 검색 시 </a:t>
            </a:r>
            <a:r>
              <a:rPr lang="ko-KR" altLang="en-US" sz="1000" b="1" dirty="0">
                <a:solidFill>
                  <a:srgbClr val="FF0000"/>
                </a:solidFill>
              </a:rPr>
              <a:t>회사정보</a:t>
            </a:r>
            <a:r>
              <a:rPr lang="en-US" altLang="ko-KR" sz="1000" b="1" dirty="0">
                <a:solidFill>
                  <a:srgbClr val="FF0000"/>
                </a:solidFill>
              </a:rPr>
              <a:t> </a:t>
            </a:r>
            <a:r>
              <a:rPr lang="ko-KR" altLang="en-US" sz="1000" b="1" dirty="0">
                <a:solidFill>
                  <a:srgbClr val="FF0000"/>
                </a:solidFill>
              </a:rPr>
              <a:t>검색</a:t>
            </a:r>
            <a:r>
              <a:rPr lang="en-US" altLang="ko-KR" sz="800" dirty="0">
                <a:solidFill>
                  <a:prstClr val="black"/>
                </a:solidFill>
              </a:rPr>
              <a:t>(</a:t>
            </a:r>
            <a:r>
              <a:rPr lang="ko-KR" altLang="en-US" sz="800" dirty="0">
                <a:solidFill>
                  <a:prstClr val="black"/>
                </a:solidFill>
              </a:rPr>
              <a:t>상세 팝업</a:t>
            </a:r>
            <a:r>
              <a:rPr lang="en-US" altLang="ko-KR" sz="800" dirty="0">
                <a:solidFill>
                  <a:prstClr val="black"/>
                </a:solidFill>
              </a:rPr>
              <a:t>)</a:t>
            </a:r>
          </a:p>
          <a:p>
            <a:pPr lvl="0"/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계약 증빙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r>
              <a:rPr lang="ko-KR" altLang="en-US" sz="800" dirty="0" err="1">
                <a:solidFill>
                  <a:srgbClr val="FF0000"/>
                </a:solidFill>
              </a:rPr>
              <a:t>계약번호</a:t>
            </a:r>
            <a:r>
              <a:rPr lang="ko-KR" altLang="en-US" sz="800" dirty="0">
                <a:solidFill>
                  <a:srgbClr val="FF0000"/>
                </a:solidFill>
              </a:rPr>
              <a:t> 혹은 증빙서류를 업로드함</a:t>
            </a:r>
            <a:endParaRPr lang="en-US" altLang="ko-KR" sz="800" dirty="0">
              <a:solidFill>
                <a:srgbClr val="FF0000"/>
              </a:solidFill>
            </a:endParaRPr>
          </a:p>
          <a:p>
            <a:pPr lvl="0"/>
            <a:endParaRPr lang="en-US" altLang="ko-KR" sz="800" dirty="0">
              <a:solidFill>
                <a:srgbClr val="FF0000"/>
              </a:solidFill>
            </a:endParaRPr>
          </a:p>
          <a:p>
            <a:pPr lvl="0"/>
            <a:r>
              <a:rPr lang="ko-KR" altLang="en-US" sz="800" dirty="0">
                <a:solidFill>
                  <a:srgbClr val="FF0000"/>
                </a:solidFill>
              </a:rPr>
              <a:t>최초 계약정보 등록 시 </a:t>
            </a:r>
            <a:r>
              <a:rPr lang="en-US" altLang="ko-KR" sz="800" dirty="0">
                <a:solidFill>
                  <a:srgbClr val="FF0000"/>
                </a:solidFill>
              </a:rPr>
              <a:t>: </a:t>
            </a:r>
            <a:r>
              <a:rPr lang="ko-KR" altLang="en-US" sz="800" dirty="0" err="1">
                <a:solidFill>
                  <a:srgbClr val="FF0000"/>
                </a:solidFill>
              </a:rPr>
              <a:t>선택값</a:t>
            </a:r>
            <a:endParaRPr lang="en-US" altLang="ko-KR" sz="800" dirty="0">
              <a:solidFill>
                <a:srgbClr val="FF0000"/>
              </a:solidFill>
            </a:endParaRPr>
          </a:p>
          <a:p>
            <a:pPr lvl="0"/>
            <a:r>
              <a:rPr lang="ko-KR" altLang="en-US" sz="800" dirty="0">
                <a:solidFill>
                  <a:srgbClr val="FF0000"/>
                </a:solidFill>
              </a:rPr>
              <a:t>매출 승인 요청 시 </a:t>
            </a:r>
            <a:r>
              <a:rPr lang="en-US" altLang="ko-KR" sz="800" dirty="0">
                <a:solidFill>
                  <a:srgbClr val="FF0000"/>
                </a:solidFill>
              </a:rPr>
              <a:t>: </a:t>
            </a:r>
            <a:r>
              <a:rPr lang="ko-KR" altLang="en-US" sz="800" dirty="0">
                <a:solidFill>
                  <a:srgbClr val="FF0000"/>
                </a:solidFill>
              </a:rPr>
              <a:t>둘 중 하나 필수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pPr lvl="0"/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계약번호 혹은 파일</a:t>
            </a:r>
            <a:endParaRPr lang="en-US" altLang="ko-KR" sz="800" dirty="0">
              <a:solidFill>
                <a:srgbClr val="FF0000"/>
              </a:solidFill>
            </a:endParaRPr>
          </a:p>
          <a:p>
            <a:pPr lvl="0"/>
            <a:r>
              <a:rPr lang="ko-KR" altLang="en-US" sz="800" dirty="0">
                <a:solidFill>
                  <a:srgbClr val="FF0000"/>
                </a:solidFill>
              </a:rPr>
              <a:t>둘 중 하나만 등록되면 승인되도록 함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</a:p>
          <a:p>
            <a:pPr lvl="0"/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 err="1">
                <a:solidFill>
                  <a:srgbClr val="FF0000"/>
                </a:solidFill>
              </a:rPr>
              <a:t>미입력</a:t>
            </a:r>
            <a:r>
              <a:rPr lang="ko-KR" altLang="en-US" sz="800" dirty="0">
                <a:solidFill>
                  <a:srgbClr val="FF0000"/>
                </a:solidFill>
              </a:rPr>
              <a:t> 후 매출 승인 요청 시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800" dirty="0">
                <a:solidFill>
                  <a:srgbClr val="FF0000"/>
                </a:solidFill>
              </a:rPr>
              <a:t>“</a:t>
            </a:r>
            <a:r>
              <a:rPr lang="ko-KR" altLang="en-US" sz="800" dirty="0">
                <a:solidFill>
                  <a:srgbClr val="FF0000"/>
                </a:solidFill>
              </a:rPr>
              <a:t>계약번호 혹은 증빙 자료를 반드시 입력해야 합니다</a:t>
            </a:r>
            <a:r>
              <a:rPr lang="en-US" altLang="ko-KR" sz="800" dirty="0">
                <a:solidFill>
                  <a:srgbClr val="FF0000"/>
                </a:solidFill>
              </a:rPr>
              <a:t>.”</a:t>
            </a:r>
          </a:p>
          <a:p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 err="1">
                <a:solidFill>
                  <a:srgbClr val="FF0000"/>
                </a:solidFill>
              </a:rPr>
              <a:t>얼럿</a:t>
            </a:r>
            <a:r>
              <a:rPr lang="ko-KR" altLang="en-US" sz="800" dirty="0">
                <a:solidFill>
                  <a:srgbClr val="FF0000"/>
                </a:solidFill>
              </a:rPr>
              <a:t> 메시지</a:t>
            </a:r>
            <a:endParaRPr lang="en-US" altLang="ko-KR" sz="800" dirty="0">
              <a:solidFill>
                <a:srgbClr val="FF0000"/>
              </a:solidFill>
            </a:endParaRPr>
          </a:p>
          <a:p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조회화면에서는 등록된 </a:t>
            </a:r>
            <a:br>
              <a:rPr lang="en-US" altLang="ko-KR" sz="800" dirty="0">
                <a:solidFill>
                  <a:srgbClr val="FF0000"/>
                </a:solidFill>
              </a:rPr>
            </a:br>
            <a:r>
              <a:rPr lang="ko-KR" altLang="en-US" sz="800" dirty="0" err="1">
                <a:solidFill>
                  <a:srgbClr val="FF0000"/>
                </a:solidFill>
              </a:rPr>
              <a:t>계약번호</a:t>
            </a:r>
            <a:r>
              <a:rPr lang="ko-KR" altLang="en-US" sz="800" dirty="0">
                <a:solidFill>
                  <a:srgbClr val="FF0000"/>
                </a:solidFill>
              </a:rPr>
              <a:t> 혹은 업로드한 파일명이 노출</a:t>
            </a:r>
            <a:endParaRPr lang="en-US" altLang="ko-KR" sz="800" dirty="0">
              <a:solidFill>
                <a:srgbClr val="FF0000"/>
              </a:solidFill>
            </a:endParaRPr>
          </a:p>
          <a:p>
            <a:endParaRPr lang="en-US" altLang="ko-KR" sz="800" dirty="0"/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[2-1] </a:t>
            </a:r>
            <a:r>
              <a:rPr lang="ko-KR" altLang="en-US" sz="1000" b="1" dirty="0">
                <a:solidFill>
                  <a:srgbClr val="00B0F0"/>
                </a:solidFill>
              </a:rPr>
              <a:t>계약번호 규칙 체크 </a:t>
            </a:r>
            <a:r>
              <a:rPr lang="ko-KR" altLang="en-US" sz="1000" b="1" dirty="0" err="1">
                <a:solidFill>
                  <a:srgbClr val="00B0F0"/>
                </a:solidFill>
              </a:rPr>
              <a:t>로직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endParaRPr lang="en-US" altLang="ko-KR" sz="800" dirty="0"/>
          </a:p>
          <a:p>
            <a:pPr lvl="0"/>
            <a:r>
              <a:rPr lang="ko-KR" altLang="en-US" sz="800" dirty="0"/>
              <a:t>계약번호 구성이 </a:t>
            </a:r>
            <a:r>
              <a:rPr lang="en-US" altLang="ko-KR" sz="800" dirty="0"/>
              <a:t>SC+YYYY+XXXXXX</a:t>
            </a:r>
          </a:p>
          <a:p>
            <a:pPr lvl="0"/>
            <a:r>
              <a:rPr lang="ko-KR" altLang="en-US" sz="800" dirty="0"/>
              <a:t>아닌 경우 </a:t>
            </a:r>
            <a:r>
              <a:rPr lang="ko-KR" altLang="en-US" sz="800" dirty="0" err="1"/>
              <a:t>얼럿</a:t>
            </a:r>
            <a:r>
              <a:rPr lang="ko-KR" altLang="en-US" sz="800" dirty="0"/>
              <a:t> 메시지</a:t>
            </a:r>
            <a:endParaRPr lang="en-US" altLang="ko-KR" sz="800" dirty="0"/>
          </a:p>
          <a:p>
            <a:pPr lvl="0"/>
            <a:endParaRPr lang="en-US" altLang="ko-KR" sz="800" dirty="0"/>
          </a:p>
          <a:p>
            <a:pPr lvl="0"/>
            <a:r>
              <a:rPr lang="en-US" altLang="ko-KR" sz="800" dirty="0"/>
              <a:t>“</a:t>
            </a:r>
            <a:r>
              <a:rPr lang="ko-KR" altLang="en-US" sz="800" dirty="0"/>
              <a:t>계약번호가 규칙에 맞지 않습니다</a:t>
            </a:r>
            <a:r>
              <a:rPr lang="en-US" altLang="ko-KR" sz="800" dirty="0"/>
              <a:t>. </a:t>
            </a:r>
          </a:p>
          <a:p>
            <a:pPr lvl="0"/>
            <a:r>
              <a:rPr lang="ko-KR" altLang="en-US" sz="800" dirty="0"/>
              <a:t>다시 입력해 주세요</a:t>
            </a:r>
            <a:r>
              <a:rPr lang="en-US" altLang="ko-KR" sz="800" dirty="0"/>
              <a:t>.”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매출 관리 </a:t>
            </a:r>
            <a:r>
              <a:rPr lang="en-US" altLang="ko-KR" sz="1000" b="1" dirty="0">
                <a:solidFill>
                  <a:srgbClr val="FF0000"/>
                </a:solidFill>
              </a:rPr>
              <a:t>(</a:t>
            </a:r>
            <a:r>
              <a:rPr lang="ko-KR" altLang="en-US" sz="1000" b="1" dirty="0">
                <a:solidFill>
                  <a:srgbClr val="FF0000"/>
                </a:solidFill>
              </a:rPr>
              <a:t>실행하지 않음</a:t>
            </a:r>
            <a:r>
              <a:rPr lang="en-US" altLang="ko-KR" sz="1000" b="1" dirty="0">
                <a:solidFill>
                  <a:srgbClr val="FF0000"/>
                </a:solidFill>
              </a:rPr>
              <a:t>)</a:t>
            </a:r>
          </a:p>
          <a:p>
            <a:pPr lvl="0"/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r>
              <a:rPr lang="ko-KR" altLang="en-US" sz="800" dirty="0"/>
              <a:t>매출 승인 요청 프로세스 신설</a:t>
            </a:r>
            <a:endParaRPr lang="en-US" altLang="ko-KR" sz="800" dirty="0"/>
          </a:p>
          <a:p>
            <a:pPr lvl="0"/>
            <a:endParaRPr lang="en-US" altLang="ko-KR" sz="800" dirty="0">
              <a:solidFill>
                <a:srgbClr val="FF0000"/>
              </a:solidFill>
            </a:endParaRPr>
          </a:p>
          <a:p>
            <a:pPr lvl="0"/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승인 완료 시 </a:t>
            </a:r>
            <a:r>
              <a:rPr lang="en-US" altLang="ko-KR" sz="800" dirty="0">
                <a:solidFill>
                  <a:srgbClr val="FF0000"/>
                </a:solidFill>
              </a:rPr>
              <a:t>MIS </a:t>
            </a:r>
            <a:r>
              <a:rPr lang="ko-KR" altLang="en-US" sz="800" dirty="0">
                <a:solidFill>
                  <a:srgbClr val="FF0000"/>
                </a:solidFill>
              </a:rPr>
              <a:t>매출 연동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800" dirty="0">
                <a:solidFill>
                  <a:srgbClr val="FF0000"/>
                </a:solidFill>
              </a:rPr>
              <a:t>MIS </a:t>
            </a:r>
            <a:r>
              <a:rPr lang="ko-KR" altLang="en-US" sz="800" dirty="0">
                <a:solidFill>
                  <a:srgbClr val="FF0000"/>
                </a:solidFill>
              </a:rPr>
              <a:t>매출 연동 시 계약 마스터 정보만 연동됨</a:t>
            </a:r>
            <a:endParaRPr lang="en-US" altLang="ko-KR" sz="800" dirty="0">
              <a:solidFill>
                <a:srgbClr val="FF0000"/>
              </a:solidFill>
            </a:endParaRPr>
          </a:p>
          <a:p>
            <a:pPr lvl="0"/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상세 내용 </a:t>
            </a:r>
            <a:r>
              <a:rPr lang="en-US" altLang="ko-KR" sz="800" dirty="0">
                <a:solidFill>
                  <a:srgbClr val="FF0000"/>
                </a:solidFill>
              </a:rPr>
              <a:t>: </a:t>
            </a:r>
            <a:r>
              <a:rPr lang="ko-KR" altLang="en-US" sz="800" dirty="0">
                <a:solidFill>
                  <a:srgbClr val="FF0000"/>
                </a:solidFill>
              </a:rPr>
              <a:t>매출 </a:t>
            </a:r>
            <a:r>
              <a:rPr lang="en-US" altLang="ko-KR" sz="800" dirty="0">
                <a:solidFill>
                  <a:srgbClr val="FF0000"/>
                </a:solidFill>
              </a:rPr>
              <a:t>&gt; </a:t>
            </a:r>
            <a:r>
              <a:rPr lang="ko-KR" altLang="en-US" sz="800" dirty="0">
                <a:solidFill>
                  <a:srgbClr val="FF0000"/>
                </a:solidFill>
              </a:rPr>
              <a:t>매출승인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</a:p>
          <a:p>
            <a:pPr lvl="0"/>
            <a:endParaRPr lang="en-US" altLang="ko-KR" sz="800" dirty="0"/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>
                <a:solidFill>
                  <a:srgbClr val="00B0F0"/>
                </a:solidFill>
              </a:rPr>
              <a:t>매출 구분</a:t>
            </a:r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신설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pPr lvl="0"/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r>
              <a:rPr lang="ko-KR" altLang="en-US" sz="800" dirty="0">
                <a:solidFill>
                  <a:prstClr val="black"/>
                </a:solidFill>
              </a:rPr>
              <a:t>기본값 </a:t>
            </a:r>
            <a:r>
              <a:rPr lang="en-US" altLang="ko-KR" sz="800" dirty="0">
                <a:solidFill>
                  <a:prstClr val="black"/>
                </a:solidFill>
              </a:rPr>
              <a:t>: </a:t>
            </a:r>
            <a:r>
              <a:rPr lang="ko-KR" altLang="en-US" sz="800" dirty="0" err="1">
                <a:solidFill>
                  <a:prstClr val="black"/>
                </a:solidFill>
              </a:rPr>
              <a:t>실매출</a:t>
            </a:r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r>
              <a:rPr lang="ko-KR" altLang="en-US" sz="800" dirty="0">
                <a:solidFill>
                  <a:prstClr val="black"/>
                </a:solidFill>
              </a:rPr>
              <a:t>매출 현황 집계 </a:t>
            </a:r>
            <a:r>
              <a:rPr lang="ko-KR" altLang="en-US" sz="800" dirty="0" err="1">
                <a:solidFill>
                  <a:prstClr val="black"/>
                </a:solidFill>
              </a:rPr>
              <a:t>조회시</a:t>
            </a:r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r>
              <a:rPr lang="ko-KR" altLang="en-US" sz="800" dirty="0" err="1">
                <a:solidFill>
                  <a:prstClr val="black"/>
                </a:solidFill>
              </a:rPr>
              <a:t>실매출</a:t>
            </a:r>
            <a:r>
              <a:rPr lang="en-US" altLang="ko-KR" sz="800" dirty="0">
                <a:solidFill>
                  <a:prstClr val="black"/>
                </a:solidFill>
              </a:rPr>
              <a:t>, </a:t>
            </a:r>
            <a:r>
              <a:rPr lang="ko-KR" altLang="en-US" sz="800" dirty="0">
                <a:solidFill>
                  <a:prstClr val="black"/>
                </a:solidFill>
              </a:rPr>
              <a:t>배분매출 구분하여 검색 가능</a:t>
            </a:r>
            <a:endParaRPr lang="en-US" altLang="ko-KR" sz="800" dirty="0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75466" y="170404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850573" y="1704041"/>
            <a:ext cx="216882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 신규 계약 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  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법인계약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CRM_03_001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216911"/>
              </p:ext>
            </p:extLst>
          </p:nvPr>
        </p:nvGraphicFramePr>
        <p:xfrm>
          <a:off x="405226" y="4523106"/>
          <a:ext cx="5835477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3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30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72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60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계약번호</a:t>
                      </a:r>
                      <a:endParaRPr lang="ko-KR" altLang="en-US" sz="7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증빙 파일 업로드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1405599" y="4550398"/>
            <a:ext cx="1279075" cy="1575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endParaRPr lang="ko-KR" altLang="en-US" sz="500" dirty="0">
              <a:solidFill>
                <a:schemeClr val="tx1"/>
              </a:solidFill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rcRect t="79345"/>
          <a:stretch/>
        </p:blipFill>
        <p:spPr>
          <a:xfrm>
            <a:off x="385864" y="4738234"/>
            <a:ext cx="8674556" cy="904671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3276473" y="5478153"/>
            <a:ext cx="958558" cy="22283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600" dirty="0">
                <a:solidFill>
                  <a:schemeClr val="tx1"/>
                </a:solidFill>
              </a:rPr>
              <a:t>매출 구분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5031" y="5500823"/>
            <a:ext cx="12923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● </a:t>
            </a:r>
            <a:r>
              <a:rPr lang="ko-KR" altLang="en-US" sz="800" dirty="0" err="1"/>
              <a:t>실매출</a:t>
            </a:r>
            <a:r>
              <a:rPr lang="ko-KR" altLang="en-US" sz="800" dirty="0"/>
              <a:t>   ○ 배분매출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4146829" y="4535347"/>
            <a:ext cx="802647" cy="1621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찾아보기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9142" y="4521338"/>
            <a:ext cx="146546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dirty="0"/>
              <a:t>계약 증빙 자료를 반드시 첨부하세요</a:t>
            </a:r>
            <a:r>
              <a:rPr lang="en-US" altLang="ko-KR" sz="600" dirty="0"/>
              <a:t>.</a:t>
            </a:r>
            <a:endParaRPr lang="ko-KR" altLang="en-US" sz="600" dirty="0"/>
          </a:p>
        </p:txBody>
      </p:sp>
      <p:sp>
        <p:nvSpPr>
          <p:cNvPr id="27" name="TextBox 26"/>
          <p:cNvSpPr txBox="1"/>
          <p:nvPr/>
        </p:nvSpPr>
        <p:spPr>
          <a:xfrm>
            <a:off x="234119" y="5802992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/>
              <a:t>◎ 매출 관리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405226" y="4930145"/>
            <a:ext cx="4082468" cy="359048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31" name="꺾인 연결선 30"/>
          <p:cNvCxnSpPr>
            <a:stCxn id="29" idx="1"/>
            <a:endCxn id="27" idx="1"/>
          </p:cNvCxnSpPr>
          <p:nvPr/>
        </p:nvCxnSpPr>
        <p:spPr>
          <a:xfrm rot="10800000" flipV="1">
            <a:off x="234120" y="5109669"/>
            <a:ext cx="171107" cy="816434"/>
          </a:xfrm>
          <a:prstGeom prst="bentConnector3">
            <a:avLst>
              <a:gd name="adj1" fmla="val 1767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188342" y="4553534"/>
            <a:ext cx="163180" cy="146122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80684" y="5044447"/>
            <a:ext cx="163180" cy="146122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180987" y="5431374"/>
            <a:ext cx="163180" cy="146122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752629"/>
              </p:ext>
            </p:extLst>
          </p:nvPr>
        </p:nvGraphicFramePr>
        <p:xfrm>
          <a:off x="343864" y="6164139"/>
          <a:ext cx="4402419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5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60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매출 승인</a:t>
                      </a:r>
                      <a:endParaRPr lang="ko-KR" altLang="en-US" sz="7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/>
                        <a:t>                       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결재 상신되며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완료 시 </a:t>
                      </a:r>
                      <a:r>
                        <a:rPr lang="en-US" altLang="ko-KR" sz="800" dirty="0"/>
                        <a:t>MIS </a:t>
                      </a:r>
                      <a:r>
                        <a:rPr lang="ko-KR" altLang="en-US" sz="800" dirty="0"/>
                        <a:t>정산에 연동됩니다</a:t>
                      </a:r>
                      <a:r>
                        <a:rPr lang="en-US" altLang="ko-KR" sz="800" dirty="0"/>
                        <a:t>.)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모서리가 둥근 직사각형 37"/>
          <p:cNvSpPr/>
          <p:nvPr/>
        </p:nvSpPr>
        <p:spPr>
          <a:xfrm>
            <a:off x="1080621" y="6187952"/>
            <a:ext cx="721927" cy="16573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승인 요청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8223849" y="50704"/>
            <a:ext cx="3968151" cy="997562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r>
              <a:rPr lang="en-US" altLang="ko-KR" sz="1200" b="1" dirty="0">
                <a:solidFill>
                  <a:schemeClr val="tx1"/>
                </a:solidFill>
              </a:rPr>
              <a:t>   [3] </a:t>
            </a:r>
            <a:r>
              <a:rPr lang="ko-KR" altLang="en-US" sz="1200" b="1" dirty="0">
                <a:solidFill>
                  <a:schemeClr val="tx1"/>
                </a:solidFill>
              </a:rPr>
              <a:t>매출관리 기능 추가 보류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r>
              <a:rPr lang="en-US" altLang="ko-KR" sz="1200" b="1" dirty="0">
                <a:solidFill>
                  <a:srgbClr val="FF0000"/>
                </a:solidFill>
              </a:rPr>
              <a:t>[</a:t>
            </a:r>
            <a:r>
              <a:rPr lang="ko-KR" altLang="en-US" sz="1200" b="1" dirty="0">
                <a:solidFill>
                  <a:srgbClr val="FF0000"/>
                </a:solidFill>
              </a:rPr>
              <a:t>수정사항</a:t>
            </a:r>
            <a:r>
              <a:rPr lang="en-US" altLang="ko-KR" sz="1200" b="1" dirty="0">
                <a:solidFill>
                  <a:srgbClr val="FF0000"/>
                </a:solidFill>
              </a:rPr>
              <a:t>] 24.5.07</a:t>
            </a:r>
          </a:p>
          <a:p>
            <a:r>
              <a:rPr lang="en-US" altLang="ko-KR" sz="1200" b="1" dirty="0">
                <a:solidFill>
                  <a:srgbClr val="FF0000"/>
                </a:solidFill>
              </a:rPr>
              <a:t>   [2] </a:t>
            </a:r>
            <a:r>
              <a:rPr lang="ko-KR" altLang="en-US" sz="1200" b="1" dirty="0" err="1">
                <a:solidFill>
                  <a:srgbClr val="FF0000"/>
                </a:solidFill>
              </a:rPr>
              <a:t>계약증빙</a:t>
            </a:r>
            <a:r>
              <a:rPr lang="ko-KR" altLang="en-US" sz="1200" b="1" dirty="0">
                <a:solidFill>
                  <a:srgbClr val="FF0000"/>
                </a:solidFill>
              </a:rPr>
              <a:t> 내용 수정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4841769" y="5700961"/>
            <a:ext cx="4114114" cy="69650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데이터 필드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ko-KR" altLang="en-US" sz="1200" b="1" dirty="0" err="1">
                <a:solidFill>
                  <a:schemeClr val="tx1"/>
                </a:solidFill>
              </a:rPr>
              <a:t>매출구분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en-US" altLang="ko-KR" sz="1200" b="1" dirty="0" err="1">
                <a:solidFill>
                  <a:schemeClr val="tx1"/>
                </a:solidFill>
              </a:rPr>
              <a:t>a_sign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테이블의 </a:t>
            </a:r>
            <a:r>
              <a:rPr lang="en-US" altLang="ko-KR" sz="1200" b="1" dirty="0" err="1">
                <a:solidFill>
                  <a:schemeClr val="tx1"/>
                </a:solidFill>
              </a:rPr>
              <a:t>salegbn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필드 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 err="1">
                <a:solidFill>
                  <a:schemeClr val="tx1"/>
                </a:solidFill>
              </a:rPr>
              <a:t>신규생성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1200" b="1" dirty="0">
                <a:solidFill>
                  <a:schemeClr val="tx1"/>
                </a:solidFill>
              </a:rPr>
              <a:t>-&gt; 1 : </a:t>
            </a:r>
            <a:r>
              <a:rPr lang="ko-KR" altLang="en-US" sz="1200" b="1" dirty="0" err="1">
                <a:solidFill>
                  <a:schemeClr val="tx1"/>
                </a:solidFill>
              </a:rPr>
              <a:t>실매출</a:t>
            </a:r>
            <a:r>
              <a:rPr lang="en-US" altLang="ko-KR" sz="1200" b="1" dirty="0">
                <a:solidFill>
                  <a:schemeClr val="tx1"/>
                </a:solidFill>
              </a:rPr>
              <a:t>, 2 : </a:t>
            </a:r>
            <a:r>
              <a:rPr lang="ko-KR" altLang="en-US" sz="1200" b="1" dirty="0" err="1">
                <a:solidFill>
                  <a:schemeClr val="tx1"/>
                </a:solidFill>
              </a:rPr>
              <a:t>배분매출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230172" y="3666809"/>
            <a:ext cx="4629802" cy="69650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데이터 필드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ko-KR" altLang="en-US" sz="1200" b="1" dirty="0" err="1">
                <a:solidFill>
                  <a:schemeClr val="tx1"/>
                </a:solidFill>
              </a:rPr>
              <a:t>계약번호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en-US" altLang="ko-KR" sz="1200" b="1" dirty="0" err="1">
                <a:solidFill>
                  <a:schemeClr val="tx1"/>
                </a:solidFill>
              </a:rPr>
              <a:t>a_sign_acc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테이블의 </a:t>
            </a:r>
            <a:r>
              <a:rPr lang="en-US" altLang="ko-KR" sz="1200" b="1" dirty="0" err="1">
                <a:solidFill>
                  <a:schemeClr val="tx1"/>
                </a:solidFill>
              </a:rPr>
              <a:t>contract_no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필드 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 err="1">
                <a:solidFill>
                  <a:schemeClr val="tx1"/>
                </a:solidFill>
              </a:rPr>
              <a:t>신규생성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r>
              <a:rPr lang="ko-KR" altLang="en-US" sz="1200" b="1" dirty="0" err="1">
                <a:solidFill>
                  <a:schemeClr val="tx1"/>
                </a:solidFill>
              </a:rPr>
              <a:t>증빙파일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en-US" altLang="ko-KR" sz="1200" b="1" dirty="0" err="1">
                <a:solidFill>
                  <a:schemeClr val="tx1"/>
                </a:solidFill>
              </a:rPr>
              <a:t>a_sign_acc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테이블의 </a:t>
            </a:r>
            <a:br>
              <a:rPr lang="en-US" altLang="ko-KR" sz="1200" b="1" dirty="0">
                <a:solidFill>
                  <a:schemeClr val="tx1"/>
                </a:solidFill>
              </a:rPr>
            </a:br>
            <a:r>
              <a:rPr lang="en-US" altLang="ko-KR" sz="1200" b="1" dirty="0">
                <a:solidFill>
                  <a:schemeClr val="tx1"/>
                </a:solidFill>
              </a:rPr>
              <a:t>            </a:t>
            </a:r>
            <a:r>
              <a:rPr lang="en-US" altLang="ko-KR" sz="1200" b="1" dirty="0" err="1">
                <a:solidFill>
                  <a:schemeClr val="tx1"/>
                </a:solidFill>
              </a:rPr>
              <a:t>contract_filename</a:t>
            </a:r>
            <a:r>
              <a:rPr lang="en-US" altLang="ko-KR" sz="1200" b="1" dirty="0">
                <a:solidFill>
                  <a:schemeClr val="tx1"/>
                </a:solidFill>
              </a:rPr>
              <a:t> , </a:t>
            </a:r>
            <a:r>
              <a:rPr lang="en-US" altLang="ko-KR" sz="1200" b="1" dirty="0" err="1">
                <a:solidFill>
                  <a:schemeClr val="tx1"/>
                </a:solidFill>
              </a:rPr>
              <a:t>contract_filepath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필드 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 err="1">
                <a:solidFill>
                  <a:schemeClr val="tx1"/>
                </a:solidFill>
              </a:rPr>
              <a:t>신규생성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170586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68" y="850645"/>
            <a:ext cx="5949235" cy="2494982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 신규 계약 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  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법인계약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CRM_03_001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3369514" y="2062264"/>
            <a:ext cx="1727780" cy="215396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98527" y="2536962"/>
            <a:ext cx="4395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150</a:t>
            </a:r>
          </a:p>
          <a:p>
            <a:pPr algn="ctr"/>
            <a:r>
              <a:rPr lang="en-US" altLang="ko-KR" sz="1200" dirty="0"/>
              <a:t>121</a:t>
            </a:r>
          </a:p>
          <a:p>
            <a:pPr algn="ctr"/>
            <a:r>
              <a:rPr lang="en-US" altLang="ko-KR" sz="1200" dirty="0"/>
              <a:t>110</a:t>
            </a:r>
          </a:p>
          <a:p>
            <a:pPr algn="ctr"/>
            <a:r>
              <a:rPr lang="en-US" altLang="ko-KR" sz="1200" dirty="0"/>
              <a:t>99</a:t>
            </a:r>
          </a:p>
          <a:p>
            <a:pPr algn="ctr"/>
            <a:r>
              <a:rPr lang="en-US" altLang="ko-KR" sz="1200" dirty="0"/>
              <a:t>88</a:t>
            </a:r>
          </a:p>
          <a:p>
            <a:pPr algn="ctr"/>
            <a:r>
              <a:rPr lang="en-US" altLang="ko-KR" sz="1200" dirty="0"/>
              <a:t>77</a:t>
            </a:r>
          </a:p>
          <a:p>
            <a:pPr algn="ctr"/>
            <a:r>
              <a:rPr lang="en-US" altLang="ko-KR" sz="1200" dirty="0"/>
              <a:t>66</a:t>
            </a:r>
          </a:p>
          <a:p>
            <a:pPr algn="ctr"/>
            <a:r>
              <a:rPr lang="en-US" altLang="ko-KR" sz="1200" dirty="0"/>
              <a:t>44</a:t>
            </a:r>
            <a:endParaRPr lang="ko-KR" alt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6535465" y="2541124"/>
            <a:ext cx="93647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250</a:t>
            </a:r>
            <a:r>
              <a:rPr lang="ko-KR" altLang="en-US" sz="1600" dirty="0"/>
              <a:t>만원</a:t>
            </a:r>
            <a:endParaRPr lang="en-US" altLang="ko-KR" sz="1600" dirty="0"/>
          </a:p>
          <a:p>
            <a:pPr algn="ctr"/>
            <a:r>
              <a:rPr lang="en-US" altLang="ko-KR" sz="1600" dirty="0"/>
              <a:t>184</a:t>
            </a:r>
            <a:r>
              <a:rPr lang="ko-KR" altLang="en-US" sz="1600" dirty="0"/>
              <a:t>만원</a:t>
            </a:r>
            <a:endParaRPr lang="en-US" altLang="ko-KR" sz="1600" dirty="0"/>
          </a:p>
          <a:p>
            <a:pPr algn="ctr"/>
            <a:r>
              <a:rPr lang="en-US" altLang="ko-KR" sz="1600" dirty="0"/>
              <a:t>165</a:t>
            </a:r>
            <a:r>
              <a:rPr lang="ko-KR" altLang="en-US" sz="1600" dirty="0"/>
              <a:t>만원</a:t>
            </a:r>
            <a:endParaRPr lang="en-US" altLang="ko-KR" sz="1600" dirty="0"/>
          </a:p>
          <a:p>
            <a:pPr algn="ctr"/>
            <a:r>
              <a:rPr lang="en-US" altLang="ko-KR" sz="1600" dirty="0"/>
              <a:t>132</a:t>
            </a:r>
            <a:r>
              <a:rPr lang="ko-KR" altLang="en-US" sz="1600" dirty="0"/>
              <a:t>만원</a:t>
            </a:r>
            <a:endParaRPr lang="en-US" altLang="ko-KR" sz="1600" dirty="0"/>
          </a:p>
          <a:p>
            <a:pPr algn="ctr"/>
            <a:r>
              <a:rPr lang="en-US" altLang="ko-KR" sz="1600" dirty="0"/>
              <a:t>120</a:t>
            </a:r>
            <a:r>
              <a:rPr lang="ko-KR" altLang="en-US" sz="1600" dirty="0"/>
              <a:t>만원</a:t>
            </a:r>
            <a:endParaRPr lang="en-US" altLang="ko-KR" sz="1600" dirty="0"/>
          </a:p>
          <a:p>
            <a:pPr algn="ctr"/>
            <a:r>
              <a:rPr lang="en-US" altLang="ko-KR" sz="1600" dirty="0"/>
              <a:t>100</a:t>
            </a:r>
            <a:r>
              <a:rPr lang="ko-KR" altLang="en-US" sz="1600" dirty="0"/>
              <a:t>만원</a:t>
            </a:r>
            <a:endParaRPr lang="en-US" altLang="ko-KR" sz="1600" dirty="0"/>
          </a:p>
          <a:p>
            <a:pPr algn="ctr"/>
            <a:r>
              <a:rPr lang="en-US" altLang="ko-KR" sz="1600" dirty="0"/>
              <a:t>55</a:t>
            </a:r>
            <a:r>
              <a:rPr lang="ko-KR" altLang="en-US" sz="1600" dirty="0"/>
              <a:t>만원</a:t>
            </a:r>
            <a:endParaRPr lang="en-US" altLang="ko-KR" sz="1600" dirty="0"/>
          </a:p>
        </p:txBody>
      </p:sp>
      <p:sp>
        <p:nvSpPr>
          <p:cNvPr id="32" name="TextBox 31"/>
          <p:cNvSpPr txBox="1"/>
          <p:nvPr/>
        </p:nvSpPr>
        <p:spPr>
          <a:xfrm>
            <a:off x="6757481" y="194553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운영</a:t>
            </a:r>
            <a:endParaRPr lang="ko-KR" alt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7825591" y="1945531"/>
            <a:ext cx="5854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삭제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6485106" y="4675599"/>
            <a:ext cx="4507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※184</a:t>
            </a:r>
            <a:r>
              <a:rPr lang="ko-KR" altLang="en-US" sz="1200" dirty="0">
                <a:solidFill>
                  <a:srgbClr val="FF0000"/>
                </a:solidFill>
              </a:rPr>
              <a:t>만원 선택 시</a:t>
            </a: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계약금   </a:t>
            </a:r>
            <a:r>
              <a:rPr lang="en-US" altLang="ko-KR" sz="1200" dirty="0">
                <a:solidFill>
                  <a:srgbClr val="FF0000"/>
                </a:solidFill>
              </a:rPr>
              <a:t>1,845,455</a:t>
            </a:r>
            <a:r>
              <a:rPr lang="ko-KR" altLang="en-US" sz="1200" dirty="0">
                <a:solidFill>
                  <a:srgbClr val="FF0000"/>
                </a:solidFill>
              </a:rPr>
              <a:t>원   부가세 </a:t>
            </a:r>
            <a:r>
              <a:rPr lang="en-US" altLang="ko-KR" sz="1200" dirty="0">
                <a:solidFill>
                  <a:srgbClr val="FF0000"/>
                </a:solidFill>
              </a:rPr>
              <a:t>184,545</a:t>
            </a:r>
            <a:r>
              <a:rPr lang="ko-KR" altLang="en-US" sz="1200" dirty="0">
                <a:solidFill>
                  <a:srgbClr val="FF0000"/>
                </a:solidFill>
              </a:rPr>
              <a:t>원   </a:t>
            </a:r>
            <a:r>
              <a:rPr lang="ko-KR" altLang="en-US" sz="1200" dirty="0" err="1">
                <a:solidFill>
                  <a:srgbClr val="FF0000"/>
                </a:solidFill>
              </a:rPr>
              <a:t>총금액</a:t>
            </a:r>
            <a:r>
              <a:rPr lang="ko-KR" altLang="en-US" sz="1200" dirty="0">
                <a:solidFill>
                  <a:srgbClr val="FF0000"/>
                </a:solidFill>
              </a:rPr>
              <a:t>  </a:t>
            </a:r>
            <a:r>
              <a:rPr lang="en-US" altLang="ko-KR" sz="1200" dirty="0">
                <a:solidFill>
                  <a:srgbClr val="FF0000"/>
                </a:solidFill>
              </a:rPr>
              <a:t>2,030,000</a:t>
            </a:r>
            <a:r>
              <a:rPr lang="ko-KR" altLang="en-US" sz="1200" dirty="0">
                <a:solidFill>
                  <a:srgbClr val="FF0000"/>
                </a:solidFill>
              </a:rPr>
              <a:t> 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25450" y="2837007"/>
            <a:ext cx="4539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신설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912321" y="2010870"/>
            <a:ext cx="1504037" cy="123816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t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선택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정가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법인가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일할계산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턴키할인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910287" y="2213466"/>
            <a:ext cx="1508104" cy="224979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62943" y="757271"/>
            <a:ext cx="29835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법인 계약에서 </a:t>
            </a:r>
            <a:r>
              <a:rPr lang="en-US" altLang="ko-KR" sz="1200" b="1" dirty="0"/>
              <a:t>[</a:t>
            </a:r>
            <a:r>
              <a:rPr lang="ko-KR" altLang="en-US" sz="1200" b="1" dirty="0"/>
              <a:t>정가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선택 </a:t>
            </a:r>
            <a:r>
              <a:rPr lang="ko-KR" altLang="en-US" sz="1200" dirty="0"/>
              <a:t>시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단가는 아래와 같이 </a:t>
            </a:r>
            <a:r>
              <a:rPr lang="en-US" altLang="ko-KR" sz="1200" dirty="0"/>
              <a:t>7</a:t>
            </a:r>
            <a:r>
              <a:rPr lang="ko-KR" altLang="en-US" sz="1200" dirty="0" err="1"/>
              <a:t>개값만</a:t>
            </a:r>
            <a:r>
              <a:rPr lang="ko-KR" altLang="en-US" sz="1200" dirty="0"/>
              <a:t> 운영합니다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(</a:t>
            </a:r>
            <a:r>
              <a:rPr lang="ko-KR" altLang="en-US" sz="1200" dirty="0"/>
              <a:t>그 외 </a:t>
            </a:r>
            <a:r>
              <a:rPr lang="ko-KR" altLang="en-US" sz="1200" dirty="0" err="1"/>
              <a:t>선택값은</a:t>
            </a:r>
            <a:r>
              <a:rPr lang="ko-KR" altLang="en-US" sz="1200" dirty="0"/>
              <a:t> 현재 유지</a:t>
            </a:r>
            <a:r>
              <a:rPr lang="en-US" altLang="ko-KR" sz="1200" dirty="0"/>
              <a:t>)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281828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 신규 계약 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  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법인계약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CRM_03_001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36806" r="37877" b="55024"/>
          <a:stretch/>
        </p:blipFill>
        <p:spPr>
          <a:xfrm>
            <a:off x="263059" y="1887165"/>
            <a:ext cx="3673399" cy="389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49940" y="712145"/>
            <a:ext cx="6538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개인 신규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법인 신규 공통사항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계약기간과 서비스기간의 차이는 최대 </a:t>
            </a:r>
            <a:r>
              <a:rPr lang="en-US" altLang="ko-KR" sz="1200" b="1" dirty="0"/>
              <a:t>30</a:t>
            </a:r>
            <a:r>
              <a:rPr lang="ko-KR" altLang="en-US" sz="1200" b="1" dirty="0"/>
              <a:t>일을 넘길 수 없음</a:t>
            </a:r>
            <a:endParaRPr lang="en-US" altLang="ko-KR" sz="1200" b="1" dirty="0"/>
          </a:p>
          <a:p>
            <a:r>
              <a:rPr lang="en-US" altLang="ko-KR" sz="1200" b="1" dirty="0"/>
              <a:t>                                          </a:t>
            </a:r>
            <a:r>
              <a:rPr lang="ko-KR" altLang="en-US" sz="1200" b="1" dirty="0"/>
              <a:t>→ 초과 등록 시 사유 입력 필수</a:t>
            </a:r>
            <a:endParaRPr lang="en-US" altLang="ko-KR" sz="1200" b="1" dirty="0"/>
          </a:p>
          <a:p>
            <a:r>
              <a:rPr lang="en-US" altLang="ko-KR" sz="1200" b="1" dirty="0"/>
              <a:t>                                          (</a:t>
            </a:r>
            <a:r>
              <a:rPr lang="ko-KR" altLang="en-US" sz="1200" b="1" dirty="0"/>
              <a:t>일괄연장 시 제외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sp>
        <p:nvSpPr>
          <p:cNvPr id="6" name="직사각형 5"/>
          <p:cNvSpPr/>
          <p:nvPr/>
        </p:nvSpPr>
        <p:spPr>
          <a:xfrm>
            <a:off x="2821021" y="1848255"/>
            <a:ext cx="356681" cy="194553"/>
          </a:xfrm>
          <a:prstGeom prst="rect">
            <a:avLst/>
          </a:prstGeom>
          <a:noFill/>
          <a:ln w="31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821021" y="2081718"/>
            <a:ext cx="356681" cy="194553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3177702" y="2081718"/>
            <a:ext cx="175098" cy="194553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B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3184187" y="1848255"/>
            <a:ext cx="175098" cy="194553"/>
          </a:xfrm>
          <a:prstGeom prst="ellipse">
            <a:avLst/>
          </a:prstGeom>
          <a:solidFill>
            <a:srgbClr val="00B0F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A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55624" y="2042808"/>
            <a:ext cx="310052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B – A &gt; 30 </a:t>
            </a:r>
            <a:r>
              <a:rPr lang="ko-KR" altLang="en-US" sz="1000" dirty="0"/>
              <a:t>인 경우</a:t>
            </a:r>
            <a:endParaRPr lang="en-US" altLang="ko-KR" sz="1000" dirty="0"/>
          </a:p>
          <a:p>
            <a:endParaRPr lang="en-US" altLang="ko-KR" sz="1000" dirty="0"/>
          </a:p>
          <a:p>
            <a:pPr marL="228600" indent="-228600">
              <a:buAutoNum type="arabicParenR"/>
            </a:pPr>
            <a:r>
              <a:rPr lang="ko-KR" altLang="en-US" sz="1000" dirty="0" err="1"/>
              <a:t>얼럿</a:t>
            </a:r>
            <a:r>
              <a:rPr lang="ko-KR" altLang="en-US" sz="1000" dirty="0"/>
              <a:t> 메시지 안내 후</a:t>
            </a:r>
            <a:endParaRPr lang="en-US" altLang="ko-KR" sz="1000" dirty="0"/>
          </a:p>
          <a:p>
            <a:pPr marL="228600" indent="-228600">
              <a:buAutoNum type="arabicParenR"/>
            </a:pPr>
            <a:endParaRPr lang="en-US" altLang="ko-KR" sz="1000" dirty="0"/>
          </a:p>
          <a:p>
            <a:r>
              <a:rPr lang="en-US" altLang="ko-KR" sz="1000" dirty="0"/>
              <a:t>     </a:t>
            </a:r>
            <a:r>
              <a:rPr lang="en-US" altLang="ko-KR" sz="1000" b="1" dirty="0"/>
              <a:t>“</a:t>
            </a:r>
            <a:r>
              <a:rPr lang="ko-KR" altLang="en-US" sz="1000" b="1" dirty="0"/>
              <a:t>서비스 기간이 계약기간 보다 </a:t>
            </a:r>
            <a:r>
              <a:rPr lang="en-US" altLang="ko-KR" sz="1000" b="1" dirty="0"/>
              <a:t>31</a:t>
            </a:r>
            <a:r>
              <a:rPr lang="ko-KR" altLang="en-US" sz="1000" b="1" dirty="0"/>
              <a:t>일 이상이면</a:t>
            </a:r>
            <a:r>
              <a:rPr lang="en-US" altLang="ko-KR" sz="1000" b="1" dirty="0"/>
              <a:t>, </a:t>
            </a:r>
          </a:p>
          <a:p>
            <a:r>
              <a:rPr lang="en-US" altLang="ko-KR" sz="1000" b="1" dirty="0"/>
              <a:t>      </a:t>
            </a:r>
            <a:r>
              <a:rPr lang="ko-KR" altLang="en-US" sz="1000" b="1" dirty="0"/>
              <a:t>제공 사유를 입력해야 합니다</a:t>
            </a:r>
            <a:r>
              <a:rPr lang="en-US" altLang="ko-KR" sz="1000" b="1" dirty="0"/>
              <a:t>.”</a:t>
            </a:r>
          </a:p>
          <a:p>
            <a:pPr marL="228600" indent="-228600">
              <a:buAutoNum type="arabicParenR"/>
            </a:pPr>
            <a:endParaRPr lang="en-US" altLang="ko-KR" sz="1000" dirty="0"/>
          </a:p>
          <a:p>
            <a:pPr marL="228600" indent="-228600">
              <a:buAutoNum type="arabicParenR"/>
            </a:pPr>
            <a:endParaRPr lang="en-US" altLang="ko-KR" sz="1000" dirty="0"/>
          </a:p>
          <a:p>
            <a:r>
              <a:rPr lang="en-US" altLang="ko-KR" sz="1000" dirty="0"/>
              <a:t>2)   </a:t>
            </a:r>
            <a:r>
              <a:rPr lang="ko-KR" altLang="en-US" sz="1000" dirty="0"/>
              <a:t>사유 </a:t>
            </a:r>
            <a:r>
              <a:rPr lang="ko-KR" altLang="en-US" sz="1000" dirty="0" err="1"/>
              <a:t>입력창</a:t>
            </a:r>
            <a:r>
              <a:rPr lang="ko-KR" altLang="en-US" sz="1000" dirty="0"/>
              <a:t> 활성화</a:t>
            </a:r>
            <a:r>
              <a:rPr lang="en-US" altLang="ko-KR" sz="1000" dirty="0"/>
              <a:t>(</a:t>
            </a:r>
            <a:r>
              <a:rPr lang="ko-KR" altLang="en-US" sz="1000" dirty="0" err="1"/>
              <a:t>필수값</a:t>
            </a:r>
            <a:r>
              <a:rPr lang="en-US" altLang="ko-KR" sz="1000" dirty="0"/>
              <a:t>)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6854"/>
              </p:ext>
            </p:extLst>
          </p:nvPr>
        </p:nvGraphicFramePr>
        <p:xfrm>
          <a:off x="4547030" y="3520136"/>
          <a:ext cx="2281788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7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60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제공 사유</a:t>
                      </a:r>
                      <a:endParaRPr lang="ko-KR" altLang="en-US" sz="7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5199386" y="3559073"/>
            <a:ext cx="1538639" cy="13548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endParaRPr lang="ko-KR" altLang="en-US" sz="50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41513" y="1326366"/>
            <a:ext cx="21643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※ </a:t>
            </a:r>
            <a:r>
              <a:rPr lang="ko-KR" altLang="en-US" sz="1200" dirty="0"/>
              <a:t>마스터 정보에서만 해당됨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2860667" y="4027797"/>
            <a:ext cx="3968151" cy="997562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>
                <a:solidFill>
                  <a:srgbClr val="FF0000"/>
                </a:solidFill>
              </a:rPr>
              <a:t>실행하지 않음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8725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82374" y="1114260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/>
              <a:t>◎ 매출 관리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145019"/>
              </p:ext>
            </p:extLst>
          </p:nvPr>
        </p:nvGraphicFramePr>
        <p:xfrm>
          <a:off x="2147538" y="1410097"/>
          <a:ext cx="4402419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5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60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매출 승인</a:t>
                      </a:r>
                      <a:endParaRPr lang="ko-KR" altLang="en-US" sz="7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/>
                        <a:t>                      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결재 상신되며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완료 시 </a:t>
                      </a:r>
                      <a:r>
                        <a:rPr lang="en-US" altLang="ko-KR" sz="800" dirty="0"/>
                        <a:t>MIS </a:t>
                      </a:r>
                      <a:r>
                        <a:rPr lang="ko-KR" altLang="en-US" sz="800" dirty="0"/>
                        <a:t>정산에 연동됩니다</a:t>
                      </a:r>
                      <a:r>
                        <a:rPr lang="en-US" altLang="ko-KR" sz="800" dirty="0"/>
                        <a:t>.)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 신규 계약 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  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법인계약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CRM_03_001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162484"/>
              </p:ext>
            </p:extLst>
          </p:nvPr>
        </p:nvGraphicFramePr>
        <p:xfrm>
          <a:off x="2157749" y="3425521"/>
          <a:ext cx="4402419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5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60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매출 승인</a:t>
                      </a:r>
                      <a:endParaRPr lang="ko-KR" altLang="en-US" sz="7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승인 </a:t>
                      </a:r>
                      <a:r>
                        <a:rPr lang="ko-KR" altLang="en-US" sz="800" dirty="0" err="1"/>
                        <a:t>요청중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3544594" y="3463428"/>
            <a:ext cx="369651" cy="13754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>
                <a:solidFill>
                  <a:schemeClr val="tx1">
                    <a:lumMod val="50000"/>
                    <a:lumOff val="50000"/>
                  </a:schemeClr>
                </a:solidFill>
              </a:rPr>
              <a:t>취소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853292" y="5823709"/>
            <a:ext cx="2704289" cy="7652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50422" y="6004821"/>
            <a:ext cx="23704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승인 </a:t>
            </a:r>
            <a:r>
              <a:rPr lang="ko-KR" altLang="en-US" sz="1000"/>
              <a:t>요청을 취소하시겠습니까</a:t>
            </a:r>
            <a:r>
              <a:rPr lang="en-US" altLang="ko-KR" sz="1000" dirty="0"/>
              <a:t>?</a:t>
            </a:r>
            <a:endParaRPr lang="ko-KR" altLang="en-US" sz="1000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6741751" y="6294608"/>
            <a:ext cx="369651" cy="13754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>
                <a:solidFill>
                  <a:schemeClr val="tx1">
                    <a:lumMod val="50000"/>
                    <a:lumOff val="50000"/>
                  </a:schemeClr>
                </a:solidFill>
              </a:rPr>
              <a:t>취소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7293467" y="6289262"/>
            <a:ext cx="369651" cy="13754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확인</a:t>
            </a: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53493"/>
              </p:ext>
            </p:extLst>
          </p:nvPr>
        </p:nvGraphicFramePr>
        <p:xfrm>
          <a:off x="349192" y="5823709"/>
          <a:ext cx="4402419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5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60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매출 승인</a:t>
                      </a:r>
                      <a:endParaRPr lang="ko-KR" altLang="en-US" sz="7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승인</a:t>
                      </a:r>
                      <a:r>
                        <a:rPr lang="ko-KR" altLang="en-US" sz="800" baseline="0" dirty="0"/>
                        <a:t> 완료 </a:t>
                      </a:r>
                      <a:r>
                        <a:rPr lang="en-US" altLang="ko-KR" sz="800" baseline="0" dirty="0"/>
                        <a:t>(MIS </a:t>
                      </a:r>
                      <a:r>
                        <a:rPr lang="ko-KR" altLang="en-US" sz="800" baseline="0" dirty="0"/>
                        <a:t>정산 완료</a:t>
                      </a:r>
                      <a:r>
                        <a:rPr lang="en-US" altLang="ko-KR" sz="800" baseline="0" dirty="0"/>
                        <a:t> / </a:t>
                      </a:r>
                      <a:r>
                        <a:rPr lang="ko-KR" altLang="en-US" sz="800" baseline="0" dirty="0"/>
                        <a:t>수정 필요 시 변경 품의를 등록하세요</a:t>
                      </a:r>
                      <a:r>
                        <a:rPr lang="en-US" altLang="ko-KR" sz="800" baseline="0" dirty="0"/>
                        <a:t>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직선 화살표 연결선 16"/>
          <p:cNvCxnSpPr/>
          <p:nvPr/>
        </p:nvCxnSpPr>
        <p:spPr>
          <a:xfrm>
            <a:off x="4225530" y="1623457"/>
            <a:ext cx="0" cy="51841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/>
          <p:nvPr/>
        </p:nvCxnSpPr>
        <p:spPr>
          <a:xfrm rot="5400000">
            <a:off x="2166836" y="3771500"/>
            <a:ext cx="2184828" cy="1919591"/>
          </a:xfrm>
          <a:prstGeom prst="bentConnector3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꺾인 연결선 33"/>
          <p:cNvCxnSpPr>
            <a:endCxn id="9" idx="0"/>
          </p:cNvCxnSpPr>
          <p:nvPr/>
        </p:nvCxnSpPr>
        <p:spPr>
          <a:xfrm>
            <a:off x="4225530" y="4731295"/>
            <a:ext cx="2979907" cy="1092414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35"/>
          <p:cNvCxnSpPr>
            <a:stCxn id="9" idx="3"/>
            <a:endCxn id="3" idx="3"/>
          </p:cNvCxnSpPr>
          <p:nvPr/>
        </p:nvCxnSpPr>
        <p:spPr>
          <a:xfrm flipH="1" flipV="1">
            <a:off x="6549957" y="1516777"/>
            <a:ext cx="2007624" cy="4689554"/>
          </a:xfrm>
          <a:prstGeom prst="bentConnector3">
            <a:avLst>
              <a:gd name="adj1" fmla="val -11387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40770" y="447069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취소 클릭 시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1896497" y="1410097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913193" y="3450863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349192" y="559419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6864969" y="559514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157907" y="448241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B0F0"/>
                </a:solidFill>
              </a:rPr>
              <a:t>(</a:t>
            </a:r>
            <a:r>
              <a:rPr lang="ko-KR" altLang="en-US" sz="1000" dirty="0">
                <a:solidFill>
                  <a:srgbClr val="00B0F0"/>
                </a:solidFill>
              </a:rPr>
              <a:t>승인 완료 시</a:t>
            </a:r>
            <a:r>
              <a:rPr lang="en-US" altLang="ko-KR" sz="1000" dirty="0">
                <a:solidFill>
                  <a:srgbClr val="00B0F0"/>
                </a:solidFill>
              </a:rPr>
              <a:t>)</a:t>
            </a:r>
            <a:endParaRPr lang="ko-KR" altLang="en-US" sz="1000" dirty="0">
              <a:solidFill>
                <a:srgbClr val="00B0F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953340" y="591381"/>
            <a:ext cx="218681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매출 승인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r>
              <a:rPr lang="ko-KR" altLang="en-US" sz="800" dirty="0">
                <a:solidFill>
                  <a:prstClr val="black"/>
                </a:solidFill>
              </a:rPr>
              <a:t>입력한 계약을 승인 받아</a:t>
            </a:r>
            <a:r>
              <a:rPr lang="en-US" altLang="ko-KR" sz="800" dirty="0">
                <a:solidFill>
                  <a:prstClr val="black"/>
                </a:solidFill>
              </a:rPr>
              <a:t>,</a:t>
            </a:r>
          </a:p>
          <a:p>
            <a:pPr lvl="0"/>
            <a:r>
              <a:rPr lang="ko-KR" altLang="en-US" sz="800" b="1" dirty="0">
                <a:solidFill>
                  <a:prstClr val="black"/>
                </a:solidFill>
              </a:rPr>
              <a:t>매출을 연동합니다</a:t>
            </a:r>
            <a:r>
              <a:rPr lang="en-US" altLang="ko-KR" sz="800" b="1" dirty="0">
                <a:solidFill>
                  <a:prstClr val="black"/>
                </a:solidFill>
              </a:rPr>
              <a:t>.</a:t>
            </a:r>
          </a:p>
          <a:p>
            <a:pPr lvl="0"/>
            <a:endParaRPr lang="en-US" altLang="ko-KR" sz="800" b="1" dirty="0">
              <a:solidFill>
                <a:prstClr val="black"/>
              </a:solidFill>
            </a:endParaRPr>
          </a:p>
          <a:p>
            <a:pPr lvl="0"/>
            <a:r>
              <a:rPr lang="en-US" altLang="ko-KR" sz="800" b="1" dirty="0">
                <a:solidFill>
                  <a:prstClr val="black"/>
                </a:solidFill>
              </a:rPr>
              <a:t> </a:t>
            </a:r>
            <a:r>
              <a:rPr lang="ko-KR" altLang="en-US" sz="800" b="1" dirty="0">
                <a:solidFill>
                  <a:prstClr val="black"/>
                </a:solidFill>
              </a:rPr>
              <a:t>승인 요청 클릭 시 </a:t>
            </a:r>
            <a:r>
              <a:rPr lang="ko-KR" altLang="en-US" sz="800" b="1" dirty="0" err="1">
                <a:solidFill>
                  <a:prstClr val="black"/>
                </a:solidFill>
              </a:rPr>
              <a:t>얼럿</a:t>
            </a:r>
            <a:endParaRPr lang="en-US" altLang="ko-KR" sz="800" b="1" dirty="0">
              <a:solidFill>
                <a:prstClr val="black"/>
              </a:solidFill>
            </a:endParaRPr>
          </a:p>
          <a:p>
            <a:pPr lvl="0"/>
            <a:endParaRPr lang="en-US" altLang="ko-KR" sz="800" b="1" dirty="0">
              <a:solidFill>
                <a:prstClr val="black"/>
              </a:solidFill>
            </a:endParaRPr>
          </a:p>
          <a:p>
            <a:pPr lvl="0"/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승인 </a:t>
            </a:r>
            <a:r>
              <a:rPr lang="ko-KR" altLang="en-US" sz="1000" b="1" dirty="0" err="1">
                <a:solidFill>
                  <a:srgbClr val="00B0F0"/>
                </a:solidFill>
              </a:rPr>
              <a:t>요청중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r>
              <a:rPr lang="ko-KR" altLang="en-US" sz="800" dirty="0"/>
              <a:t>승인 전까지 요청 취소 가능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/>
              <a:t>완료 후 취소 불가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[3] (</a:t>
            </a:r>
            <a:r>
              <a:rPr lang="ko-KR" altLang="en-US" sz="1000" b="1" dirty="0">
                <a:solidFill>
                  <a:srgbClr val="00B0F0"/>
                </a:solidFill>
              </a:rPr>
              <a:t>매출 관리자</a:t>
            </a:r>
            <a:r>
              <a:rPr lang="en-US" altLang="ko-KR" sz="1000" b="1" dirty="0">
                <a:solidFill>
                  <a:srgbClr val="00B0F0"/>
                </a:solidFill>
              </a:rPr>
              <a:t>) </a:t>
            </a:r>
            <a:r>
              <a:rPr lang="ko-KR" altLang="en-US" sz="1000" b="1" dirty="0">
                <a:solidFill>
                  <a:srgbClr val="00B0F0"/>
                </a:solidFill>
              </a:rPr>
              <a:t>승인 완료 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r>
              <a:rPr lang="ko-KR" altLang="en-US" sz="800" dirty="0">
                <a:solidFill>
                  <a:prstClr val="black"/>
                </a:solidFill>
              </a:rPr>
              <a:t>완료 안내 메시지</a:t>
            </a:r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r>
              <a:rPr lang="ko-KR" altLang="en-US" sz="800" dirty="0">
                <a:solidFill>
                  <a:prstClr val="black"/>
                </a:solidFill>
              </a:rPr>
              <a:t>매출 승인 완료 시  모든 계약정보 비활성화</a:t>
            </a:r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r>
              <a:rPr lang="en-US" altLang="ko-KR" sz="800" dirty="0">
                <a:solidFill>
                  <a:prstClr val="black"/>
                </a:solidFill>
              </a:rPr>
              <a:t>(</a:t>
            </a:r>
            <a:r>
              <a:rPr lang="ko-KR" altLang="en-US" sz="800" dirty="0">
                <a:solidFill>
                  <a:prstClr val="black"/>
                </a:solidFill>
              </a:rPr>
              <a:t>변경 품의 등록 시 해제</a:t>
            </a:r>
            <a:r>
              <a:rPr lang="en-US" altLang="ko-KR" sz="800" dirty="0">
                <a:solidFill>
                  <a:prstClr val="black"/>
                </a:solidFill>
              </a:rPr>
              <a:t>)</a:t>
            </a:r>
          </a:p>
          <a:p>
            <a:pPr lvl="0"/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r>
              <a:rPr lang="en-US" altLang="ko-KR" sz="800" dirty="0">
                <a:solidFill>
                  <a:prstClr val="black"/>
                </a:solidFill>
              </a:rPr>
              <a:t>※ </a:t>
            </a:r>
            <a:r>
              <a:rPr lang="ko-KR" altLang="en-US" sz="800" dirty="0">
                <a:solidFill>
                  <a:prstClr val="black"/>
                </a:solidFill>
              </a:rPr>
              <a:t>변경 품의 등록 후 계약정보 수정 시</a:t>
            </a:r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r>
              <a:rPr lang="ko-KR" altLang="en-US" sz="800" dirty="0">
                <a:solidFill>
                  <a:prstClr val="black"/>
                </a:solidFill>
              </a:rPr>
              <a:t>모든 이력</a:t>
            </a:r>
            <a:r>
              <a:rPr lang="en-US" altLang="ko-KR" sz="800" dirty="0">
                <a:solidFill>
                  <a:prstClr val="black"/>
                </a:solidFill>
              </a:rPr>
              <a:t>(</a:t>
            </a:r>
            <a:r>
              <a:rPr lang="ko-KR" altLang="en-US" sz="800" dirty="0">
                <a:solidFill>
                  <a:prstClr val="black"/>
                </a:solidFill>
              </a:rPr>
              <a:t>수정일</a:t>
            </a:r>
            <a:r>
              <a:rPr lang="en-US" altLang="ko-KR" sz="800" dirty="0">
                <a:solidFill>
                  <a:prstClr val="black"/>
                </a:solidFill>
              </a:rPr>
              <a:t>, </a:t>
            </a:r>
            <a:r>
              <a:rPr lang="ko-KR" altLang="en-US" sz="800" dirty="0">
                <a:solidFill>
                  <a:prstClr val="black"/>
                </a:solidFill>
              </a:rPr>
              <a:t>수정항목</a:t>
            </a:r>
            <a:r>
              <a:rPr lang="en-US" altLang="ko-KR" sz="800" dirty="0">
                <a:solidFill>
                  <a:prstClr val="black"/>
                </a:solidFill>
              </a:rPr>
              <a:t>, </a:t>
            </a:r>
            <a:r>
              <a:rPr lang="ko-KR" altLang="en-US" sz="800" dirty="0">
                <a:solidFill>
                  <a:prstClr val="black"/>
                </a:solidFill>
              </a:rPr>
              <a:t>이전</a:t>
            </a:r>
            <a:r>
              <a:rPr lang="en-US" altLang="ko-KR" sz="800" dirty="0">
                <a:solidFill>
                  <a:prstClr val="black"/>
                </a:solidFill>
              </a:rPr>
              <a:t>/</a:t>
            </a:r>
            <a:r>
              <a:rPr lang="ko-KR" altLang="en-US" sz="800" dirty="0">
                <a:solidFill>
                  <a:prstClr val="black"/>
                </a:solidFill>
              </a:rPr>
              <a:t>이후 값</a:t>
            </a:r>
            <a:r>
              <a:rPr lang="en-US" altLang="ko-KR" sz="800" dirty="0">
                <a:solidFill>
                  <a:prstClr val="black"/>
                </a:solidFill>
              </a:rPr>
              <a:t>,</a:t>
            </a:r>
          </a:p>
          <a:p>
            <a:pPr lvl="0"/>
            <a:r>
              <a:rPr lang="ko-KR" altLang="en-US" sz="800" dirty="0">
                <a:solidFill>
                  <a:prstClr val="black"/>
                </a:solidFill>
              </a:rPr>
              <a:t>수정한 사람</a:t>
            </a:r>
            <a:r>
              <a:rPr lang="en-US" altLang="ko-KR" sz="800" dirty="0">
                <a:solidFill>
                  <a:prstClr val="black"/>
                </a:solidFill>
              </a:rPr>
              <a:t>) </a:t>
            </a:r>
            <a:r>
              <a:rPr lang="ko-KR" altLang="en-US" sz="800" dirty="0" err="1">
                <a:solidFill>
                  <a:prstClr val="black"/>
                </a:solidFill>
              </a:rPr>
              <a:t>히스토리</a:t>
            </a:r>
            <a:r>
              <a:rPr lang="ko-KR" altLang="en-US" sz="800" dirty="0">
                <a:solidFill>
                  <a:prstClr val="black"/>
                </a:solidFill>
              </a:rPr>
              <a:t> 볼 수 있어야 함</a:t>
            </a:r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r>
              <a:rPr lang="en-US" altLang="ko-KR" sz="800" dirty="0">
                <a:solidFill>
                  <a:prstClr val="black"/>
                </a:solidFill>
              </a:rPr>
              <a:t>(</a:t>
            </a:r>
            <a:r>
              <a:rPr lang="ko-KR" altLang="en-US" sz="800" dirty="0">
                <a:solidFill>
                  <a:prstClr val="black"/>
                </a:solidFill>
              </a:rPr>
              <a:t>수정 이력</a:t>
            </a:r>
            <a:r>
              <a:rPr lang="en-US" altLang="ko-KR" sz="800" dirty="0">
                <a:solidFill>
                  <a:prstClr val="black"/>
                </a:solidFill>
              </a:rPr>
              <a:t>)</a:t>
            </a:r>
          </a:p>
          <a:p>
            <a:pPr lvl="0"/>
            <a:endParaRPr lang="en-US" altLang="ko-KR" sz="800" dirty="0">
              <a:solidFill>
                <a:prstClr val="black"/>
              </a:solidFill>
            </a:endParaRPr>
          </a:p>
          <a:p>
            <a:endParaRPr lang="en-US" altLang="ko-KR" sz="800" dirty="0"/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[4] (</a:t>
            </a:r>
            <a:r>
              <a:rPr lang="ko-KR" altLang="en-US" sz="1000" b="1" dirty="0">
                <a:solidFill>
                  <a:srgbClr val="00B0F0"/>
                </a:solidFill>
              </a:rPr>
              <a:t>매출 승인 전</a:t>
            </a:r>
            <a:r>
              <a:rPr lang="en-US" altLang="ko-KR" sz="1000" b="1" dirty="0">
                <a:solidFill>
                  <a:srgbClr val="00B0F0"/>
                </a:solidFill>
              </a:rPr>
              <a:t>) </a:t>
            </a:r>
            <a:r>
              <a:rPr lang="ko-KR" altLang="en-US" sz="1000" b="1" dirty="0">
                <a:solidFill>
                  <a:srgbClr val="00B0F0"/>
                </a:solidFill>
              </a:rPr>
              <a:t>요청 취소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r>
              <a:rPr lang="ko-KR" altLang="en-US" sz="800" dirty="0">
                <a:solidFill>
                  <a:prstClr val="black"/>
                </a:solidFill>
              </a:rPr>
              <a:t>취소 버튼 클릭 시 </a:t>
            </a:r>
            <a:r>
              <a:rPr lang="ko-KR" altLang="en-US" sz="800" dirty="0" err="1">
                <a:solidFill>
                  <a:prstClr val="black"/>
                </a:solidFill>
              </a:rPr>
              <a:t>얼럿</a:t>
            </a:r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endParaRPr lang="en-US" altLang="ko-KR" sz="800" dirty="0">
              <a:solidFill>
                <a:prstClr val="black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취소 완료 시 </a:t>
            </a:r>
            <a:r>
              <a:rPr lang="en-US" altLang="ko-KR" sz="800" dirty="0">
                <a:solidFill>
                  <a:srgbClr val="FF0000"/>
                </a:solidFill>
              </a:rPr>
              <a:t>[1]</a:t>
            </a:r>
            <a:r>
              <a:rPr lang="ko-KR" altLang="en-US" sz="800" dirty="0">
                <a:solidFill>
                  <a:srgbClr val="FF0000"/>
                </a:solidFill>
              </a:rPr>
              <a:t>의 상태로 복귀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2909733" y="2141868"/>
            <a:ext cx="2704289" cy="7652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919189" y="2281525"/>
            <a:ext cx="268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매출 승인 요청하시겠습니까</a:t>
            </a:r>
            <a:r>
              <a:rPr lang="en-US" altLang="ko-KR" sz="1000" dirty="0"/>
              <a:t>?</a:t>
            </a:r>
          </a:p>
          <a:p>
            <a:pPr algn="ctr"/>
            <a:r>
              <a:rPr lang="en-US" altLang="ko-KR" sz="800" dirty="0"/>
              <a:t>(</a:t>
            </a:r>
            <a:r>
              <a:rPr lang="ko-KR" altLang="en-US" sz="800" dirty="0"/>
              <a:t>승인 완료 후 수정하려면 변경 품의가 필요합니다</a:t>
            </a:r>
            <a:r>
              <a:rPr lang="en-US" altLang="ko-KR" sz="800" dirty="0"/>
              <a:t>.)</a:t>
            </a:r>
            <a:endParaRPr lang="ko-KR" altLang="en-US" sz="800" dirty="0"/>
          </a:p>
        </p:txBody>
      </p:sp>
      <p:sp>
        <p:nvSpPr>
          <p:cNvPr id="47" name="모서리가 둥근 직사각형 46"/>
          <p:cNvSpPr/>
          <p:nvPr/>
        </p:nvSpPr>
        <p:spPr>
          <a:xfrm>
            <a:off x="3830244" y="2690932"/>
            <a:ext cx="369651" cy="13754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>
                <a:solidFill>
                  <a:schemeClr val="tx1">
                    <a:lumMod val="50000"/>
                    <a:lumOff val="50000"/>
                  </a:schemeClr>
                </a:solidFill>
              </a:rPr>
              <a:t>취소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4314604" y="2690932"/>
            <a:ext cx="369651" cy="13754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확인</a:t>
            </a:r>
          </a:p>
        </p:txBody>
      </p:sp>
      <p:cxnSp>
        <p:nvCxnSpPr>
          <p:cNvPr id="52" name="직선 화살표 연결선 51"/>
          <p:cNvCxnSpPr/>
          <p:nvPr/>
        </p:nvCxnSpPr>
        <p:spPr>
          <a:xfrm>
            <a:off x="4229935" y="2907111"/>
            <a:ext cx="0" cy="51841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모서리가 둥근 직사각형 53"/>
          <p:cNvSpPr/>
          <p:nvPr/>
        </p:nvSpPr>
        <p:spPr>
          <a:xfrm>
            <a:off x="2922915" y="1435999"/>
            <a:ext cx="721927" cy="16573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승인 요청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65851" y="693571"/>
            <a:ext cx="2886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Q. </a:t>
            </a:r>
            <a:r>
              <a:rPr lang="ko-KR" altLang="en-US" sz="1200" dirty="0">
                <a:solidFill>
                  <a:srgbClr val="FF0000"/>
                </a:solidFill>
              </a:rPr>
              <a:t>매출 연동 후 비활성화 항목</a:t>
            </a:r>
            <a:r>
              <a:rPr lang="en-US" altLang="ko-KR" sz="1200" dirty="0">
                <a:solidFill>
                  <a:srgbClr val="FF0000"/>
                </a:solidFill>
              </a:rPr>
              <a:t>= </a:t>
            </a:r>
            <a:r>
              <a:rPr lang="ko-KR" altLang="en-US" sz="1200" dirty="0">
                <a:solidFill>
                  <a:srgbClr val="FF0000"/>
                </a:solidFill>
              </a:rPr>
              <a:t>전체</a:t>
            </a:r>
            <a:r>
              <a:rPr lang="en-US" altLang="ko-KR" sz="12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189160" y="5872065"/>
            <a:ext cx="145432" cy="11664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V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86916" y="5814973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MIS </a:t>
            </a:r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연동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112" y="6064960"/>
            <a:ext cx="48686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rgbClr val="FF0000"/>
                </a:solidFill>
              </a:rPr>
              <a:t>계약 </a:t>
            </a:r>
            <a:r>
              <a:rPr lang="ko-KR" altLang="en-US" sz="1050" dirty="0" err="1">
                <a:solidFill>
                  <a:srgbClr val="FF0000"/>
                </a:solidFill>
              </a:rPr>
              <a:t>수정시</a:t>
            </a:r>
            <a:endParaRPr lang="en-US" altLang="ko-KR" sz="1050" dirty="0">
              <a:solidFill>
                <a:srgbClr val="FF0000"/>
              </a:solidFill>
            </a:endParaRPr>
          </a:p>
          <a:p>
            <a:r>
              <a:rPr lang="en-US" altLang="ko-KR" sz="1050" dirty="0">
                <a:solidFill>
                  <a:srgbClr val="FF0000"/>
                </a:solidFill>
              </a:rPr>
              <a:t>- </a:t>
            </a:r>
            <a:r>
              <a:rPr lang="ko-KR" altLang="en-US" sz="1050" dirty="0">
                <a:solidFill>
                  <a:srgbClr val="FF0000"/>
                </a:solidFill>
              </a:rPr>
              <a:t>변경 품의를 등록해야만 계약정보 수정 가능</a:t>
            </a:r>
            <a:endParaRPr lang="en-US" altLang="ko-KR" sz="1050" dirty="0">
              <a:solidFill>
                <a:srgbClr val="FF0000"/>
              </a:solidFill>
            </a:endParaRPr>
          </a:p>
          <a:p>
            <a:r>
              <a:rPr lang="en-US" altLang="ko-KR" sz="1050" dirty="0">
                <a:solidFill>
                  <a:srgbClr val="FF0000"/>
                </a:solidFill>
              </a:rPr>
              <a:t>- MIS </a:t>
            </a:r>
            <a:r>
              <a:rPr lang="ko-KR" altLang="en-US" sz="1050" dirty="0">
                <a:solidFill>
                  <a:srgbClr val="FF0000"/>
                </a:solidFill>
              </a:rPr>
              <a:t>연동 체크박스 해제 후 </a:t>
            </a:r>
            <a:r>
              <a:rPr lang="en-US" altLang="ko-KR" sz="1050" dirty="0">
                <a:solidFill>
                  <a:srgbClr val="FF0000"/>
                </a:solidFill>
              </a:rPr>
              <a:t>[</a:t>
            </a:r>
            <a:r>
              <a:rPr lang="ko-KR" altLang="en-US" sz="1050" dirty="0">
                <a:solidFill>
                  <a:srgbClr val="FF0000"/>
                </a:solidFill>
              </a:rPr>
              <a:t>계약저장</a:t>
            </a:r>
            <a:r>
              <a:rPr lang="en-US" altLang="ko-KR" sz="1050" dirty="0">
                <a:solidFill>
                  <a:srgbClr val="FF0000"/>
                </a:solidFill>
              </a:rPr>
              <a:t>] </a:t>
            </a:r>
            <a:r>
              <a:rPr lang="ko-KR" altLang="en-US" sz="1050" dirty="0">
                <a:solidFill>
                  <a:srgbClr val="FF0000"/>
                </a:solidFill>
              </a:rPr>
              <a:t>시 수정 정보는 </a:t>
            </a:r>
            <a:r>
              <a:rPr lang="en-US" altLang="ko-KR" sz="1050" dirty="0">
                <a:solidFill>
                  <a:srgbClr val="FF0000"/>
                </a:solidFill>
              </a:rPr>
              <a:t>MIS</a:t>
            </a:r>
            <a:r>
              <a:rPr lang="ko-KR" altLang="en-US" sz="1050" dirty="0">
                <a:solidFill>
                  <a:srgbClr val="FF0000"/>
                </a:solidFill>
              </a:rPr>
              <a:t>로 이관되지 않음</a:t>
            </a:r>
            <a:endParaRPr lang="en-US" altLang="ko-KR" sz="1050" dirty="0">
              <a:solidFill>
                <a:srgbClr val="FF0000"/>
              </a:solidFill>
            </a:endParaRPr>
          </a:p>
          <a:p>
            <a:r>
              <a:rPr lang="en-US" altLang="ko-KR" sz="1050" dirty="0">
                <a:solidFill>
                  <a:srgbClr val="FF0000"/>
                </a:solidFill>
              </a:rPr>
              <a:t>- </a:t>
            </a:r>
            <a:r>
              <a:rPr lang="ko-KR" altLang="en-US" sz="1050" dirty="0">
                <a:solidFill>
                  <a:srgbClr val="FF0000"/>
                </a:solidFill>
              </a:rPr>
              <a:t>수정 정보를 </a:t>
            </a:r>
            <a:r>
              <a:rPr lang="en-US" altLang="ko-KR" sz="1050" dirty="0">
                <a:solidFill>
                  <a:srgbClr val="FF0000"/>
                </a:solidFill>
              </a:rPr>
              <a:t>MIS</a:t>
            </a:r>
            <a:r>
              <a:rPr lang="ko-KR" altLang="en-US" sz="1050" dirty="0">
                <a:solidFill>
                  <a:srgbClr val="FF0000"/>
                </a:solidFill>
              </a:rPr>
              <a:t>에 이관하려면 체크박스 선택 후 </a:t>
            </a:r>
            <a:r>
              <a:rPr lang="en-US" altLang="ko-KR" sz="1050" dirty="0">
                <a:solidFill>
                  <a:srgbClr val="FF0000"/>
                </a:solidFill>
              </a:rPr>
              <a:t>[</a:t>
            </a:r>
            <a:r>
              <a:rPr lang="ko-KR" altLang="en-US" sz="1050" dirty="0">
                <a:solidFill>
                  <a:srgbClr val="FF0000"/>
                </a:solidFill>
              </a:rPr>
              <a:t>계약저장</a:t>
            </a:r>
            <a:r>
              <a:rPr lang="en-US" altLang="ko-KR" sz="1050" dirty="0">
                <a:solidFill>
                  <a:srgbClr val="FF0000"/>
                </a:solidFill>
              </a:rPr>
              <a:t>] </a:t>
            </a:r>
            <a:r>
              <a:rPr lang="ko-KR" altLang="en-US" sz="1050" dirty="0" err="1">
                <a:solidFill>
                  <a:srgbClr val="FF0000"/>
                </a:solidFill>
              </a:rPr>
              <a:t>해야함</a:t>
            </a:r>
            <a:endParaRPr lang="en-US" altLang="ko-KR" sz="1050" dirty="0">
              <a:solidFill>
                <a:srgbClr val="FF0000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8842075" y="72852"/>
            <a:ext cx="3968151" cy="997562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매출관리 기능 추가 보류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2860667" y="4027797"/>
            <a:ext cx="3968151" cy="997562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>
                <a:solidFill>
                  <a:srgbClr val="FF0000"/>
                </a:solidFill>
              </a:rPr>
              <a:t>실행하지 않음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0137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2EDFD0E7-8230-407D-AE34-12A715E56199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661481" y="1419022"/>
            <a:ext cx="828148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CRM_03_002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endParaRPr lang="en-US" altLang="ko-KR" sz="140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1.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계약 등록 시 계약 </a:t>
            </a:r>
            <a:r>
              <a:rPr lang="ko-KR" altLang="en-US" sz="14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키값을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 지정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재계약 시 </a:t>
            </a:r>
            <a:r>
              <a:rPr lang="ko-KR" altLang="en-US" sz="14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차수별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 재계약이 연동되도록 함</a:t>
            </a:r>
            <a:endParaRPr lang="en-US" altLang="ko-KR" sz="140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endParaRPr lang="en-US" altLang="ko-KR" sz="140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2.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계약차수 추가 시 회사 담당자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담당자 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세금계산서 담당자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별도로 저장되어야 함</a:t>
            </a:r>
            <a:r>
              <a:rPr lang="ko-KR" alt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092653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직사각형 73"/>
          <p:cNvSpPr/>
          <p:nvPr/>
        </p:nvSpPr>
        <p:spPr>
          <a:xfrm>
            <a:off x="136187" y="5143833"/>
            <a:ext cx="4818434" cy="2583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</a:rPr>
              <a:t>재계약 현황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4407777" y="5194846"/>
            <a:ext cx="4818434" cy="2583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</a:rPr>
              <a:t>월별 추이</a:t>
            </a:r>
          </a:p>
        </p:txBody>
      </p:sp>
      <p:graphicFrame>
        <p:nvGraphicFramePr>
          <p:cNvPr id="76" name="표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981948"/>
              </p:ext>
            </p:extLst>
          </p:nvPr>
        </p:nvGraphicFramePr>
        <p:xfrm>
          <a:off x="136188" y="5435243"/>
          <a:ext cx="481843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7" name="직사각형 76"/>
          <p:cNvSpPr/>
          <p:nvPr/>
        </p:nvSpPr>
        <p:spPr>
          <a:xfrm>
            <a:off x="852649" y="5450488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78" name="그림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266" y="5454990"/>
            <a:ext cx="186718" cy="154639"/>
          </a:xfrm>
          <a:prstGeom prst="rect">
            <a:avLst/>
          </a:prstGeom>
        </p:spPr>
      </p:pic>
      <p:sp>
        <p:nvSpPr>
          <p:cNvPr id="79" name="직사각형 78"/>
          <p:cNvSpPr/>
          <p:nvPr/>
        </p:nvSpPr>
        <p:spPr>
          <a:xfrm>
            <a:off x="2145952" y="5450488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80" name="그림 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018" y="5449716"/>
            <a:ext cx="186718" cy="154639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877641" y="5388537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82" name="직사각형 81"/>
          <p:cNvSpPr/>
          <p:nvPr/>
        </p:nvSpPr>
        <p:spPr>
          <a:xfrm>
            <a:off x="852649" y="5683502"/>
            <a:ext cx="649734" cy="1444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유료회원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1552186" y="5682150"/>
            <a:ext cx="879729" cy="14554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선택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2692757" y="5733007"/>
            <a:ext cx="1620986" cy="1416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홍길동                       🔍</a:t>
            </a:r>
          </a:p>
        </p:txBody>
      </p:sp>
      <p:graphicFrame>
        <p:nvGraphicFramePr>
          <p:cNvPr id="85" name="표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509694"/>
              </p:ext>
            </p:extLst>
          </p:nvPr>
        </p:nvGraphicFramePr>
        <p:xfrm>
          <a:off x="4415427" y="5486256"/>
          <a:ext cx="481843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● 시작일  ○ 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6" name="직사각형 85"/>
          <p:cNvSpPr/>
          <p:nvPr/>
        </p:nvSpPr>
        <p:spPr>
          <a:xfrm>
            <a:off x="6334305" y="5515123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87" name="그림 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922" y="5519625"/>
            <a:ext cx="186718" cy="154639"/>
          </a:xfrm>
          <a:prstGeom prst="rect">
            <a:avLst/>
          </a:prstGeom>
        </p:spPr>
      </p:pic>
      <p:sp>
        <p:nvSpPr>
          <p:cNvPr id="88" name="직사각형 87"/>
          <p:cNvSpPr/>
          <p:nvPr/>
        </p:nvSpPr>
        <p:spPr>
          <a:xfrm>
            <a:off x="7627608" y="5515123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89" name="그림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674" y="5514351"/>
            <a:ext cx="186718" cy="154639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7359297" y="5453172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91" name="직사각형 90"/>
          <p:cNvSpPr/>
          <p:nvPr/>
        </p:nvSpPr>
        <p:spPr>
          <a:xfrm>
            <a:off x="5131888" y="5734515"/>
            <a:ext cx="649734" cy="1444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유료회원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5831425" y="5733163"/>
            <a:ext cx="879729" cy="14554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선택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3" name="모서리가 둥근 직사각형 92"/>
          <p:cNvSpPr/>
          <p:nvPr/>
        </p:nvSpPr>
        <p:spPr>
          <a:xfrm>
            <a:off x="136187" y="5915232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94" name="모서리가 둥근 직사각형 93"/>
          <p:cNvSpPr/>
          <p:nvPr/>
        </p:nvSpPr>
        <p:spPr>
          <a:xfrm>
            <a:off x="729574" y="5915232"/>
            <a:ext cx="625813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다운로드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5" name="모서리가 둥근 직사각형 94"/>
          <p:cNvSpPr/>
          <p:nvPr/>
        </p:nvSpPr>
        <p:spPr>
          <a:xfrm>
            <a:off x="4415427" y="5963765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96" name="모서리가 둥근 직사각형 95"/>
          <p:cNvSpPr/>
          <p:nvPr/>
        </p:nvSpPr>
        <p:spPr>
          <a:xfrm>
            <a:off x="5008814" y="5963765"/>
            <a:ext cx="625813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다운로드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7553344" y="5738393"/>
            <a:ext cx="1620986" cy="1416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                    🔍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2699679" y="572603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1914289" y="567592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36187" y="1174883"/>
            <a:ext cx="4818434" cy="2583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</a:rPr>
              <a:t>계약 현황</a:t>
            </a:r>
            <a:r>
              <a:rPr lang="en-US" altLang="ko-KR" sz="1000" b="1" dirty="0">
                <a:solidFill>
                  <a:schemeClr val="bg1"/>
                </a:solidFill>
              </a:rPr>
              <a:t>(</a:t>
            </a:r>
            <a:r>
              <a:rPr lang="ko-KR" altLang="en-US" sz="1000" b="1" dirty="0">
                <a:solidFill>
                  <a:schemeClr val="bg1"/>
                </a:solidFill>
              </a:rPr>
              <a:t>회원 분포</a:t>
            </a:r>
            <a:r>
              <a:rPr lang="en-US" altLang="ko-KR" sz="1000" b="1" dirty="0">
                <a:solidFill>
                  <a:schemeClr val="bg1"/>
                </a:solidFill>
              </a:rPr>
              <a:t>)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996774" y="1174883"/>
            <a:ext cx="4818434" cy="2583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</a:rPr>
              <a:t>월별 추이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36188" y="1466293"/>
          <a:ext cx="481843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● 시작일  ○ 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2055066" y="1495160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683" y="1499662"/>
            <a:ext cx="186718" cy="154639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3348369" y="1495160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435" y="1494388"/>
            <a:ext cx="186718" cy="1546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80058" y="1433209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14" name="직사각형 13"/>
          <p:cNvSpPr/>
          <p:nvPr/>
        </p:nvSpPr>
        <p:spPr>
          <a:xfrm>
            <a:off x="852649" y="1714552"/>
            <a:ext cx="649734" cy="1444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유료회원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552186" y="1713200"/>
            <a:ext cx="879729" cy="14554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선택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281754" y="1713044"/>
            <a:ext cx="1620986" cy="1416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                    🔍</a:t>
            </a:r>
          </a:p>
        </p:txBody>
      </p:sp>
      <p:graphicFrame>
        <p:nvGraphicFramePr>
          <p:cNvPr id="34" name="표 33"/>
          <p:cNvGraphicFramePr>
            <a:graphicFrameLocks noGrp="1"/>
          </p:cNvGraphicFramePr>
          <p:nvPr/>
        </p:nvGraphicFramePr>
        <p:xfrm>
          <a:off x="5004424" y="1466293"/>
          <a:ext cx="481843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● 시작일  ○ 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직사각형 34"/>
          <p:cNvSpPr/>
          <p:nvPr/>
        </p:nvSpPr>
        <p:spPr>
          <a:xfrm>
            <a:off x="6923302" y="1495160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919" y="1499662"/>
            <a:ext cx="186718" cy="154639"/>
          </a:xfrm>
          <a:prstGeom prst="rect">
            <a:avLst/>
          </a:prstGeom>
        </p:spPr>
      </p:pic>
      <p:sp>
        <p:nvSpPr>
          <p:cNvPr id="37" name="직사각형 36"/>
          <p:cNvSpPr/>
          <p:nvPr/>
        </p:nvSpPr>
        <p:spPr>
          <a:xfrm>
            <a:off x="8216605" y="1495160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671" y="1494388"/>
            <a:ext cx="186718" cy="15463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948294" y="1433209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40" name="직사각형 39"/>
          <p:cNvSpPr/>
          <p:nvPr/>
        </p:nvSpPr>
        <p:spPr>
          <a:xfrm>
            <a:off x="5720885" y="1714552"/>
            <a:ext cx="649734" cy="1444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유료회원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420422" y="1713200"/>
            <a:ext cx="879729" cy="14554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선택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5404963" y="2193366"/>
            <a:ext cx="0" cy="139310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4815966" y="3637483"/>
            <a:ext cx="423190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90171" y="3637483"/>
            <a:ext cx="3879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1</a:t>
            </a:r>
            <a:r>
              <a:rPr lang="ko-KR" altLang="en-US" sz="800" dirty="0"/>
              <a:t>월    </a:t>
            </a:r>
            <a:r>
              <a:rPr lang="en-US" altLang="ko-KR" sz="800" dirty="0"/>
              <a:t>2</a:t>
            </a:r>
            <a:r>
              <a:rPr lang="ko-KR" altLang="en-US" sz="800" dirty="0"/>
              <a:t>월    </a:t>
            </a:r>
            <a:r>
              <a:rPr lang="en-US" altLang="ko-KR" sz="800" dirty="0"/>
              <a:t>3</a:t>
            </a:r>
            <a:r>
              <a:rPr lang="ko-KR" altLang="en-US" sz="800" dirty="0"/>
              <a:t>월    </a:t>
            </a:r>
            <a:r>
              <a:rPr lang="en-US" altLang="ko-KR" sz="800" dirty="0"/>
              <a:t>4</a:t>
            </a:r>
            <a:r>
              <a:rPr lang="ko-KR" altLang="en-US" sz="800" dirty="0"/>
              <a:t>월    </a:t>
            </a:r>
            <a:r>
              <a:rPr lang="en-US" altLang="ko-KR" sz="800" dirty="0"/>
              <a:t>5</a:t>
            </a:r>
            <a:r>
              <a:rPr lang="ko-KR" altLang="en-US" sz="800" dirty="0"/>
              <a:t>월    </a:t>
            </a:r>
            <a:r>
              <a:rPr lang="en-US" altLang="ko-KR" sz="800" dirty="0"/>
              <a:t>6</a:t>
            </a:r>
            <a:r>
              <a:rPr lang="ko-KR" altLang="en-US" sz="800" dirty="0"/>
              <a:t>월    </a:t>
            </a:r>
            <a:r>
              <a:rPr lang="en-US" altLang="ko-KR" sz="800" dirty="0"/>
              <a:t>7</a:t>
            </a:r>
            <a:r>
              <a:rPr lang="ko-KR" altLang="en-US" sz="800" dirty="0"/>
              <a:t>월    </a:t>
            </a:r>
            <a:r>
              <a:rPr lang="en-US" altLang="ko-KR" sz="800" dirty="0"/>
              <a:t>8</a:t>
            </a:r>
            <a:r>
              <a:rPr lang="ko-KR" altLang="en-US" sz="800" dirty="0"/>
              <a:t>월    </a:t>
            </a:r>
            <a:r>
              <a:rPr lang="en-US" altLang="ko-KR" sz="800" dirty="0"/>
              <a:t>9</a:t>
            </a:r>
            <a:r>
              <a:rPr lang="ko-KR" altLang="en-US" sz="800" dirty="0"/>
              <a:t>월    </a:t>
            </a:r>
            <a:r>
              <a:rPr lang="en-US" altLang="ko-KR" sz="800" dirty="0"/>
              <a:t>10</a:t>
            </a:r>
            <a:r>
              <a:rPr lang="ko-KR" altLang="en-US" sz="800" dirty="0"/>
              <a:t>월    </a:t>
            </a:r>
            <a:r>
              <a:rPr lang="en-US" altLang="ko-KR" sz="800" dirty="0"/>
              <a:t>11</a:t>
            </a:r>
            <a:r>
              <a:rPr lang="ko-KR" altLang="en-US" sz="800" dirty="0"/>
              <a:t>월    </a:t>
            </a:r>
            <a:r>
              <a:rPr lang="en-US" altLang="ko-KR" sz="800" dirty="0"/>
              <a:t>12</a:t>
            </a:r>
            <a:r>
              <a:rPr lang="ko-KR" altLang="en-US" sz="800" dirty="0"/>
              <a:t>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76810" y="2125845"/>
            <a:ext cx="46525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12500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10000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7500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5000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2500</a:t>
            </a:r>
            <a:endParaRPr lang="ko-KR" altLang="en-US" sz="800" dirty="0"/>
          </a:p>
        </p:txBody>
      </p:sp>
      <p:grpSp>
        <p:nvGrpSpPr>
          <p:cNvPr id="47" name="그룹 46"/>
          <p:cNvGrpSpPr/>
          <p:nvPr/>
        </p:nvGrpSpPr>
        <p:grpSpPr>
          <a:xfrm>
            <a:off x="4890171" y="3039179"/>
            <a:ext cx="591779" cy="274504"/>
            <a:chOff x="5479168" y="2774343"/>
            <a:chExt cx="591779" cy="274504"/>
          </a:xfrm>
        </p:grpSpPr>
        <p:sp>
          <p:nvSpPr>
            <p:cNvPr id="22" name="TextBox 21"/>
            <p:cNvSpPr txBox="1"/>
            <p:nvPr/>
          </p:nvSpPr>
          <p:spPr>
            <a:xfrm>
              <a:off x="5479168" y="2774343"/>
              <a:ext cx="26161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" dirty="0"/>
                <a:t>◆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809337" y="2864181"/>
              <a:ext cx="26161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" dirty="0"/>
                <a:t>◆</a:t>
              </a:r>
            </a:p>
          </p:txBody>
        </p:sp>
        <p:cxnSp>
          <p:nvCxnSpPr>
            <p:cNvPr id="46" name="직선 연결선 45"/>
            <p:cNvCxnSpPr/>
            <p:nvPr/>
          </p:nvCxnSpPr>
          <p:spPr>
            <a:xfrm>
              <a:off x="5609973" y="2879759"/>
              <a:ext cx="330169" cy="898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793913"/>
              </p:ext>
            </p:extLst>
          </p:nvPr>
        </p:nvGraphicFramePr>
        <p:xfrm>
          <a:off x="129504" y="3087802"/>
          <a:ext cx="4818434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8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3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3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34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927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9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신규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신규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8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신규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돌신</a:t>
                      </a:r>
                      <a:r>
                        <a:rPr lang="en-US" altLang="ko-KR" sz="800" u="none" dirty="0"/>
                        <a:t>) 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890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재계약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신규교체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8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8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재가입교체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8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돌재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38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 탈퇴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서비스종료 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389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합계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9" name="모서리가 둥근 직사각형 48"/>
          <p:cNvSpPr/>
          <p:nvPr/>
        </p:nvSpPr>
        <p:spPr>
          <a:xfrm>
            <a:off x="136187" y="1946282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50" name="모서리가 둥근 직사각형 49"/>
          <p:cNvSpPr/>
          <p:nvPr/>
        </p:nvSpPr>
        <p:spPr>
          <a:xfrm>
            <a:off x="729574" y="1946282"/>
            <a:ext cx="625813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다운로드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34989"/>
              </p:ext>
            </p:extLst>
          </p:nvPr>
        </p:nvGraphicFramePr>
        <p:xfrm>
          <a:off x="4415427" y="3969449"/>
          <a:ext cx="4671355" cy="10896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6420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361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신규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재계약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미계약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합계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" name="모서리가 둥근 직사각형 51"/>
          <p:cNvSpPr/>
          <p:nvPr/>
        </p:nvSpPr>
        <p:spPr>
          <a:xfrm>
            <a:off x="5004424" y="1943802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53" name="모서리가 둥근 직사각형 52"/>
          <p:cNvSpPr/>
          <p:nvPr/>
        </p:nvSpPr>
        <p:spPr>
          <a:xfrm>
            <a:off x="5597811" y="1943802"/>
            <a:ext cx="625813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다운로드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8142341" y="1718430"/>
            <a:ext cx="1620986" cy="1416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                    🔍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6860286" y="170780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55" name="직선 연결선 54"/>
          <p:cNvCxnSpPr/>
          <p:nvPr/>
        </p:nvCxnSpPr>
        <p:spPr>
          <a:xfrm>
            <a:off x="588497" y="2219939"/>
            <a:ext cx="0" cy="56197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588497" y="2781918"/>
            <a:ext cx="423190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78913" y="2787564"/>
            <a:ext cx="33217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2500           5000         7500        10000        12500        15000</a:t>
            </a:r>
            <a:endParaRPr lang="ko-KR" altLang="en-US" sz="800" dirty="0"/>
          </a:p>
        </p:txBody>
      </p:sp>
      <p:sp>
        <p:nvSpPr>
          <p:cNvPr id="13" name="직사각형 12"/>
          <p:cNvSpPr/>
          <p:nvPr/>
        </p:nvSpPr>
        <p:spPr>
          <a:xfrm>
            <a:off x="588497" y="2363087"/>
            <a:ext cx="3838656" cy="26588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588497" y="2362109"/>
            <a:ext cx="1143026" cy="2658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신규</a:t>
            </a:r>
            <a:endParaRPr lang="en-US" altLang="ko-KR" sz="8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(0000</a:t>
            </a:r>
            <a:r>
              <a:rPr lang="ko-KR" altLang="en-US" sz="800" b="1" dirty="0">
                <a:solidFill>
                  <a:schemeClr val="bg1"/>
                </a:solidFill>
              </a:rPr>
              <a:t>명</a:t>
            </a:r>
            <a:r>
              <a:rPr lang="en-US" altLang="ko-KR" sz="800" b="1" dirty="0">
                <a:solidFill>
                  <a:schemeClr val="bg1"/>
                </a:solidFill>
              </a:rPr>
              <a:t>, 00%)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731522" y="2362109"/>
            <a:ext cx="2159541" cy="265889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재계약</a:t>
            </a:r>
            <a:endParaRPr lang="en-US" altLang="ko-KR" sz="8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(0000</a:t>
            </a:r>
            <a:r>
              <a:rPr lang="ko-KR" altLang="en-US" sz="800" b="1" dirty="0">
                <a:solidFill>
                  <a:schemeClr val="bg1"/>
                </a:solidFill>
              </a:rPr>
              <a:t>명</a:t>
            </a:r>
            <a:r>
              <a:rPr lang="en-US" altLang="ko-KR" sz="800" b="1" dirty="0">
                <a:solidFill>
                  <a:schemeClr val="bg1"/>
                </a:solidFill>
              </a:rPr>
              <a:t>, 00%)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893995" y="2362108"/>
            <a:ext cx="562030" cy="26588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미계약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(000</a:t>
            </a:r>
            <a:r>
              <a:rPr lang="ko-KR" altLang="en-US" sz="800" dirty="0">
                <a:solidFill>
                  <a:schemeClr val="tx1"/>
                </a:solidFill>
              </a:rPr>
              <a:t>명</a:t>
            </a:r>
            <a:r>
              <a:rPr lang="en-US" altLang="ko-KR" sz="800" dirty="0">
                <a:solidFill>
                  <a:schemeClr val="tx1"/>
                </a:solidFill>
              </a:rPr>
              <a:t>, 00%)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2619451" y="2665026"/>
            <a:ext cx="7370929" cy="4027178"/>
            <a:chOff x="3208448" y="2614013"/>
            <a:chExt cx="7370929" cy="4027178"/>
          </a:xfrm>
        </p:grpSpPr>
        <p:sp>
          <p:nvSpPr>
            <p:cNvPr id="62" name="직사각형 61"/>
            <p:cNvSpPr/>
            <p:nvPr/>
          </p:nvSpPr>
          <p:spPr>
            <a:xfrm>
              <a:off x="3285268" y="2614013"/>
              <a:ext cx="7184832" cy="402717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379660" y="3058957"/>
              <a:ext cx="12458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/>
                <a:t>[</a:t>
              </a:r>
              <a:r>
                <a:rPr lang="ko-KR" altLang="en-US" sz="800" dirty="0"/>
                <a:t>회원현황</a:t>
              </a:r>
              <a:r>
                <a:rPr lang="en-US" altLang="ko-KR" sz="800" dirty="0"/>
                <a:t>]</a:t>
              </a:r>
            </a:p>
            <a:p>
              <a:endParaRPr lang="en-US" altLang="ko-KR" sz="800" dirty="0"/>
            </a:p>
            <a:p>
              <a:r>
                <a:rPr lang="en-US" altLang="ko-KR" sz="800" dirty="0"/>
                <a:t>YYYY.MM  </a:t>
              </a:r>
              <a:r>
                <a:rPr lang="ko-KR" altLang="en-US" sz="800" dirty="0"/>
                <a:t>총 </a:t>
              </a:r>
              <a:r>
                <a:rPr lang="en-US" altLang="ko-KR" sz="800" dirty="0"/>
                <a:t>00,000</a:t>
              </a:r>
              <a:r>
                <a:rPr lang="ko-KR" altLang="en-US" sz="800" dirty="0"/>
                <a:t>명</a:t>
              </a:r>
            </a:p>
          </p:txBody>
        </p:sp>
        <p:cxnSp>
          <p:nvCxnSpPr>
            <p:cNvPr id="64" name="직선 연결선 63"/>
            <p:cNvCxnSpPr/>
            <p:nvPr/>
          </p:nvCxnSpPr>
          <p:spPr>
            <a:xfrm flipV="1">
              <a:off x="3380628" y="3679223"/>
              <a:ext cx="6410650" cy="294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3208448" y="3751115"/>
              <a:ext cx="737092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/>
                <a:t>  회원구분        계약 분류     대내외 구분   매출 구분    아이디    이름     회사명     계약시작일   계약종료일   서비스 시작일   서비스 종료일   영업대표</a:t>
              </a: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3494675" y="2729722"/>
              <a:ext cx="879885" cy="1464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다운로드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380799" y="6123450"/>
              <a:ext cx="163993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Total 000      Page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000   </a:t>
              </a:r>
              <a:endParaRPr lang="ko-KR" altLang="en-US" sz="800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038702" y="6122943"/>
              <a:ext cx="152317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/>
                <a:t>◀  </a:t>
              </a:r>
              <a:r>
                <a:rPr lang="en-US" altLang="ko-KR" sz="800" dirty="0"/>
                <a:t>1 2 3 4 5 6 7 8 9 10   </a:t>
              </a:r>
              <a:r>
                <a:rPr lang="ko-KR" altLang="en-US" sz="800" dirty="0"/>
                <a:t>▶</a:t>
              </a: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9587364" y="6151303"/>
              <a:ext cx="410106" cy="1252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r>
                <a:rPr lang="en-US" altLang="ko-KR" sz="800" dirty="0">
                  <a:solidFill>
                    <a:schemeClr val="tx1"/>
                  </a:solidFill>
                </a:rPr>
                <a:t>50 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9121933" y="6405013"/>
              <a:ext cx="879885" cy="1464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닫기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3281754" y="3997231"/>
              <a:ext cx="272222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/>
                <a:t>법인 </a:t>
              </a:r>
              <a:r>
                <a:rPr lang="en-US" altLang="ko-KR" sz="800" dirty="0"/>
                <a:t>– </a:t>
              </a:r>
              <a:r>
                <a:rPr lang="ko-KR" altLang="en-US" sz="800" dirty="0"/>
                <a:t>정회원         신규</a:t>
              </a:r>
              <a:r>
                <a:rPr lang="en-US" altLang="ko-KR" sz="800" dirty="0"/>
                <a:t>           </a:t>
              </a:r>
              <a:r>
                <a:rPr lang="ko-KR" altLang="en-US" sz="800" dirty="0"/>
                <a:t>대내           </a:t>
              </a:r>
              <a:r>
                <a:rPr lang="ko-KR" altLang="en-US" sz="800" dirty="0" err="1"/>
                <a:t>실매출</a:t>
              </a:r>
              <a:endParaRPr lang="ko-KR" altLang="en-US" sz="800" dirty="0"/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9997065" y="628549"/>
            <a:ext cx="2093843" cy="375487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00B0F0"/>
                </a:solidFill>
              </a:rPr>
              <a:t>계약 전체 현황 조회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신규</a:t>
            </a:r>
            <a:r>
              <a:rPr lang="en-US" altLang="ko-KR" sz="1000" b="1" dirty="0">
                <a:solidFill>
                  <a:srgbClr val="00B0F0"/>
                </a:solidFill>
              </a:rPr>
              <a:t>+</a:t>
            </a:r>
            <a:r>
              <a:rPr lang="ko-KR" altLang="en-US" sz="1000" b="1" dirty="0">
                <a:solidFill>
                  <a:srgbClr val="00B0F0"/>
                </a:solidFill>
              </a:rPr>
              <a:t>재계약</a:t>
            </a:r>
            <a:r>
              <a:rPr lang="en-US" altLang="ko-KR" sz="1000" b="1" dirty="0">
                <a:solidFill>
                  <a:srgbClr val="00B0F0"/>
                </a:solidFill>
              </a:rPr>
              <a:t>+</a:t>
            </a:r>
            <a:r>
              <a:rPr lang="ko-KR" altLang="en-US" sz="1000" b="1" dirty="0">
                <a:solidFill>
                  <a:srgbClr val="00B0F0"/>
                </a:solidFill>
              </a:rPr>
              <a:t>탈퇴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개인</a:t>
            </a:r>
            <a:r>
              <a:rPr lang="en-US" altLang="ko-KR" sz="1000" b="1" dirty="0">
                <a:solidFill>
                  <a:srgbClr val="00B0F0"/>
                </a:solidFill>
              </a:rPr>
              <a:t>+</a:t>
            </a:r>
            <a:r>
              <a:rPr lang="ko-KR" altLang="en-US" sz="1000" b="1" dirty="0">
                <a:solidFill>
                  <a:srgbClr val="00B0F0"/>
                </a:solidFill>
              </a:rPr>
              <a:t>법인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00B0F0"/>
                </a:solidFill>
              </a:rPr>
              <a:t>해당 날짜기준 누적 </a:t>
            </a:r>
            <a:r>
              <a:rPr lang="ko-KR" altLang="en-US" sz="1000" b="1" dirty="0" err="1">
                <a:solidFill>
                  <a:srgbClr val="00B0F0"/>
                </a:solidFill>
              </a:rPr>
              <a:t>계약회원수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 err="1">
                <a:solidFill>
                  <a:srgbClr val="00B0F0"/>
                </a:solidFill>
              </a:rPr>
              <a:t>선택값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전체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정회원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온라인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매거진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 err="1"/>
              <a:t>월회원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프리미엄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정회원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온라인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매거진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 err="1"/>
              <a:t>월회원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 err="1"/>
              <a:t>리움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프리미엄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탈퇴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en-US" altLang="ko-KR" sz="800" dirty="0"/>
              <a:t>= </a:t>
            </a:r>
            <a:r>
              <a:rPr lang="ko-KR" altLang="en-US" sz="800" dirty="0">
                <a:solidFill>
                  <a:srgbClr val="FF0000"/>
                </a:solidFill>
              </a:rPr>
              <a:t>탈퇴 사유 중 </a:t>
            </a:r>
            <a:r>
              <a:rPr lang="en-US" altLang="ko-KR" sz="800" dirty="0">
                <a:solidFill>
                  <a:srgbClr val="FF0000"/>
                </a:solidFill>
              </a:rPr>
              <a:t>“</a:t>
            </a:r>
            <a:r>
              <a:rPr lang="ko-KR" altLang="en-US" sz="800" dirty="0">
                <a:solidFill>
                  <a:srgbClr val="FF0000"/>
                </a:solidFill>
              </a:rPr>
              <a:t>회원교체</a:t>
            </a:r>
            <a:r>
              <a:rPr lang="en-US" altLang="ko-KR" sz="800" dirty="0">
                <a:solidFill>
                  <a:srgbClr val="FF0000"/>
                </a:solidFill>
              </a:rPr>
              <a:t>“ </a:t>
            </a:r>
            <a:r>
              <a:rPr lang="ko-KR" altLang="en-US" sz="800" dirty="0">
                <a:solidFill>
                  <a:srgbClr val="FF0000"/>
                </a:solidFill>
              </a:rPr>
              <a:t>제외한 나머지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800" dirty="0">
                <a:solidFill>
                  <a:srgbClr val="FF0000"/>
                </a:solidFill>
              </a:rPr>
              <a:t>   </a:t>
            </a:r>
            <a:r>
              <a:rPr lang="ko-KR" altLang="en-US" sz="800" dirty="0" err="1">
                <a:solidFill>
                  <a:srgbClr val="FF0000"/>
                </a:solidFill>
              </a:rPr>
              <a:t>회원수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899111" y="1721217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18" name="꺾인 연결선 17"/>
          <p:cNvCxnSpPr>
            <a:endCxn id="62" idx="1"/>
          </p:cNvCxnSpPr>
          <p:nvPr/>
        </p:nvCxnSpPr>
        <p:spPr>
          <a:xfrm rot="16200000" flipH="1">
            <a:off x="1888149" y="3870493"/>
            <a:ext cx="1230336" cy="385907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신규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재계약 현황 요약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 내역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다운로드</a:t>
            </a:r>
          </a:p>
        </p:txBody>
      </p:sp>
      <p:sp>
        <p:nvSpPr>
          <p:cNvPr id="101" name="직사각형 100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CRM_03_003~004, CRM_03_012~015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550421" y="4174286"/>
            <a:ext cx="5950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신규교체</a:t>
            </a:r>
            <a:endParaRPr lang="en-US" altLang="ko-KR" sz="800" dirty="0"/>
          </a:p>
          <a:p>
            <a:pPr algn="ctr"/>
            <a:r>
              <a:rPr lang="ko-KR" altLang="en-US" sz="800" dirty="0"/>
              <a:t>재가입</a:t>
            </a:r>
            <a:endParaRPr lang="en-US" altLang="ko-KR" sz="800" dirty="0"/>
          </a:p>
          <a:p>
            <a:pPr algn="ctr"/>
            <a:r>
              <a:rPr lang="en-US" altLang="ko-KR" sz="800" dirty="0"/>
              <a:t>.</a:t>
            </a:r>
          </a:p>
          <a:p>
            <a:pPr algn="ctr"/>
            <a:r>
              <a:rPr lang="en-US" altLang="ko-KR" sz="800" dirty="0"/>
              <a:t>.</a:t>
            </a:r>
          </a:p>
          <a:p>
            <a:pPr algn="ctr"/>
            <a:r>
              <a:rPr lang="en-US" altLang="ko-KR" sz="800" dirty="0"/>
              <a:t>.</a:t>
            </a:r>
          </a:p>
          <a:p>
            <a:pPr algn="ctr"/>
            <a:endParaRPr lang="ko-KR" altLang="en-US" sz="8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0" y="586795"/>
            <a:ext cx="9718899" cy="584232"/>
          </a:xfrm>
          <a:prstGeom prst="rect">
            <a:avLst/>
          </a:prstGeom>
        </p:spPr>
      </p:pic>
      <p:sp>
        <p:nvSpPr>
          <p:cNvPr id="104" name="직사각형 103"/>
          <p:cNvSpPr/>
          <p:nvPr/>
        </p:nvSpPr>
        <p:spPr>
          <a:xfrm>
            <a:off x="213567" y="456901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4831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36187" y="1174883"/>
            <a:ext cx="4818434" cy="2583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</a:rPr>
              <a:t>계약 현황</a:t>
            </a:r>
            <a:r>
              <a:rPr lang="en-US" altLang="ko-KR" sz="1000" b="1" dirty="0">
                <a:solidFill>
                  <a:schemeClr val="bg1"/>
                </a:solidFill>
              </a:rPr>
              <a:t>(</a:t>
            </a:r>
            <a:r>
              <a:rPr lang="ko-KR" altLang="en-US" sz="1000" b="1" dirty="0">
                <a:solidFill>
                  <a:schemeClr val="bg1"/>
                </a:solidFill>
              </a:rPr>
              <a:t>회원 분포</a:t>
            </a:r>
            <a:r>
              <a:rPr lang="en-US" altLang="ko-KR" sz="1000" b="1" dirty="0">
                <a:solidFill>
                  <a:schemeClr val="bg1"/>
                </a:solidFill>
              </a:rPr>
              <a:t>)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996774" y="1174883"/>
            <a:ext cx="4818434" cy="2583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</a:rPr>
              <a:t>월별 추이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559915"/>
              </p:ext>
            </p:extLst>
          </p:nvPr>
        </p:nvGraphicFramePr>
        <p:xfrm>
          <a:off x="136188" y="1466293"/>
          <a:ext cx="481843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● 시작일  ○ 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2055066" y="1495160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683" y="1499662"/>
            <a:ext cx="186718" cy="154639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3348369" y="1495160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435" y="1494388"/>
            <a:ext cx="186718" cy="1546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80058" y="1433209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14" name="직사각형 13"/>
          <p:cNvSpPr/>
          <p:nvPr/>
        </p:nvSpPr>
        <p:spPr>
          <a:xfrm>
            <a:off x="852649" y="1714552"/>
            <a:ext cx="649734" cy="1444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유료회원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552186" y="1713200"/>
            <a:ext cx="879729" cy="14554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선택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281754" y="1713044"/>
            <a:ext cx="1620986" cy="1416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                    🔍</a:t>
            </a:r>
          </a:p>
        </p:txBody>
      </p:sp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206350"/>
              </p:ext>
            </p:extLst>
          </p:nvPr>
        </p:nvGraphicFramePr>
        <p:xfrm>
          <a:off x="5004424" y="1466293"/>
          <a:ext cx="481843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800"/>
                        <a:t>● 시작일  ○ 종료일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직사각형 34"/>
          <p:cNvSpPr/>
          <p:nvPr/>
        </p:nvSpPr>
        <p:spPr>
          <a:xfrm>
            <a:off x="6923302" y="1495160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919" y="1499662"/>
            <a:ext cx="186718" cy="154639"/>
          </a:xfrm>
          <a:prstGeom prst="rect">
            <a:avLst/>
          </a:prstGeom>
        </p:spPr>
      </p:pic>
      <p:sp>
        <p:nvSpPr>
          <p:cNvPr id="37" name="직사각형 36"/>
          <p:cNvSpPr/>
          <p:nvPr/>
        </p:nvSpPr>
        <p:spPr>
          <a:xfrm>
            <a:off x="8216605" y="1495160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671" y="1494388"/>
            <a:ext cx="186718" cy="15463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948294" y="1433209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40" name="직사각형 39"/>
          <p:cNvSpPr/>
          <p:nvPr/>
        </p:nvSpPr>
        <p:spPr>
          <a:xfrm>
            <a:off x="5720885" y="1714552"/>
            <a:ext cx="649734" cy="1444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유료회원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420422" y="1713200"/>
            <a:ext cx="879729" cy="14554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선택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5404963" y="2193366"/>
            <a:ext cx="0" cy="139310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5404963" y="3586470"/>
            <a:ext cx="423190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79168" y="3586470"/>
            <a:ext cx="3879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1</a:t>
            </a:r>
            <a:r>
              <a:rPr lang="ko-KR" altLang="en-US" sz="800" dirty="0"/>
              <a:t>월    </a:t>
            </a:r>
            <a:r>
              <a:rPr lang="en-US" altLang="ko-KR" sz="800" dirty="0"/>
              <a:t>2</a:t>
            </a:r>
            <a:r>
              <a:rPr lang="ko-KR" altLang="en-US" sz="800" dirty="0"/>
              <a:t>월    </a:t>
            </a:r>
            <a:r>
              <a:rPr lang="en-US" altLang="ko-KR" sz="800" dirty="0"/>
              <a:t>3</a:t>
            </a:r>
            <a:r>
              <a:rPr lang="ko-KR" altLang="en-US" sz="800" dirty="0"/>
              <a:t>월    </a:t>
            </a:r>
            <a:r>
              <a:rPr lang="en-US" altLang="ko-KR" sz="800" dirty="0"/>
              <a:t>4</a:t>
            </a:r>
            <a:r>
              <a:rPr lang="ko-KR" altLang="en-US" sz="800" dirty="0"/>
              <a:t>월    </a:t>
            </a:r>
            <a:r>
              <a:rPr lang="en-US" altLang="ko-KR" sz="800" dirty="0"/>
              <a:t>5</a:t>
            </a:r>
            <a:r>
              <a:rPr lang="ko-KR" altLang="en-US" sz="800" dirty="0"/>
              <a:t>월    </a:t>
            </a:r>
            <a:r>
              <a:rPr lang="en-US" altLang="ko-KR" sz="800" dirty="0"/>
              <a:t>6</a:t>
            </a:r>
            <a:r>
              <a:rPr lang="ko-KR" altLang="en-US" sz="800" dirty="0"/>
              <a:t>월    </a:t>
            </a:r>
            <a:r>
              <a:rPr lang="en-US" altLang="ko-KR" sz="800" dirty="0"/>
              <a:t>7</a:t>
            </a:r>
            <a:r>
              <a:rPr lang="ko-KR" altLang="en-US" sz="800" dirty="0"/>
              <a:t>월    </a:t>
            </a:r>
            <a:r>
              <a:rPr lang="en-US" altLang="ko-KR" sz="800" dirty="0"/>
              <a:t>8</a:t>
            </a:r>
            <a:r>
              <a:rPr lang="ko-KR" altLang="en-US" sz="800" dirty="0"/>
              <a:t>월    </a:t>
            </a:r>
            <a:r>
              <a:rPr lang="en-US" altLang="ko-KR" sz="800" dirty="0"/>
              <a:t>9</a:t>
            </a:r>
            <a:r>
              <a:rPr lang="ko-KR" altLang="en-US" sz="800" dirty="0"/>
              <a:t>월    </a:t>
            </a:r>
            <a:r>
              <a:rPr lang="en-US" altLang="ko-KR" sz="800" dirty="0"/>
              <a:t>10</a:t>
            </a:r>
            <a:r>
              <a:rPr lang="ko-KR" altLang="en-US" sz="800" dirty="0"/>
              <a:t>월    </a:t>
            </a:r>
            <a:r>
              <a:rPr lang="en-US" altLang="ko-KR" sz="800" dirty="0"/>
              <a:t>11</a:t>
            </a:r>
            <a:r>
              <a:rPr lang="ko-KR" altLang="en-US" sz="800" dirty="0"/>
              <a:t>월    </a:t>
            </a:r>
            <a:r>
              <a:rPr lang="en-US" altLang="ko-KR" sz="800" dirty="0"/>
              <a:t>12</a:t>
            </a:r>
            <a:r>
              <a:rPr lang="ko-KR" altLang="en-US" sz="800" dirty="0"/>
              <a:t>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76810" y="2125845"/>
            <a:ext cx="46525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12500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10000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7500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5000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2500</a:t>
            </a:r>
            <a:endParaRPr lang="ko-KR" altLang="en-US" sz="800" dirty="0"/>
          </a:p>
        </p:txBody>
      </p:sp>
      <p:grpSp>
        <p:nvGrpSpPr>
          <p:cNvPr id="47" name="그룹 46"/>
          <p:cNvGrpSpPr/>
          <p:nvPr/>
        </p:nvGrpSpPr>
        <p:grpSpPr>
          <a:xfrm>
            <a:off x="5479168" y="2988166"/>
            <a:ext cx="591779" cy="274504"/>
            <a:chOff x="5479168" y="2774343"/>
            <a:chExt cx="591779" cy="274504"/>
          </a:xfrm>
        </p:grpSpPr>
        <p:sp>
          <p:nvSpPr>
            <p:cNvPr id="22" name="TextBox 21"/>
            <p:cNvSpPr txBox="1"/>
            <p:nvPr/>
          </p:nvSpPr>
          <p:spPr>
            <a:xfrm>
              <a:off x="5479168" y="2774343"/>
              <a:ext cx="26161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" dirty="0"/>
                <a:t>◆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809337" y="2864181"/>
              <a:ext cx="26161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" dirty="0"/>
                <a:t>◆</a:t>
              </a:r>
            </a:p>
          </p:txBody>
        </p:sp>
        <p:cxnSp>
          <p:nvCxnSpPr>
            <p:cNvPr id="46" name="직선 연결선 45"/>
            <p:cNvCxnSpPr/>
            <p:nvPr/>
          </p:nvCxnSpPr>
          <p:spPr>
            <a:xfrm>
              <a:off x="5609973" y="2879759"/>
              <a:ext cx="330169" cy="898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695021"/>
              </p:ext>
            </p:extLst>
          </p:nvPr>
        </p:nvGraphicFramePr>
        <p:xfrm>
          <a:off x="129504" y="3087802"/>
          <a:ext cx="4818434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8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3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3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34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927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9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신규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신규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8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신규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돌신</a:t>
                      </a:r>
                      <a:r>
                        <a:rPr lang="en-US" altLang="ko-KR" sz="800" u="none" dirty="0"/>
                        <a:t>) 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890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재계약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신규교체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8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8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재가입교체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8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돌재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38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 탈퇴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서비스종료 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389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합계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9" name="모서리가 둥근 직사각형 48"/>
          <p:cNvSpPr/>
          <p:nvPr/>
        </p:nvSpPr>
        <p:spPr>
          <a:xfrm>
            <a:off x="136187" y="1946282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50" name="모서리가 둥근 직사각형 49"/>
          <p:cNvSpPr/>
          <p:nvPr/>
        </p:nvSpPr>
        <p:spPr>
          <a:xfrm>
            <a:off x="729574" y="1946282"/>
            <a:ext cx="625813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다운로드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833531"/>
              </p:ext>
            </p:extLst>
          </p:nvPr>
        </p:nvGraphicFramePr>
        <p:xfrm>
          <a:off x="5004424" y="3918436"/>
          <a:ext cx="4671355" cy="10896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6420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361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신규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재계약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탈퇴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합계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" name="모서리가 둥근 직사각형 51"/>
          <p:cNvSpPr/>
          <p:nvPr/>
        </p:nvSpPr>
        <p:spPr>
          <a:xfrm>
            <a:off x="5004424" y="1943802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53" name="모서리가 둥근 직사각형 52"/>
          <p:cNvSpPr/>
          <p:nvPr/>
        </p:nvSpPr>
        <p:spPr>
          <a:xfrm>
            <a:off x="5597811" y="1943802"/>
            <a:ext cx="625813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다운로드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8142341" y="1718430"/>
            <a:ext cx="1620986" cy="1416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                    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7065" y="628549"/>
            <a:ext cx="1428596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00B0F0"/>
                </a:solidFill>
              </a:rPr>
              <a:t>계약 전체 현황 조회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신규</a:t>
            </a:r>
            <a:r>
              <a:rPr lang="en-US" altLang="ko-KR" sz="1000" b="1" dirty="0">
                <a:solidFill>
                  <a:srgbClr val="00B0F0"/>
                </a:solidFill>
              </a:rPr>
              <a:t>+</a:t>
            </a:r>
            <a:r>
              <a:rPr lang="ko-KR" altLang="en-US" sz="1000" b="1" dirty="0">
                <a:solidFill>
                  <a:srgbClr val="00B0F0"/>
                </a:solidFill>
              </a:rPr>
              <a:t>재계약</a:t>
            </a:r>
            <a:r>
              <a:rPr lang="en-US" altLang="ko-KR" sz="1000" b="1" dirty="0">
                <a:solidFill>
                  <a:srgbClr val="00B0F0"/>
                </a:solidFill>
              </a:rPr>
              <a:t>+</a:t>
            </a:r>
            <a:r>
              <a:rPr lang="ko-KR" altLang="en-US" sz="1000" b="1" dirty="0">
                <a:solidFill>
                  <a:srgbClr val="00B0F0"/>
                </a:solidFill>
              </a:rPr>
              <a:t>탈퇴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개인</a:t>
            </a:r>
            <a:r>
              <a:rPr lang="en-US" altLang="ko-KR" sz="1000" b="1" dirty="0">
                <a:solidFill>
                  <a:srgbClr val="00B0F0"/>
                </a:solidFill>
              </a:rPr>
              <a:t>+</a:t>
            </a:r>
            <a:r>
              <a:rPr lang="ko-KR" altLang="en-US" sz="1000" b="1" dirty="0">
                <a:solidFill>
                  <a:srgbClr val="00B0F0"/>
                </a:solidFill>
              </a:rPr>
              <a:t>법인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00B0F0"/>
                </a:solidFill>
              </a:rPr>
              <a:t>월별 </a:t>
            </a:r>
            <a:r>
              <a:rPr lang="ko-KR" altLang="en-US" sz="1000" b="1" dirty="0" err="1">
                <a:solidFill>
                  <a:srgbClr val="00B0F0"/>
                </a:solidFill>
              </a:rPr>
              <a:t>계약회원수</a:t>
            </a:r>
            <a:r>
              <a:rPr lang="ko-KR" altLang="en-US" sz="1000" b="1" dirty="0">
                <a:solidFill>
                  <a:srgbClr val="00B0F0"/>
                </a:solidFill>
              </a:rPr>
              <a:t> 추이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 err="1">
                <a:solidFill>
                  <a:srgbClr val="00B0F0"/>
                </a:solidFill>
              </a:rPr>
              <a:t>선택값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전체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정회원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온라인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매거진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 err="1"/>
              <a:t>월회원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프리미엄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정회원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온라인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매거진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 err="1"/>
              <a:t>월회원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 err="1"/>
              <a:t>리움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프리미엄</a:t>
            </a:r>
            <a:endParaRPr lang="en-US" altLang="ko-KR" sz="800" dirty="0"/>
          </a:p>
        </p:txBody>
      </p:sp>
      <p:sp>
        <p:nvSpPr>
          <p:cNvPr id="43" name="직사각형 42"/>
          <p:cNvSpPr/>
          <p:nvPr/>
        </p:nvSpPr>
        <p:spPr>
          <a:xfrm>
            <a:off x="6860286" y="170780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55" name="직선 연결선 54"/>
          <p:cNvCxnSpPr/>
          <p:nvPr/>
        </p:nvCxnSpPr>
        <p:spPr>
          <a:xfrm>
            <a:off x="588497" y="2219939"/>
            <a:ext cx="0" cy="56197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588497" y="2781918"/>
            <a:ext cx="423190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78913" y="2787564"/>
            <a:ext cx="33217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2500           5000         7500        10000        12500        15000</a:t>
            </a:r>
            <a:endParaRPr lang="ko-KR" altLang="en-US" sz="800" dirty="0"/>
          </a:p>
        </p:txBody>
      </p:sp>
      <p:sp>
        <p:nvSpPr>
          <p:cNvPr id="13" name="직사각형 12"/>
          <p:cNvSpPr/>
          <p:nvPr/>
        </p:nvSpPr>
        <p:spPr>
          <a:xfrm>
            <a:off x="588497" y="2363087"/>
            <a:ext cx="3838656" cy="26588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588497" y="2362109"/>
            <a:ext cx="1143026" cy="2658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신규</a:t>
            </a:r>
            <a:endParaRPr lang="en-US" altLang="ko-KR" sz="8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(0000</a:t>
            </a:r>
            <a:r>
              <a:rPr lang="ko-KR" altLang="en-US" sz="800" b="1" dirty="0">
                <a:solidFill>
                  <a:schemeClr val="bg1"/>
                </a:solidFill>
              </a:rPr>
              <a:t>명</a:t>
            </a:r>
            <a:r>
              <a:rPr lang="en-US" altLang="ko-KR" sz="800" b="1" dirty="0">
                <a:solidFill>
                  <a:schemeClr val="bg1"/>
                </a:solidFill>
              </a:rPr>
              <a:t>, 00%)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731522" y="2362109"/>
            <a:ext cx="2159541" cy="265889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재계약</a:t>
            </a:r>
            <a:endParaRPr lang="en-US" altLang="ko-KR" sz="8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(0000</a:t>
            </a:r>
            <a:r>
              <a:rPr lang="ko-KR" altLang="en-US" sz="800" b="1" dirty="0">
                <a:solidFill>
                  <a:schemeClr val="bg1"/>
                </a:solidFill>
              </a:rPr>
              <a:t>명</a:t>
            </a:r>
            <a:r>
              <a:rPr lang="en-US" altLang="ko-KR" sz="800" b="1" dirty="0">
                <a:solidFill>
                  <a:schemeClr val="bg1"/>
                </a:solidFill>
              </a:rPr>
              <a:t>, 00%)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893995" y="2362108"/>
            <a:ext cx="562030" cy="26588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탈퇴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(000</a:t>
            </a:r>
            <a:r>
              <a:rPr lang="ko-KR" altLang="en-US" sz="800" dirty="0">
                <a:solidFill>
                  <a:schemeClr val="tx1"/>
                </a:solidFill>
              </a:rPr>
              <a:t>명</a:t>
            </a:r>
            <a:r>
              <a:rPr lang="en-US" altLang="ko-KR" sz="800" dirty="0">
                <a:solidFill>
                  <a:schemeClr val="tx1"/>
                </a:solidFill>
              </a:rPr>
              <a:t>, 00%)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129504" y="5142741"/>
            <a:ext cx="4818434" cy="2583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</a:rPr>
              <a:t>재계약 현황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4990091" y="5142741"/>
            <a:ext cx="4818434" cy="2583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</a:rPr>
              <a:t>월별 추이</a:t>
            </a:r>
          </a:p>
        </p:txBody>
      </p:sp>
      <p:graphicFrame>
        <p:nvGraphicFramePr>
          <p:cNvPr id="86" name="표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246129"/>
              </p:ext>
            </p:extLst>
          </p:nvPr>
        </p:nvGraphicFramePr>
        <p:xfrm>
          <a:off x="129505" y="5434151"/>
          <a:ext cx="481843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7" name="직사각형 86"/>
          <p:cNvSpPr/>
          <p:nvPr/>
        </p:nvSpPr>
        <p:spPr>
          <a:xfrm>
            <a:off x="845966" y="5449396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88" name="그림 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583" y="5453898"/>
            <a:ext cx="186718" cy="154639"/>
          </a:xfrm>
          <a:prstGeom prst="rect">
            <a:avLst/>
          </a:prstGeom>
        </p:spPr>
      </p:pic>
      <p:sp>
        <p:nvSpPr>
          <p:cNvPr id="89" name="직사각형 88"/>
          <p:cNvSpPr/>
          <p:nvPr/>
        </p:nvSpPr>
        <p:spPr>
          <a:xfrm>
            <a:off x="2139269" y="5449396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90" name="그림 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335" y="5448624"/>
            <a:ext cx="186718" cy="154639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1870958" y="5387445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92" name="직사각형 91"/>
          <p:cNvSpPr/>
          <p:nvPr/>
        </p:nvSpPr>
        <p:spPr>
          <a:xfrm>
            <a:off x="845966" y="5682410"/>
            <a:ext cx="649734" cy="1444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유료회원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1545503" y="5681058"/>
            <a:ext cx="879729" cy="14554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선택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3275071" y="5680902"/>
            <a:ext cx="1620986" cy="1416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홍길동                       🔍</a:t>
            </a:r>
          </a:p>
        </p:txBody>
      </p:sp>
      <p:graphicFrame>
        <p:nvGraphicFramePr>
          <p:cNvPr id="95" name="표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769476"/>
              </p:ext>
            </p:extLst>
          </p:nvPr>
        </p:nvGraphicFramePr>
        <p:xfrm>
          <a:off x="4997741" y="5434151"/>
          <a:ext cx="481843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● 시작일  ○ 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6" name="직사각형 95"/>
          <p:cNvSpPr/>
          <p:nvPr/>
        </p:nvSpPr>
        <p:spPr>
          <a:xfrm>
            <a:off x="6916619" y="5463018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97" name="그림 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236" y="5467520"/>
            <a:ext cx="186718" cy="154639"/>
          </a:xfrm>
          <a:prstGeom prst="rect">
            <a:avLst/>
          </a:prstGeom>
        </p:spPr>
      </p:pic>
      <p:sp>
        <p:nvSpPr>
          <p:cNvPr id="98" name="직사각형 97"/>
          <p:cNvSpPr/>
          <p:nvPr/>
        </p:nvSpPr>
        <p:spPr>
          <a:xfrm>
            <a:off x="8209922" y="5463018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99" name="그림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1988" y="5462246"/>
            <a:ext cx="186718" cy="154639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7941611" y="5401067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101" name="직사각형 100"/>
          <p:cNvSpPr/>
          <p:nvPr/>
        </p:nvSpPr>
        <p:spPr>
          <a:xfrm>
            <a:off x="5714202" y="5682410"/>
            <a:ext cx="649734" cy="1444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유료회원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6413739" y="5681058"/>
            <a:ext cx="879729" cy="14554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선택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129504" y="5914140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104" name="모서리가 둥근 직사각형 103"/>
          <p:cNvSpPr/>
          <p:nvPr/>
        </p:nvSpPr>
        <p:spPr>
          <a:xfrm>
            <a:off x="722891" y="5914140"/>
            <a:ext cx="625813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다운로드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4997741" y="5911660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106" name="모서리가 둥근 직사각형 105"/>
          <p:cNvSpPr/>
          <p:nvPr/>
        </p:nvSpPr>
        <p:spPr>
          <a:xfrm>
            <a:off x="5591128" y="5911660"/>
            <a:ext cx="625813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다운로드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8135658" y="5686288"/>
            <a:ext cx="1620986" cy="1416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                    🔍</a:t>
            </a:r>
          </a:p>
        </p:txBody>
      </p:sp>
      <p:sp>
        <p:nvSpPr>
          <p:cNvPr id="108" name="직사각형 107"/>
          <p:cNvSpPr/>
          <p:nvPr/>
        </p:nvSpPr>
        <p:spPr>
          <a:xfrm>
            <a:off x="3281993" y="567393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1907606" y="567483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신규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재계약 현황 요약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 내역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다운로드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CRM_03_003~004, CRM_03_012~015</a:t>
            </a:r>
          </a:p>
        </p:txBody>
      </p:sp>
      <p:pic>
        <p:nvPicPr>
          <p:cNvPr id="74" name="그림 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0" y="586795"/>
            <a:ext cx="9718899" cy="58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9603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36187" y="1174883"/>
            <a:ext cx="4818434" cy="2583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</a:rPr>
              <a:t>계약 현황</a:t>
            </a:r>
            <a:r>
              <a:rPr lang="en-US" altLang="ko-KR" sz="1000" b="1" dirty="0">
                <a:solidFill>
                  <a:schemeClr val="bg1"/>
                </a:solidFill>
              </a:rPr>
              <a:t>(</a:t>
            </a:r>
            <a:r>
              <a:rPr lang="ko-KR" altLang="en-US" sz="1000" b="1" dirty="0">
                <a:solidFill>
                  <a:schemeClr val="bg1"/>
                </a:solidFill>
              </a:rPr>
              <a:t>회원 분포</a:t>
            </a:r>
            <a:r>
              <a:rPr lang="en-US" altLang="ko-KR" sz="1000" b="1" dirty="0">
                <a:solidFill>
                  <a:schemeClr val="bg1"/>
                </a:solidFill>
              </a:rPr>
              <a:t>)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996774" y="1174883"/>
            <a:ext cx="4818434" cy="2583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</a:rPr>
              <a:t>월별 추이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701757"/>
              </p:ext>
            </p:extLst>
          </p:nvPr>
        </p:nvGraphicFramePr>
        <p:xfrm>
          <a:off x="136188" y="1466293"/>
          <a:ext cx="481843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● 시작일  ○ 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2055066" y="1495160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683" y="1499662"/>
            <a:ext cx="186718" cy="154639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3348369" y="1495160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435" y="1494388"/>
            <a:ext cx="186718" cy="1546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80058" y="1433209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14" name="직사각형 13"/>
          <p:cNvSpPr/>
          <p:nvPr/>
        </p:nvSpPr>
        <p:spPr>
          <a:xfrm>
            <a:off x="852649" y="1714552"/>
            <a:ext cx="649734" cy="1444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유료회원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552186" y="1713200"/>
            <a:ext cx="879729" cy="14554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선택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281754" y="1713044"/>
            <a:ext cx="1620986" cy="1416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                    🔍</a:t>
            </a:r>
          </a:p>
        </p:txBody>
      </p:sp>
      <p:graphicFrame>
        <p:nvGraphicFramePr>
          <p:cNvPr id="34" name="표 33"/>
          <p:cNvGraphicFramePr>
            <a:graphicFrameLocks noGrp="1"/>
          </p:cNvGraphicFramePr>
          <p:nvPr/>
        </p:nvGraphicFramePr>
        <p:xfrm>
          <a:off x="5004424" y="1466293"/>
          <a:ext cx="481843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● 시작일  ○ 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직사각형 34"/>
          <p:cNvSpPr/>
          <p:nvPr/>
        </p:nvSpPr>
        <p:spPr>
          <a:xfrm>
            <a:off x="6923302" y="1495160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919" y="1499662"/>
            <a:ext cx="186718" cy="154639"/>
          </a:xfrm>
          <a:prstGeom prst="rect">
            <a:avLst/>
          </a:prstGeom>
        </p:spPr>
      </p:pic>
      <p:sp>
        <p:nvSpPr>
          <p:cNvPr id="37" name="직사각형 36"/>
          <p:cNvSpPr/>
          <p:nvPr/>
        </p:nvSpPr>
        <p:spPr>
          <a:xfrm>
            <a:off x="8216605" y="1495160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671" y="1494388"/>
            <a:ext cx="186718" cy="15463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948294" y="1433209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40" name="직사각형 39"/>
          <p:cNvSpPr/>
          <p:nvPr/>
        </p:nvSpPr>
        <p:spPr>
          <a:xfrm>
            <a:off x="5720885" y="1714552"/>
            <a:ext cx="649734" cy="1444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유료회원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420422" y="1713200"/>
            <a:ext cx="879729" cy="14554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선택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5404963" y="2193366"/>
            <a:ext cx="0" cy="139310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5404963" y="3586470"/>
            <a:ext cx="423190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79168" y="3586470"/>
            <a:ext cx="3879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1</a:t>
            </a:r>
            <a:r>
              <a:rPr lang="ko-KR" altLang="en-US" sz="800" dirty="0"/>
              <a:t>월    </a:t>
            </a:r>
            <a:r>
              <a:rPr lang="en-US" altLang="ko-KR" sz="800" dirty="0"/>
              <a:t>2</a:t>
            </a:r>
            <a:r>
              <a:rPr lang="ko-KR" altLang="en-US" sz="800" dirty="0"/>
              <a:t>월    </a:t>
            </a:r>
            <a:r>
              <a:rPr lang="en-US" altLang="ko-KR" sz="800" dirty="0"/>
              <a:t>3</a:t>
            </a:r>
            <a:r>
              <a:rPr lang="ko-KR" altLang="en-US" sz="800" dirty="0"/>
              <a:t>월    </a:t>
            </a:r>
            <a:r>
              <a:rPr lang="en-US" altLang="ko-KR" sz="800" dirty="0"/>
              <a:t>4</a:t>
            </a:r>
            <a:r>
              <a:rPr lang="ko-KR" altLang="en-US" sz="800" dirty="0"/>
              <a:t>월    </a:t>
            </a:r>
            <a:r>
              <a:rPr lang="en-US" altLang="ko-KR" sz="800" dirty="0"/>
              <a:t>5</a:t>
            </a:r>
            <a:r>
              <a:rPr lang="ko-KR" altLang="en-US" sz="800" dirty="0"/>
              <a:t>월    </a:t>
            </a:r>
            <a:r>
              <a:rPr lang="en-US" altLang="ko-KR" sz="800" dirty="0"/>
              <a:t>6</a:t>
            </a:r>
            <a:r>
              <a:rPr lang="ko-KR" altLang="en-US" sz="800" dirty="0"/>
              <a:t>월    </a:t>
            </a:r>
            <a:r>
              <a:rPr lang="en-US" altLang="ko-KR" sz="800" dirty="0"/>
              <a:t>7</a:t>
            </a:r>
            <a:r>
              <a:rPr lang="ko-KR" altLang="en-US" sz="800" dirty="0"/>
              <a:t>월    </a:t>
            </a:r>
            <a:r>
              <a:rPr lang="en-US" altLang="ko-KR" sz="800" dirty="0"/>
              <a:t>8</a:t>
            </a:r>
            <a:r>
              <a:rPr lang="ko-KR" altLang="en-US" sz="800" dirty="0"/>
              <a:t>월    </a:t>
            </a:r>
            <a:r>
              <a:rPr lang="en-US" altLang="ko-KR" sz="800" dirty="0"/>
              <a:t>9</a:t>
            </a:r>
            <a:r>
              <a:rPr lang="ko-KR" altLang="en-US" sz="800" dirty="0"/>
              <a:t>월    </a:t>
            </a:r>
            <a:r>
              <a:rPr lang="en-US" altLang="ko-KR" sz="800" dirty="0"/>
              <a:t>10</a:t>
            </a:r>
            <a:r>
              <a:rPr lang="ko-KR" altLang="en-US" sz="800" dirty="0"/>
              <a:t>월    </a:t>
            </a:r>
            <a:r>
              <a:rPr lang="en-US" altLang="ko-KR" sz="800" dirty="0"/>
              <a:t>11</a:t>
            </a:r>
            <a:r>
              <a:rPr lang="ko-KR" altLang="en-US" sz="800" dirty="0"/>
              <a:t>월    </a:t>
            </a:r>
            <a:r>
              <a:rPr lang="en-US" altLang="ko-KR" sz="800" dirty="0"/>
              <a:t>12</a:t>
            </a:r>
            <a:r>
              <a:rPr lang="ko-KR" altLang="en-US" sz="800" dirty="0"/>
              <a:t>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76810" y="2125845"/>
            <a:ext cx="46525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12500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10000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7500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5000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2500</a:t>
            </a:r>
            <a:endParaRPr lang="ko-KR" altLang="en-US" sz="800" dirty="0"/>
          </a:p>
        </p:txBody>
      </p:sp>
      <p:grpSp>
        <p:nvGrpSpPr>
          <p:cNvPr id="47" name="그룹 46"/>
          <p:cNvGrpSpPr/>
          <p:nvPr/>
        </p:nvGrpSpPr>
        <p:grpSpPr>
          <a:xfrm>
            <a:off x="5479168" y="2988166"/>
            <a:ext cx="591779" cy="274504"/>
            <a:chOff x="5479168" y="2774343"/>
            <a:chExt cx="591779" cy="274504"/>
          </a:xfrm>
        </p:grpSpPr>
        <p:sp>
          <p:nvSpPr>
            <p:cNvPr id="22" name="TextBox 21"/>
            <p:cNvSpPr txBox="1"/>
            <p:nvPr/>
          </p:nvSpPr>
          <p:spPr>
            <a:xfrm>
              <a:off x="5479168" y="2774343"/>
              <a:ext cx="26161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" dirty="0"/>
                <a:t>◆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809337" y="2864181"/>
              <a:ext cx="26161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" dirty="0"/>
                <a:t>◆</a:t>
              </a:r>
            </a:p>
          </p:txBody>
        </p:sp>
        <p:cxnSp>
          <p:nvCxnSpPr>
            <p:cNvPr id="46" name="직선 연결선 45"/>
            <p:cNvCxnSpPr/>
            <p:nvPr/>
          </p:nvCxnSpPr>
          <p:spPr>
            <a:xfrm>
              <a:off x="5609973" y="2879759"/>
              <a:ext cx="330169" cy="898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8" name="표 47"/>
          <p:cNvGraphicFramePr>
            <a:graphicFrameLocks noGrp="1"/>
          </p:cNvGraphicFramePr>
          <p:nvPr/>
        </p:nvGraphicFramePr>
        <p:xfrm>
          <a:off x="129504" y="3087802"/>
          <a:ext cx="4818434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8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3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3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34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927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9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신규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신규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8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신규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돌신</a:t>
                      </a:r>
                      <a:r>
                        <a:rPr lang="en-US" altLang="ko-KR" sz="800" u="none" dirty="0"/>
                        <a:t>) 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890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재계약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신규교체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8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8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재가입교체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8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돌재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38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 </a:t>
                      </a:r>
                      <a:r>
                        <a:rPr lang="ko-KR" altLang="en-US" sz="800" u="none" dirty="0" err="1"/>
                        <a:t>미계약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서비스종료 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389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합계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9" name="모서리가 둥근 직사각형 48"/>
          <p:cNvSpPr/>
          <p:nvPr/>
        </p:nvSpPr>
        <p:spPr>
          <a:xfrm>
            <a:off x="136187" y="1946282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50" name="모서리가 둥근 직사각형 49"/>
          <p:cNvSpPr/>
          <p:nvPr/>
        </p:nvSpPr>
        <p:spPr>
          <a:xfrm>
            <a:off x="729574" y="1946282"/>
            <a:ext cx="625813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다운로드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51" name="표 50"/>
          <p:cNvGraphicFramePr>
            <a:graphicFrameLocks noGrp="1"/>
          </p:cNvGraphicFramePr>
          <p:nvPr/>
        </p:nvGraphicFramePr>
        <p:xfrm>
          <a:off x="5004424" y="3918436"/>
          <a:ext cx="4671355" cy="10896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101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6420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361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신규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재계약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미계약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합계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" name="모서리가 둥근 직사각형 51"/>
          <p:cNvSpPr/>
          <p:nvPr/>
        </p:nvSpPr>
        <p:spPr>
          <a:xfrm>
            <a:off x="5004424" y="1943802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53" name="모서리가 둥근 직사각형 52"/>
          <p:cNvSpPr/>
          <p:nvPr/>
        </p:nvSpPr>
        <p:spPr>
          <a:xfrm>
            <a:off x="5597811" y="1943802"/>
            <a:ext cx="625813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다운로드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8142341" y="1718430"/>
            <a:ext cx="1620986" cy="1416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                    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7065" y="628549"/>
            <a:ext cx="1428596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00B0F0"/>
                </a:solidFill>
              </a:rPr>
              <a:t>계약 전체 현황 조회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신규</a:t>
            </a:r>
            <a:r>
              <a:rPr lang="en-US" altLang="ko-KR" sz="1000" b="1" dirty="0">
                <a:solidFill>
                  <a:srgbClr val="00B0F0"/>
                </a:solidFill>
              </a:rPr>
              <a:t>+</a:t>
            </a:r>
            <a:r>
              <a:rPr lang="ko-KR" altLang="en-US" sz="1000" b="1" dirty="0">
                <a:solidFill>
                  <a:srgbClr val="00B0F0"/>
                </a:solidFill>
              </a:rPr>
              <a:t>재계약</a:t>
            </a:r>
            <a:r>
              <a:rPr lang="en-US" altLang="ko-KR" sz="1000" b="1" dirty="0">
                <a:solidFill>
                  <a:srgbClr val="00B0F0"/>
                </a:solidFill>
              </a:rPr>
              <a:t>+</a:t>
            </a:r>
            <a:r>
              <a:rPr lang="ko-KR" altLang="en-US" sz="1000" b="1" dirty="0">
                <a:solidFill>
                  <a:srgbClr val="00B0F0"/>
                </a:solidFill>
              </a:rPr>
              <a:t>탈퇴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개인</a:t>
            </a:r>
            <a:r>
              <a:rPr lang="en-US" altLang="ko-KR" sz="1000" b="1" dirty="0">
                <a:solidFill>
                  <a:srgbClr val="00B0F0"/>
                </a:solidFill>
              </a:rPr>
              <a:t>+</a:t>
            </a:r>
            <a:r>
              <a:rPr lang="ko-KR" altLang="en-US" sz="1000" b="1" dirty="0">
                <a:solidFill>
                  <a:srgbClr val="00B0F0"/>
                </a:solidFill>
              </a:rPr>
              <a:t>법인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00B0F0"/>
                </a:solidFill>
              </a:rPr>
              <a:t>월별 </a:t>
            </a:r>
            <a:r>
              <a:rPr lang="ko-KR" altLang="en-US" sz="1000" b="1" dirty="0" err="1">
                <a:solidFill>
                  <a:srgbClr val="00B0F0"/>
                </a:solidFill>
              </a:rPr>
              <a:t>계약회원수</a:t>
            </a:r>
            <a:r>
              <a:rPr lang="ko-KR" altLang="en-US" sz="1000" b="1" dirty="0">
                <a:solidFill>
                  <a:srgbClr val="00B0F0"/>
                </a:solidFill>
              </a:rPr>
              <a:t> 추이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 err="1">
                <a:solidFill>
                  <a:srgbClr val="00B0F0"/>
                </a:solidFill>
              </a:rPr>
              <a:t>선택값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전체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정회원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온라인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매거진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 err="1"/>
              <a:t>월회원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프리미엄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정회원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온라인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매거진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 err="1"/>
              <a:t>월회원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 err="1"/>
              <a:t>리움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프리미엄</a:t>
            </a:r>
            <a:endParaRPr lang="en-US" altLang="ko-KR" sz="800" dirty="0"/>
          </a:p>
        </p:txBody>
      </p:sp>
      <p:sp>
        <p:nvSpPr>
          <p:cNvPr id="43" name="직사각형 42"/>
          <p:cNvSpPr/>
          <p:nvPr/>
        </p:nvSpPr>
        <p:spPr>
          <a:xfrm>
            <a:off x="6860286" y="170780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55" name="직선 연결선 54"/>
          <p:cNvCxnSpPr/>
          <p:nvPr/>
        </p:nvCxnSpPr>
        <p:spPr>
          <a:xfrm>
            <a:off x="588497" y="2219939"/>
            <a:ext cx="0" cy="56197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588497" y="2781918"/>
            <a:ext cx="423190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78913" y="2787564"/>
            <a:ext cx="33217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2500           5000         7500        10000        12500        15000</a:t>
            </a:r>
            <a:endParaRPr lang="ko-KR" altLang="en-US" sz="800" dirty="0"/>
          </a:p>
        </p:txBody>
      </p:sp>
      <p:sp>
        <p:nvSpPr>
          <p:cNvPr id="13" name="직사각형 12"/>
          <p:cNvSpPr/>
          <p:nvPr/>
        </p:nvSpPr>
        <p:spPr>
          <a:xfrm>
            <a:off x="588497" y="2363087"/>
            <a:ext cx="3838656" cy="26588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588497" y="2362109"/>
            <a:ext cx="1143026" cy="2658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신규</a:t>
            </a:r>
            <a:endParaRPr lang="en-US" altLang="ko-KR" sz="8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(0000</a:t>
            </a:r>
            <a:r>
              <a:rPr lang="ko-KR" altLang="en-US" sz="800" b="1" dirty="0">
                <a:solidFill>
                  <a:schemeClr val="bg1"/>
                </a:solidFill>
              </a:rPr>
              <a:t>명</a:t>
            </a:r>
            <a:r>
              <a:rPr lang="en-US" altLang="ko-KR" sz="800" b="1" dirty="0">
                <a:solidFill>
                  <a:schemeClr val="bg1"/>
                </a:solidFill>
              </a:rPr>
              <a:t>, 00%)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731522" y="2362109"/>
            <a:ext cx="2159541" cy="265889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재계약</a:t>
            </a:r>
            <a:endParaRPr lang="en-US" altLang="ko-KR" sz="8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(0000</a:t>
            </a:r>
            <a:r>
              <a:rPr lang="ko-KR" altLang="en-US" sz="800" b="1" dirty="0">
                <a:solidFill>
                  <a:schemeClr val="bg1"/>
                </a:solidFill>
              </a:rPr>
              <a:t>명</a:t>
            </a:r>
            <a:r>
              <a:rPr lang="en-US" altLang="ko-KR" sz="800" b="1" dirty="0">
                <a:solidFill>
                  <a:schemeClr val="bg1"/>
                </a:solidFill>
              </a:rPr>
              <a:t>, 00%)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893995" y="2362108"/>
            <a:ext cx="562030" cy="26588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미계약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(000</a:t>
            </a:r>
            <a:r>
              <a:rPr lang="ko-KR" altLang="en-US" sz="800" dirty="0">
                <a:solidFill>
                  <a:schemeClr val="tx1"/>
                </a:solidFill>
              </a:rPr>
              <a:t>명</a:t>
            </a:r>
            <a:r>
              <a:rPr lang="en-US" altLang="ko-KR" sz="800" dirty="0">
                <a:solidFill>
                  <a:schemeClr val="tx1"/>
                </a:solidFill>
              </a:rPr>
              <a:t>, 00%)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 rot="21238643">
            <a:off x="945217" y="4322737"/>
            <a:ext cx="3243584" cy="469152"/>
          </a:xfrm>
          <a:prstGeom prst="rect">
            <a:avLst/>
          </a:prstGeom>
          <a:solidFill>
            <a:schemeClr val="bg1"/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전체 누적</a:t>
            </a:r>
          </a:p>
        </p:txBody>
      </p:sp>
      <p:sp>
        <p:nvSpPr>
          <p:cNvPr id="61" name="직사각형 60"/>
          <p:cNvSpPr/>
          <p:nvPr/>
        </p:nvSpPr>
        <p:spPr>
          <a:xfrm rot="21296021">
            <a:off x="5827777" y="4321531"/>
            <a:ext cx="3243584" cy="469152"/>
          </a:xfrm>
          <a:prstGeom prst="rect">
            <a:avLst/>
          </a:prstGeom>
          <a:solidFill>
            <a:schemeClr val="bg1"/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월별 누적</a:t>
            </a:r>
          </a:p>
        </p:txBody>
      </p:sp>
      <p:cxnSp>
        <p:nvCxnSpPr>
          <p:cNvPr id="20" name="꺾인 연결선 19"/>
          <p:cNvCxnSpPr/>
          <p:nvPr/>
        </p:nvCxnSpPr>
        <p:spPr>
          <a:xfrm rot="16200000" flipV="1">
            <a:off x="5225920" y="3757383"/>
            <a:ext cx="592760" cy="250932"/>
          </a:xfrm>
          <a:prstGeom prst="bentConnector3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/>
          <p:cNvSpPr/>
          <p:nvPr/>
        </p:nvSpPr>
        <p:spPr>
          <a:xfrm>
            <a:off x="136187" y="5193778"/>
            <a:ext cx="4818434" cy="2583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</a:rPr>
              <a:t>재계약 현황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4996774" y="5193778"/>
            <a:ext cx="4818434" cy="2583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</a:rPr>
              <a:t>월별 추이</a:t>
            </a:r>
          </a:p>
        </p:txBody>
      </p:sp>
      <p:graphicFrame>
        <p:nvGraphicFramePr>
          <p:cNvPr id="64" name="표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972420"/>
              </p:ext>
            </p:extLst>
          </p:nvPr>
        </p:nvGraphicFramePr>
        <p:xfrm>
          <a:off x="136188" y="5485188"/>
          <a:ext cx="481843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5" name="직사각형 64"/>
          <p:cNvSpPr/>
          <p:nvPr/>
        </p:nvSpPr>
        <p:spPr>
          <a:xfrm>
            <a:off x="852649" y="5500433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66" name="그림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266" y="5504935"/>
            <a:ext cx="186718" cy="154639"/>
          </a:xfrm>
          <a:prstGeom prst="rect">
            <a:avLst/>
          </a:prstGeom>
        </p:spPr>
      </p:pic>
      <p:sp>
        <p:nvSpPr>
          <p:cNvPr id="67" name="직사각형 66"/>
          <p:cNvSpPr/>
          <p:nvPr/>
        </p:nvSpPr>
        <p:spPr>
          <a:xfrm>
            <a:off x="2145952" y="5500433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68" name="그림 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018" y="5499661"/>
            <a:ext cx="186718" cy="154639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877641" y="5438482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70" name="직사각형 69"/>
          <p:cNvSpPr/>
          <p:nvPr/>
        </p:nvSpPr>
        <p:spPr>
          <a:xfrm>
            <a:off x="852649" y="5733447"/>
            <a:ext cx="649734" cy="1444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유료회원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1552186" y="5732095"/>
            <a:ext cx="879729" cy="14554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선택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3281754" y="5731939"/>
            <a:ext cx="1620986" cy="1416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홍길동                       🔍</a:t>
            </a:r>
          </a:p>
        </p:txBody>
      </p:sp>
      <p:graphicFrame>
        <p:nvGraphicFramePr>
          <p:cNvPr id="73" name="표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300839"/>
              </p:ext>
            </p:extLst>
          </p:nvPr>
        </p:nvGraphicFramePr>
        <p:xfrm>
          <a:off x="5004424" y="5485188"/>
          <a:ext cx="481843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● 시작일  ○ 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직사각형 73"/>
          <p:cNvSpPr/>
          <p:nvPr/>
        </p:nvSpPr>
        <p:spPr>
          <a:xfrm>
            <a:off x="6923302" y="5514055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75" name="그림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919" y="5518557"/>
            <a:ext cx="186718" cy="154639"/>
          </a:xfrm>
          <a:prstGeom prst="rect">
            <a:avLst/>
          </a:prstGeom>
        </p:spPr>
      </p:pic>
      <p:sp>
        <p:nvSpPr>
          <p:cNvPr id="76" name="직사각형 75"/>
          <p:cNvSpPr/>
          <p:nvPr/>
        </p:nvSpPr>
        <p:spPr>
          <a:xfrm>
            <a:off x="8216605" y="5514055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77" name="그림 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671" y="5513283"/>
            <a:ext cx="186718" cy="154639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7948294" y="5452104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79" name="직사각형 78"/>
          <p:cNvSpPr/>
          <p:nvPr/>
        </p:nvSpPr>
        <p:spPr>
          <a:xfrm>
            <a:off x="5720885" y="5733447"/>
            <a:ext cx="649734" cy="1444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유료회원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6420422" y="5732095"/>
            <a:ext cx="879729" cy="14554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선택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1" name="모서리가 둥근 직사각형 80"/>
          <p:cNvSpPr/>
          <p:nvPr/>
        </p:nvSpPr>
        <p:spPr>
          <a:xfrm>
            <a:off x="136187" y="5965177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82" name="모서리가 둥근 직사각형 81"/>
          <p:cNvSpPr/>
          <p:nvPr/>
        </p:nvSpPr>
        <p:spPr>
          <a:xfrm>
            <a:off x="729574" y="5965177"/>
            <a:ext cx="625813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다운로드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3" name="모서리가 둥근 직사각형 82"/>
          <p:cNvSpPr/>
          <p:nvPr/>
        </p:nvSpPr>
        <p:spPr>
          <a:xfrm>
            <a:off x="5004424" y="5962697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5597811" y="5962697"/>
            <a:ext cx="625813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다운로드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8142341" y="5737325"/>
            <a:ext cx="1620986" cy="1416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                    🔍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3288676" y="572497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1914289" y="572587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신규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재계약 현황 요약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 내역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다운로드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CRM_03_003~004, CRM_03_012~015</a:t>
            </a:r>
          </a:p>
        </p:txBody>
      </p:sp>
      <p:pic>
        <p:nvPicPr>
          <p:cNvPr id="90" name="그림 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0" y="586795"/>
            <a:ext cx="9718899" cy="584232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995" y="1349309"/>
            <a:ext cx="3999835" cy="225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2760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36187" y="1174883"/>
            <a:ext cx="4818434" cy="2583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</a:rPr>
              <a:t>재계약 현황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4996774" y="1174883"/>
            <a:ext cx="4818434" cy="2583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</a:rPr>
              <a:t>월별 추이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739671"/>
              </p:ext>
            </p:extLst>
          </p:nvPr>
        </p:nvGraphicFramePr>
        <p:xfrm>
          <a:off x="136188" y="1466293"/>
          <a:ext cx="481843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○ 시작일  ● 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2363380" y="1479842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997" y="1484344"/>
            <a:ext cx="186718" cy="154639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3656683" y="1479842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749" y="1479070"/>
            <a:ext cx="186718" cy="1546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88372" y="1417891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14" name="직사각형 13"/>
          <p:cNvSpPr/>
          <p:nvPr/>
        </p:nvSpPr>
        <p:spPr>
          <a:xfrm>
            <a:off x="852649" y="1714552"/>
            <a:ext cx="649734" cy="1444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유료회원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552186" y="1713200"/>
            <a:ext cx="879729" cy="14554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선택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281754" y="1713044"/>
            <a:ext cx="1620986" cy="1416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홍길동                       🔍</a:t>
            </a:r>
          </a:p>
        </p:txBody>
      </p:sp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687839"/>
              </p:ext>
            </p:extLst>
          </p:nvPr>
        </p:nvGraphicFramePr>
        <p:xfrm>
          <a:off x="5004424" y="1466293"/>
          <a:ext cx="481843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○ 시작일  ● 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직사각형 34"/>
          <p:cNvSpPr/>
          <p:nvPr/>
        </p:nvSpPr>
        <p:spPr>
          <a:xfrm>
            <a:off x="6923302" y="1495160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919" y="1499662"/>
            <a:ext cx="186718" cy="154639"/>
          </a:xfrm>
          <a:prstGeom prst="rect">
            <a:avLst/>
          </a:prstGeom>
        </p:spPr>
      </p:pic>
      <p:sp>
        <p:nvSpPr>
          <p:cNvPr id="37" name="직사각형 36"/>
          <p:cNvSpPr/>
          <p:nvPr/>
        </p:nvSpPr>
        <p:spPr>
          <a:xfrm>
            <a:off x="8216605" y="1495160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671" y="1494388"/>
            <a:ext cx="186718" cy="15463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948294" y="1433209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40" name="직사각형 39"/>
          <p:cNvSpPr/>
          <p:nvPr/>
        </p:nvSpPr>
        <p:spPr>
          <a:xfrm>
            <a:off x="5720885" y="1714552"/>
            <a:ext cx="649734" cy="1444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유료회원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420422" y="1713200"/>
            <a:ext cx="879729" cy="14554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선택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5404963" y="2193366"/>
            <a:ext cx="0" cy="139310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5404963" y="3586470"/>
            <a:ext cx="423190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79168" y="3586470"/>
            <a:ext cx="3879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1</a:t>
            </a:r>
            <a:r>
              <a:rPr lang="ko-KR" altLang="en-US" sz="800" dirty="0"/>
              <a:t>월    </a:t>
            </a:r>
            <a:r>
              <a:rPr lang="en-US" altLang="ko-KR" sz="800" dirty="0"/>
              <a:t>2</a:t>
            </a:r>
            <a:r>
              <a:rPr lang="ko-KR" altLang="en-US" sz="800" dirty="0"/>
              <a:t>월    </a:t>
            </a:r>
            <a:r>
              <a:rPr lang="en-US" altLang="ko-KR" sz="800" dirty="0"/>
              <a:t>3</a:t>
            </a:r>
            <a:r>
              <a:rPr lang="ko-KR" altLang="en-US" sz="800" dirty="0"/>
              <a:t>월    </a:t>
            </a:r>
            <a:r>
              <a:rPr lang="en-US" altLang="ko-KR" sz="800" dirty="0"/>
              <a:t>4</a:t>
            </a:r>
            <a:r>
              <a:rPr lang="ko-KR" altLang="en-US" sz="800" dirty="0"/>
              <a:t>월    </a:t>
            </a:r>
            <a:r>
              <a:rPr lang="en-US" altLang="ko-KR" sz="800" dirty="0"/>
              <a:t>5</a:t>
            </a:r>
            <a:r>
              <a:rPr lang="ko-KR" altLang="en-US" sz="800" dirty="0"/>
              <a:t>월    </a:t>
            </a:r>
            <a:r>
              <a:rPr lang="en-US" altLang="ko-KR" sz="800" dirty="0"/>
              <a:t>6</a:t>
            </a:r>
            <a:r>
              <a:rPr lang="ko-KR" altLang="en-US" sz="800" dirty="0"/>
              <a:t>월    </a:t>
            </a:r>
            <a:r>
              <a:rPr lang="en-US" altLang="ko-KR" sz="800" dirty="0"/>
              <a:t>7</a:t>
            </a:r>
            <a:r>
              <a:rPr lang="ko-KR" altLang="en-US" sz="800" dirty="0"/>
              <a:t>월    </a:t>
            </a:r>
            <a:r>
              <a:rPr lang="en-US" altLang="ko-KR" sz="800" dirty="0"/>
              <a:t>8</a:t>
            </a:r>
            <a:r>
              <a:rPr lang="ko-KR" altLang="en-US" sz="800" dirty="0"/>
              <a:t>월    </a:t>
            </a:r>
            <a:r>
              <a:rPr lang="en-US" altLang="ko-KR" sz="800" dirty="0"/>
              <a:t>9</a:t>
            </a:r>
            <a:r>
              <a:rPr lang="ko-KR" altLang="en-US" sz="800" dirty="0"/>
              <a:t>월    </a:t>
            </a:r>
            <a:r>
              <a:rPr lang="en-US" altLang="ko-KR" sz="800" dirty="0"/>
              <a:t>10</a:t>
            </a:r>
            <a:r>
              <a:rPr lang="ko-KR" altLang="en-US" sz="800" dirty="0"/>
              <a:t>월    </a:t>
            </a:r>
            <a:r>
              <a:rPr lang="en-US" altLang="ko-KR" sz="800" dirty="0"/>
              <a:t>11</a:t>
            </a:r>
            <a:r>
              <a:rPr lang="ko-KR" altLang="en-US" sz="800" dirty="0"/>
              <a:t>월    </a:t>
            </a:r>
            <a:r>
              <a:rPr lang="en-US" altLang="ko-KR" sz="800" dirty="0"/>
              <a:t>12</a:t>
            </a:r>
            <a:r>
              <a:rPr lang="ko-KR" altLang="en-US" sz="800" dirty="0"/>
              <a:t>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02458" y="2125845"/>
            <a:ext cx="43960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125%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100%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75%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50%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25%</a:t>
            </a:r>
            <a:endParaRPr lang="ko-KR" altLang="en-US" sz="800" dirty="0"/>
          </a:p>
        </p:txBody>
      </p:sp>
      <p:grpSp>
        <p:nvGrpSpPr>
          <p:cNvPr id="47" name="그룹 46"/>
          <p:cNvGrpSpPr/>
          <p:nvPr/>
        </p:nvGrpSpPr>
        <p:grpSpPr>
          <a:xfrm>
            <a:off x="5479168" y="2988166"/>
            <a:ext cx="591779" cy="274504"/>
            <a:chOff x="5479168" y="2774343"/>
            <a:chExt cx="591779" cy="274504"/>
          </a:xfrm>
        </p:grpSpPr>
        <p:sp>
          <p:nvSpPr>
            <p:cNvPr id="22" name="TextBox 21"/>
            <p:cNvSpPr txBox="1"/>
            <p:nvPr/>
          </p:nvSpPr>
          <p:spPr>
            <a:xfrm>
              <a:off x="5479168" y="2774343"/>
              <a:ext cx="26161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" dirty="0">
                  <a:solidFill>
                    <a:schemeClr val="accent2"/>
                  </a:solidFill>
                </a:rPr>
                <a:t>◆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809337" y="2864181"/>
              <a:ext cx="26161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" dirty="0">
                  <a:solidFill>
                    <a:schemeClr val="accent2"/>
                  </a:solidFill>
                </a:rPr>
                <a:t>◆</a:t>
              </a:r>
            </a:p>
          </p:txBody>
        </p:sp>
        <p:cxnSp>
          <p:nvCxnSpPr>
            <p:cNvPr id="46" name="직선 연결선 45"/>
            <p:cNvCxnSpPr/>
            <p:nvPr/>
          </p:nvCxnSpPr>
          <p:spPr>
            <a:xfrm>
              <a:off x="5609973" y="2879759"/>
              <a:ext cx="330169" cy="8983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481703"/>
              </p:ext>
            </p:extLst>
          </p:nvPr>
        </p:nvGraphicFramePr>
        <p:xfrm>
          <a:off x="123995" y="4365540"/>
          <a:ext cx="4825118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6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3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3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3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32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927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대상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완료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(%)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서비스종료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담당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회원수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0000</a:t>
                      </a:r>
                      <a:r>
                        <a:rPr lang="ko-KR" altLang="en-US" sz="800" u="none" dirty="0"/>
                        <a:t>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0000</a:t>
                      </a:r>
                      <a:r>
                        <a:rPr lang="ko-KR" altLang="en-US" sz="800" u="none" dirty="0"/>
                        <a:t>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00%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8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회사수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0000</a:t>
                      </a:r>
                      <a:r>
                        <a:rPr lang="ko-KR" altLang="en-US" sz="800" u="none" dirty="0"/>
                        <a:t>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0000</a:t>
                      </a:r>
                      <a:r>
                        <a:rPr lang="ko-KR" altLang="en-US" sz="800" u="none" dirty="0"/>
                        <a:t>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00%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8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전체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회사수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0000</a:t>
                      </a:r>
                      <a:r>
                        <a:rPr lang="ko-KR" altLang="en-US" sz="800" u="none" dirty="0"/>
                        <a:t>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0000</a:t>
                      </a:r>
                      <a:r>
                        <a:rPr lang="ko-KR" altLang="en-US" sz="800" u="none" dirty="0"/>
                        <a:t>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8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회사수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0000</a:t>
                      </a:r>
                      <a:r>
                        <a:rPr lang="ko-KR" altLang="en-US" sz="800" u="none" dirty="0"/>
                        <a:t>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0000</a:t>
                      </a:r>
                      <a:r>
                        <a:rPr lang="ko-KR" altLang="en-US" sz="800" u="none" dirty="0"/>
                        <a:t>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" name="모서리가 둥근 직사각형 48"/>
          <p:cNvSpPr/>
          <p:nvPr/>
        </p:nvSpPr>
        <p:spPr>
          <a:xfrm>
            <a:off x="136187" y="1946282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50" name="모서리가 둥근 직사각형 49"/>
          <p:cNvSpPr/>
          <p:nvPr/>
        </p:nvSpPr>
        <p:spPr>
          <a:xfrm>
            <a:off x="729574" y="1946282"/>
            <a:ext cx="625813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다운로드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61001"/>
              </p:ext>
            </p:extLst>
          </p:nvPr>
        </p:nvGraphicFramePr>
        <p:xfrm>
          <a:off x="5004424" y="3918436"/>
          <a:ext cx="4671360" cy="15163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5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3616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개인  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대상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완료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종료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대상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완료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종료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2" name="모서리가 둥근 직사각형 51"/>
          <p:cNvSpPr/>
          <p:nvPr/>
        </p:nvSpPr>
        <p:spPr>
          <a:xfrm>
            <a:off x="5004424" y="1943802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53" name="모서리가 둥근 직사각형 52"/>
          <p:cNvSpPr/>
          <p:nvPr/>
        </p:nvSpPr>
        <p:spPr>
          <a:xfrm>
            <a:off x="5597811" y="1943802"/>
            <a:ext cx="625813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다운로드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8142341" y="1718430"/>
            <a:ext cx="1620986" cy="1416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                    🔍</a:t>
            </a:r>
          </a:p>
        </p:txBody>
      </p:sp>
      <p:cxnSp>
        <p:nvCxnSpPr>
          <p:cNvPr id="55" name="직선 연결선 54"/>
          <p:cNvCxnSpPr/>
          <p:nvPr/>
        </p:nvCxnSpPr>
        <p:spPr>
          <a:xfrm flipH="1">
            <a:off x="445695" y="2360594"/>
            <a:ext cx="5542" cy="63333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445695" y="2997367"/>
            <a:ext cx="192231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446275" y="3924701"/>
            <a:ext cx="1922312" cy="1302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대상  </a:t>
            </a:r>
            <a:r>
              <a:rPr lang="en-US" altLang="ko-KR" sz="800" b="1" dirty="0">
                <a:solidFill>
                  <a:schemeClr val="bg1"/>
                </a:solidFill>
              </a:rPr>
              <a:t>0000</a:t>
            </a:r>
            <a:r>
              <a:rPr lang="ko-KR" altLang="en-US" sz="800" b="1" dirty="0">
                <a:solidFill>
                  <a:schemeClr val="bg1"/>
                </a:solidFill>
              </a:rPr>
              <a:t>개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5479168" y="2866820"/>
            <a:ext cx="598264" cy="219444"/>
            <a:chOff x="6799163" y="2621082"/>
            <a:chExt cx="598264" cy="219444"/>
          </a:xfrm>
        </p:grpSpPr>
        <p:sp>
          <p:nvSpPr>
            <p:cNvPr id="86" name="TextBox 85"/>
            <p:cNvSpPr txBox="1"/>
            <p:nvPr/>
          </p:nvSpPr>
          <p:spPr>
            <a:xfrm>
              <a:off x="6799163" y="2655860"/>
              <a:ext cx="2616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600" dirty="0">
                  <a:solidFill>
                    <a:srgbClr val="7030A0"/>
                  </a:solidFill>
                </a:rPr>
                <a:t>◆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7135817" y="2621082"/>
              <a:ext cx="2616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600" dirty="0">
                  <a:solidFill>
                    <a:srgbClr val="7030A0"/>
                  </a:solidFill>
                </a:rPr>
                <a:t>◆</a:t>
              </a:r>
            </a:p>
          </p:txBody>
        </p:sp>
        <p:cxnSp>
          <p:nvCxnSpPr>
            <p:cNvPr id="25" name="직선 연결선 24"/>
            <p:cNvCxnSpPr/>
            <p:nvPr/>
          </p:nvCxnSpPr>
          <p:spPr>
            <a:xfrm flipV="1">
              <a:off x="6938652" y="2715223"/>
              <a:ext cx="370183" cy="48428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8531125" y="2145150"/>
            <a:ext cx="5293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solidFill>
                  <a:schemeClr val="accent2"/>
                </a:solidFill>
              </a:rPr>
              <a:t>◆ 개인</a:t>
            </a:r>
            <a:endParaRPr lang="ko-KR" altLang="en-US" sz="800" dirty="0">
              <a:solidFill>
                <a:schemeClr val="accent2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982152" y="2145150"/>
            <a:ext cx="5293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rgbClr val="7030A0"/>
                </a:solidFill>
              </a:rPr>
              <a:t>◆ 법인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3288676" y="170607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81207" y="427426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 rot="16200000">
            <a:off x="708385" y="3368017"/>
            <a:ext cx="232803" cy="75702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6375" y="3569313"/>
            <a:ext cx="7136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완료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000</a:t>
            </a:r>
            <a:r>
              <a:rPr lang="ko-KR" altLang="en-US" sz="800" dirty="0">
                <a:solidFill>
                  <a:schemeClr val="bg1"/>
                </a:solidFill>
              </a:rPr>
              <a:t>개</a:t>
            </a:r>
            <a:r>
              <a:rPr lang="en-US" altLang="ko-KR" sz="800" dirty="0">
                <a:solidFill>
                  <a:schemeClr val="bg1"/>
                </a:solidFill>
              </a:rPr>
              <a:t>, 00%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2164747" y="3626963"/>
            <a:ext cx="203840" cy="2353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1198336" y="3629787"/>
            <a:ext cx="966412" cy="2325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대기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0000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, 00%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937891" y="3583325"/>
            <a:ext cx="657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종료</a:t>
            </a:r>
            <a:endParaRPr lang="en-US" altLang="ko-KR" sz="800" dirty="0"/>
          </a:p>
          <a:p>
            <a:pPr algn="ctr"/>
            <a:r>
              <a:rPr lang="en-US" altLang="ko-KR" sz="800" dirty="0"/>
              <a:t>00</a:t>
            </a:r>
            <a:r>
              <a:rPr lang="ko-KR" altLang="en-US" sz="800" dirty="0"/>
              <a:t>개</a:t>
            </a:r>
            <a:r>
              <a:rPr lang="en-US" altLang="ko-KR" sz="800" dirty="0"/>
              <a:t>, 00%</a:t>
            </a:r>
            <a:endParaRPr lang="ko-KR" altLang="en-US" sz="800" dirty="0"/>
          </a:p>
        </p:txBody>
      </p:sp>
      <p:sp>
        <p:nvSpPr>
          <p:cNvPr id="100" name="직사각형 99"/>
          <p:cNvSpPr/>
          <p:nvPr/>
        </p:nvSpPr>
        <p:spPr>
          <a:xfrm>
            <a:off x="451236" y="2781999"/>
            <a:ext cx="1922312" cy="1302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대상자  </a:t>
            </a:r>
            <a:r>
              <a:rPr lang="en-US" altLang="ko-KR" sz="800" b="1" dirty="0">
                <a:solidFill>
                  <a:schemeClr val="bg1"/>
                </a:solidFill>
              </a:rPr>
              <a:t>0000</a:t>
            </a:r>
            <a:r>
              <a:rPr lang="ko-KR" altLang="en-US" sz="800" b="1" dirty="0">
                <a:solidFill>
                  <a:schemeClr val="bg1"/>
                </a:solidFill>
              </a:rPr>
              <a:t>명</a:t>
            </a:r>
          </a:p>
        </p:txBody>
      </p:sp>
      <p:sp>
        <p:nvSpPr>
          <p:cNvPr id="101" name="직사각형 100"/>
          <p:cNvSpPr/>
          <p:nvPr/>
        </p:nvSpPr>
        <p:spPr>
          <a:xfrm rot="16200000">
            <a:off x="713346" y="2225315"/>
            <a:ext cx="232803" cy="75702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11336" y="2426611"/>
            <a:ext cx="7136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완료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000</a:t>
            </a:r>
            <a:r>
              <a:rPr lang="ko-KR" altLang="en-US" sz="800" dirty="0">
                <a:solidFill>
                  <a:schemeClr val="bg1"/>
                </a:solidFill>
              </a:rPr>
              <a:t>명</a:t>
            </a:r>
            <a:r>
              <a:rPr lang="en-US" altLang="ko-KR" sz="800" dirty="0">
                <a:solidFill>
                  <a:schemeClr val="bg1"/>
                </a:solidFill>
              </a:rPr>
              <a:t>, 00%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2169708" y="2484261"/>
            <a:ext cx="203840" cy="2353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1203297" y="2487085"/>
            <a:ext cx="966412" cy="2325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대기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0000</a:t>
            </a:r>
            <a:r>
              <a:rPr lang="ko-KR" altLang="en-US" sz="800" dirty="0">
                <a:solidFill>
                  <a:schemeClr val="tx1"/>
                </a:solidFill>
              </a:rPr>
              <a:t>명</a:t>
            </a:r>
            <a:r>
              <a:rPr lang="en-US" altLang="ko-KR" sz="800" dirty="0">
                <a:solidFill>
                  <a:schemeClr val="tx1"/>
                </a:solidFill>
              </a:rPr>
              <a:t>, 00%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942852" y="2440623"/>
            <a:ext cx="657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종료</a:t>
            </a:r>
            <a:endParaRPr lang="en-US" altLang="ko-KR" sz="800" dirty="0"/>
          </a:p>
          <a:p>
            <a:pPr algn="ctr"/>
            <a:r>
              <a:rPr lang="en-US" altLang="ko-KR" sz="800" dirty="0"/>
              <a:t>00</a:t>
            </a:r>
            <a:r>
              <a:rPr lang="ko-KR" altLang="en-US" sz="800" dirty="0"/>
              <a:t>명</a:t>
            </a:r>
            <a:r>
              <a:rPr lang="en-US" altLang="ko-KR" sz="800" dirty="0"/>
              <a:t>, 00%</a:t>
            </a:r>
            <a:endParaRPr lang="ko-KR" altLang="en-US" sz="800" dirty="0"/>
          </a:p>
        </p:txBody>
      </p:sp>
      <p:sp>
        <p:nvSpPr>
          <p:cNvPr id="32" name="TextBox 31"/>
          <p:cNvSpPr txBox="1"/>
          <p:nvPr/>
        </p:nvSpPr>
        <p:spPr>
          <a:xfrm>
            <a:off x="72159" y="2589985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/>
              <a:t>개인</a:t>
            </a:r>
            <a:endParaRPr lang="ko-KR" altLang="en-US" sz="800" dirty="0"/>
          </a:p>
        </p:txBody>
      </p:sp>
      <p:sp>
        <p:nvSpPr>
          <p:cNvPr id="106" name="TextBox 105"/>
          <p:cNvSpPr txBox="1"/>
          <p:nvPr/>
        </p:nvSpPr>
        <p:spPr>
          <a:xfrm>
            <a:off x="72159" y="347562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법인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445695" y="3442211"/>
            <a:ext cx="1922312" cy="1302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대상자  </a:t>
            </a:r>
            <a:r>
              <a:rPr lang="en-US" altLang="ko-KR" sz="800" b="1" dirty="0">
                <a:solidFill>
                  <a:schemeClr val="bg1"/>
                </a:solidFill>
              </a:rPr>
              <a:t>0000</a:t>
            </a:r>
            <a:r>
              <a:rPr lang="ko-KR" altLang="en-US" sz="800" b="1" dirty="0">
                <a:solidFill>
                  <a:schemeClr val="bg1"/>
                </a:solidFill>
              </a:rPr>
              <a:t>명</a:t>
            </a:r>
          </a:p>
        </p:txBody>
      </p:sp>
      <p:sp>
        <p:nvSpPr>
          <p:cNvPr id="108" name="직사각형 107"/>
          <p:cNvSpPr/>
          <p:nvPr/>
        </p:nvSpPr>
        <p:spPr>
          <a:xfrm rot="16200000">
            <a:off x="707805" y="2885527"/>
            <a:ext cx="232803" cy="75702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2164167" y="3144473"/>
            <a:ext cx="203840" cy="2353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1197756" y="3147297"/>
            <a:ext cx="966412" cy="2325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대기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0000</a:t>
            </a:r>
            <a:r>
              <a:rPr lang="ko-KR" altLang="en-US" sz="800" dirty="0">
                <a:solidFill>
                  <a:schemeClr val="tx1"/>
                </a:solidFill>
              </a:rPr>
              <a:t>명</a:t>
            </a:r>
            <a:r>
              <a:rPr lang="en-US" altLang="ko-KR" sz="800" dirty="0">
                <a:solidFill>
                  <a:schemeClr val="tx1"/>
                </a:solidFill>
              </a:rPr>
              <a:t>, 00%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472918" y="3098498"/>
            <a:ext cx="7136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완료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000</a:t>
            </a:r>
            <a:r>
              <a:rPr lang="ko-KR" altLang="en-US" sz="800" dirty="0">
                <a:solidFill>
                  <a:schemeClr val="bg1"/>
                </a:solidFill>
              </a:rPr>
              <a:t>명</a:t>
            </a:r>
            <a:r>
              <a:rPr lang="en-US" altLang="ko-KR" sz="800" dirty="0">
                <a:solidFill>
                  <a:schemeClr val="bg1"/>
                </a:solidFill>
              </a:rPr>
              <a:t>, 00%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966197" y="3099009"/>
            <a:ext cx="657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종료</a:t>
            </a:r>
            <a:endParaRPr lang="en-US" altLang="ko-KR" sz="800" dirty="0"/>
          </a:p>
          <a:p>
            <a:pPr algn="ctr"/>
            <a:r>
              <a:rPr lang="en-US" altLang="ko-KR" sz="800" dirty="0"/>
              <a:t>00</a:t>
            </a:r>
            <a:r>
              <a:rPr lang="ko-KR" altLang="en-US" sz="800" dirty="0"/>
              <a:t>명</a:t>
            </a:r>
            <a:r>
              <a:rPr lang="en-US" altLang="ko-KR" sz="800" dirty="0"/>
              <a:t>, 00%</a:t>
            </a:r>
            <a:endParaRPr lang="ko-KR" altLang="en-US" sz="800" dirty="0"/>
          </a:p>
        </p:txBody>
      </p:sp>
      <p:cxnSp>
        <p:nvCxnSpPr>
          <p:cNvPr id="113" name="직선 연결선 112"/>
          <p:cNvCxnSpPr/>
          <p:nvPr/>
        </p:nvCxnSpPr>
        <p:spPr>
          <a:xfrm>
            <a:off x="445368" y="3075513"/>
            <a:ext cx="6228" cy="103609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/>
          <p:cNvCxnSpPr/>
          <p:nvPr/>
        </p:nvCxnSpPr>
        <p:spPr>
          <a:xfrm>
            <a:off x="446275" y="4113569"/>
            <a:ext cx="192231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1109165" y="4127420"/>
            <a:ext cx="8707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0B0F0"/>
                </a:solidFill>
              </a:rPr>
              <a:t>홍길동</a:t>
            </a:r>
            <a:r>
              <a:rPr lang="ko-KR" altLang="en-US" sz="1000" dirty="0"/>
              <a:t> 담당</a:t>
            </a:r>
          </a:p>
        </p:txBody>
      </p:sp>
      <p:cxnSp>
        <p:nvCxnSpPr>
          <p:cNvPr id="116" name="직선 연결선 115"/>
          <p:cNvCxnSpPr/>
          <p:nvPr/>
        </p:nvCxnSpPr>
        <p:spPr>
          <a:xfrm flipH="1">
            <a:off x="2868651" y="2360594"/>
            <a:ext cx="5542" cy="63333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/>
          <p:cNvCxnSpPr/>
          <p:nvPr/>
        </p:nvCxnSpPr>
        <p:spPr>
          <a:xfrm>
            <a:off x="2868651" y="2997367"/>
            <a:ext cx="192231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/>
          <p:cNvSpPr/>
          <p:nvPr/>
        </p:nvSpPr>
        <p:spPr>
          <a:xfrm>
            <a:off x="2869231" y="3924701"/>
            <a:ext cx="1922312" cy="1302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대상  </a:t>
            </a:r>
            <a:r>
              <a:rPr lang="en-US" altLang="ko-KR" sz="800" b="1" dirty="0">
                <a:solidFill>
                  <a:schemeClr val="bg1"/>
                </a:solidFill>
              </a:rPr>
              <a:t>0000</a:t>
            </a:r>
            <a:r>
              <a:rPr lang="ko-KR" altLang="en-US" sz="800" b="1" dirty="0">
                <a:solidFill>
                  <a:schemeClr val="bg1"/>
                </a:solidFill>
              </a:rPr>
              <a:t>개</a:t>
            </a:r>
          </a:p>
        </p:txBody>
      </p:sp>
      <p:sp>
        <p:nvSpPr>
          <p:cNvPr id="119" name="직사각형 118"/>
          <p:cNvSpPr/>
          <p:nvPr/>
        </p:nvSpPr>
        <p:spPr>
          <a:xfrm rot="16200000">
            <a:off x="3131341" y="3368017"/>
            <a:ext cx="232803" cy="75702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929331" y="3569313"/>
            <a:ext cx="7136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완료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000</a:t>
            </a:r>
            <a:r>
              <a:rPr lang="ko-KR" altLang="en-US" sz="800" dirty="0">
                <a:solidFill>
                  <a:schemeClr val="bg1"/>
                </a:solidFill>
              </a:rPr>
              <a:t>개</a:t>
            </a:r>
            <a:r>
              <a:rPr lang="en-US" altLang="ko-KR" sz="800" dirty="0">
                <a:solidFill>
                  <a:schemeClr val="bg1"/>
                </a:solidFill>
              </a:rPr>
              <a:t>, 00%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4587703" y="3626963"/>
            <a:ext cx="203840" cy="2353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3621292" y="3629787"/>
            <a:ext cx="966412" cy="2325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대기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0000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, 00%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4360847" y="3583325"/>
            <a:ext cx="657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종료</a:t>
            </a:r>
            <a:endParaRPr lang="en-US" altLang="ko-KR" sz="800" dirty="0"/>
          </a:p>
          <a:p>
            <a:pPr algn="ctr"/>
            <a:r>
              <a:rPr lang="en-US" altLang="ko-KR" sz="800" dirty="0"/>
              <a:t>00</a:t>
            </a:r>
            <a:r>
              <a:rPr lang="ko-KR" altLang="en-US" sz="800" dirty="0"/>
              <a:t>개</a:t>
            </a:r>
            <a:r>
              <a:rPr lang="en-US" altLang="ko-KR" sz="800" dirty="0"/>
              <a:t>, 00%</a:t>
            </a:r>
            <a:endParaRPr lang="ko-KR" altLang="en-US" sz="800" dirty="0"/>
          </a:p>
        </p:txBody>
      </p:sp>
      <p:sp>
        <p:nvSpPr>
          <p:cNvPr id="124" name="직사각형 123"/>
          <p:cNvSpPr/>
          <p:nvPr/>
        </p:nvSpPr>
        <p:spPr>
          <a:xfrm>
            <a:off x="2874192" y="2781999"/>
            <a:ext cx="1922312" cy="1302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대상자  </a:t>
            </a:r>
            <a:r>
              <a:rPr lang="en-US" altLang="ko-KR" sz="800" b="1" dirty="0">
                <a:solidFill>
                  <a:schemeClr val="bg1"/>
                </a:solidFill>
              </a:rPr>
              <a:t>0000</a:t>
            </a:r>
            <a:r>
              <a:rPr lang="ko-KR" altLang="en-US" sz="800" b="1" dirty="0">
                <a:solidFill>
                  <a:schemeClr val="bg1"/>
                </a:solidFill>
              </a:rPr>
              <a:t>명</a:t>
            </a:r>
          </a:p>
        </p:txBody>
      </p:sp>
      <p:sp>
        <p:nvSpPr>
          <p:cNvPr id="125" name="직사각형 124"/>
          <p:cNvSpPr/>
          <p:nvPr/>
        </p:nvSpPr>
        <p:spPr>
          <a:xfrm rot="16200000">
            <a:off x="3136302" y="2225315"/>
            <a:ext cx="232803" cy="75702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2934292" y="2426611"/>
            <a:ext cx="7136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완료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000</a:t>
            </a:r>
            <a:r>
              <a:rPr lang="ko-KR" altLang="en-US" sz="800" dirty="0">
                <a:solidFill>
                  <a:schemeClr val="bg1"/>
                </a:solidFill>
              </a:rPr>
              <a:t>명</a:t>
            </a:r>
            <a:r>
              <a:rPr lang="en-US" altLang="ko-KR" sz="800" dirty="0">
                <a:solidFill>
                  <a:schemeClr val="bg1"/>
                </a:solidFill>
              </a:rPr>
              <a:t>, 00%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4592664" y="2484261"/>
            <a:ext cx="203840" cy="2353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3626253" y="2487085"/>
            <a:ext cx="966412" cy="2325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대기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0000</a:t>
            </a:r>
            <a:r>
              <a:rPr lang="ko-KR" altLang="en-US" sz="800" dirty="0">
                <a:solidFill>
                  <a:schemeClr val="tx1"/>
                </a:solidFill>
              </a:rPr>
              <a:t>명</a:t>
            </a:r>
            <a:r>
              <a:rPr lang="en-US" altLang="ko-KR" sz="800" dirty="0">
                <a:solidFill>
                  <a:schemeClr val="tx1"/>
                </a:solidFill>
              </a:rPr>
              <a:t>, 00%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4365808" y="2440623"/>
            <a:ext cx="657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종료</a:t>
            </a:r>
            <a:endParaRPr lang="en-US" altLang="ko-KR" sz="800" dirty="0"/>
          </a:p>
          <a:p>
            <a:pPr algn="ctr"/>
            <a:r>
              <a:rPr lang="en-US" altLang="ko-KR" sz="800" dirty="0"/>
              <a:t>00</a:t>
            </a:r>
            <a:r>
              <a:rPr lang="ko-KR" altLang="en-US" sz="800" dirty="0"/>
              <a:t>명</a:t>
            </a:r>
            <a:r>
              <a:rPr lang="en-US" altLang="ko-KR" sz="800" dirty="0"/>
              <a:t>, 00%</a:t>
            </a:r>
            <a:endParaRPr lang="ko-KR" altLang="en-US" sz="800" dirty="0"/>
          </a:p>
        </p:txBody>
      </p:sp>
      <p:sp>
        <p:nvSpPr>
          <p:cNvPr id="130" name="TextBox 129"/>
          <p:cNvSpPr txBox="1"/>
          <p:nvPr/>
        </p:nvSpPr>
        <p:spPr>
          <a:xfrm>
            <a:off x="2495115" y="2589985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/>
              <a:t>개인</a:t>
            </a:r>
            <a:endParaRPr lang="ko-KR" altLang="en-US" sz="800" dirty="0"/>
          </a:p>
        </p:txBody>
      </p:sp>
      <p:sp>
        <p:nvSpPr>
          <p:cNvPr id="131" name="TextBox 130"/>
          <p:cNvSpPr txBox="1"/>
          <p:nvPr/>
        </p:nvSpPr>
        <p:spPr>
          <a:xfrm>
            <a:off x="2495115" y="347562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법인</a:t>
            </a:r>
          </a:p>
        </p:txBody>
      </p:sp>
      <p:sp>
        <p:nvSpPr>
          <p:cNvPr id="132" name="직사각형 131"/>
          <p:cNvSpPr/>
          <p:nvPr/>
        </p:nvSpPr>
        <p:spPr>
          <a:xfrm>
            <a:off x="2868651" y="3442211"/>
            <a:ext cx="1922312" cy="1302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대상자  </a:t>
            </a:r>
            <a:r>
              <a:rPr lang="en-US" altLang="ko-KR" sz="800" b="1" dirty="0">
                <a:solidFill>
                  <a:schemeClr val="bg1"/>
                </a:solidFill>
              </a:rPr>
              <a:t>0000</a:t>
            </a:r>
            <a:r>
              <a:rPr lang="ko-KR" altLang="en-US" sz="800" b="1" dirty="0">
                <a:solidFill>
                  <a:schemeClr val="bg1"/>
                </a:solidFill>
              </a:rPr>
              <a:t>명</a:t>
            </a:r>
          </a:p>
        </p:txBody>
      </p:sp>
      <p:sp>
        <p:nvSpPr>
          <p:cNvPr id="133" name="직사각형 132"/>
          <p:cNvSpPr/>
          <p:nvPr/>
        </p:nvSpPr>
        <p:spPr>
          <a:xfrm rot="16200000">
            <a:off x="3130761" y="2885527"/>
            <a:ext cx="232803" cy="75702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4587123" y="3144473"/>
            <a:ext cx="203840" cy="2353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3620712" y="3147297"/>
            <a:ext cx="966412" cy="2325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대기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0000</a:t>
            </a:r>
            <a:r>
              <a:rPr lang="ko-KR" altLang="en-US" sz="800" dirty="0">
                <a:solidFill>
                  <a:schemeClr val="tx1"/>
                </a:solidFill>
              </a:rPr>
              <a:t>명</a:t>
            </a:r>
            <a:r>
              <a:rPr lang="en-US" altLang="ko-KR" sz="800" dirty="0">
                <a:solidFill>
                  <a:schemeClr val="tx1"/>
                </a:solidFill>
              </a:rPr>
              <a:t>, 00%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895874" y="3098498"/>
            <a:ext cx="7136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완료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000</a:t>
            </a:r>
            <a:r>
              <a:rPr lang="ko-KR" altLang="en-US" sz="800" dirty="0">
                <a:solidFill>
                  <a:schemeClr val="bg1"/>
                </a:solidFill>
              </a:rPr>
              <a:t>명</a:t>
            </a:r>
            <a:r>
              <a:rPr lang="en-US" altLang="ko-KR" sz="800" dirty="0">
                <a:solidFill>
                  <a:schemeClr val="bg1"/>
                </a:solidFill>
              </a:rPr>
              <a:t>, 00%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4389153" y="3099009"/>
            <a:ext cx="657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종료</a:t>
            </a:r>
            <a:endParaRPr lang="en-US" altLang="ko-KR" sz="800" dirty="0"/>
          </a:p>
          <a:p>
            <a:pPr algn="ctr"/>
            <a:r>
              <a:rPr lang="en-US" altLang="ko-KR" sz="800" dirty="0"/>
              <a:t>00</a:t>
            </a:r>
            <a:r>
              <a:rPr lang="ko-KR" altLang="en-US" sz="800" dirty="0"/>
              <a:t>명</a:t>
            </a:r>
            <a:r>
              <a:rPr lang="en-US" altLang="ko-KR" sz="800" dirty="0"/>
              <a:t>, 00%</a:t>
            </a:r>
            <a:endParaRPr lang="ko-KR" altLang="en-US" sz="800" dirty="0"/>
          </a:p>
        </p:txBody>
      </p:sp>
      <p:cxnSp>
        <p:nvCxnSpPr>
          <p:cNvPr id="138" name="직선 연결선 137"/>
          <p:cNvCxnSpPr/>
          <p:nvPr/>
        </p:nvCxnSpPr>
        <p:spPr>
          <a:xfrm>
            <a:off x="2868324" y="3075513"/>
            <a:ext cx="6228" cy="103609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/>
          <p:cNvCxnSpPr/>
          <p:nvPr/>
        </p:nvCxnSpPr>
        <p:spPr>
          <a:xfrm>
            <a:off x="2869231" y="4113569"/>
            <a:ext cx="192231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3532121" y="4127420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전체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997065" y="628549"/>
            <a:ext cx="2217274" cy="63401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00B0F0"/>
                </a:solidFill>
              </a:rPr>
              <a:t>재계약 전체 현황 조회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신규</a:t>
            </a:r>
            <a:r>
              <a:rPr lang="en-US" altLang="ko-KR" sz="1000" b="1" dirty="0">
                <a:solidFill>
                  <a:srgbClr val="00B0F0"/>
                </a:solidFill>
              </a:rPr>
              <a:t>+</a:t>
            </a:r>
            <a:r>
              <a:rPr lang="ko-KR" altLang="en-US" sz="1000" b="1" dirty="0">
                <a:solidFill>
                  <a:srgbClr val="00B0F0"/>
                </a:solidFill>
              </a:rPr>
              <a:t>재계약</a:t>
            </a:r>
            <a:r>
              <a:rPr lang="en-US" altLang="ko-KR" sz="1000" b="1" dirty="0">
                <a:solidFill>
                  <a:srgbClr val="00B0F0"/>
                </a:solidFill>
              </a:rPr>
              <a:t>+</a:t>
            </a:r>
            <a:r>
              <a:rPr lang="ko-KR" altLang="en-US" sz="1000" b="1" dirty="0">
                <a:solidFill>
                  <a:srgbClr val="00B0F0"/>
                </a:solidFill>
              </a:rPr>
              <a:t>탈퇴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개인</a:t>
            </a:r>
            <a:r>
              <a:rPr lang="en-US" altLang="ko-KR" sz="1000" b="1" dirty="0">
                <a:solidFill>
                  <a:srgbClr val="00B0F0"/>
                </a:solidFill>
              </a:rPr>
              <a:t>+</a:t>
            </a:r>
            <a:r>
              <a:rPr lang="ko-KR" altLang="en-US" sz="1000" b="1" dirty="0">
                <a:solidFill>
                  <a:srgbClr val="00B0F0"/>
                </a:solidFill>
              </a:rPr>
              <a:t>법인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00B0F0"/>
                </a:solidFill>
              </a:rPr>
              <a:t>해당 날짜기준 누적 </a:t>
            </a:r>
            <a:r>
              <a:rPr lang="ko-KR" altLang="en-US" sz="1000" b="1" dirty="0" err="1">
                <a:solidFill>
                  <a:srgbClr val="00B0F0"/>
                </a:solidFill>
              </a:rPr>
              <a:t>재계약회원수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FF0000"/>
                </a:solidFill>
              </a:rPr>
              <a:t>※ </a:t>
            </a:r>
            <a:r>
              <a:rPr lang="ko-KR" altLang="en-US" sz="1000" b="1" dirty="0">
                <a:solidFill>
                  <a:srgbClr val="FF0000"/>
                </a:solidFill>
              </a:rPr>
              <a:t>재계약 정의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endParaRPr lang="en-US" altLang="ko-KR" sz="1000" b="1" dirty="0">
              <a:solidFill>
                <a:srgbClr val="FF0000"/>
              </a:solidFill>
            </a:endParaRPr>
          </a:p>
          <a:p>
            <a:r>
              <a:rPr lang="ko-KR" altLang="en-US" sz="1000" dirty="0">
                <a:solidFill>
                  <a:srgbClr val="FF0000"/>
                </a:solidFill>
              </a:rPr>
              <a:t>계약 종료일이 포함된 대상자 중 </a:t>
            </a: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ko-KR" altLang="en-US" sz="1000" dirty="0">
                <a:solidFill>
                  <a:srgbClr val="FF0000"/>
                </a:solidFill>
              </a:rPr>
              <a:t>재계약 여부 판단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</a:p>
          <a:p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ko-KR" altLang="en-US" sz="1000" dirty="0">
                <a:solidFill>
                  <a:srgbClr val="FF0000"/>
                </a:solidFill>
              </a:rPr>
              <a:t>재계약 완료 여부가 아니라</a:t>
            </a: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ko-KR" altLang="en-US" sz="1000" dirty="0">
                <a:solidFill>
                  <a:srgbClr val="FF0000"/>
                </a:solidFill>
              </a:rPr>
              <a:t>조회 기간 안에 종료일이 포함되어 </a:t>
            </a: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ko-KR" altLang="en-US" sz="1000" dirty="0">
                <a:solidFill>
                  <a:srgbClr val="FF0000"/>
                </a:solidFill>
              </a:rPr>
              <a:t>있으면</a:t>
            </a:r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계약 차수 상관없이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sz="1000" dirty="0">
                <a:solidFill>
                  <a:srgbClr val="FF0000"/>
                </a:solidFill>
              </a:rPr>
              <a:t>재계약 대상자에 있어야 함</a:t>
            </a:r>
            <a:endParaRPr lang="en-US" altLang="ko-KR" sz="1000" dirty="0">
              <a:solidFill>
                <a:srgbClr val="FF000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 err="1">
                <a:solidFill>
                  <a:srgbClr val="00B0F0"/>
                </a:solidFill>
              </a:rPr>
              <a:t>선택값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전체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정회원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온라인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매거진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 err="1"/>
              <a:t>월회원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프리미엄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정회원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온라인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매거진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 err="1"/>
              <a:t>월회원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 err="1"/>
              <a:t>리움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프리미엄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영업대표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기본값 </a:t>
            </a:r>
            <a:r>
              <a:rPr lang="en-US" altLang="ko-KR" sz="800" dirty="0"/>
              <a:t>: CRM </a:t>
            </a:r>
            <a:r>
              <a:rPr lang="ko-KR" altLang="en-US" sz="800" dirty="0"/>
              <a:t>로그인 계정</a:t>
            </a:r>
            <a:endParaRPr lang="en-US" altLang="ko-KR" sz="800" dirty="0"/>
          </a:p>
          <a:p>
            <a:r>
              <a:rPr lang="ko-KR" altLang="en-US" sz="800" dirty="0"/>
              <a:t>해당 영업대표의 데이터는 </a:t>
            </a:r>
            <a:r>
              <a:rPr lang="en-US" altLang="ko-KR" sz="800" dirty="0"/>
              <a:t>“</a:t>
            </a:r>
            <a:r>
              <a:rPr lang="ko-KR" altLang="en-US" sz="800" dirty="0"/>
              <a:t>담당</a:t>
            </a:r>
            <a:r>
              <a:rPr lang="en-US" altLang="ko-KR" sz="800" dirty="0"/>
              <a:t>＂</a:t>
            </a:r>
            <a:r>
              <a:rPr lang="ko-KR" altLang="en-US" sz="800" dirty="0"/>
              <a:t>에 표기됨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현황</a:t>
            </a:r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 err="1">
                <a:solidFill>
                  <a:srgbClr val="00B0F0"/>
                </a:solidFill>
              </a:rPr>
              <a:t>달성률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담당</a:t>
            </a:r>
            <a:r>
              <a:rPr lang="en-US" altLang="ko-KR" sz="800" dirty="0"/>
              <a:t>, </a:t>
            </a:r>
            <a:r>
              <a:rPr lang="ko-KR" altLang="en-US" sz="800" dirty="0"/>
              <a:t>전체</a:t>
            </a:r>
            <a:r>
              <a:rPr lang="en-US" altLang="ko-KR" sz="800" dirty="0"/>
              <a:t>(</a:t>
            </a:r>
            <a:r>
              <a:rPr lang="ko-KR" altLang="en-US" sz="800" dirty="0"/>
              <a:t>영업대표 전체</a:t>
            </a:r>
            <a:r>
              <a:rPr lang="en-US" altLang="ko-KR" sz="800" dirty="0"/>
              <a:t>) </a:t>
            </a:r>
            <a:r>
              <a:rPr lang="ko-KR" altLang="en-US" sz="800" dirty="0"/>
              <a:t>분리하여 표기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각 대상자</a:t>
            </a:r>
            <a:r>
              <a:rPr lang="en-US" altLang="ko-KR" sz="800" dirty="0"/>
              <a:t>, </a:t>
            </a:r>
            <a:r>
              <a:rPr lang="ko-KR" altLang="en-US" sz="800" dirty="0"/>
              <a:t>대상 </a:t>
            </a:r>
            <a:r>
              <a:rPr lang="ko-KR" altLang="en-US" sz="800" dirty="0" err="1"/>
              <a:t>회사수를</a:t>
            </a:r>
            <a:r>
              <a:rPr lang="ko-KR" altLang="en-US" sz="800" dirty="0"/>
              <a:t> </a:t>
            </a:r>
            <a:r>
              <a:rPr lang="en-US" altLang="ko-KR" sz="800" dirty="0"/>
              <a:t>100%</a:t>
            </a:r>
            <a:r>
              <a:rPr lang="ko-KR" altLang="en-US" sz="800" dirty="0"/>
              <a:t>로 놓고</a:t>
            </a:r>
            <a:endParaRPr lang="en-US" altLang="ko-KR" sz="800" dirty="0"/>
          </a:p>
          <a:p>
            <a:r>
              <a:rPr lang="ko-KR" altLang="en-US" sz="800" dirty="0" err="1"/>
              <a:t>비율별</a:t>
            </a:r>
            <a:r>
              <a:rPr lang="ko-KR" altLang="en-US" sz="800" dirty="0"/>
              <a:t> 분포도 표기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>
                <a:solidFill>
                  <a:srgbClr val="00B0F0"/>
                </a:solidFill>
              </a:rPr>
              <a:t>법인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회사 </a:t>
            </a:r>
            <a:r>
              <a:rPr lang="en-US" altLang="ko-KR" sz="800" dirty="0"/>
              <a:t>= </a:t>
            </a:r>
            <a:r>
              <a:rPr lang="ko-KR" altLang="en-US" sz="800" dirty="0"/>
              <a:t>법인회원이 존재하는 법인</a:t>
            </a:r>
            <a:r>
              <a:rPr lang="en-US" altLang="ko-KR" sz="800" dirty="0"/>
              <a:t>(</a:t>
            </a:r>
            <a:r>
              <a:rPr lang="ko-KR" altLang="en-US" sz="800" dirty="0"/>
              <a:t>회사</a:t>
            </a:r>
            <a:r>
              <a:rPr lang="en-US" altLang="ko-KR" sz="800" dirty="0"/>
              <a:t>) </a:t>
            </a:r>
            <a:r>
              <a:rPr lang="ko-KR" altLang="en-US" sz="800" dirty="0"/>
              <a:t>수</a:t>
            </a:r>
            <a:endParaRPr lang="en-US" altLang="ko-KR" sz="800" dirty="0"/>
          </a:p>
        </p:txBody>
      </p:sp>
      <p:sp>
        <p:nvSpPr>
          <p:cNvPr id="142" name="직사각형 141"/>
          <p:cNvSpPr/>
          <p:nvPr/>
        </p:nvSpPr>
        <p:spPr>
          <a:xfrm>
            <a:off x="1914289" y="170697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863203" y="481193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신규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재계약 현황 요약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 내역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다운로드</a:t>
            </a:r>
          </a:p>
        </p:txBody>
      </p:sp>
      <p:sp>
        <p:nvSpPr>
          <p:cNvPr id="145" name="직사각형 144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CRM_03_003~004, CRM_03_012~015</a:t>
            </a:r>
          </a:p>
        </p:txBody>
      </p:sp>
      <p:pic>
        <p:nvPicPr>
          <p:cNvPr id="146" name="그림 1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0" y="586795"/>
            <a:ext cx="9718899" cy="584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18478" y="1932885"/>
            <a:ext cx="22829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※ </a:t>
            </a:r>
            <a:r>
              <a:rPr lang="ko-KR" altLang="en-US" sz="800" dirty="0">
                <a:solidFill>
                  <a:srgbClr val="FF0000"/>
                </a:solidFill>
              </a:rPr>
              <a:t>재계약은 계약종료일 기준으로 산정합니다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67139"/>
              </p:ext>
            </p:extLst>
          </p:nvPr>
        </p:nvGraphicFramePr>
        <p:xfrm>
          <a:off x="137351" y="5922566"/>
          <a:ext cx="7162800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CRM_03_004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</a:rPr>
                        <a:t>재계약 완료</a:t>
                      </a:r>
                      <a:r>
                        <a:rPr lang="en-US" altLang="ko-KR" sz="1000" u="none" strike="noStrike" dirty="0">
                          <a:effectLst/>
                        </a:rPr>
                        <a:t>/</a:t>
                      </a:r>
                      <a:r>
                        <a:rPr lang="ko-KR" altLang="en-US" sz="1000" u="none" strike="noStrike" dirty="0">
                          <a:effectLst/>
                        </a:rPr>
                        <a:t>미완료 여부</a:t>
                      </a:r>
                      <a:r>
                        <a:rPr lang="en-US" altLang="ko-KR" sz="1000" u="none" strike="noStrike" dirty="0">
                          <a:effectLst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</a:rPr>
                        <a:t>인원 확대</a:t>
                      </a:r>
                      <a:r>
                        <a:rPr lang="en-US" altLang="ko-KR" sz="1000" u="none" strike="noStrike" dirty="0">
                          <a:effectLst/>
                        </a:rPr>
                        <a:t>/</a:t>
                      </a:r>
                      <a:r>
                        <a:rPr lang="ko-KR" altLang="en-US" sz="1000" u="none" strike="noStrike" dirty="0">
                          <a:effectLst/>
                        </a:rPr>
                        <a:t>감소 여부</a:t>
                      </a:r>
                      <a:r>
                        <a:rPr lang="en-US" altLang="ko-KR" sz="1000" u="none" strike="noStrike" dirty="0">
                          <a:effectLst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</a:rPr>
                        <a:t>인원수를 표시함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CRM_03_005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</a:rPr>
                        <a:t>기간별 재계약 도래 </a:t>
                      </a:r>
                      <a:r>
                        <a:rPr lang="ko-KR" altLang="en-US" sz="1000" u="none" strike="noStrike" dirty="0" err="1">
                          <a:effectLst/>
                        </a:rPr>
                        <a:t>회원수</a:t>
                      </a:r>
                      <a:r>
                        <a:rPr lang="en-US" altLang="ko-KR" sz="1000" u="none" strike="noStrike" dirty="0">
                          <a:effectLst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</a:rPr>
                        <a:t>회원정보</a:t>
                      </a:r>
                      <a:r>
                        <a:rPr lang="en-US" altLang="ko-KR" sz="1000" u="none" strike="noStrike" dirty="0">
                          <a:effectLst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</a:rPr>
                        <a:t>담당자를 조회하고 </a:t>
                      </a:r>
                      <a:r>
                        <a:rPr lang="ko-KR" altLang="en-US" sz="1000" u="none" strike="noStrike" dirty="0" err="1">
                          <a:effectLst/>
                        </a:rPr>
                        <a:t>다운로드할</a:t>
                      </a:r>
                      <a:r>
                        <a:rPr lang="ko-KR" altLang="en-US" sz="1000" u="none" strike="noStrike" dirty="0">
                          <a:effectLst/>
                        </a:rPr>
                        <a:t> 수 있음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7356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36187" y="1174883"/>
            <a:ext cx="4818434" cy="2583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</a:rPr>
              <a:t>재계약 현황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4996774" y="1174883"/>
            <a:ext cx="4818434" cy="2583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</a:rPr>
              <a:t>월별 추이</a:t>
            </a:r>
          </a:p>
        </p:txBody>
      </p:sp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50850"/>
              </p:ext>
            </p:extLst>
          </p:nvPr>
        </p:nvGraphicFramePr>
        <p:xfrm>
          <a:off x="5004424" y="1466293"/>
          <a:ext cx="481843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○ 시작일  ● 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직사각형 34"/>
          <p:cNvSpPr/>
          <p:nvPr/>
        </p:nvSpPr>
        <p:spPr>
          <a:xfrm>
            <a:off x="6923302" y="1495160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919" y="1499662"/>
            <a:ext cx="186718" cy="154639"/>
          </a:xfrm>
          <a:prstGeom prst="rect">
            <a:avLst/>
          </a:prstGeom>
        </p:spPr>
      </p:pic>
      <p:sp>
        <p:nvSpPr>
          <p:cNvPr id="37" name="직사각형 36"/>
          <p:cNvSpPr/>
          <p:nvPr/>
        </p:nvSpPr>
        <p:spPr>
          <a:xfrm>
            <a:off x="8216605" y="1495160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671" y="1494388"/>
            <a:ext cx="186718" cy="15463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948294" y="1433209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40" name="직사각형 39"/>
          <p:cNvSpPr/>
          <p:nvPr/>
        </p:nvSpPr>
        <p:spPr>
          <a:xfrm>
            <a:off x="5720885" y="1714552"/>
            <a:ext cx="649734" cy="1444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유료회원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420422" y="1713200"/>
            <a:ext cx="879729" cy="14554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선택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5404963" y="2193366"/>
            <a:ext cx="0" cy="139310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5404963" y="3586470"/>
            <a:ext cx="423190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79168" y="3586470"/>
            <a:ext cx="3879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1</a:t>
            </a:r>
            <a:r>
              <a:rPr lang="ko-KR" altLang="en-US" sz="800" dirty="0"/>
              <a:t>월    </a:t>
            </a:r>
            <a:r>
              <a:rPr lang="en-US" altLang="ko-KR" sz="800" dirty="0"/>
              <a:t>2</a:t>
            </a:r>
            <a:r>
              <a:rPr lang="ko-KR" altLang="en-US" sz="800" dirty="0"/>
              <a:t>월    </a:t>
            </a:r>
            <a:r>
              <a:rPr lang="en-US" altLang="ko-KR" sz="800" dirty="0"/>
              <a:t>3</a:t>
            </a:r>
            <a:r>
              <a:rPr lang="ko-KR" altLang="en-US" sz="800" dirty="0"/>
              <a:t>월    </a:t>
            </a:r>
            <a:r>
              <a:rPr lang="en-US" altLang="ko-KR" sz="800" dirty="0"/>
              <a:t>4</a:t>
            </a:r>
            <a:r>
              <a:rPr lang="ko-KR" altLang="en-US" sz="800" dirty="0"/>
              <a:t>월    </a:t>
            </a:r>
            <a:r>
              <a:rPr lang="en-US" altLang="ko-KR" sz="800" dirty="0"/>
              <a:t>5</a:t>
            </a:r>
            <a:r>
              <a:rPr lang="ko-KR" altLang="en-US" sz="800" dirty="0"/>
              <a:t>월    </a:t>
            </a:r>
            <a:r>
              <a:rPr lang="en-US" altLang="ko-KR" sz="800" dirty="0"/>
              <a:t>6</a:t>
            </a:r>
            <a:r>
              <a:rPr lang="ko-KR" altLang="en-US" sz="800" dirty="0"/>
              <a:t>월    </a:t>
            </a:r>
            <a:r>
              <a:rPr lang="en-US" altLang="ko-KR" sz="800" dirty="0"/>
              <a:t>7</a:t>
            </a:r>
            <a:r>
              <a:rPr lang="ko-KR" altLang="en-US" sz="800" dirty="0"/>
              <a:t>월    </a:t>
            </a:r>
            <a:r>
              <a:rPr lang="en-US" altLang="ko-KR" sz="800" dirty="0"/>
              <a:t>8</a:t>
            </a:r>
            <a:r>
              <a:rPr lang="ko-KR" altLang="en-US" sz="800" dirty="0"/>
              <a:t>월    </a:t>
            </a:r>
            <a:r>
              <a:rPr lang="en-US" altLang="ko-KR" sz="800" dirty="0"/>
              <a:t>9</a:t>
            </a:r>
            <a:r>
              <a:rPr lang="ko-KR" altLang="en-US" sz="800" dirty="0"/>
              <a:t>월    </a:t>
            </a:r>
            <a:r>
              <a:rPr lang="en-US" altLang="ko-KR" sz="800" dirty="0"/>
              <a:t>10</a:t>
            </a:r>
            <a:r>
              <a:rPr lang="ko-KR" altLang="en-US" sz="800" dirty="0"/>
              <a:t>월    </a:t>
            </a:r>
            <a:r>
              <a:rPr lang="en-US" altLang="ko-KR" sz="800" dirty="0"/>
              <a:t>11</a:t>
            </a:r>
            <a:r>
              <a:rPr lang="ko-KR" altLang="en-US" sz="800" dirty="0"/>
              <a:t>월    </a:t>
            </a:r>
            <a:r>
              <a:rPr lang="en-US" altLang="ko-KR" sz="800" dirty="0"/>
              <a:t>12</a:t>
            </a:r>
            <a:r>
              <a:rPr lang="ko-KR" altLang="en-US" sz="800" dirty="0"/>
              <a:t>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02458" y="2125845"/>
            <a:ext cx="43960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125%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100%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75%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50%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25%</a:t>
            </a:r>
            <a:endParaRPr lang="ko-KR" altLang="en-US" sz="800" dirty="0"/>
          </a:p>
        </p:txBody>
      </p:sp>
      <p:grpSp>
        <p:nvGrpSpPr>
          <p:cNvPr id="47" name="그룹 46"/>
          <p:cNvGrpSpPr/>
          <p:nvPr/>
        </p:nvGrpSpPr>
        <p:grpSpPr>
          <a:xfrm>
            <a:off x="5479168" y="2988166"/>
            <a:ext cx="591779" cy="274504"/>
            <a:chOff x="5479168" y="2774343"/>
            <a:chExt cx="591779" cy="274504"/>
          </a:xfrm>
        </p:grpSpPr>
        <p:sp>
          <p:nvSpPr>
            <p:cNvPr id="22" name="TextBox 21"/>
            <p:cNvSpPr txBox="1"/>
            <p:nvPr/>
          </p:nvSpPr>
          <p:spPr>
            <a:xfrm>
              <a:off x="5479168" y="2774343"/>
              <a:ext cx="26161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" dirty="0">
                  <a:solidFill>
                    <a:schemeClr val="accent2"/>
                  </a:solidFill>
                </a:rPr>
                <a:t>◆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809337" y="2864181"/>
              <a:ext cx="26161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" dirty="0">
                  <a:solidFill>
                    <a:schemeClr val="accent2"/>
                  </a:solidFill>
                </a:rPr>
                <a:t>◆</a:t>
              </a:r>
            </a:p>
          </p:txBody>
        </p:sp>
        <p:cxnSp>
          <p:nvCxnSpPr>
            <p:cNvPr id="46" name="직선 연결선 45"/>
            <p:cNvCxnSpPr/>
            <p:nvPr/>
          </p:nvCxnSpPr>
          <p:spPr>
            <a:xfrm>
              <a:off x="5609973" y="2879759"/>
              <a:ext cx="330169" cy="8983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792692"/>
              </p:ext>
            </p:extLst>
          </p:nvPr>
        </p:nvGraphicFramePr>
        <p:xfrm>
          <a:off x="123995" y="4365540"/>
          <a:ext cx="4825118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6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3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3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3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32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927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대상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완료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(%)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서비스종료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담당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회원수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0000</a:t>
                      </a:r>
                      <a:r>
                        <a:rPr lang="ko-KR" altLang="en-US" sz="800" u="none" dirty="0"/>
                        <a:t>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0000</a:t>
                      </a:r>
                      <a:r>
                        <a:rPr lang="ko-KR" altLang="en-US" sz="800" u="none" dirty="0"/>
                        <a:t>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00%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8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회사수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0000</a:t>
                      </a:r>
                      <a:r>
                        <a:rPr lang="ko-KR" altLang="en-US" sz="800" u="none" dirty="0"/>
                        <a:t>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0000</a:t>
                      </a:r>
                      <a:r>
                        <a:rPr lang="ko-KR" altLang="en-US" sz="800" u="none" dirty="0"/>
                        <a:t>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00%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8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전체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회사수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0000</a:t>
                      </a:r>
                      <a:r>
                        <a:rPr lang="ko-KR" altLang="en-US" sz="800" u="none" dirty="0"/>
                        <a:t>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0000</a:t>
                      </a:r>
                      <a:r>
                        <a:rPr lang="ko-KR" altLang="en-US" sz="800" u="none" dirty="0"/>
                        <a:t>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8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회사수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0000</a:t>
                      </a:r>
                      <a:r>
                        <a:rPr lang="ko-KR" altLang="en-US" sz="800" u="none" dirty="0"/>
                        <a:t>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0000</a:t>
                      </a:r>
                      <a:r>
                        <a:rPr lang="ko-KR" altLang="en-US" sz="800" u="none" dirty="0"/>
                        <a:t>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" name="모서리가 둥근 직사각형 48"/>
          <p:cNvSpPr/>
          <p:nvPr/>
        </p:nvSpPr>
        <p:spPr>
          <a:xfrm>
            <a:off x="136187" y="1946282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50" name="모서리가 둥근 직사각형 49"/>
          <p:cNvSpPr/>
          <p:nvPr/>
        </p:nvSpPr>
        <p:spPr>
          <a:xfrm>
            <a:off x="729574" y="1946282"/>
            <a:ext cx="625813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다운로드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51" name="표 50"/>
          <p:cNvGraphicFramePr>
            <a:graphicFrameLocks noGrp="1"/>
          </p:cNvGraphicFramePr>
          <p:nvPr/>
        </p:nvGraphicFramePr>
        <p:xfrm>
          <a:off x="5004424" y="3918436"/>
          <a:ext cx="4671360" cy="15163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5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3616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개인  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대상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완료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종료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대상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완료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종료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2" name="모서리가 둥근 직사각형 51"/>
          <p:cNvSpPr/>
          <p:nvPr/>
        </p:nvSpPr>
        <p:spPr>
          <a:xfrm>
            <a:off x="5004424" y="1943802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53" name="모서리가 둥근 직사각형 52"/>
          <p:cNvSpPr/>
          <p:nvPr/>
        </p:nvSpPr>
        <p:spPr>
          <a:xfrm>
            <a:off x="5597811" y="1943802"/>
            <a:ext cx="625813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다운로드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8142341" y="1718430"/>
            <a:ext cx="1620986" cy="1416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                    🔍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6860286" y="170780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55" name="직선 연결선 54"/>
          <p:cNvCxnSpPr/>
          <p:nvPr/>
        </p:nvCxnSpPr>
        <p:spPr>
          <a:xfrm flipH="1">
            <a:off x="445695" y="2360594"/>
            <a:ext cx="5542" cy="63333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445695" y="2997367"/>
            <a:ext cx="192231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446275" y="3924701"/>
            <a:ext cx="1922312" cy="1302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대상  </a:t>
            </a:r>
            <a:r>
              <a:rPr lang="en-US" altLang="ko-KR" sz="800" b="1" dirty="0">
                <a:solidFill>
                  <a:schemeClr val="bg1"/>
                </a:solidFill>
              </a:rPr>
              <a:t>0000</a:t>
            </a:r>
            <a:r>
              <a:rPr lang="ko-KR" altLang="en-US" sz="800" b="1" dirty="0">
                <a:solidFill>
                  <a:schemeClr val="bg1"/>
                </a:solidFill>
              </a:rPr>
              <a:t>개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5479168" y="2866820"/>
            <a:ext cx="598264" cy="219444"/>
            <a:chOff x="6799163" y="2621082"/>
            <a:chExt cx="598264" cy="219444"/>
          </a:xfrm>
        </p:grpSpPr>
        <p:sp>
          <p:nvSpPr>
            <p:cNvPr id="86" name="TextBox 85"/>
            <p:cNvSpPr txBox="1"/>
            <p:nvPr/>
          </p:nvSpPr>
          <p:spPr>
            <a:xfrm>
              <a:off x="6799163" y="2655860"/>
              <a:ext cx="2616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600" dirty="0">
                  <a:solidFill>
                    <a:srgbClr val="7030A0"/>
                  </a:solidFill>
                </a:rPr>
                <a:t>◆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7135817" y="2621082"/>
              <a:ext cx="2616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600" dirty="0">
                  <a:solidFill>
                    <a:srgbClr val="7030A0"/>
                  </a:solidFill>
                </a:rPr>
                <a:t>◆</a:t>
              </a:r>
            </a:p>
          </p:txBody>
        </p:sp>
        <p:cxnSp>
          <p:nvCxnSpPr>
            <p:cNvPr id="25" name="직선 연결선 24"/>
            <p:cNvCxnSpPr/>
            <p:nvPr/>
          </p:nvCxnSpPr>
          <p:spPr>
            <a:xfrm flipV="1">
              <a:off x="6938652" y="2715223"/>
              <a:ext cx="370183" cy="48428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8531125" y="2145150"/>
            <a:ext cx="5293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solidFill>
                  <a:schemeClr val="accent2"/>
                </a:solidFill>
              </a:rPr>
              <a:t>◆ 개인</a:t>
            </a:r>
            <a:endParaRPr lang="ko-KR" altLang="en-US" sz="800" dirty="0">
              <a:solidFill>
                <a:schemeClr val="accent2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982152" y="2145150"/>
            <a:ext cx="5293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rgbClr val="7030A0"/>
                </a:solidFill>
              </a:rPr>
              <a:t>◆ 법인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997065" y="628549"/>
            <a:ext cx="2146742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00B0F0"/>
                </a:solidFill>
              </a:rPr>
              <a:t>재계약 전체 현황 조회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신규</a:t>
            </a:r>
            <a:r>
              <a:rPr lang="en-US" altLang="ko-KR" sz="1000" b="1" dirty="0">
                <a:solidFill>
                  <a:srgbClr val="00B0F0"/>
                </a:solidFill>
              </a:rPr>
              <a:t>+</a:t>
            </a:r>
            <a:r>
              <a:rPr lang="ko-KR" altLang="en-US" sz="1000" b="1" dirty="0">
                <a:solidFill>
                  <a:srgbClr val="00B0F0"/>
                </a:solidFill>
              </a:rPr>
              <a:t>재계약</a:t>
            </a:r>
            <a:r>
              <a:rPr lang="en-US" altLang="ko-KR" sz="1000" b="1" dirty="0">
                <a:solidFill>
                  <a:srgbClr val="00B0F0"/>
                </a:solidFill>
              </a:rPr>
              <a:t>+</a:t>
            </a:r>
            <a:r>
              <a:rPr lang="ko-KR" altLang="en-US" sz="1000" b="1" dirty="0">
                <a:solidFill>
                  <a:srgbClr val="00B0F0"/>
                </a:solidFill>
              </a:rPr>
              <a:t>탈퇴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개인</a:t>
            </a:r>
            <a:r>
              <a:rPr lang="en-US" altLang="ko-KR" sz="1000" b="1" dirty="0">
                <a:solidFill>
                  <a:srgbClr val="00B0F0"/>
                </a:solidFill>
              </a:rPr>
              <a:t>+</a:t>
            </a:r>
            <a:r>
              <a:rPr lang="ko-KR" altLang="en-US" sz="1000" b="1" dirty="0">
                <a:solidFill>
                  <a:srgbClr val="00B0F0"/>
                </a:solidFill>
              </a:rPr>
              <a:t>법인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00B0F0"/>
                </a:solidFill>
              </a:rPr>
              <a:t>월별 </a:t>
            </a:r>
            <a:r>
              <a:rPr lang="ko-KR" altLang="en-US" sz="1000" b="1" dirty="0" err="1">
                <a:solidFill>
                  <a:srgbClr val="00B0F0"/>
                </a:solidFill>
              </a:rPr>
              <a:t>재계약회원수</a:t>
            </a:r>
            <a:r>
              <a:rPr lang="ko-KR" altLang="en-US" sz="1000" b="1" dirty="0">
                <a:solidFill>
                  <a:srgbClr val="00B0F0"/>
                </a:solidFill>
              </a:rPr>
              <a:t> 추이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 err="1">
                <a:solidFill>
                  <a:srgbClr val="00B0F0"/>
                </a:solidFill>
              </a:rPr>
              <a:t>선택값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전체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정회원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온라인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매거진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 err="1"/>
              <a:t>월회원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프리미엄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정회원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온라인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매거진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 err="1"/>
              <a:t>월회원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 err="1"/>
              <a:t>리움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프리미엄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영업대표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 err="1"/>
              <a:t>미지정</a:t>
            </a:r>
            <a:r>
              <a:rPr lang="ko-KR" altLang="en-US" sz="800" dirty="0"/>
              <a:t> 시 전체 결과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월별추이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대상자 중 완료자 비율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/>
              <a:t>개인</a:t>
            </a:r>
            <a:r>
              <a:rPr lang="en-US" altLang="ko-KR" sz="800" dirty="0"/>
              <a:t>, </a:t>
            </a:r>
            <a:r>
              <a:rPr lang="ko-KR" altLang="en-US" sz="800" dirty="0"/>
              <a:t>회사 각각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>
                <a:solidFill>
                  <a:srgbClr val="00B0F0"/>
                </a:solidFill>
              </a:rPr>
              <a:t>법인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회사 </a:t>
            </a:r>
            <a:r>
              <a:rPr lang="en-US" altLang="ko-KR" sz="800" dirty="0"/>
              <a:t>= </a:t>
            </a:r>
            <a:r>
              <a:rPr lang="ko-KR" altLang="en-US" sz="800" dirty="0"/>
              <a:t>법인회원이 존재하는 법인</a:t>
            </a:r>
            <a:r>
              <a:rPr lang="en-US" altLang="ko-KR" sz="800" dirty="0"/>
              <a:t>(</a:t>
            </a:r>
            <a:r>
              <a:rPr lang="ko-KR" altLang="en-US" sz="800" dirty="0"/>
              <a:t>회사</a:t>
            </a:r>
            <a:r>
              <a:rPr lang="en-US" altLang="ko-KR" sz="800" dirty="0"/>
              <a:t>) </a:t>
            </a:r>
            <a:r>
              <a:rPr lang="ko-KR" altLang="en-US" sz="800" dirty="0"/>
              <a:t>수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8024502" y="1737365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5489902" y="276398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4861682" y="482301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 rot="16200000">
            <a:off x="708385" y="3368017"/>
            <a:ext cx="232803" cy="75702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6375" y="3569313"/>
            <a:ext cx="7136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완료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000</a:t>
            </a:r>
            <a:r>
              <a:rPr lang="ko-KR" altLang="en-US" sz="800" dirty="0">
                <a:solidFill>
                  <a:schemeClr val="bg1"/>
                </a:solidFill>
              </a:rPr>
              <a:t>개</a:t>
            </a:r>
            <a:r>
              <a:rPr lang="en-US" altLang="ko-KR" sz="800" dirty="0">
                <a:solidFill>
                  <a:schemeClr val="bg1"/>
                </a:solidFill>
              </a:rPr>
              <a:t>, 00%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2164747" y="3626963"/>
            <a:ext cx="203840" cy="2353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1198336" y="3629787"/>
            <a:ext cx="966412" cy="2325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대기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0000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, 00%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937891" y="3583325"/>
            <a:ext cx="657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종료</a:t>
            </a:r>
            <a:endParaRPr lang="en-US" altLang="ko-KR" sz="800" dirty="0"/>
          </a:p>
          <a:p>
            <a:pPr algn="ctr"/>
            <a:r>
              <a:rPr lang="en-US" altLang="ko-KR" sz="800" dirty="0"/>
              <a:t>00</a:t>
            </a:r>
            <a:r>
              <a:rPr lang="ko-KR" altLang="en-US" sz="800" dirty="0"/>
              <a:t>개</a:t>
            </a:r>
            <a:r>
              <a:rPr lang="en-US" altLang="ko-KR" sz="800" dirty="0"/>
              <a:t>, 00%</a:t>
            </a:r>
            <a:endParaRPr lang="ko-KR" altLang="en-US" sz="800" dirty="0"/>
          </a:p>
        </p:txBody>
      </p:sp>
      <p:sp>
        <p:nvSpPr>
          <p:cNvPr id="100" name="직사각형 99"/>
          <p:cNvSpPr/>
          <p:nvPr/>
        </p:nvSpPr>
        <p:spPr>
          <a:xfrm>
            <a:off x="451236" y="2781999"/>
            <a:ext cx="1922312" cy="1302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대상자  </a:t>
            </a:r>
            <a:r>
              <a:rPr lang="en-US" altLang="ko-KR" sz="800" b="1" dirty="0">
                <a:solidFill>
                  <a:schemeClr val="bg1"/>
                </a:solidFill>
              </a:rPr>
              <a:t>0000</a:t>
            </a:r>
            <a:r>
              <a:rPr lang="ko-KR" altLang="en-US" sz="800" b="1" dirty="0">
                <a:solidFill>
                  <a:schemeClr val="bg1"/>
                </a:solidFill>
              </a:rPr>
              <a:t>명</a:t>
            </a:r>
          </a:p>
        </p:txBody>
      </p:sp>
      <p:sp>
        <p:nvSpPr>
          <p:cNvPr id="101" name="직사각형 100"/>
          <p:cNvSpPr/>
          <p:nvPr/>
        </p:nvSpPr>
        <p:spPr>
          <a:xfrm rot="16200000">
            <a:off x="713346" y="2225315"/>
            <a:ext cx="232803" cy="75702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11336" y="2426611"/>
            <a:ext cx="7136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완료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000</a:t>
            </a:r>
            <a:r>
              <a:rPr lang="ko-KR" altLang="en-US" sz="800" dirty="0">
                <a:solidFill>
                  <a:schemeClr val="bg1"/>
                </a:solidFill>
              </a:rPr>
              <a:t>명</a:t>
            </a:r>
            <a:r>
              <a:rPr lang="en-US" altLang="ko-KR" sz="800" dirty="0">
                <a:solidFill>
                  <a:schemeClr val="bg1"/>
                </a:solidFill>
              </a:rPr>
              <a:t>, 00%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2169708" y="2484261"/>
            <a:ext cx="203840" cy="2353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1203297" y="2487085"/>
            <a:ext cx="966412" cy="2325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대기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0000</a:t>
            </a:r>
            <a:r>
              <a:rPr lang="ko-KR" altLang="en-US" sz="800" dirty="0">
                <a:solidFill>
                  <a:schemeClr val="tx1"/>
                </a:solidFill>
              </a:rPr>
              <a:t>명</a:t>
            </a:r>
            <a:r>
              <a:rPr lang="en-US" altLang="ko-KR" sz="800" dirty="0">
                <a:solidFill>
                  <a:schemeClr val="tx1"/>
                </a:solidFill>
              </a:rPr>
              <a:t>, 00%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942852" y="2440623"/>
            <a:ext cx="657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종료</a:t>
            </a:r>
            <a:endParaRPr lang="en-US" altLang="ko-KR" sz="800" dirty="0"/>
          </a:p>
          <a:p>
            <a:pPr algn="ctr"/>
            <a:r>
              <a:rPr lang="en-US" altLang="ko-KR" sz="800" dirty="0"/>
              <a:t>00</a:t>
            </a:r>
            <a:r>
              <a:rPr lang="ko-KR" altLang="en-US" sz="800" dirty="0"/>
              <a:t>명</a:t>
            </a:r>
            <a:r>
              <a:rPr lang="en-US" altLang="ko-KR" sz="800" dirty="0"/>
              <a:t>, 00%</a:t>
            </a:r>
            <a:endParaRPr lang="ko-KR" altLang="en-US" sz="800" dirty="0"/>
          </a:p>
        </p:txBody>
      </p:sp>
      <p:sp>
        <p:nvSpPr>
          <p:cNvPr id="32" name="TextBox 31"/>
          <p:cNvSpPr txBox="1"/>
          <p:nvPr/>
        </p:nvSpPr>
        <p:spPr>
          <a:xfrm>
            <a:off x="72159" y="2589985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/>
              <a:t>개인</a:t>
            </a:r>
            <a:endParaRPr lang="ko-KR" altLang="en-US" sz="800" dirty="0"/>
          </a:p>
        </p:txBody>
      </p:sp>
      <p:sp>
        <p:nvSpPr>
          <p:cNvPr id="106" name="TextBox 105"/>
          <p:cNvSpPr txBox="1"/>
          <p:nvPr/>
        </p:nvSpPr>
        <p:spPr>
          <a:xfrm>
            <a:off x="72159" y="347562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법인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445695" y="3442211"/>
            <a:ext cx="1922312" cy="1302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대상자  </a:t>
            </a:r>
            <a:r>
              <a:rPr lang="en-US" altLang="ko-KR" sz="800" b="1" dirty="0">
                <a:solidFill>
                  <a:schemeClr val="bg1"/>
                </a:solidFill>
              </a:rPr>
              <a:t>0000</a:t>
            </a:r>
            <a:r>
              <a:rPr lang="ko-KR" altLang="en-US" sz="800" b="1" dirty="0">
                <a:solidFill>
                  <a:schemeClr val="bg1"/>
                </a:solidFill>
              </a:rPr>
              <a:t>명</a:t>
            </a:r>
          </a:p>
        </p:txBody>
      </p:sp>
      <p:sp>
        <p:nvSpPr>
          <p:cNvPr id="108" name="직사각형 107"/>
          <p:cNvSpPr/>
          <p:nvPr/>
        </p:nvSpPr>
        <p:spPr>
          <a:xfrm rot="16200000">
            <a:off x="707805" y="2885527"/>
            <a:ext cx="232803" cy="75702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2164167" y="3144473"/>
            <a:ext cx="203840" cy="2353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1197756" y="3147297"/>
            <a:ext cx="966412" cy="2325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대기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0000</a:t>
            </a:r>
            <a:r>
              <a:rPr lang="ko-KR" altLang="en-US" sz="800" dirty="0">
                <a:solidFill>
                  <a:schemeClr val="tx1"/>
                </a:solidFill>
              </a:rPr>
              <a:t>명</a:t>
            </a:r>
            <a:r>
              <a:rPr lang="en-US" altLang="ko-KR" sz="800" dirty="0">
                <a:solidFill>
                  <a:schemeClr val="tx1"/>
                </a:solidFill>
              </a:rPr>
              <a:t>, 00%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472918" y="3098498"/>
            <a:ext cx="7136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완료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000</a:t>
            </a:r>
            <a:r>
              <a:rPr lang="ko-KR" altLang="en-US" sz="800" dirty="0">
                <a:solidFill>
                  <a:schemeClr val="bg1"/>
                </a:solidFill>
              </a:rPr>
              <a:t>명</a:t>
            </a:r>
            <a:r>
              <a:rPr lang="en-US" altLang="ko-KR" sz="800" dirty="0">
                <a:solidFill>
                  <a:schemeClr val="bg1"/>
                </a:solidFill>
              </a:rPr>
              <a:t>, 00%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966197" y="3099009"/>
            <a:ext cx="657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종료</a:t>
            </a:r>
            <a:endParaRPr lang="en-US" altLang="ko-KR" sz="800" dirty="0"/>
          </a:p>
          <a:p>
            <a:pPr algn="ctr"/>
            <a:r>
              <a:rPr lang="en-US" altLang="ko-KR" sz="800" dirty="0"/>
              <a:t>00</a:t>
            </a:r>
            <a:r>
              <a:rPr lang="ko-KR" altLang="en-US" sz="800" dirty="0"/>
              <a:t>명</a:t>
            </a:r>
            <a:r>
              <a:rPr lang="en-US" altLang="ko-KR" sz="800" dirty="0"/>
              <a:t>, 00%</a:t>
            </a:r>
            <a:endParaRPr lang="ko-KR" altLang="en-US" sz="800" dirty="0"/>
          </a:p>
        </p:txBody>
      </p:sp>
      <p:cxnSp>
        <p:nvCxnSpPr>
          <p:cNvPr id="113" name="직선 연결선 112"/>
          <p:cNvCxnSpPr/>
          <p:nvPr/>
        </p:nvCxnSpPr>
        <p:spPr>
          <a:xfrm>
            <a:off x="445368" y="3075513"/>
            <a:ext cx="6228" cy="103609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/>
          <p:cNvCxnSpPr/>
          <p:nvPr/>
        </p:nvCxnSpPr>
        <p:spPr>
          <a:xfrm>
            <a:off x="446275" y="4113569"/>
            <a:ext cx="192231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/>
          <p:cNvCxnSpPr/>
          <p:nvPr/>
        </p:nvCxnSpPr>
        <p:spPr>
          <a:xfrm flipH="1">
            <a:off x="2868651" y="2360594"/>
            <a:ext cx="5542" cy="63333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/>
          <p:cNvCxnSpPr/>
          <p:nvPr/>
        </p:nvCxnSpPr>
        <p:spPr>
          <a:xfrm>
            <a:off x="2868651" y="2997367"/>
            <a:ext cx="192231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/>
          <p:cNvSpPr/>
          <p:nvPr/>
        </p:nvSpPr>
        <p:spPr>
          <a:xfrm>
            <a:off x="2869231" y="3924701"/>
            <a:ext cx="1922312" cy="1302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대상  </a:t>
            </a:r>
            <a:r>
              <a:rPr lang="en-US" altLang="ko-KR" sz="800" b="1" dirty="0">
                <a:solidFill>
                  <a:schemeClr val="bg1"/>
                </a:solidFill>
              </a:rPr>
              <a:t>0000</a:t>
            </a:r>
            <a:r>
              <a:rPr lang="ko-KR" altLang="en-US" sz="800" b="1" dirty="0">
                <a:solidFill>
                  <a:schemeClr val="bg1"/>
                </a:solidFill>
              </a:rPr>
              <a:t>개</a:t>
            </a:r>
          </a:p>
        </p:txBody>
      </p:sp>
      <p:sp>
        <p:nvSpPr>
          <p:cNvPr id="119" name="직사각형 118"/>
          <p:cNvSpPr/>
          <p:nvPr/>
        </p:nvSpPr>
        <p:spPr>
          <a:xfrm rot="16200000">
            <a:off x="3131341" y="3368017"/>
            <a:ext cx="232803" cy="75702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929331" y="3569313"/>
            <a:ext cx="7136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완료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000</a:t>
            </a:r>
            <a:r>
              <a:rPr lang="ko-KR" altLang="en-US" sz="800" dirty="0">
                <a:solidFill>
                  <a:schemeClr val="bg1"/>
                </a:solidFill>
              </a:rPr>
              <a:t>개</a:t>
            </a:r>
            <a:r>
              <a:rPr lang="en-US" altLang="ko-KR" sz="800" dirty="0">
                <a:solidFill>
                  <a:schemeClr val="bg1"/>
                </a:solidFill>
              </a:rPr>
              <a:t>, 00%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4587703" y="3626963"/>
            <a:ext cx="203840" cy="2353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3621292" y="3629787"/>
            <a:ext cx="966412" cy="2325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대기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0000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, 00%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4360847" y="3583325"/>
            <a:ext cx="657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종료</a:t>
            </a:r>
            <a:endParaRPr lang="en-US" altLang="ko-KR" sz="800" dirty="0"/>
          </a:p>
          <a:p>
            <a:pPr algn="ctr"/>
            <a:r>
              <a:rPr lang="en-US" altLang="ko-KR" sz="800" dirty="0"/>
              <a:t>00</a:t>
            </a:r>
            <a:r>
              <a:rPr lang="ko-KR" altLang="en-US" sz="800" dirty="0"/>
              <a:t>개</a:t>
            </a:r>
            <a:r>
              <a:rPr lang="en-US" altLang="ko-KR" sz="800" dirty="0"/>
              <a:t>, 00%</a:t>
            </a:r>
            <a:endParaRPr lang="ko-KR" altLang="en-US" sz="800" dirty="0"/>
          </a:p>
        </p:txBody>
      </p:sp>
      <p:sp>
        <p:nvSpPr>
          <p:cNvPr id="124" name="직사각형 123"/>
          <p:cNvSpPr/>
          <p:nvPr/>
        </p:nvSpPr>
        <p:spPr>
          <a:xfrm>
            <a:off x="2874192" y="2781999"/>
            <a:ext cx="1922312" cy="1302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대상자  </a:t>
            </a:r>
            <a:r>
              <a:rPr lang="en-US" altLang="ko-KR" sz="800" b="1" dirty="0">
                <a:solidFill>
                  <a:schemeClr val="bg1"/>
                </a:solidFill>
              </a:rPr>
              <a:t>0000</a:t>
            </a:r>
            <a:r>
              <a:rPr lang="ko-KR" altLang="en-US" sz="800" b="1" dirty="0">
                <a:solidFill>
                  <a:schemeClr val="bg1"/>
                </a:solidFill>
              </a:rPr>
              <a:t>명</a:t>
            </a:r>
          </a:p>
        </p:txBody>
      </p:sp>
      <p:sp>
        <p:nvSpPr>
          <p:cNvPr id="125" name="직사각형 124"/>
          <p:cNvSpPr/>
          <p:nvPr/>
        </p:nvSpPr>
        <p:spPr>
          <a:xfrm rot="16200000">
            <a:off x="3136302" y="2225315"/>
            <a:ext cx="232803" cy="75702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2934292" y="2426611"/>
            <a:ext cx="7136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완료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000</a:t>
            </a:r>
            <a:r>
              <a:rPr lang="ko-KR" altLang="en-US" sz="800" dirty="0">
                <a:solidFill>
                  <a:schemeClr val="bg1"/>
                </a:solidFill>
              </a:rPr>
              <a:t>명</a:t>
            </a:r>
            <a:r>
              <a:rPr lang="en-US" altLang="ko-KR" sz="800" dirty="0">
                <a:solidFill>
                  <a:schemeClr val="bg1"/>
                </a:solidFill>
              </a:rPr>
              <a:t>, 00%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4592664" y="2484261"/>
            <a:ext cx="203840" cy="2353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3626253" y="2487085"/>
            <a:ext cx="966412" cy="2325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대기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0000</a:t>
            </a:r>
            <a:r>
              <a:rPr lang="ko-KR" altLang="en-US" sz="800" dirty="0">
                <a:solidFill>
                  <a:schemeClr val="tx1"/>
                </a:solidFill>
              </a:rPr>
              <a:t>명</a:t>
            </a:r>
            <a:r>
              <a:rPr lang="en-US" altLang="ko-KR" sz="800" dirty="0">
                <a:solidFill>
                  <a:schemeClr val="tx1"/>
                </a:solidFill>
              </a:rPr>
              <a:t>, 00%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4365808" y="2440623"/>
            <a:ext cx="657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종료</a:t>
            </a:r>
            <a:endParaRPr lang="en-US" altLang="ko-KR" sz="800" dirty="0"/>
          </a:p>
          <a:p>
            <a:pPr algn="ctr"/>
            <a:r>
              <a:rPr lang="en-US" altLang="ko-KR" sz="800" dirty="0"/>
              <a:t>00</a:t>
            </a:r>
            <a:r>
              <a:rPr lang="ko-KR" altLang="en-US" sz="800" dirty="0"/>
              <a:t>명</a:t>
            </a:r>
            <a:r>
              <a:rPr lang="en-US" altLang="ko-KR" sz="800" dirty="0"/>
              <a:t>, 00%</a:t>
            </a:r>
            <a:endParaRPr lang="ko-KR" altLang="en-US" sz="800" dirty="0"/>
          </a:p>
        </p:txBody>
      </p:sp>
      <p:sp>
        <p:nvSpPr>
          <p:cNvPr id="130" name="TextBox 129"/>
          <p:cNvSpPr txBox="1"/>
          <p:nvPr/>
        </p:nvSpPr>
        <p:spPr>
          <a:xfrm>
            <a:off x="2495115" y="2589985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/>
              <a:t>개인</a:t>
            </a:r>
            <a:endParaRPr lang="ko-KR" altLang="en-US" sz="800" dirty="0"/>
          </a:p>
        </p:txBody>
      </p:sp>
      <p:sp>
        <p:nvSpPr>
          <p:cNvPr id="131" name="TextBox 130"/>
          <p:cNvSpPr txBox="1"/>
          <p:nvPr/>
        </p:nvSpPr>
        <p:spPr>
          <a:xfrm>
            <a:off x="2495115" y="347562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법인</a:t>
            </a:r>
          </a:p>
        </p:txBody>
      </p:sp>
      <p:sp>
        <p:nvSpPr>
          <p:cNvPr id="132" name="직사각형 131"/>
          <p:cNvSpPr/>
          <p:nvPr/>
        </p:nvSpPr>
        <p:spPr>
          <a:xfrm>
            <a:off x="2868651" y="3442211"/>
            <a:ext cx="1922312" cy="1302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대상자  </a:t>
            </a:r>
            <a:r>
              <a:rPr lang="en-US" altLang="ko-KR" sz="800" b="1" dirty="0">
                <a:solidFill>
                  <a:schemeClr val="bg1"/>
                </a:solidFill>
              </a:rPr>
              <a:t>0000</a:t>
            </a:r>
            <a:r>
              <a:rPr lang="ko-KR" altLang="en-US" sz="800" b="1" dirty="0">
                <a:solidFill>
                  <a:schemeClr val="bg1"/>
                </a:solidFill>
              </a:rPr>
              <a:t>명</a:t>
            </a:r>
          </a:p>
        </p:txBody>
      </p:sp>
      <p:sp>
        <p:nvSpPr>
          <p:cNvPr id="133" name="직사각형 132"/>
          <p:cNvSpPr/>
          <p:nvPr/>
        </p:nvSpPr>
        <p:spPr>
          <a:xfrm rot="16200000">
            <a:off x="3130761" y="2885527"/>
            <a:ext cx="232803" cy="75702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4587123" y="3144473"/>
            <a:ext cx="203840" cy="2353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3620712" y="3147297"/>
            <a:ext cx="966412" cy="2325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대기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0000</a:t>
            </a:r>
            <a:r>
              <a:rPr lang="ko-KR" altLang="en-US" sz="800" dirty="0">
                <a:solidFill>
                  <a:schemeClr val="tx1"/>
                </a:solidFill>
              </a:rPr>
              <a:t>명</a:t>
            </a:r>
            <a:r>
              <a:rPr lang="en-US" altLang="ko-KR" sz="800" dirty="0">
                <a:solidFill>
                  <a:schemeClr val="tx1"/>
                </a:solidFill>
              </a:rPr>
              <a:t>, 00%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895874" y="3098498"/>
            <a:ext cx="7136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완료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000</a:t>
            </a:r>
            <a:r>
              <a:rPr lang="ko-KR" altLang="en-US" sz="800" dirty="0">
                <a:solidFill>
                  <a:schemeClr val="bg1"/>
                </a:solidFill>
              </a:rPr>
              <a:t>명</a:t>
            </a:r>
            <a:r>
              <a:rPr lang="en-US" altLang="ko-KR" sz="800" dirty="0">
                <a:solidFill>
                  <a:schemeClr val="bg1"/>
                </a:solidFill>
              </a:rPr>
              <a:t>, 00%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4389153" y="3099009"/>
            <a:ext cx="657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종료</a:t>
            </a:r>
            <a:endParaRPr lang="en-US" altLang="ko-KR" sz="800" dirty="0"/>
          </a:p>
          <a:p>
            <a:pPr algn="ctr"/>
            <a:r>
              <a:rPr lang="en-US" altLang="ko-KR" sz="800" dirty="0"/>
              <a:t>00</a:t>
            </a:r>
            <a:r>
              <a:rPr lang="ko-KR" altLang="en-US" sz="800" dirty="0"/>
              <a:t>명</a:t>
            </a:r>
            <a:r>
              <a:rPr lang="en-US" altLang="ko-KR" sz="800" dirty="0"/>
              <a:t>, 00%</a:t>
            </a:r>
            <a:endParaRPr lang="ko-KR" altLang="en-US" sz="800" dirty="0"/>
          </a:p>
        </p:txBody>
      </p:sp>
      <p:cxnSp>
        <p:nvCxnSpPr>
          <p:cNvPr id="138" name="직선 연결선 137"/>
          <p:cNvCxnSpPr/>
          <p:nvPr/>
        </p:nvCxnSpPr>
        <p:spPr>
          <a:xfrm>
            <a:off x="2868324" y="3075513"/>
            <a:ext cx="6228" cy="103609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/>
          <p:cNvCxnSpPr/>
          <p:nvPr/>
        </p:nvCxnSpPr>
        <p:spPr>
          <a:xfrm>
            <a:off x="2869231" y="4113569"/>
            <a:ext cx="192231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3532121" y="4127420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전체</a:t>
            </a:r>
          </a:p>
        </p:txBody>
      </p:sp>
      <p:sp>
        <p:nvSpPr>
          <p:cNvPr id="141" name="직사각형 140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신규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재계약 현황 요약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 내역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다운로드</a:t>
            </a:r>
          </a:p>
        </p:txBody>
      </p:sp>
      <p:sp>
        <p:nvSpPr>
          <p:cNvPr id="142" name="직사각형 141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CRM_03_003~004, CRM_03_012~015</a:t>
            </a:r>
          </a:p>
        </p:txBody>
      </p:sp>
      <p:pic>
        <p:nvPicPr>
          <p:cNvPr id="143" name="그림 1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0" y="586795"/>
            <a:ext cx="9718899" cy="584232"/>
          </a:xfrm>
          <a:prstGeom prst="rect">
            <a:avLst/>
          </a:prstGeom>
        </p:spPr>
      </p:pic>
      <p:graphicFrame>
        <p:nvGraphicFramePr>
          <p:cNvPr id="145" name="표 1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781417"/>
              </p:ext>
            </p:extLst>
          </p:nvPr>
        </p:nvGraphicFramePr>
        <p:xfrm>
          <a:off x="136188" y="1466293"/>
          <a:ext cx="481843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○ 시작일  ● 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6" name="직사각형 145"/>
          <p:cNvSpPr/>
          <p:nvPr/>
        </p:nvSpPr>
        <p:spPr>
          <a:xfrm>
            <a:off x="2363380" y="1479842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47" name="그림 1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997" y="1484344"/>
            <a:ext cx="186718" cy="154639"/>
          </a:xfrm>
          <a:prstGeom prst="rect">
            <a:avLst/>
          </a:prstGeom>
        </p:spPr>
      </p:pic>
      <p:sp>
        <p:nvSpPr>
          <p:cNvPr id="148" name="직사각형 147"/>
          <p:cNvSpPr/>
          <p:nvPr/>
        </p:nvSpPr>
        <p:spPr>
          <a:xfrm>
            <a:off x="3656683" y="1479842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49" name="그림 1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749" y="1479070"/>
            <a:ext cx="186718" cy="154639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3388372" y="1417891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151" name="직사각형 150"/>
          <p:cNvSpPr/>
          <p:nvPr/>
        </p:nvSpPr>
        <p:spPr>
          <a:xfrm>
            <a:off x="852649" y="1714552"/>
            <a:ext cx="649734" cy="1444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유료회원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2" name="직사각형 151"/>
          <p:cNvSpPr/>
          <p:nvPr/>
        </p:nvSpPr>
        <p:spPr>
          <a:xfrm>
            <a:off x="1552186" y="1713200"/>
            <a:ext cx="879729" cy="14554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선택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3281754" y="1713044"/>
            <a:ext cx="1620986" cy="1416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홍길동                       🔍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718478" y="1932885"/>
            <a:ext cx="22829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※ </a:t>
            </a:r>
            <a:r>
              <a:rPr lang="ko-KR" altLang="en-US" sz="800" dirty="0">
                <a:solidFill>
                  <a:srgbClr val="FF0000"/>
                </a:solidFill>
              </a:rPr>
              <a:t>재계약은 계약종료일 기준으로 산정합니다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1109165" y="4127420"/>
            <a:ext cx="8707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0B0F0"/>
                </a:solidFill>
              </a:rPr>
              <a:t>홍길동</a:t>
            </a:r>
            <a:r>
              <a:rPr lang="ko-KR" altLang="en-US" sz="1000" dirty="0"/>
              <a:t> 담당</a:t>
            </a:r>
          </a:p>
        </p:txBody>
      </p:sp>
    </p:spTree>
    <p:extLst>
      <p:ext uri="{BB962C8B-B14F-4D97-AF65-F5344CB8AC3E}">
        <p14:creationId xmlns:p14="http://schemas.microsoft.com/office/powerpoint/2010/main" val="22028185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36187" y="1174883"/>
            <a:ext cx="4818434" cy="2583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</a:rPr>
              <a:t>재계약 현황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4996774" y="1174883"/>
            <a:ext cx="4818434" cy="25832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</a:rPr>
              <a:t>월별 추이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035829"/>
              </p:ext>
            </p:extLst>
          </p:nvPr>
        </p:nvGraphicFramePr>
        <p:xfrm>
          <a:off x="136188" y="1466293"/>
          <a:ext cx="481843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○ 시작일  ● 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2033295" y="1500183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912" y="1504685"/>
            <a:ext cx="186718" cy="154639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3326598" y="1500183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664" y="1499411"/>
            <a:ext cx="186718" cy="1546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58287" y="1438232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14" name="직사각형 13"/>
          <p:cNvSpPr/>
          <p:nvPr/>
        </p:nvSpPr>
        <p:spPr>
          <a:xfrm>
            <a:off x="852649" y="1714552"/>
            <a:ext cx="649734" cy="1444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유료회원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552186" y="1713200"/>
            <a:ext cx="879729" cy="14554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선택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281754" y="1713044"/>
            <a:ext cx="1620986" cy="1416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홍길동                       🔍</a:t>
            </a:r>
          </a:p>
        </p:txBody>
      </p:sp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318237"/>
              </p:ext>
            </p:extLst>
          </p:nvPr>
        </p:nvGraphicFramePr>
        <p:xfrm>
          <a:off x="5004424" y="1466293"/>
          <a:ext cx="481843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○ 시작일  ● 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직사각형 34"/>
          <p:cNvSpPr/>
          <p:nvPr/>
        </p:nvSpPr>
        <p:spPr>
          <a:xfrm>
            <a:off x="6923302" y="1495160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919" y="1499662"/>
            <a:ext cx="186718" cy="154639"/>
          </a:xfrm>
          <a:prstGeom prst="rect">
            <a:avLst/>
          </a:prstGeom>
        </p:spPr>
      </p:pic>
      <p:sp>
        <p:nvSpPr>
          <p:cNvPr id="37" name="직사각형 36"/>
          <p:cNvSpPr/>
          <p:nvPr/>
        </p:nvSpPr>
        <p:spPr>
          <a:xfrm>
            <a:off x="8216605" y="1495160"/>
            <a:ext cx="854756" cy="1640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671" y="1494388"/>
            <a:ext cx="186718" cy="15463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948294" y="1433209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40" name="직사각형 39"/>
          <p:cNvSpPr/>
          <p:nvPr/>
        </p:nvSpPr>
        <p:spPr>
          <a:xfrm>
            <a:off x="5720885" y="1714552"/>
            <a:ext cx="649734" cy="1444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유료회원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420422" y="1713200"/>
            <a:ext cx="879729" cy="14554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선택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5404963" y="2193366"/>
            <a:ext cx="0" cy="139310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5404963" y="3586470"/>
            <a:ext cx="423190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79168" y="3586470"/>
            <a:ext cx="3879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1</a:t>
            </a:r>
            <a:r>
              <a:rPr lang="ko-KR" altLang="en-US" sz="800" dirty="0"/>
              <a:t>월    </a:t>
            </a:r>
            <a:r>
              <a:rPr lang="en-US" altLang="ko-KR" sz="800" dirty="0"/>
              <a:t>2</a:t>
            </a:r>
            <a:r>
              <a:rPr lang="ko-KR" altLang="en-US" sz="800" dirty="0"/>
              <a:t>월    </a:t>
            </a:r>
            <a:r>
              <a:rPr lang="en-US" altLang="ko-KR" sz="800" dirty="0"/>
              <a:t>3</a:t>
            </a:r>
            <a:r>
              <a:rPr lang="ko-KR" altLang="en-US" sz="800" dirty="0"/>
              <a:t>월    </a:t>
            </a:r>
            <a:r>
              <a:rPr lang="en-US" altLang="ko-KR" sz="800" dirty="0"/>
              <a:t>4</a:t>
            </a:r>
            <a:r>
              <a:rPr lang="ko-KR" altLang="en-US" sz="800" dirty="0"/>
              <a:t>월    </a:t>
            </a:r>
            <a:r>
              <a:rPr lang="en-US" altLang="ko-KR" sz="800" dirty="0"/>
              <a:t>5</a:t>
            </a:r>
            <a:r>
              <a:rPr lang="ko-KR" altLang="en-US" sz="800" dirty="0"/>
              <a:t>월    </a:t>
            </a:r>
            <a:r>
              <a:rPr lang="en-US" altLang="ko-KR" sz="800" dirty="0"/>
              <a:t>6</a:t>
            </a:r>
            <a:r>
              <a:rPr lang="ko-KR" altLang="en-US" sz="800" dirty="0"/>
              <a:t>월    </a:t>
            </a:r>
            <a:r>
              <a:rPr lang="en-US" altLang="ko-KR" sz="800" dirty="0"/>
              <a:t>7</a:t>
            </a:r>
            <a:r>
              <a:rPr lang="ko-KR" altLang="en-US" sz="800" dirty="0"/>
              <a:t>월    </a:t>
            </a:r>
            <a:r>
              <a:rPr lang="en-US" altLang="ko-KR" sz="800" dirty="0"/>
              <a:t>8</a:t>
            </a:r>
            <a:r>
              <a:rPr lang="ko-KR" altLang="en-US" sz="800" dirty="0"/>
              <a:t>월    </a:t>
            </a:r>
            <a:r>
              <a:rPr lang="en-US" altLang="ko-KR" sz="800" dirty="0"/>
              <a:t>9</a:t>
            </a:r>
            <a:r>
              <a:rPr lang="ko-KR" altLang="en-US" sz="800" dirty="0"/>
              <a:t>월    </a:t>
            </a:r>
            <a:r>
              <a:rPr lang="en-US" altLang="ko-KR" sz="800" dirty="0"/>
              <a:t>10</a:t>
            </a:r>
            <a:r>
              <a:rPr lang="ko-KR" altLang="en-US" sz="800" dirty="0"/>
              <a:t>월    </a:t>
            </a:r>
            <a:r>
              <a:rPr lang="en-US" altLang="ko-KR" sz="800" dirty="0"/>
              <a:t>11</a:t>
            </a:r>
            <a:r>
              <a:rPr lang="ko-KR" altLang="en-US" sz="800" dirty="0"/>
              <a:t>월    </a:t>
            </a:r>
            <a:r>
              <a:rPr lang="en-US" altLang="ko-KR" sz="800" dirty="0"/>
              <a:t>12</a:t>
            </a:r>
            <a:r>
              <a:rPr lang="ko-KR" altLang="en-US" sz="800" dirty="0"/>
              <a:t>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02458" y="2125845"/>
            <a:ext cx="43960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125%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100%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75%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50%</a:t>
            </a:r>
          </a:p>
          <a:p>
            <a:pPr algn="r"/>
            <a:endParaRPr lang="en-US" altLang="ko-KR" sz="800" dirty="0"/>
          </a:p>
          <a:p>
            <a:pPr algn="r"/>
            <a:r>
              <a:rPr lang="en-US" altLang="ko-KR" sz="800" dirty="0"/>
              <a:t>25%</a:t>
            </a:r>
            <a:endParaRPr lang="ko-KR" altLang="en-US" sz="800" dirty="0"/>
          </a:p>
        </p:txBody>
      </p:sp>
      <p:grpSp>
        <p:nvGrpSpPr>
          <p:cNvPr id="47" name="그룹 46"/>
          <p:cNvGrpSpPr/>
          <p:nvPr/>
        </p:nvGrpSpPr>
        <p:grpSpPr>
          <a:xfrm>
            <a:off x="5479168" y="2988166"/>
            <a:ext cx="591779" cy="274504"/>
            <a:chOff x="5479168" y="2774343"/>
            <a:chExt cx="591779" cy="274504"/>
          </a:xfrm>
        </p:grpSpPr>
        <p:sp>
          <p:nvSpPr>
            <p:cNvPr id="22" name="TextBox 21"/>
            <p:cNvSpPr txBox="1"/>
            <p:nvPr/>
          </p:nvSpPr>
          <p:spPr>
            <a:xfrm>
              <a:off x="5479168" y="2774343"/>
              <a:ext cx="26161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" dirty="0">
                  <a:solidFill>
                    <a:schemeClr val="accent2"/>
                  </a:solidFill>
                </a:rPr>
                <a:t>◆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809337" y="2864181"/>
              <a:ext cx="26161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" dirty="0">
                  <a:solidFill>
                    <a:schemeClr val="accent2"/>
                  </a:solidFill>
                </a:rPr>
                <a:t>◆</a:t>
              </a:r>
            </a:p>
          </p:txBody>
        </p:sp>
        <p:cxnSp>
          <p:nvCxnSpPr>
            <p:cNvPr id="46" name="직선 연결선 45"/>
            <p:cNvCxnSpPr/>
            <p:nvPr/>
          </p:nvCxnSpPr>
          <p:spPr>
            <a:xfrm>
              <a:off x="5609973" y="2879759"/>
              <a:ext cx="330169" cy="8983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8" name="표 47"/>
          <p:cNvGraphicFramePr>
            <a:graphicFrameLocks noGrp="1"/>
          </p:cNvGraphicFramePr>
          <p:nvPr/>
        </p:nvGraphicFramePr>
        <p:xfrm>
          <a:off x="123995" y="4365540"/>
          <a:ext cx="4825118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6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3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3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3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32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927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대상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완료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(%)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서비스종료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담당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회원수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0000</a:t>
                      </a:r>
                      <a:r>
                        <a:rPr lang="ko-KR" altLang="en-US" sz="800" u="none" dirty="0"/>
                        <a:t>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0000</a:t>
                      </a:r>
                      <a:r>
                        <a:rPr lang="ko-KR" altLang="en-US" sz="800" u="none" dirty="0"/>
                        <a:t>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00%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8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회사수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0000</a:t>
                      </a:r>
                      <a:r>
                        <a:rPr lang="ko-KR" altLang="en-US" sz="800" u="none" dirty="0"/>
                        <a:t>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0000</a:t>
                      </a:r>
                      <a:r>
                        <a:rPr lang="ko-KR" altLang="en-US" sz="800" u="none" dirty="0"/>
                        <a:t>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00%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8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전체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회사수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0000</a:t>
                      </a:r>
                      <a:r>
                        <a:rPr lang="ko-KR" altLang="en-US" sz="800" u="none" dirty="0"/>
                        <a:t>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0000</a:t>
                      </a:r>
                      <a:r>
                        <a:rPr lang="ko-KR" altLang="en-US" sz="800" u="none" dirty="0"/>
                        <a:t>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8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회사수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0000</a:t>
                      </a:r>
                      <a:r>
                        <a:rPr lang="ko-KR" altLang="en-US" sz="800" u="none" dirty="0"/>
                        <a:t>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0000</a:t>
                      </a:r>
                      <a:r>
                        <a:rPr lang="ko-KR" altLang="en-US" sz="800" u="none" dirty="0"/>
                        <a:t>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" name="모서리가 둥근 직사각형 48"/>
          <p:cNvSpPr/>
          <p:nvPr/>
        </p:nvSpPr>
        <p:spPr>
          <a:xfrm>
            <a:off x="136187" y="1946282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50" name="모서리가 둥근 직사각형 49"/>
          <p:cNvSpPr/>
          <p:nvPr/>
        </p:nvSpPr>
        <p:spPr>
          <a:xfrm>
            <a:off x="729574" y="1946282"/>
            <a:ext cx="625813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다운로드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51" name="표 50"/>
          <p:cNvGraphicFramePr>
            <a:graphicFrameLocks noGrp="1"/>
          </p:cNvGraphicFramePr>
          <p:nvPr/>
        </p:nvGraphicFramePr>
        <p:xfrm>
          <a:off x="5004424" y="3918436"/>
          <a:ext cx="4671360" cy="15163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5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929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3616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개인  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대상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완료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종료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대상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완료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종료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2" name="모서리가 둥근 직사각형 51"/>
          <p:cNvSpPr/>
          <p:nvPr/>
        </p:nvSpPr>
        <p:spPr>
          <a:xfrm>
            <a:off x="5004424" y="1943802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53" name="모서리가 둥근 직사각형 52"/>
          <p:cNvSpPr/>
          <p:nvPr/>
        </p:nvSpPr>
        <p:spPr>
          <a:xfrm>
            <a:off x="5597811" y="1943802"/>
            <a:ext cx="625813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다운로드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8142341" y="1718430"/>
            <a:ext cx="1620986" cy="1416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                    🔍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6860286" y="170780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55" name="직선 연결선 54"/>
          <p:cNvCxnSpPr/>
          <p:nvPr/>
        </p:nvCxnSpPr>
        <p:spPr>
          <a:xfrm flipH="1">
            <a:off x="445695" y="2360594"/>
            <a:ext cx="5542" cy="63333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445695" y="2997367"/>
            <a:ext cx="192231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446275" y="3924701"/>
            <a:ext cx="1922312" cy="1302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대상  </a:t>
            </a:r>
            <a:r>
              <a:rPr lang="en-US" altLang="ko-KR" sz="800" b="1" dirty="0">
                <a:solidFill>
                  <a:schemeClr val="bg1"/>
                </a:solidFill>
              </a:rPr>
              <a:t>0000</a:t>
            </a:r>
            <a:r>
              <a:rPr lang="ko-KR" altLang="en-US" sz="800" b="1" dirty="0">
                <a:solidFill>
                  <a:schemeClr val="bg1"/>
                </a:solidFill>
              </a:rPr>
              <a:t>개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5479168" y="2866820"/>
            <a:ext cx="598264" cy="219444"/>
            <a:chOff x="6799163" y="2621082"/>
            <a:chExt cx="598264" cy="219444"/>
          </a:xfrm>
        </p:grpSpPr>
        <p:sp>
          <p:nvSpPr>
            <p:cNvPr id="86" name="TextBox 85"/>
            <p:cNvSpPr txBox="1"/>
            <p:nvPr/>
          </p:nvSpPr>
          <p:spPr>
            <a:xfrm>
              <a:off x="6799163" y="2655860"/>
              <a:ext cx="2616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600" dirty="0">
                  <a:solidFill>
                    <a:srgbClr val="7030A0"/>
                  </a:solidFill>
                </a:rPr>
                <a:t>◆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7135817" y="2621082"/>
              <a:ext cx="2616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600" dirty="0">
                  <a:solidFill>
                    <a:srgbClr val="7030A0"/>
                  </a:solidFill>
                </a:rPr>
                <a:t>◆</a:t>
              </a:r>
            </a:p>
          </p:txBody>
        </p:sp>
        <p:cxnSp>
          <p:nvCxnSpPr>
            <p:cNvPr id="25" name="직선 연결선 24"/>
            <p:cNvCxnSpPr/>
            <p:nvPr/>
          </p:nvCxnSpPr>
          <p:spPr>
            <a:xfrm flipV="1">
              <a:off x="6938652" y="2715223"/>
              <a:ext cx="370183" cy="48428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8531125" y="2145150"/>
            <a:ext cx="5293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solidFill>
                  <a:schemeClr val="accent2"/>
                </a:solidFill>
              </a:rPr>
              <a:t>◆ 개인</a:t>
            </a:r>
            <a:endParaRPr lang="ko-KR" altLang="en-US" sz="800" dirty="0">
              <a:solidFill>
                <a:schemeClr val="accent2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982152" y="2145150"/>
            <a:ext cx="5293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rgbClr val="7030A0"/>
                </a:solidFill>
              </a:rPr>
              <a:t>◆ 법인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997065" y="628549"/>
            <a:ext cx="2146742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00B0F0"/>
                </a:solidFill>
              </a:rPr>
              <a:t>재계약 전체 현황 조회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신규</a:t>
            </a:r>
            <a:r>
              <a:rPr lang="en-US" altLang="ko-KR" sz="1000" b="1" dirty="0">
                <a:solidFill>
                  <a:srgbClr val="00B0F0"/>
                </a:solidFill>
              </a:rPr>
              <a:t>+</a:t>
            </a:r>
            <a:r>
              <a:rPr lang="ko-KR" altLang="en-US" sz="1000" b="1" dirty="0">
                <a:solidFill>
                  <a:srgbClr val="00B0F0"/>
                </a:solidFill>
              </a:rPr>
              <a:t>재계약</a:t>
            </a:r>
            <a:r>
              <a:rPr lang="en-US" altLang="ko-KR" sz="1000" b="1" dirty="0">
                <a:solidFill>
                  <a:srgbClr val="00B0F0"/>
                </a:solidFill>
              </a:rPr>
              <a:t>+</a:t>
            </a:r>
            <a:r>
              <a:rPr lang="ko-KR" altLang="en-US" sz="1000" b="1" dirty="0">
                <a:solidFill>
                  <a:srgbClr val="00B0F0"/>
                </a:solidFill>
              </a:rPr>
              <a:t>탈퇴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개인</a:t>
            </a:r>
            <a:r>
              <a:rPr lang="en-US" altLang="ko-KR" sz="1000" b="1" dirty="0">
                <a:solidFill>
                  <a:srgbClr val="00B0F0"/>
                </a:solidFill>
              </a:rPr>
              <a:t>+</a:t>
            </a:r>
            <a:r>
              <a:rPr lang="ko-KR" altLang="en-US" sz="1000" b="1" dirty="0">
                <a:solidFill>
                  <a:srgbClr val="00B0F0"/>
                </a:solidFill>
              </a:rPr>
              <a:t>법인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00B0F0"/>
                </a:solidFill>
              </a:rPr>
              <a:t>월별 </a:t>
            </a:r>
            <a:r>
              <a:rPr lang="ko-KR" altLang="en-US" sz="1000" b="1" dirty="0" err="1">
                <a:solidFill>
                  <a:srgbClr val="00B0F0"/>
                </a:solidFill>
              </a:rPr>
              <a:t>재계약회원수</a:t>
            </a:r>
            <a:r>
              <a:rPr lang="ko-KR" altLang="en-US" sz="1000" b="1" dirty="0">
                <a:solidFill>
                  <a:srgbClr val="00B0F0"/>
                </a:solidFill>
              </a:rPr>
              <a:t> 추이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 err="1">
                <a:solidFill>
                  <a:srgbClr val="00B0F0"/>
                </a:solidFill>
              </a:rPr>
              <a:t>선택값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전체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정회원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온라인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매거진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 err="1"/>
              <a:t>월회원</a:t>
            </a:r>
            <a:endParaRPr lang="en-US" altLang="ko-KR" sz="800" dirty="0"/>
          </a:p>
          <a:p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프리미엄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정회원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온라인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매거진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 err="1"/>
              <a:t>월회원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 err="1"/>
              <a:t>리움</a:t>
            </a:r>
            <a:endParaRPr lang="en-US" altLang="ko-KR" sz="800" dirty="0"/>
          </a:p>
          <a:p>
            <a:r>
              <a:rPr lang="ko-KR" altLang="en-US" sz="800" dirty="0"/>
              <a:t>개인</a:t>
            </a:r>
            <a:r>
              <a:rPr lang="en-US" altLang="ko-KR" sz="800" dirty="0"/>
              <a:t>-</a:t>
            </a:r>
            <a:r>
              <a:rPr lang="ko-KR" altLang="en-US" sz="800" dirty="0"/>
              <a:t>프리미엄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영업대표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 err="1"/>
              <a:t>미지정</a:t>
            </a:r>
            <a:r>
              <a:rPr lang="ko-KR" altLang="en-US" sz="800" dirty="0"/>
              <a:t> 시 전체 결과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월별추이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대상자 중 완료자 비율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/>
              <a:t>개인</a:t>
            </a:r>
            <a:r>
              <a:rPr lang="en-US" altLang="ko-KR" sz="800" dirty="0"/>
              <a:t>, </a:t>
            </a:r>
            <a:r>
              <a:rPr lang="ko-KR" altLang="en-US" sz="800" dirty="0"/>
              <a:t>회사 각각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>
                <a:solidFill>
                  <a:srgbClr val="00B0F0"/>
                </a:solidFill>
              </a:rPr>
              <a:t>법인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회사 </a:t>
            </a:r>
            <a:r>
              <a:rPr lang="en-US" altLang="ko-KR" sz="800" dirty="0"/>
              <a:t>= </a:t>
            </a:r>
            <a:r>
              <a:rPr lang="ko-KR" altLang="en-US" sz="800" dirty="0"/>
              <a:t>법인회원이 존재하는 법인</a:t>
            </a:r>
            <a:r>
              <a:rPr lang="en-US" altLang="ko-KR" sz="800" dirty="0"/>
              <a:t>(</a:t>
            </a:r>
            <a:r>
              <a:rPr lang="ko-KR" altLang="en-US" sz="800" dirty="0"/>
              <a:t>회사</a:t>
            </a:r>
            <a:r>
              <a:rPr lang="en-US" altLang="ko-KR" sz="800" dirty="0"/>
              <a:t>) </a:t>
            </a:r>
            <a:r>
              <a:rPr lang="ko-KR" altLang="en-US" sz="800" dirty="0"/>
              <a:t>수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8024502" y="1737365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5489902" y="276398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4861682" y="482301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 rot="16200000">
            <a:off x="708385" y="3368017"/>
            <a:ext cx="232803" cy="75702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6375" y="3569313"/>
            <a:ext cx="7136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완료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000</a:t>
            </a:r>
            <a:r>
              <a:rPr lang="ko-KR" altLang="en-US" sz="800" dirty="0">
                <a:solidFill>
                  <a:schemeClr val="bg1"/>
                </a:solidFill>
              </a:rPr>
              <a:t>개</a:t>
            </a:r>
            <a:r>
              <a:rPr lang="en-US" altLang="ko-KR" sz="800" dirty="0">
                <a:solidFill>
                  <a:schemeClr val="bg1"/>
                </a:solidFill>
              </a:rPr>
              <a:t>, 00%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2164747" y="3626963"/>
            <a:ext cx="203840" cy="2353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1198336" y="3629787"/>
            <a:ext cx="966412" cy="2325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대기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0000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, 00%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937891" y="3583325"/>
            <a:ext cx="657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종료</a:t>
            </a:r>
            <a:endParaRPr lang="en-US" altLang="ko-KR" sz="800" dirty="0"/>
          </a:p>
          <a:p>
            <a:pPr algn="ctr"/>
            <a:r>
              <a:rPr lang="en-US" altLang="ko-KR" sz="800" dirty="0"/>
              <a:t>00</a:t>
            </a:r>
            <a:r>
              <a:rPr lang="ko-KR" altLang="en-US" sz="800" dirty="0"/>
              <a:t>개</a:t>
            </a:r>
            <a:r>
              <a:rPr lang="en-US" altLang="ko-KR" sz="800" dirty="0"/>
              <a:t>, 00%</a:t>
            </a:r>
            <a:endParaRPr lang="ko-KR" altLang="en-US" sz="800" dirty="0"/>
          </a:p>
        </p:txBody>
      </p:sp>
      <p:sp>
        <p:nvSpPr>
          <p:cNvPr id="100" name="직사각형 99"/>
          <p:cNvSpPr/>
          <p:nvPr/>
        </p:nvSpPr>
        <p:spPr>
          <a:xfrm>
            <a:off x="451236" y="2781999"/>
            <a:ext cx="1922312" cy="1302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대상자  </a:t>
            </a:r>
            <a:r>
              <a:rPr lang="en-US" altLang="ko-KR" sz="800" b="1" dirty="0">
                <a:solidFill>
                  <a:schemeClr val="bg1"/>
                </a:solidFill>
              </a:rPr>
              <a:t>0000</a:t>
            </a:r>
            <a:r>
              <a:rPr lang="ko-KR" altLang="en-US" sz="800" b="1" dirty="0">
                <a:solidFill>
                  <a:schemeClr val="bg1"/>
                </a:solidFill>
              </a:rPr>
              <a:t>명</a:t>
            </a:r>
          </a:p>
        </p:txBody>
      </p:sp>
      <p:sp>
        <p:nvSpPr>
          <p:cNvPr id="101" name="직사각형 100"/>
          <p:cNvSpPr/>
          <p:nvPr/>
        </p:nvSpPr>
        <p:spPr>
          <a:xfrm rot="16200000">
            <a:off x="713346" y="2225315"/>
            <a:ext cx="232803" cy="75702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11336" y="2426611"/>
            <a:ext cx="7136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완료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000</a:t>
            </a:r>
            <a:r>
              <a:rPr lang="ko-KR" altLang="en-US" sz="800" dirty="0">
                <a:solidFill>
                  <a:schemeClr val="bg1"/>
                </a:solidFill>
              </a:rPr>
              <a:t>명</a:t>
            </a:r>
            <a:r>
              <a:rPr lang="en-US" altLang="ko-KR" sz="800" dirty="0">
                <a:solidFill>
                  <a:schemeClr val="bg1"/>
                </a:solidFill>
              </a:rPr>
              <a:t>, 00%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2169708" y="2484261"/>
            <a:ext cx="203840" cy="2353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1203297" y="2487085"/>
            <a:ext cx="966412" cy="2325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대기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0000</a:t>
            </a:r>
            <a:r>
              <a:rPr lang="ko-KR" altLang="en-US" sz="800" dirty="0">
                <a:solidFill>
                  <a:schemeClr val="tx1"/>
                </a:solidFill>
              </a:rPr>
              <a:t>명</a:t>
            </a:r>
            <a:r>
              <a:rPr lang="en-US" altLang="ko-KR" sz="800" dirty="0">
                <a:solidFill>
                  <a:schemeClr val="tx1"/>
                </a:solidFill>
              </a:rPr>
              <a:t>, 00%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942852" y="2440623"/>
            <a:ext cx="657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종료</a:t>
            </a:r>
            <a:endParaRPr lang="en-US" altLang="ko-KR" sz="800" dirty="0"/>
          </a:p>
          <a:p>
            <a:pPr algn="ctr"/>
            <a:r>
              <a:rPr lang="en-US" altLang="ko-KR" sz="800" dirty="0"/>
              <a:t>00</a:t>
            </a:r>
            <a:r>
              <a:rPr lang="ko-KR" altLang="en-US" sz="800" dirty="0"/>
              <a:t>명</a:t>
            </a:r>
            <a:r>
              <a:rPr lang="en-US" altLang="ko-KR" sz="800" dirty="0"/>
              <a:t>, 00%</a:t>
            </a:r>
            <a:endParaRPr lang="ko-KR" altLang="en-US" sz="800" dirty="0"/>
          </a:p>
        </p:txBody>
      </p:sp>
      <p:sp>
        <p:nvSpPr>
          <p:cNvPr id="32" name="TextBox 31"/>
          <p:cNvSpPr txBox="1"/>
          <p:nvPr/>
        </p:nvSpPr>
        <p:spPr>
          <a:xfrm>
            <a:off x="72159" y="2589985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/>
              <a:t>개인</a:t>
            </a:r>
            <a:endParaRPr lang="ko-KR" altLang="en-US" sz="800" dirty="0"/>
          </a:p>
        </p:txBody>
      </p:sp>
      <p:sp>
        <p:nvSpPr>
          <p:cNvPr id="106" name="TextBox 105"/>
          <p:cNvSpPr txBox="1"/>
          <p:nvPr/>
        </p:nvSpPr>
        <p:spPr>
          <a:xfrm>
            <a:off x="72159" y="347562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법인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445695" y="3442211"/>
            <a:ext cx="1922312" cy="1302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대상자  </a:t>
            </a:r>
            <a:r>
              <a:rPr lang="en-US" altLang="ko-KR" sz="800" b="1" dirty="0">
                <a:solidFill>
                  <a:schemeClr val="bg1"/>
                </a:solidFill>
              </a:rPr>
              <a:t>0000</a:t>
            </a:r>
            <a:r>
              <a:rPr lang="ko-KR" altLang="en-US" sz="800" b="1" dirty="0">
                <a:solidFill>
                  <a:schemeClr val="bg1"/>
                </a:solidFill>
              </a:rPr>
              <a:t>명</a:t>
            </a:r>
          </a:p>
        </p:txBody>
      </p:sp>
      <p:sp>
        <p:nvSpPr>
          <p:cNvPr id="108" name="직사각형 107"/>
          <p:cNvSpPr/>
          <p:nvPr/>
        </p:nvSpPr>
        <p:spPr>
          <a:xfrm rot="16200000">
            <a:off x="707805" y="2885527"/>
            <a:ext cx="232803" cy="75702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2164167" y="3144473"/>
            <a:ext cx="203840" cy="2353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1197756" y="3147297"/>
            <a:ext cx="966412" cy="2325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대기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0000</a:t>
            </a:r>
            <a:r>
              <a:rPr lang="ko-KR" altLang="en-US" sz="800" dirty="0">
                <a:solidFill>
                  <a:schemeClr val="tx1"/>
                </a:solidFill>
              </a:rPr>
              <a:t>명</a:t>
            </a:r>
            <a:r>
              <a:rPr lang="en-US" altLang="ko-KR" sz="800" dirty="0">
                <a:solidFill>
                  <a:schemeClr val="tx1"/>
                </a:solidFill>
              </a:rPr>
              <a:t>, 00%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472918" y="3098498"/>
            <a:ext cx="7136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완료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000</a:t>
            </a:r>
            <a:r>
              <a:rPr lang="ko-KR" altLang="en-US" sz="800" dirty="0">
                <a:solidFill>
                  <a:schemeClr val="bg1"/>
                </a:solidFill>
              </a:rPr>
              <a:t>명</a:t>
            </a:r>
            <a:r>
              <a:rPr lang="en-US" altLang="ko-KR" sz="800" dirty="0">
                <a:solidFill>
                  <a:schemeClr val="bg1"/>
                </a:solidFill>
              </a:rPr>
              <a:t>, 00%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966197" y="3099009"/>
            <a:ext cx="657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종료</a:t>
            </a:r>
            <a:endParaRPr lang="en-US" altLang="ko-KR" sz="800" dirty="0"/>
          </a:p>
          <a:p>
            <a:pPr algn="ctr"/>
            <a:r>
              <a:rPr lang="en-US" altLang="ko-KR" sz="800" dirty="0"/>
              <a:t>00</a:t>
            </a:r>
            <a:r>
              <a:rPr lang="ko-KR" altLang="en-US" sz="800" dirty="0"/>
              <a:t>명</a:t>
            </a:r>
            <a:r>
              <a:rPr lang="en-US" altLang="ko-KR" sz="800" dirty="0"/>
              <a:t>, 00%</a:t>
            </a:r>
            <a:endParaRPr lang="ko-KR" altLang="en-US" sz="800" dirty="0"/>
          </a:p>
        </p:txBody>
      </p:sp>
      <p:cxnSp>
        <p:nvCxnSpPr>
          <p:cNvPr id="113" name="직선 연결선 112"/>
          <p:cNvCxnSpPr/>
          <p:nvPr/>
        </p:nvCxnSpPr>
        <p:spPr>
          <a:xfrm>
            <a:off x="445368" y="3075513"/>
            <a:ext cx="6228" cy="103609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/>
          <p:cNvCxnSpPr/>
          <p:nvPr/>
        </p:nvCxnSpPr>
        <p:spPr>
          <a:xfrm>
            <a:off x="446275" y="4113569"/>
            <a:ext cx="192231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/>
          <p:cNvCxnSpPr/>
          <p:nvPr/>
        </p:nvCxnSpPr>
        <p:spPr>
          <a:xfrm flipH="1">
            <a:off x="2868651" y="2360594"/>
            <a:ext cx="5542" cy="63333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/>
          <p:cNvCxnSpPr/>
          <p:nvPr/>
        </p:nvCxnSpPr>
        <p:spPr>
          <a:xfrm>
            <a:off x="2868651" y="2997367"/>
            <a:ext cx="192231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/>
          <p:cNvSpPr/>
          <p:nvPr/>
        </p:nvSpPr>
        <p:spPr>
          <a:xfrm>
            <a:off x="2869231" y="3924701"/>
            <a:ext cx="1922312" cy="1302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대상  </a:t>
            </a:r>
            <a:r>
              <a:rPr lang="en-US" altLang="ko-KR" sz="800" b="1" dirty="0">
                <a:solidFill>
                  <a:schemeClr val="bg1"/>
                </a:solidFill>
              </a:rPr>
              <a:t>0000</a:t>
            </a:r>
            <a:r>
              <a:rPr lang="ko-KR" altLang="en-US" sz="800" b="1" dirty="0">
                <a:solidFill>
                  <a:schemeClr val="bg1"/>
                </a:solidFill>
              </a:rPr>
              <a:t>개</a:t>
            </a:r>
          </a:p>
        </p:txBody>
      </p:sp>
      <p:sp>
        <p:nvSpPr>
          <p:cNvPr id="119" name="직사각형 118"/>
          <p:cNvSpPr/>
          <p:nvPr/>
        </p:nvSpPr>
        <p:spPr>
          <a:xfrm rot="16200000">
            <a:off x="3131341" y="3368017"/>
            <a:ext cx="232803" cy="75702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929331" y="3569313"/>
            <a:ext cx="7136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완료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000</a:t>
            </a:r>
            <a:r>
              <a:rPr lang="ko-KR" altLang="en-US" sz="800" dirty="0">
                <a:solidFill>
                  <a:schemeClr val="bg1"/>
                </a:solidFill>
              </a:rPr>
              <a:t>개</a:t>
            </a:r>
            <a:r>
              <a:rPr lang="en-US" altLang="ko-KR" sz="800" dirty="0">
                <a:solidFill>
                  <a:schemeClr val="bg1"/>
                </a:solidFill>
              </a:rPr>
              <a:t>, 00%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4587703" y="3626963"/>
            <a:ext cx="203840" cy="2353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3621292" y="3629787"/>
            <a:ext cx="966412" cy="2325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대기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0000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, 00%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4360847" y="3583325"/>
            <a:ext cx="657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종료</a:t>
            </a:r>
            <a:endParaRPr lang="en-US" altLang="ko-KR" sz="800" dirty="0"/>
          </a:p>
          <a:p>
            <a:pPr algn="ctr"/>
            <a:r>
              <a:rPr lang="en-US" altLang="ko-KR" sz="800" dirty="0"/>
              <a:t>00</a:t>
            </a:r>
            <a:r>
              <a:rPr lang="ko-KR" altLang="en-US" sz="800" dirty="0"/>
              <a:t>개</a:t>
            </a:r>
            <a:r>
              <a:rPr lang="en-US" altLang="ko-KR" sz="800" dirty="0"/>
              <a:t>, 00%</a:t>
            </a:r>
            <a:endParaRPr lang="ko-KR" altLang="en-US" sz="800" dirty="0"/>
          </a:p>
        </p:txBody>
      </p:sp>
      <p:sp>
        <p:nvSpPr>
          <p:cNvPr id="124" name="직사각형 123"/>
          <p:cNvSpPr/>
          <p:nvPr/>
        </p:nvSpPr>
        <p:spPr>
          <a:xfrm>
            <a:off x="2874192" y="2781999"/>
            <a:ext cx="1922312" cy="1302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대상자  </a:t>
            </a:r>
            <a:r>
              <a:rPr lang="en-US" altLang="ko-KR" sz="800" b="1" dirty="0">
                <a:solidFill>
                  <a:schemeClr val="bg1"/>
                </a:solidFill>
              </a:rPr>
              <a:t>0000</a:t>
            </a:r>
            <a:r>
              <a:rPr lang="ko-KR" altLang="en-US" sz="800" b="1" dirty="0">
                <a:solidFill>
                  <a:schemeClr val="bg1"/>
                </a:solidFill>
              </a:rPr>
              <a:t>명</a:t>
            </a:r>
          </a:p>
        </p:txBody>
      </p:sp>
      <p:sp>
        <p:nvSpPr>
          <p:cNvPr id="125" name="직사각형 124"/>
          <p:cNvSpPr/>
          <p:nvPr/>
        </p:nvSpPr>
        <p:spPr>
          <a:xfrm rot="16200000">
            <a:off x="3136302" y="2225315"/>
            <a:ext cx="232803" cy="75702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2934292" y="2426611"/>
            <a:ext cx="7136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완료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000</a:t>
            </a:r>
            <a:r>
              <a:rPr lang="ko-KR" altLang="en-US" sz="800" dirty="0">
                <a:solidFill>
                  <a:schemeClr val="bg1"/>
                </a:solidFill>
              </a:rPr>
              <a:t>명</a:t>
            </a:r>
            <a:r>
              <a:rPr lang="en-US" altLang="ko-KR" sz="800" dirty="0">
                <a:solidFill>
                  <a:schemeClr val="bg1"/>
                </a:solidFill>
              </a:rPr>
              <a:t>, 00%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4592664" y="2484261"/>
            <a:ext cx="203840" cy="2353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3626253" y="2487085"/>
            <a:ext cx="966412" cy="2325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대기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0000</a:t>
            </a:r>
            <a:r>
              <a:rPr lang="ko-KR" altLang="en-US" sz="800" dirty="0">
                <a:solidFill>
                  <a:schemeClr val="tx1"/>
                </a:solidFill>
              </a:rPr>
              <a:t>명</a:t>
            </a:r>
            <a:r>
              <a:rPr lang="en-US" altLang="ko-KR" sz="800" dirty="0">
                <a:solidFill>
                  <a:schemeClr val="tx1"/>
                </a:solidFill>
              </a:rPr>
              <a:t>, 00%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4365808" y="2440623"/>
            <a:ext cx="657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종료</a:t>
            </a:r>
            <a:endParaRPr lang="en-US" altLang="ko-KR" sz="800" dirty="0"/>
          </a:p>
          <a:p>
            <a:pPr algn="ctr"/>
            <a:r>
              <a:rPr lang="en-US" altLang="ko-KR" sz="800" dirty="0"/>
              <a:t>00</a:t>
            </a:r>
            <a:r>
              <a:rPr lang="ko-KR" altLang="en-US" sz="800" dirty="0"/>
              <a:t>명</a:t>
            </a:r>
            <a:r>
              <a:rPr lang="en-US" altLang="ko-KR" sz="800" dirty="0"/>
              <a:t>, 00%</a:t>
            </a:r>
            <a:endParaRPr lang="ko-KR" altLang="en-US" sz="800" dirty="0"/>
          </a:p>
        </p:txBody>
      </p:sp>
      <p:sp>
        <p:nvSpPr>
          <p:cNvPr id="130" name="TextBox 129"/>
          <p:cNvSpPr txBox="1"/>
          <p:nvPr/>
        </p:nvSpPr>
        <p:spPr>
          <a:xfrm>
            <a:off x="2495115" y="2589985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개인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495115" y="347562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법인</a:t>
            </a:r>
          </a:p>
        </p:txBody>
      </p:sp>
      <p:sp>
        <p:nvSpPr>
          <p:cNvPr id="132" name="직사각형 131"/>
          <p:cNvSpPr/>
          <p:nvPr/>
        </p:nvSpPr>
        <p:spPr>
          <a:xfrm>
            <a:off x="2868651" y="3442211"/>
            <a:ext cx="1922312" cy="1302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대상자  </a:t>
            </a:r>
            <a:r>
              <a:rPr lang="en-US" altLang="ko-KR" sz="800" b="1" dirty="0">
                <a:solidFill>
                  <a:schemeClr val="bg1"/>
                </a:solidFill>
              </a:rPr>
              <a:t>0000</a:t>
            </a:r>
            <a:r>
              <a:rPr lang="ko-KR" altLang="en-US" sz="800" b="1" dirty="0">
                <a:solidFill>
                  <a:schemeClr val="bg1"/>
                </a:solidFill>
              </a:rPr>
              <a:t>명</a:t>
            </a:r>
          </a:p>
        </p:txBody>
      </p:sp>
      <p:sp>
        <p:nvSpPr>
          <p:cNvPr id="133" name="직사각형 132"/>
          <p:cNvSpPr/>
          <p:nvPr/>
        </p:nvSpPr>
        <p:spPr>
          <a:xfrm rot="16200000">
            <a:off x="3130761" y="2885527"/>
            <a:ext cx="232803" cy="75702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4587123" y="3144473"/>
            <a:ext cx="203840" cy="2353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3620712" y="3147297"/>
            <a:ext cx="966412" cy="2325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대기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0000</a:t>
            </a:r>
            <a:r>
              <a:rPr lang="ko-KR" altLang="en-US" sz="800" dirty="0">
                <a:solidFill>
                  <a:schemeClr val="tx1"/>
                </a:solidFill>
              </a:rPr>
              <a:t>명</a:t>
            </a:r>
            <a:r>
              <a:rPr lang="en-US" altLang="ko-KR" sz="800" dirty="0">
                <a:solidFill>
                  <a:schemeClr val="tx1"/>
                </a:solidFill>
              </a:rPr>
              <a:t>, 00%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895874" y="3098498"/>
            <a:ext cx="7136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완료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000</a:t>
            </a:r>
            <a:r>
              <a:rPr lang="ko-KR" altLang="en-US" sz="800" dirty="0">
                <a:solidFill>
                  <a:schemeClr val="bg1"/>
                </a:solidFill>
              </a:rPr>
              <a:t>명</a:t>
            </a:r>
            <a:r>
              <a:rPr lang="en-US" altLang="ko-KR" sz="800" dirty="0">
                <a:solidFill>
                  <a:schemeClr val="bg1"/>
                </a:solidFill>
              </a:rPr>
              <a:t>, 00%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4389153" y="3099009"/>
            <a:ext cx="657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종료</a:t>
            </a:r>
            <a:endParaRPr lang="en-US" altLang="ko-KR" sz="800" dirty="0"/>
          </a:p>
          <a:p>
            <a:pPr algn="ctr"/>
            <a:r>
              <a:rPr lang="en-US" altLang="ko-KR" sz="800" dirty="0"/>
              <a:t>00</a:t>
            </a:r>
            <a:r>
              <a:rPr lang="ko-KR" altLang="en-US" sz="800" dirty="0"/>
              <a:t>명</a:t>
            </a:r>
            <a:r>
              <a:rPr lang="en-US" altLang="ko-KR" sz="800" dirty="0"/>
              <a:t>, 00%</a:t>
            </a:r>
            <a:endParaRPr lang="ko-KR" altLang="en-US" sz="800" dirty="0"/>
          </a:p>
        </p:txBody>
      </p:sp>
      <p:cxnSp>
        <p:nvCxnSpPr>
          <p:cNvPr id="138" name="직선 연결선 137"/>
          <p:cNvCxnSpPr/>
          <p:nvPr/>
        </p:nvCxnSpPr>
        <p:spPr>
          <a:xfrm>
            <a:off x="2868324" y="3075513"/>
            <a:ext cx="6228" cy="103609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/>
          <p:cNvCxnSpPr/>
          <p:nvPr/>
        </p:nvCxnSpPr>
        <p:spPr>
          <a:xfrm>
            <a:off x="2869231" y="4113569"/>
            <a:ext cx="192231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3532121" y="4127420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전체</a:t>
            </a:r>
          </a:p>
        </p:txBody>
      </p:sp>
      <p:sp>
        <p:nvSpPr>
          <p:cNvPr id="142" name="직사각형 141"/>
          <p:cNvSpPr/>
          <p:nvPr/>
        </p:nvSpPr>
        <p:spPr>
          <a:xfrm>
            <a:off x="1925931" y="4607718"/>
            <a:ext cx="505984" cy="169342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5609720" y="4173270"/>
            <a:ext cx="505984" cy="169342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3" name="꺾인 연결선 12"/>
          <p:cNvCxnSpPr>
            <a:stCxn id="142" idx="2"/>
          </p:cNvCxnSpPr>
          <p:nvPr/>
        </p:nvCxnSpPr>
        <p:spPr>
          <a:xfrm rot="16200000" flipH="1">
            <a:off x="2338840" y="4617143"/>
            <a:ext cx="774224" cy="1094058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5862712" y="4349731"/>
            <a:ext cx="0" cy="20554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직사각형 143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신규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재계약 현황 요약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 내역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다운로드</a:t>
            </a:r>
          </a:p>
        </p:txBody>
      </p:sp>
      <p:sp>
        <p:nvSpPr>
          <p:cNvPr id="145" name="직사각형 144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CRM_03_003~004, CRM_03_012~015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752693" y="5223530"/>
            <a:ext cx="44114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00" dirty="0"/>
              <a:t>신규교체</a:t>
            </a:r>
            <a:endParaRPr lang="en-US" altLang="ko-KR" sz="500" dirty="0"/>
          </a:p>
          <a:p>
            <a:pPr algn="ctr"/>
            <a:r>
              <a:rPr lang="ko-KR" altLang="en-US" sz="500" dirty="0"/>
              <a:t>재가입</a:t>
            </a:r>
            <a:endParaRPr lang="en-US" altLang="ko-KR" sz="500" dirty="0"/>
          </a:p>
          <a:p>
            <a:pPr algn="ctr"/>
            <a:r>
              <a:rPr lang="en-US" altLang="ko-KR" sz="500" dirty="0"/>
              <a:t>.</a:t>
            </a:r>
          </a:p>
          <a:p>
            <a:pPr algn="ctr"/>
            <a:r>
              <a:rPr lang="en-US" altLang="ko-KR" sz="500" dirty="0"/>
              <a:t>.</a:t>
            </a:r>
          </a:p>
          <a:p>
            <a:pPr algn="ctr"/>
            <a:r>
              <a:rPr lang="en-US" altLang="ko-KR" sz="500" dirty="0"/>
              <a:t>.</a:t>
            </a:r>
          </a:p>
          <a:p>
            <a:pPr algn="ctr"/>
            <a:endParaRPr lang="ko-KR" altLang="en-US" sz="500" dirty="0"/>
          </a:p>
        </p:txBody>
      </p:sp>
      <p:pic>
        <p:nvPicPr>
          <p:cNvPr id="147" name="그림 1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0" y="586795"/>
            <a:ext cx="9718899" cy="584232"/>
          </a:xfrm>
          <a:prstGeom prst="rect">
            <a:avLst/>
          </a:prstGeom>
        </p:spPr>
      </p:pic>
      <p:pic>
        <p:nvPicPr>
          <p:cNvPr id="148" name="그림 1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269" y="4533423"/>
            <a:ext cx="3999835" cy="2251593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2718478" y="1932885"/>
            <a:ext cx="22829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※ </a:t>
            </a:r>
            <a:r>
              <a:rPr lang="ko-KR" altLang="en-US" sz="800" dirty="0">
                <a:solidFill>
                  <a:srgbClr val="FF0000"/>
                </a:solidFill>
              </a:rPr>
              <a:t>재계약은 계약종료일 기준으로 산정합니다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1109165" y="4127420"/>
            <a:ext cx="8707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0B0F0"/>
                </a:solidFill>
              </a:rPr>
              <a:t>홍길동</a:t>
            </a:r>
            <a:r>
              <a:rPr lang="ko-KR" altLang="en-US" sz="1000" dirty="0"/>
              <a:t> 담당</a:t>
            </a:r>
          </a:p>
        </p:txBody>
      </p:sp>
    </p:spTree>
    <p:extLst>
      <p:ext uri="{BB962C8B-B14F-4D97-AF65-F5344CB8AC3E}">
        <p14:creationId xmlns:p14="http://schemas.microsoft.com/office/powerpoint/2010/main" val="21754054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 재계약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  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 재계약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CRM_03_005~006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29838" y="961194"/>
            <a:ext cx="65277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개인 재계약</a:t>
            </a:r>
            <a:r>
              <a:rPr lang="en-US" altLang="ko-KR" sz="1200" b="1" dirty="0"/>
              <a:t>  : 1) </a:t>
            </a:r>
            <a:r>
              <a:rPr lang="ko-KR" altLang="en-US" sz="1200" b="1" dirty="0"/>
              <a:t>회원관리 → </a:t>
            </a:r>
            <a:r>
              <a:rPr lang="en-US" altLang="ko-KR" sz="1200" b="1" dirty="0"/>
              <a:t>2) </a:t>
            </a:r>
            <a:r>
              <a:rPr lang="ko-KR" altLang="en-US" sz="1200" b="1" dirty="0"/>
              <a:t>하단 </a:t>
            </a:r>
            <a:r>
              <a:rPr lang="en-US" altLang="ko-KR" sz="1200" b="1" dirty="0"/>
              <a:t>[</a:t>
            </a:r>
            <a:r>
              <a:rPr lang="ko-KR" altLang="en-US" sz="1200" b="1" dirty="0"/>
              <a:t>계약이력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탭 → </a:t>
            </a:r>
            <a:r>
              <a:rPr lang="en-US" altLang="ko-KR" sz="1200" b="1" dirty="0"/>
              <a:t>[</a:t>
            </a:r>
            <a:r>
              <a:rPr lang="ko-KR" altLang="en-US" sz="1200" b="1" dirty="0"/>
              <a:t>개인계약 추가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버튼을 눌러서 처리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39" y="1238193"/>
            <a:ext cx="6670929" cy="399268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358770" y="4962504"/>
            <a:ext cx="489485" cy="115282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0" name="꺾인 연결선 9"/>
          <p:cNvCxnSpPr>
            <a:stCxn id="8" idx="0"/>
          </p:cNvCxnSpPr>
          <p:nvPr/>
        </p:nvCxnSpPr>
        <p:spPr>
          <a:xfrm rot="5400000" flipH="1" flipV="1">
            <a:off x="1865314" y="3857639"/>
            <a:ext cx="843064" cy="1366666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953340" y="591381"/>
            <a:ext cx="1907895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기존 계약 차수 자동 연동</a:t>
            </a:r>
            <a:endParaRPr lang="en-US" altLang="ko-KR" sz="11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pPr lvl="0"/>
            <a:r>
              <a:rPr lang="ko-KR" altLang="en-US" sz="800" dirty="0"/>
              <a:t>해당 회원의 기존 계약 정보에 입력된</a:t>
            </a:r>
            <a:endParaRPr lang="en-US" altLang="ko-KR" sz="800" dirty="0"/>
          </a:p>
          <a:p>
            <a:pPr lvl="0"/>
            <a:r>
              <a:rPr lang="ko-KR" altLang="en-US" sz="800" dirty="0"/>
              <a:t>세금계산서 정보 자동 인서트</a:t>
            </a:r>
            <a:endParaRPr lang="en-US" altLang="ko-KR" sz="800" dirty="0"/>
          </a:p>
          <a:p>
            <a:pPr lvl="0"/>
            <a:endParaRPr lang="en-US" altLang="ko-KR" sz="800" dirty="0"/>
          </a:p>
          <a:p>
            <a:pPr lvl="0"/>
            <a:r>
              <a:rPr lang="ko-KR" altLang="en-US" sz="800" dirty="0"/>
              <a:t>단</a:t>
            </a:r>
            <a:r>
              <a:rPr lang="en-US" altLang="ko-KR" sz="800" dirty="0"/>
              <a:t>, </a:t>
            </a:r>
            <a:r>
              <a:rPr lang="ko-KR" altLang="en-US" sz="800" dirty="0"/>
              <a:t>이 화면에서 수정 가능해야 함</a:t>
            </a:r>
            <a:endParaRPr lang="en-US" altLang="ko-KR" sz="800" dirty="0"/>
          </a:p>
          <a:p>
            <a:pPr lvl="0"/>
            <a:r>
              <a:rPr lang="en-US" altLang="ko-KR" sz="800" dirty="0"/>
              <a:t>(</a:t>
            </a:r>
            <a:r>
              <a:rPr lang="ko-KR" altLang="en-US" sz="800" dirty="0"/>
              <a:t>회사 정보로 업데이트 되지 않고</a:t>
            </a:r>
            <a:r>
              <a:rPr lang="en-US" altLang="ko-KR" sz="800" dirty="0"/>
              <a:t>,</a:t>
            </a:r>
          </a:p>
          <a:p>
            <a:pPr lvl="0"/>
            <a:r>
              <a:rPr lang="ko-KR" altLang="en-US" sz="800" dirty="0"/>
              <a:t>이번 계약차수의 정보로만 저장함</a:t>
            </a:r>
            <a:r>
              <a:rPr lang="en-US" altLang="ko-KR" sz="800" dirty="0"/>
              <a:t>)</a:t>
            </a:r>
            <a:endParaRPr lang="ko-KR" altLang="en-US" sz="800" dirty="0"/>
          </a:p>
          <a:p>
            <a:endParaRPr lang="en-US" altLang="ko-KR" sz="1000" b="1" dirty="0">
              <a:solidFill>
                <a:srgbClr val="00B0F0"/>
              </a:solidFill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0179" y="1387350"/>
            <a:ext cx="5913044" cy="4762462"/>
          </a:xfrm>
          <a:prstGeom prst="rect">
            <a:avLst/>
          </a:prstGeom>
        </p:spPr>
      </p:pic>
      <p:sp>
        <p:nvSpPr>
          <p:cNvPr id="28" name="직사각형 27"/>
          <p:cNvSpPr/>
          <p:nvPr/>
        </p:nvSpPr>
        <p:spPr>
          <a:xfrm>
            <a:off x="3087052" y="2446470"/>
            <a:ext cx="5745440" cy="359924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6933652" y="3344405"/>
            <a:ext cx="646406" cy="19273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600" dirty="0">
                <a:solidFill>
                  <a:schemeClr val="tx1"/>
                </a:solidFill>
              </a:rPr>
              <a:t>금액산정방법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1900" y="3677483"/>
            <a:ext cx="8739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[</a:t>
            </a:r>
            <a:r>
              <a:rPr lang="ko-KR" altLang="en-US" sz="800" b="1" dirty="0"/>
              <a:t>기준금액계산</a:t>
            </a:r>
            <a:r>
              <a:rPr lang="en-US" altLang="ko-KR" sz="800" b="1" dirty="0"/>
              <a:t>]</a:t>
            </a:r>
            <a:endParaRPr lang="ko-KR" altLang="en-US" sz="800" b="1" dirty="0"/>
          </a:p>
        </p:txBody>
      </p:sp>
      <p:sp>
        <p:nvSpPr>
          <p:cNvPr id="31" name="직사각형 30"/>
          <p:cNvSpPr/>
          <p:nvPr/>
        </p:nvSpPr>
        <p:spPr>
          <a:xfrm>
            <a:off x="4935254" y="5330781"/>
            <a:ext cx="700305" cy="19287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600" dirty="0">
                <a:solidFill>
                  <a:schemeClr val="tx1"/>
                </a:solidFill>
              </a:rPr>
              <a:t>매출 구분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4853664" y="2486795"/>
            <a:ext cx="163180" cy="146122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19957" y="5307746"/>
            <a:ext cx="12923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● </a:t>
            </a:r>
            <a:r>
              <a:rPr lang="ko-KR" altLang="en-US" sz="800" dirty="0" err="1"/>
              <a:t>실매출</a:t>
            </a:r>
            <a:r>
              <a:rPr lang="ko-KR" altLang="en-US" sz="800" dirty="0"/>
              <a:t>   ○ 배분매출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89494" y="4683191"/>
            <a:ext cx="771365" cy="2154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◎ 매출 관리</a:t>
            </a:r>
          </a:p>
        </p:txBody>
      </p:sp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129618"/>
              </p:ext>
            </p:extLst>
          </p:nvPr>
        </p:nvGraphicFramePr>
        <p:xfrm>
          <a:off x="6954651" y="3559027"/>
          <a:ext cx="1872826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6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95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산정 사유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" name="직사각형 42"/>
          <p:cNvSpPr/>
          <p:nvPr/>
        </p:nvSpPr>
        <p:spPr>
          <a:xfrm>
            <a:off x="7573197" y="3325752"/>
            <a:ext cx="1128785" cy="1840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t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선택        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7621659" y="3586666"/>
            <a:ext cx="1080324" cy="18572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46" name="표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939157"/>
              </p:ext>
            </p:extLst>
          </p:nvPr>
        </p:nvGraphicFramePr>
        <p:xfrm>
          <a:off x="3051769" y="4917506"/>
          <a:ext cx="4402419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5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60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매출 승인</a:t>
                      </a:r>
                      <a:endParaRPr lang="ko-KR" altLang="en-US" sz="7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/>
                        <a:t>                       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결재 상신되며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완료 시 </a:t>
                      </a:r>
                      <a:r>
                        <a:rPr lang="en-US" altLang="ko-KR" sz="800" dirty="0"/>
                        <a:t>MIS </a:t>
                      </a:r>
                      <a:r>
                        <a:rPr lang="ko-KR" altLang="en-US" sz="800" dirty="0"/>
                        <a:t>정산에 연동됩니다</a:t>
                      </a:r>
                      <a:r>
                        <a:rPr lang="en-US" altLang="ko-KR" sz="800" dirty="0"/>
                        <a:t>.)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" name="모서리가 둥근 직사각형 46"/>
          <p:cNvSpPr/>
          <p:nvPr/>
        </p:nvSpPr>
        <p:spPr>
          <a:xfrm>
            <a:off x="3788526" y="4941319"/>
            <a:ext cx="721927" cy="16573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승인 요청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 rot="20547490">
            <a:off x="4049662" y="3771824"/>
            <a:ext cx="3256474" cy="54091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 신규 계약 내용과 동일함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16844" y="365861"/>
            <a:ext cx="4515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Q. </a:t>
            </a:r>
            <a:r>
              <a:rPr lang="ko-KR" altLang="en-US" sz="1200" dirty="0">
                <a:solidFill>
                  <a:srgbClr val="FF0000"/>
                </a:solidFill>
              </a:rPr>
              <a:t>재계약 시 세금계산서 담당자 정보</a:t>
            </a:r>
            <a:r>
              <a:rPr lang="en-US" altLang="ko-KR" sz="1200" dirty="0">
                <a:solidFill>
                  <a:srgbClr val="FF0000"/>
                </a:solidFill>
              </a:rPr>
              <a:t>,  </a:t>
            </a:r>
            <a:r>
              <a:rPr lang="ko-KR" altLang="en-US" sz="1200" dirty="0">
                <a:solidFill>
                  <a:srgbClr val="FF0000"/>
                </a:solidFill>
              </a:rPr>
              <a:t>기존 차수 정보로 </a:t>
            </a:r>
            <a:r>
              <a:rPr lang="ko-KR" altLang="en-US" sz="1200" dirty="0" err="1">
                <a:solidFill>
                  <a:srgbClr val="FF0000"/>
                </a:solidFill>
              </a:rPr>
              <a:t>세팅</a:t>
            </a:r>
            <a:r>
              <a:rPr lang="en-US" altLang="ko-KR" sz="1200" dirty="0">
                <a:solidFill>
                  <a:srgbClr val="FF0000"/>
                </a:solidFill>
              </a:rPr>
              <a:t>?</a:t>
            </a:r>
          </a:p>
          <a:p>
            <a:r>
              <a:rPr lang="en-US" altLang="ko-KR" sz="1200" dirty="0">
                <a:solidFill>
                  <a:srgbClr val="FF0000"/>
                </a:solidFill>
              </a:rPr>
              <a:t>   </a:t>
            </a:r>
            <a:r>
              <a:rPr lang="ko-KR" altLang="en-US" sz="1200" dirty="0">
                <a:solidFill>
                  <a:srgbClr val="FF0000"/>
                </a:solidFill>
              </a:rPr>
              <a:t>회사 정보로 </a:t>
            </a:r>
            <a:r>
              <a:rPr lang="ko-KR" altLang="en-US" sz="1200" dirty="0" err="1">
                <a:solidFill>
                  <a:srgbClr val="FF0000"/>
                </a:solidFill>
              </a:rPr>
              <a:t>세팅</a:t>
            </a:r>
            <a:r>
              <a:rPr lang="en-US" altLang="ko-KR" sz="1200" dirty="0">
                <a:solidFill>
                  <a:srgbClr val="FF0000"/>
                </a:solidFill>
              </a:rPr>
              <a:t>?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9097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4" y="967377"/>
            <a:ext cx="9276648" cy="496001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 재계약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  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 재계약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CRM_03_005~006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53340" y="591381"/>
            <a:ext cx="2177199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법인 계약차수 추가 시 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00B0F0"/>
                </a:solidFill>
              </a:rPr>
              <a:t>회사 담당자 정보 자동 연동</a:t>
            </a:r>
            <a:endParaRPr lang="en-US" altLang="ko-KR" sz="11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pPr lvl="0"/>
            <a:r>
              <a:rPr lang="ko-KR" altLang="en-US" sz="800" dirty="0"/>
              <a:t>회사 정보에서 자동 연동</a:t>
            </a:r>
            <a:endParaRPr lang="en-US" altLang="ko-KR" sz="800" dirty="0"/>
          </a:p>
          <a:p>
            <a:pPr lvl="0"/>
            <a:endParaRPr lang="en-US" altLang="ko-KR" sz="800" b="1" dirty="0">
              <a:solidFill>
                <a:srgbClr val="00B0F0"/>
              </a:solidFill>
            </a:endParaRPr>
          </a:p>
          <a:p>
            <a:pPr lvl="0"/>
            <a:r>
              <a:rPr lang="ko-KR" altLang="en-US" sz="800" b="1" dirty="0">
                <a:solidFill>
                  <a:srgbClr val="00B0F0"/>
                </a:solidFill>
              </a:rPr>
              <a:t>단</a:t>
            </a:r>
            <a:r>
              <a:rPr lang="en-US" altLang="ko-KR" sz="800" b="1" dirty="0">
                <a:solidFill>
                  <a:srgbClr val="00B0F0"/>
                </a:solidFill>
              </a:rPr>
              <a:t>, </a:t>
            </a:r>
            <a:r>
              <a:rPr lang="ko-KR" altLang="en-US" sz="800" b="1" dirty="0">
                <a:solidFill>
                  <a:srgbClr val="00B0F0"/>
                </a:solidFill>
              </a:rPr>
              <a:t>해당 차수 정보에서 직접 수정 가능하며</a:t>
            </a:r>
            <a:endParaRPr lang="en-US" altLang="ko-KR" sz="800" b="1" dirty="0">
              <a:solidFill>
                <a:srgbClr val="00B0F0"/>
              </a:solidFill>
            </a:endParaRPr>
          </a:p>
          <a:p>
            <a:pPr lvl="0"/>
            <a:r>
              <a:rPr lang="ko-KR" altLang="en-US" sz="800" b="1" dirty="0">
                <a:solidFill>
                  <a:srgbClr val="00B0F0"/>
                </a:solidFill>
              </a:rPr>
              <a:t>차수에서 수정한 회사 담당자 정보는</a:t>
            </a:r>
            <a:endParaRPr lang="en-US" altLang="ko-KR" sz="800" b="1" dirty="0">
              <a:solidFill>
                <a:srgbClr val="00B0F0"/>
              </a:solidFill>
            </a:endParaRPr>
          </a:p>
          <a:p>
            <a:pPr lvl="0"/>
            <a:r>
              <a:rPr lang="ko-KR" altLang="en-US" sz="800" b="1" dirty="0">
                <a:solidFill>
                  <a:srgbClr val="00B0F0"/>
                </a:solidFill>
              </a:rPr>
              <a:t>회사정보로 업데이트 되지 않음</a:t>
            </a:r>
            <a:endParaRPr lang="en-US" altLang="ko-KR" sz="800" b="1" dirty="0">
              <a:solidFill>
                <a:srgbClr val="00B0F0"/>
              </a:solidFill>
            </a:endParaRPr>
          </a:p>
          <a:p>
            <a:pPr lvl="0"/>
            <a:endParaRPr lang="en-US" altLang="ko-KR" sz="800" b="1" dirty="0">
              <a:solidFill>
                <a:srgbClr val="00B0F0"/>
              </a:solidFill>
            </a:endParaRPr>
          </a:p>
          <a:p>
            <a:pPr lvl="0"/>
            <a:r>
              <a:rPr lang="en-US" altLang="ko-KR" sz="800" b="1" dirty="0">
                <a:solidFill>
                  <a:srgbClr val="00B0F0"/>
                </a:solidFill>
              </a:rPr>
              <a:t>(</a:t>
            </a:r>
            <a:r>
              <a:rPr lang="ko-KR" altLang="en-US" sz="800" b="1" dirty="0">
                <a:solidFill>
                  <a:srgbClr val="00B0F0"/>
                </a:solidFill>
              </a:rPr>
              <a:t>차수에서 별도로 저장</a:t>
            </a:r>
            <a:r>
              <a:rPr lang="en-US" altLang="ko-KR" sz="800" b="1" dirty="0">
                <a:solidFill>
                  <a:srgbClr val="00B0F0"/>
                </a:solidFill>
              </a:rPr>
              <a:t>)</a:t>
            </a:r>
          </a:p>
          <a:p>
            <a:pPr lvl="0"/>
            <a:endParaRPr lang="en-US" altLang="ko-KR" sz="1000" b="1" dirty="0">
              <a:solidFill>
                <a:srgbClr val="00B0F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122063" y="3356042"/>
            <a:ext cx="8330438" cy="359924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401578" y="3216613"/>
            <a:ext cx="6050923" cy="142570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958718" y="3293923"/>
            <a:ext cx="163180" cy="146122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534445" y="5124915"/>
            <a:ext cx="700305" cy="19287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600" dirty="0">
                <a:solidFill>
                  <a:schemeClr val="tx1"/>
                </a:solidFill>
              </a:rPr>
              <a:t>매출 구분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9148" y="5101880"/>
            <a:ext cx="12923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● </a:t>
            </a:r>
            <a:r>
              <a:rPr lang="ko-KR" altLang="en-US" sz="800" dirty="0" err="1"/>
              <a:t>실매출</a:t>
            </a:r>
            <a:r>
              <a:rPr lang="ko-KR" altLang="en-US" sz="800" dirty="0"/>
              <a:t>   ○ 배분매출</a:t>
            </a:r>
          </a:p>
        </p:txBody>
      </p:sp>
      <p:sp>
        <p:nvSpPr>
          <p:cNvPr id="11" name="직사각형 10"/>
          <p:cNvSpPr/>
          <p:nvPr/>
        </p:nvSpPr>
        <p:spPr>
          <a:xfrm rot="20547490">
            <a:off x="2783571" y="4275301"/>
            <a:ext cx="3256474" cy="54091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 신규 계약 내용과 동일함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3226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54" y="1564109"/>
            <a:ext cx="5143156" cy="3462598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 재계약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CRM_03_007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71472" y="712145"/>
            <a:ext cx="64235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기존 계약기간이 존재하는 회원을 대상으로 계약기간이 겹치는 신규 차수를 등록하면 </a:t>
            </a:r>
            <a:r>
              <a:rPr lang="ko-KR" altLang="en-US" sz="1200" dirty="0" err="1"/>
              <a:t>알럿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868859" y="3625644"/>
            <a:ext cx="505984" cy="169342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9" name="꺾인 연결선 8"/>
          <p:cNvCxnSpPr>
            <a:stCxn id="7" idx="0"/>
          </p:cNvCxnSpPr>
          <p:nvPr/>
        </p:nvCxnSpPr>
        <p:spPr>
          <a:xfrm rot="5400000" flipH="1" flipV="1">
            <a:off x="1190345" y="2987190"/>
            <a:ext cx="569960" cy="706949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2172938" y="2764406"/>
            <a:ext cx="1367929" cy="195120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123233" y="4627592"/>
            <a:ext cx="382621" cy="184599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410222" y="3897550"/>
            <a:ext cx="3142340" cy="141375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OOO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회원에 대한 계약기간이 </a:t>
            </a:r>
            <a:endParaRPr lang="en-US" altLang="ko-K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중복되는 정보가 존재합니다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algn="ctr"/>
            <a:endParaRPr lang="en-US" altLang="ko-K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계약 정보를 확인하세요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7718134" y="5026707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확인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/>
          <p:cNvCxnSpPr>
            <a:stCxn id="11" idx="3"/>
          </p:cNvCxnSpPr>
          <p:nvPr/>
        </p:nvCxnSpPr>
        <p:spPr>
          <a:xfrm flipV="1">
            <a:off x="5505854" y="4719891"/>
            <a:ext cx="904367" cy="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 rot="20547490">
            <a:off x="2142094" y="3242582"/>
            <a:ext cx="3256474" cy="54091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 재계약 내용과 동일함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8931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298625"/>
              </p:ext>
            </p:extLst>
          </p:nvPr>
        </p:nvGraphicFramePr>
        <p:xfrm>
          <a:off x="1807724" y="2929647"/>
          <a:ext cx="7162800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CRM_03_008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이전 계약 중 미완료 계약 차수를 조회</a:t>
                      </a:r>
                      <a:r>
                        <a:rPr lang="en-US" altLang="ko-KR" sz="1000" u="none" strike="noStrike">
                          <a:effectLst/>
                        </a:rPr>
                        <a:t>, </a:t>
                      </a:r>
                      <a:r>
                        <a:rPr lang="ko-KR" altLang="en-US" sz="1000" u="none" strike="noStrike">
                          <a:effectLst/>
                        </a:rPr>
                        <a:t>다운로드함 </a:t>
                      </a:r>
                      <a:r>
                        <a:rPr lang="en-US" altLang="ko-KR" sz="1000" u="none" strike="noStrike">
                          <a:effectLst/>
                        </a:rPr>
                        <a:t>(</a:t>
                      </a:r>
                      <a:r>
                        <a:rPr lang="ko-KR" altLang="en-US" sz="1000" u="none" strike="noStrike">
                          <a:effectLst/>
                        </a:rPr>
                        <a:t>메인 페이지에서 제공</a:t>
                      </a:r>
                      <a:r>
                        <a:rPr lang="en-US" altLang="ko-KR" sz="1000" u="none" strike="noStrike">
                          <a:effectLst/>
                        </a:rPr>
                        <a:t>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CRM_03_009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</a:rPr>
                        <a:t>이전 계약 중 미완료 계약 차수를 빨간 폰트 등으로 강조해서 눈에 잘 띄게 함 </a:t>
                      </a:r>
                      <a:r>
                        <a:rPr lang="en-US" altLang="ko-KR" sz="1000" u="none" strike="noStrike" dirty="0">
                          <a:effectLst/>
                        </a:rPr>
                        <a:t>(</a:t>
                      </a:r>
                      <a:r>
                        <a:rPr lang="ko-KR" altLang="en-US" sz="1000" u="none" strike="noStrike" dirty="0">
                          <a:effectLst/>
                        </a:rPr>
                        <a:t>메인 페이지에서 제공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81723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48" y="970906"/>
            <a:ext cx="6670929" cy="39926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5438" y="693907"/>
            <a:ext cx="65918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개인 계약  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승계</a:t>
            </a:r>
            <a:r>
              <a:rPr lang="en-US" altLang="ko-KR" sz="1200" b="1" dirty="0"/>
              <a:t>)   : 1) </a:t>
            </a:r>
            <a:r>
              <a:rPr lang="ko-KR" altLang="en-US" sz="1200" b="1" dirty="0"/>
              <a:t>회원관리 → </a:t>
            </a:r>
            <a:r>
              <a:rPr lang="en-US" altLang="ko-KR" sz="1200" b="1" dirty="0"/>
              <a:t>2) </a:t>
            </a:r>
            <a:r>
              <a:rPr lang="ko-KR" altLang="en-US" sz="1200" b="1" dirty="0"/>
              <a:t>하단 </a:t>
            </a:r>
            <a:r>
              <a:rPr lang="en-US" altLang="ko-KR" sz="1200" b="1" dirty="0"/>
              <a:t>[</a:t>
            </a:r>
            <a:r>
              <a:rPr lang="ko-KR" altLang="en-US" sz="1200" b="1" dirty="0"/>
              <a:t>계약이력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탭 → </a:t>
            </a:r>
            <a:r>
              <a:rPr lang="en-US" altLang="ko-KR" sz="1200" b="1" dirty="0"/>
              <a:t>[</a:t>
            </a:r>
            <a:r>
              <a:rPr lang="ko-KR" altLang="en-US" sz="1200" b="1" dirty="0"/>
              <a:t>승계관리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버튼을 눌러서 처리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671384" y="3684668"/>
            <a:ext cx="1407268" cy="42801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승계관리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17280" y="4683844"/>
            <a:ext cx="266035" cy="90322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8" name="꺾인 연결선 7"/>
          <p:cNvCxnSpPr>
            <a:stCxn id="6" idx="0"/>
            <a:endCxn id="5" idx="1"/>
          </p:cNvCxnSpPr>
          <p:nvPr/>
        </p:nvCxnSpPr>
        <p:spPr>
          <a:xfrm rot="5400000" flipH="1" flipV="1">
            <a:off x="1118258" y="4130718"/>
            <a:ext cx="785167" cy="321086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669" y="4053131"/>
            <a:ext cx="5162646" cy="2645748"/>
          </a:xfrm>
          <a:prstGeom prst="rect">
            <a:avLst/>
          </a:prstGeom>
        </p:spPr>
      </p:pic>
      <p:grpSp>
        <p:nvGrpSpPr>
          <p:cNvPr id="23" name="그룹 22"/>
          <p:cNvGrpSpPr/>
          <p:nvPr/>
        </p:nvGrpSpPr>
        <p:grpSpPr>
          <a:xfrm>
            <a:off x="3280669" y="1635560"/>
            <a:ext cx="4426638" cy="2016845"/>
            <a:chOff x="7278979" y="1368381"/>
            <a:chExt cx="4426638" cy="2016845"/>
          </a:xfrm>
        </p:grpSpPr>
        <p:sp>
          <p:nvSpPr>
            <p:cNvPr id="13" name="직사각형 12"/>
            <p:cNvSpPr/>
            <p:nvPr/>
          </p:nvSpPr>
          <p:spPr>
            <a:xfrm>
              <a:off x="7278979" y="1368381"/>
              <a:ext cx="4426638" cy="201684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7278979" y="1368381"/>
              <a:ext cx="4426638" cy="132189"/>
            </a:xfrm>
            <a:prstGeom prst="rect">
              <a:avLst/>
            </a:prstGeom>
            <a:solidFill>
              <a:schemeClr val="tx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>
                  <a:solidFill>
                    <a:schemeClr val="bg1"/>
                  </a:solidFill>
                </a:rPr>
                <a:t>정보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907988"/>
              </p:ext>
            </p:extLst>
          </p:nvPr>
        </p:nvGraphicFramePr>
        <p:xfrm>
          <a:off x="3385998" y="2394119"/>
          <a:ext cx="4237002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6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기존 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홍길동 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(ID</a:t>
                      </a:r>
                      <a:r>
                        <a:rPr lang="en-US" altLang="ko-KR" sz="8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: test3)</a:t>
                      </a:r>
                      <a:endParaRPr lang="ko-KR" alt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승계 받을 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승계 사유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80669" y="1870947"/>
            <a:ext cx="37978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해당 회원의 계약 정보를 승계 받을 회원에게 이관합니다</a:t>
            </a:r>
            <a:r>
              <a:rPr lang="en-US" altLang="ko-KR" sz="800" dirty="0"/>
              <a:t>.</a:t>
            </a:r>
          </a:p>
          <a:p>
            <a:r>
              <a:rPr lang="ko-KR" altLang="en-US" sz="800" dirty="0"/>
              <a:t>처리 완료되면 기존 회원의 서비스 사용여부와 계약정보 동시에 </a:t>
            </a:r>
            <a:r>
              <a:rPr lang="en-US" altLang="ko-KR" sz="800" dirty="0"/>
              <a:t>N </a:t>
            </a:r>
            <a:r>
              <a:rPr lang="ko-KR" altLang="en-US" sz="800" dirty="0"/>
              <a:t>처리됩니다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6551989" y="3331729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저장</a:t>
            </a: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129648" y="3327151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닫기</a:t>
            </a:r>
          </a:p>
        </p:txBody>
      </p:sp>
      <p:cxnSp>
        <p:nvCxnSpPr>
          <p:cNvPr id="27" name="꺾인 연결선 26"/>
          <p:cNvCxnSpPr>
            <a:stCxn id="5" idx="0"/>
          </p:cNvCxnSpPr>
          <p:nvPr/>
        </p:nvCxnSpPr>
        <p:spPr>
          <a:xfrm rot="5400000" flipH="1" flipV="1">
            <a:off x="2392777" y="2796777"/>
            <a:ext cx="870132" cy="905651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 rot="20547490">
            <a:off x="4206320" y="3713214"/>
            <a:ext cx="2126053" cy="2791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SAMPLE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179586" y="5136261"/>
            <a:ext cx="2126053" cy="279143"/>
          </a:xfrm>
          <a:prstGeom prst="rect">
            <a:avLst/>
          </a:prstGeom>
          <a:solidFill>
            <a:schemeClr val="bg1"/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참고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기존 화면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 재계약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 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 계약 승계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CRM_03_010~011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53340" y="591381"/>
            <a:ext cx="2505814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승계관리 버튼 추가</a:t>
            </a:r>
            <a:endParaRPr lang="en-US" altLang="ko-KR" sz="11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pPr lvl="0"/>
            <a:r>
              <a:rPr lang="ko-KR" altLang="en-US" sz="800" dirty="0"/>
              <a:t>회원관리 </a:t>
            </a:r>
            <a:r>
              <a:rPr lang="en-US" altLang="ko-KR" sz="800" dirty="0"/>
              <a:t>&gt; </a:t>
            </a:r>
            <a:r>
              <a:rPr lang="ko-KR" altLang="en-US" sz="800" dirty="0"/>
              <a:t>하단 </a:t>
            </a:r>
            <a:r>
              <a:rPr lang="en-US" altLang="ko-KR" sz="800" dirty="0"/>
              <a:t>[</a:t>
            </a:r>
            <a:r>
              <a:rPr lang="ko-KR" altLang="en-US" sz="800" dirty="0"/>
              <a:t>계약 이력</a:t>
            </a:r>
            <a:r>
              <a:rPr lang="en-US" altLang="ko-KR" sz="800" dirty="0"/>
              <a:t>] </a:t>
            </a:r>
            <a:r>
              <a:rPr lang="ko-KR" altLang="en-US" sz="800" dirty="0"/>
              <a:t>탭에</a:t>
            </a:r>
            <a:endParaRPr lang="en-US" altLang="ko-KR" sz="800" dirty="0"/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</a:t>
            </a:r>
            <a:r>
              <a:rPr lang="ko-KR" altLang="en-US" sz="1000" b="1" dirty="0">
                <a:solidFill>
                  <a:srgbClr val="00B0F0"/>
                </a:solidFill>
              </a:rPr>
              <a:t>승계관리</a:t>
            </a:r>
            <a:r>
              <a:rPr lang="en-US" altLang="ko-KR" sz="1000" b="1" dirty="0">
                <a:solidFill>
                  <a:srgbClr val="00B0F0"/>
                </a:solidFill>
              </a:rPr>
              <a:t>] </a:t>
            </a:r>
            <a:r>
              <a:rPr lang="ko-KR" altLang="en-US" sz="1000" b="1" dirty="0">
                <a:solidFill>
                  <a:srgbClr val="00B0F0"/>
                </a:solidFill>
              </a:rPr>
              <a:t>버튼 추가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r>
              <a:rPr lang="ko-KR" altLang="en-US" sz="1000" b="1" dirty="0">
                <a:solidFill>
                  <a:srgbClr val="00B0F0"/>
                </a:solidFill>
              </a:rPr>
              <a:t>승계 처리 완료 시 재계약 완료로 처리함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재계약 데이터 반영 필수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endParaRPr lang="en-US" altLang="ko-KR" sz="1000" b="1" dirty="0">
              <a:solidFill>
                <a:srgbClr val="00B0F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9951598" y="1929329"/>
            <a:ext cx="253165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rgbClr val="000000"/>
                </a:solidFill>
                <a:latin typeface="맑은 고딕" panose="020B0503020000020004" pitchFamily="50" charset="-127"/>
              </a:rPr>
              <a:t>승계 처리 시</a:t>
            </a:r>
            <a:r>
              <a: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계약구분값</a:t>
            </a:r>
            <a:r>
              <a:rPr lang="ko-KR" altLang="en-US" sz="900" dirty="0">
                <a:solidFill>
                  <a:srgbClr val="000000"/>
                </a:solidFill>
                <a:latin typeface="맑은 고딕" panose="020B0503020000020004" pitchFamily="50" charset="-127"/>
              </a:rPr>
              <a:t> 처리 방법</a:t>
            </a:r>
            <a:endParaRPr lang="en-US" altLang="ko-KR" sz="90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endParaRPr lang="en-US" altLang="ko-KR" sz="90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marL="342900" indent="-342900">
              <a:buAutoNum type="arabicParenR"/>
            </a:pPr>
            <a:r>
              <a:rPr lang="ko-KR" altLang="en-US" sz="900" dirty="0">
                <a:solidFill>
                  <a:srgbClr val="000000"/>
                </a:solidFill>
                <a:latin typeface="맑은 고딕" panose="020B0503020000020004" pitchFamily="50" charset="-127"/>
              </a:rPr>
              <a:t>넘겨준 사람 </a:t>
            </a:r>
            <a:r>
              <a: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900" dirty="0">
                <a:solidFill>
                  <a:srgbClr val="000000"/>
                </a:solidFill>
                <a:latin typeface="맑은 고딕" panose="020B0503020000020004" pitchFamily="50" charset="-127"/>
              </a:rPr>
              <a:t>교체 탈퇴  </a:t>
            </a:r>
            <a:endParaRPr lang="en-US" altLang="ko-KR" sz="90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marL="342900" indent="-342900">
              <a:buAutoNum type="arabicParenR"/>
            </a:pPr>
            <a:r>
              <a:rPr lang="ko-KR" altLang="en-US" sz="900" dirty="0">
                <a:solidFill>
                  <a:srgbClr val="000000"/>
                </a:solidFill>
                <a:latin typeface="맑은 고딕" panose="020B0503020000020004" pitchFamily="50" charset="-127"/>
              </a:rPr>
              <a:t>받은 사람 </a:t>
            </a:r>
            <a:r>
              <a: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900" dirty="0">
                <a:solidFill>
                  <a:srgbClr val="000000"/>
                </a:solidFill>
                <a:latin typeface="맑은 고딕" panose="020B0503020000020004" pitchFamily="50" charset="-127"/>
              </a:rPr>
              <a:t>신규교체</a:t>
            </a:r>
            <a:r>
              <a: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    (2</a:t>
            </a:r>
            <a:r>
              <a:rPr lang="ko-KR" altLang="en-US" sz="9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년차부터는</a:t>
            </a:r>
            <a:r>
              <a: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dirty="0">
                <a:solidFill>
                  <a:srgbClr val="000000"/>
                </a:solidFill>
                <a:latin typeface="맑은 고딕" panose="020B0503020000020004" pitchFamily="50" charset="-127"/>
              </a:rPr>
              <a:t>재가입교체</a:t>
            </a:r>
            <a:r>
              <a:rPr lang="ko-KR" altLang="en-US" sz="900" dirty="0"/>
              <a:t> 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9913674" y="3055361"/>
            <a:ext cx="233516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계약구분값에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</a:rPr>
              <a:t>&lt;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</a:rPr>
              <a:t>교체탈퇴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</a:rPr>
              <a:t>추가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</a:rPr>
              <a:t>. </a:t>
            </a:r>
          </a:p>
          <a:p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</a:rPr>
              <a:t>단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</a:rPr>
              <a:t>교체탈퇴는 탈퇴 </a:t>
            </a:r>
            <a:r>
              <a:rPr lang="ko-KR" altLang="en-US" sz="80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회원수에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</a:rPr>
              <a:t> 포함되면 안 됨</a:t>
            </a:r>
            <a:endParaRPr lang="en-US" altLang="ko-KR" sz="800" dirty="0">
              <a:solidFill>
                <a:srgbClr val="FF0000"/>
              </a:solidFill>
              <a:latin typeface="맑은 고딕" panose="020B0503020000020004" pitchFamily="50" charset="-127"/>
            </a:endParaRPr>
          </a:p>
          <a:p>
            <a:endParaRPr lang="en-US" altLang="ko-KR" sz="800" dirty="0">
              <a:solidFill>
                <a:srgbClr val="FF0000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추가 필요 </a:t>
            </a:r>
            <a:r>
              <a:rPr lang="en-US" altLang="ko-KR" sz="8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교체탈퇴 리스트 조회 화면</a:t>
            </a:r>
            <a:r>
              <a:rPr lang="en-US" altLang="ko-KR" sz="8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800" b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691485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 재계약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 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 계약 승계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CRM_03_010~011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15" y="742795"/>
            <a:ext cx="8125943" cy="3231369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3747521" y="1298772"/>
            <a:ext cx="1693483" cy="199288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811" y="2983564"/>
            <a:ext cx="5057775" cy="99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97065" y="628549"/>
            <a:ext cx="217719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메뉴 통합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/>
              <a:t> 1) </a:t>
            </a:r>
            <a:r>
              <a:rPr lang="ko-KR" altLang="en-US" sz="800" dirty="0"/>
              <a:t>회원 </a:t>
            </a:r>
            <a:r>
              <a:rPr lang="en-US" altLang="ko-KR" sz="800" dirty="0"/>
              <a:t>&gt; </a:t>
            </a:r>
            <a:r>
              <a:rPr lang="ko-KR" altLang="en-US" sz="800" dirty="0"/>
              <a:t>회원관리 </a:t>
            </a:r>
            <a:r>
              <a:rPr lang="en-US" altLang="ko-KR" sz="800" dirty="0"/>
              <a:t>&gt; </a:t>
            </a:r>
            <a:r>
              <a:rPr lang="ko-KR" altLang="en-US" sz="800" dirty="0"/>
              <a:t>일괄탈퇴</a:t>
            </a:r>
            <a:endParaRPr lang="en-US" altLang="ko-KR" sz="800" dirty="0"/>
          </a:p>
          <a:p>
            <a:r>
              <a:rPr lang="en-US" altLang="ko-KR" sz="800" dirty="0"/>
              <a:t> 2) </a:t>
            </a:r>
            <a:r>
              <a:rPr lang="ko-KR" altLang="en-US" sz="800" dirty="0"/>
              <a:t>계약 </a:t>
            </a:r>
            <a:r>
              <a:rPr lang="en-US" altLang="ko-KR" sz="800" dirty="0"/>
              <a:t>&gt; </a:t>
            </a:r>
            <a:r>
              <a:rPr lang="ko-KR" altLang="en-US" sz="800" dirty="0"/>
              <a:t>법인계약 </a:t>
            </a:r>
            <a:r>
              <a:rPr lang="en-US" altLang="ko-KR" sz="800" dirty="0"/>
              <a:t>&gt; </a:t>
            </a:r>
            <a:r>
              <a:rPr lang="ko-KR" altLang="en-US" sz="800" dirty="0"/>
              <a:t>승계처리대량업로드</a:t>
            </a:r>
            <a:endParaRPr lang="en-US" altLang="ko-KR" sz="800" dirty="0"/>
          </a:p>
          <a:p>
            <a:r>
              <a:rPr lang="en-US" altLang="ko-KR" sz="800" dirty="0"/>
              <a:t> </a:t>
            </a:r>
            <a:r>
              <a:rPr lang="ko-KR" altLang="en-US" sz="800" dirty="0"/>
              <a:t>→ </a:t>
            </a:r>
            <a:r>
              <a:rPr lang="en-US" altLang="ko-KR" sz="800" dirty="0"/>
              <a:t>2</a:t>
            </a:r>
            <a:r>
              <a:rPr lang="ko-KR" altLang="en-US" sz="800" dirty="0"/>
              <a:t>개 메뉴를 통합 운영 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 err="1"/>
              <a:t>네이밍</a:t>
            </a:r>
            <a:r>
              <a:rPr lang="ko-KR" altLang="en-US" sz="800" dirty="0"/>
              <a:t> </a:t>
            </a:r>
            <a:r>
              <a:rPr lang="en-US" altLang="ko-KR" sz="800" dirty="0"/>
              <a:t>: </a:t>
            </a:r>
            <a:r>
              <a:rPr lang="ko-KR" altLang="en-US" sz="800" b="1" dirty="0"/>
              <a:t>승계</a:t>
            </a:r>
            <a:r>
              <a:rPr lang="en-US" altLang="ko-KR" sz="800" b="1" dirty="0"/>
              <a:t>/</a:t>
            </a:r>
            <a:r>
              <a:rPr lang="ko-KR" altLang="en-US" sz="800" b="1" dirty="0"/>
              <a:t>탈퇴 대량 업로드</a:t>
            </a:r>
            <a:endParaRPr lang="en-US" altLang="ko-KR" sz="800" b="1" dirty="0"/>
          </a:p>
          <a:p>
            <a:r>
              <a:rPr lang="en-US" altLang="ko-KR" sz="800" dirty="0"/>
              <a:t>   (</a:t>
            </a:r>
            <a:r>
              <a:rPr lang="ko-KR" altLang="en-US" sz="800" dirty="0"/>
              <a:t>법인계약 메뉴로 운영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※ (</a:t>
            </a:r>
            <a:r>
              <a:rPr lang="ko-KR" altLang="en-US" sz="800" dirty="0" err="1"/>
              <a:t>단건</a:t>
            </a:r>
            <a:r>
              <a:rPr lang="en-US" altLang="ko-KR" sz="800" dirty="0"/>
              <a:t>) </a:t>
            </a:r>
            <a:r>
              <a:rPr lang="ko-KR" altLang="en-US" sz="800" dirty="0"/>
              <a:t>승계관리는 </a:t>
            </a:r>
            <a:endParaRPr lang="en-US" altLang="ko-KR" sz="800" dirty="0"/>
          </a:p>
          <a:p>
            <a:r>
              <a:rPr lang="en-US" altLang="ko-KR" sz="800" dirty="0"/>
              <a:t>  </a:t>
            </a:r>
            <a:r>
              <a:rPr lang="ko-KR" altLang="en-US" sz="800" dirty="0"/>
              <a:t>회원관리 </a:t>
            </a:r>
            <a:r>
              <a:rPr lang="en-US" altLang="ko-KR" sz="800" dirty="0"/>
              <a:t>&gt; </a:t>
            </a:r>
            <a:r>
              <a:rPr lang="ko-KR" altLang="en-US" sz="800" dirty="0" err="1"/>
              <a:t>회원별</a:t>
            </a:r>
            <a:r>
              <a:rPr lang="ko-KR" altLang="en-US" sz="800" dirty="0"/>
              <a:t> 상세 화면 하단 </a:t>
            </a:r>
            <a:r>
              <a:rPr lang="en-US" altLang="ko-KR" sz="800" dirty="0"/>
              <a:t>&gt;</a:t>
            </a:r>
          </a:p>
          <a:p>
            <a:r>
              <a:rPr lang="en-US" altLang="ko-KR" sz="800" dirty="0"/>
              <a:t>  “</a:t>
            </a:r>
            <a:r>
              <a:rPr lang="ko-KR" altLang="en-US" sz="800" dirty="0"/>
              <a:t>승계처리</a:t>
            </a:r>
            <a:r>
              <a:rPr lang="en-US" altLang="ko-KR" sz="800" dirty="0"/>
              <a:t>“ </a:t>
            </a:r>
            <a:r>
              <a:rPr lang="ko-KR" altLang="en-US" sz="800" dirty="0"/>
              <a:t>메뉴로 처리함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서식 변경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기존 </a:t>
            </a:r>
            <a:r>
              <a:rPr lang="en-US" altLang="ko-KR" sz="800" dirty="0"/>
              <a:t>ID / </a:t>
            </a:r>
            <a:r>
              <a:rPr lang="ko-KR" altLang="en-US" sz="800" dirty="0"/>
              <a:t>교체가입 </a:t>
            </a:r>
            <a:r>
              <a:rPr lang="en-US" altLang="ko-KR" sz="800" dirty="0"/>
              <a:t>ID / </a:t>
            </a:r>
            <a:r>
              <a:rPr lang="ko-KR" altLang="en-US" sz="800" dirty="0"/>
              <a:t>법인번호 </a:t>
            </a:r>
            <a:r>
              <a:rPr lang="en-US" altLang="ko-KR" sz="800" dirty="0"/>
              <a:t>/ </a:t>
            </a:r>
            <a:r>
              <a:rPr lang="ko-KR" altLang="en-US" sz="800" dirty="0"/>
              <a:t>사유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= </a:t>
            </a:r>
            <a:r>
              <a:rPr lang="ko-KR" altLang="en-US" sz="800" dirty="0"/>
              <a:t>교체가입 </a:t>
            </a:r>
            <a:r>
              <a:rPr lang="en-US" altLang="ko-KR" sz="800" dirty="0"/>
              <a:t>ID</a:t>
            </a:r>
            <a:r>
              <a:rPr lang="ko-KR" altLang="en-US" sz="800" dirty="0"/>
              <a:t>가 있으면 승계처리</a:t>
            </a:r>
            <a:endParaRPr lang="en-US" altLang="ko-KR" sz="800" dirty="0"/>
          </a:p>
          <a:p>
            <a:r>
              <a:rPr lang="en-US" altLang="ko-KR" sz="800" dirty="0"/>
              <a:t>= </a:t>
            </a:r>
            <a:r>
              <a:rPr lang="ko-KR" altLang="en-US" sz="800" dirty="0"/>
              <a:t>교체가입 </a:t>
            </a:r>
            <a:r>
              <a:rPr lang="en-US" altLang="ko-KR" sz="800" dirty="0"/>
              <a:t>ID</a:t>
            </a:r>
            <a:r>
              <a:rPr lang="ko-KR" altLang="en-US" sz="800" dirty="0"/>
              <a:t>가 없으면 탈퇴처리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</p:txBody>
      </p:sp>
      <p:sp>
        <p:nvSpPr>
          <p:cNvPr id="9" name="직사각형 8"/>
          <p:cNvSpPr/>
          <p:nvPr/>
        </p:nvSpPr>
        <p:spPr>
          <a:xfrm>
            <a:off x="3654582" y="115487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3" name="직선 화살표 연결선 2"/>
          <p:cNvCxnSpPr/>
          <p:nvPr/>
        </p:nvCxnSpPr>
        <p:spPr>
          <a:xfrm>
            <a:off x="2645923" y="2156219"/>
            <a:ext cx="6486" cy="807475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2552984" y="215906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 rot="20547490">
            <a:off x="3531235" y="3670385"/>
            <a:ext cx="2126053" cy="2791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As-is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8842075" y="72851"/>
            <a:ext cx="3968151" cy="1160725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marL="228600" indent="-228600" algn="ctr"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</a:rPr>
              <a:t>셀을 추가하여 날짜 설정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 algn="ctr"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</a:rPr>
              <a:t>교체가입 </a:t>
            </a:r>
            <a:r>
              <a:rPr lang="en-US" altLang="ko-KR" sz="1200" b="1" dirty="0">
                <a:solidFill>
                  <a:schemeClr val="tx1"/>
                </a:solidFill>
              </a:rPr>
              <a:t>ID</a:t>
            </a:r>
            <a:r>
              <a:rPr lang="ko-KR" altLang="en-US" sz="1200" b="1" dirty="0">
                <a:solidFill>
                  <a:schemeClr val="tx1"/>
                </a:solidFill>
              </a:rPr>
              <a:t>가 있고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날짜가 있으면 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</a:rPr>
              <a:t>해당일</a:t>
            </a:r>
            <a:r>
              <a:rPr lang="en-US" altLang="ko-KR" sz="1200" b="1" dirty="0">
                <a:solidFill>
                  <a:schemeClr val="tx1"/>
                </a:solidFill>
              </a:rPr>
              <a:t>00</a:t>
            </a:r>
            <a:r>
              <a:rPr lang="ko-KR" altLang="en-US" sz="1200" b="1" dirty="0">
                <a:solidFill>
                  <a:schemeClr val="tx1"/>
                </a:solidFill>
              </a:rPr>
              <a:t>시부터 서비스 시작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 algn="ctr"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</a:rPr>
              <a:t>교체가입 </a:t>
            </a:r>
            <a:r>
              <a:rPr lang="en-US" altLang="ko-KR" sz="1200" b="1" dirty="0">
                <a:solidFill>
                  <a:schemeClr val="tx1"/>
                </a:solidFill>
              </a:rPr>
              <a:t>ID</a:t>
            </a:r>
            <a:r>
              <a:rPr lang="ko-KR" altLang="en-US" sz="1200" b="1" dirty="0">
                <a:solidFill>
                  <a:schemeClr val="tx1"/>
                </a:solidFill>
              </a:rPr>
              <a:t>가 없고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날짜가 있으면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</a:rPr>
              <a:t>해당일 </a:t>
            </a:r>
            <a:r>
              <a:rPr lang="en-US" altLang="ko-KR" sz="1200" b="1" dirty="0">
                <a:solidFill>
                  <a:schemeClr val="tx1"/>
                </a:solidFill>
              </a:rPr>
              <a:t>23</a:t>
            </a:r>
            <a:r>
              <a:rPr lang="ko-KR" altLang="en-US" sz="1200" b="1" dirty="0">
                <a:solidFill>
                  <a:schemeClr val="tx1"/>
                </a:solidFill>
              </a:rPr>
              <a:t>시 </a:t>
            </a:r>
            <a:r>
              <a:rPr lang="en-US" altLang="ko-KR" sz="1200" b="1" dirty="0">
                <a:solidFill>
                  <a:schemeClr val="tx1"/>
                </a:solidFill>
              </a:rPr>
              <a:t>59</a:t>
            </a:r>
            <a:r>
              <a:rPr lang="ko-KR" altLang="en-US" sz="1200" b="1" dirty="0">
                <a:solidFill>
                  <a:schemeClr val="tx1"/>
                </a:solidFill>
              </a:rPr>
              <a:t>분 이후 탈퇴처리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804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504425" y="3941254"/>
            <a:ext cx="683066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701540"/>
              </p:ext>
            </p:extLst>
          </p:nvPr>
        </p:nvGraphicFramePr>
        <p:xfrm>
          <a:off x="512322" y="2131863"/>
          <a:ext cx="7979357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6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7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47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16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03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53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95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아이디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이름</a:t>
                      </a:r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차수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 만료일 ▼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기준금액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메모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test1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0000.00.00.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(+10)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온라인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test2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0000.00.00. (+2)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test3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로지텍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0000.00.00.(-3)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test4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한길사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0000.00.00.(-11)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매거진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test5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0000.00.00.(-12)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/>
          <a:srcRect b="73469"/>
          <a:stretch/>
        </p:blipFill>
        <p:spPr>
          <a:xfrm>
            <a:off x="483784" y="1268985"/>
            <a:ext cx="8252494" cy="196649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4907868" y="1321620"/>
            <a:ext cx="1333341" cy="12456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홍길동                  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4731" y="1268985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/>
              <a:t>영업대표</a:t>
            </a:r>
            <a:endParaRPr lang="ko-KR" altLang="en-US" sz="800" dirty="0"/>
          </a:p>
        </p:txBody>
      </p:sp>
      <p:sp>
        <p:nvSpPr>
          <p:cNvPr id="26" name="TextBox 25"/>
          <p:cNvSpPr txBox="1"/>
          <p:nvPr/>
        </p:nvSpPr>
        <p:spPr>
          <a:xfrm>
            <a:off x="6497724" y="127946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구분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7158340" y="1324908"/>
            <a:ext cx="1333341" cy="12456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전체            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7158339" y="1446180"/>
            <a:ext cx="1333341" cy="26990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법인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개인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592" y="923528"/>
            <a:ext cx="16866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서비스 </a:t>
            </a:r>
            <a:r>
              <a:rPr lang="en-US" altLang="ko-KR" sz="1200" dirty="0"/>
              <a:t>&gt; </a:t>
            </a:r>
            <a:r>
              <a:rPr lang="ko-KR" altLang="en-US" sz="1200" dirty="0"/>
              <a:t>재계약 관리</a:t>
            </a:r>
          </a:p>
        </p:txBody>
      </p:sp>
      <p:sp>
        <p:nvSpPr>
          <p:cNvPr id="30" name="모서리가 둥근 직사각형 29"/>
          <p:cNvSpPr/>
          <p:nvPr/>
        </p:nvSpPr>
        <p:spPr>
          <a:xfrm>
            <a:off x="483784" y="1610929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1187491" y="1610929"/>
            <a:ext cx="998707" cy="18553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컨택</a:t>
            </a:r>
            <a:r>
              <a:rPr lang="ko-KR" altLang="en-US" sz="800" dirty="0">
                <a:solidFill>
                  <a:schemeClr val="tx1"/>
                </a:solidFill>
              </a:rPr>
              <a:t> 채널     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5747" y="3941254"/>
            <a:ext cx="12634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회원정보       회사정보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2363390" y="1604690"/>
            <a:ext cx="879885" cy="1917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신규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재계약 커뮤니케이션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메일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문자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발송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조건별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자동 발송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CRM_03_016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997065" y="628549"/>
            <a:ext cx="204735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재계약 대상자 조회</a:t>
            </a:r>
            <a:r>
              <a:rPr lang="en-US" altLang="ko-KR" sz="1000" b="1" dirty="0">
                <a:solidFill>
                  <a:srgbClr val="00B0F0"/>
                </a:solidFill>
              </a:rPr>
              <a:t>, </a:t>
            </a:r>
            <a:r>
              <a:rPr lang="ko-KR" altLang="en-US" sz="1000" b="1" dirty="0" err="1">
                <a:solidFill>
                  <a:srgbClr val="00B0F0"/>
                </a:solidFill>
              </a:rPr>
              <a:t>컨택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/>
              <a:t> </a:t>
            </a:r>
            <a:r>
              <a:rPr lang="ko-KR" altLang="en-US" sz="800" dirty="0"/>
              <a:t>재계약 도래 대상자를</a:t>
            </a:r>
            <a:endParaRPr lang="en-US" altLang="ko-KR" sz="800" dirty="0"/>
          </a:p>
          <a:p>
            <a:r>
              <a:rPr lang="ko-KR" altLang="en-US" sz="800" dirty="0"/>
              <a:t>일괄 조회</a:t>
            </a:r>
            <a:r>
              <a:rPr lang="en-US" altLang="ko-KR" sz="800" dirty="0"/>
              <a:t>, </a:t>
            </a:r>
            <a:r>
              <a:rPr lang="ko-KR" altLang="en-US" sz="800" dirty="0" err="1"/>
              <a:t>컨택할</a:t>
            </a:r>
            <a:r>
              <a:rPr lang="ko-KR" altLang="en-US" sz="800" dirty="0"/>
              <a:t> 수 있음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b="1" dirty="0">
                <a:solidFill>
                  <a:srgbClr val="00B0F0"/>
                </a:solidFill>
              </a:rPr>
              <a:t>[1-1] </a:t>
            </a:r>
            <a:r>
              <a:rPr lang="ko-KR" altLang="en-US" sz="800" dirty="0"/>
              <a:t>기본 </a:t>
            </a:r>
            <a:r>
              <a:rPr lang="ko-KR" altLang="en-US" sz="800" dirty="0" err="1"/>
              <a:t>검색값은</a:t>
            </a:r>
            <a:r>
              <a:rPr lang="ko-KR" altLang="en-US" sz="800" dirty="0"/>
              <a:t> 현재 기준 </a:t>
            </a:r>
            <a:r>
              <a:rPr lang="en-US" altLang="ko-KR" sz="800" dirty="0"/>
              <a:t>1</a:t>
            </a:r>
            <a:r>
              <a:rPr lang="ko-KR" altLang="en-US" sz="800" dirty="0"/>
              <a:t>개월 전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b="1" dirty="0">
                <a:solidFill>
                  <a:srgbClr val="00B0F0"/>
                </a:solidFill>
              </a:rPr>
              <a:t>[1-2] </a:t>
            </a:r>
            <a:r>
              <a:rPr lang="en-US" altLang="ko-KR" sz="800" dirty="0"/>
              <a:t>CRM </a:t>
            </a:r>
            <a:r>
              <a:rPr lang="ko-KR" altLang="en-US" sz="800" dirty="0"/>
              <a:t>로그인 계정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b="1" dirty="0">
                <a:solidFill>
                  <a:srgbClr val="00B0F0"/>
                </a:solidFill>
              </a:rPr>
              <a:t>[1-3] </a:t>
            </a:r>
            <a:r>
              <a:rPr lang="ko-KR" altLang="en-US" sz="800" b="1" dirty="0">
                <a:solidFill>
                  <a:srgbClr val="00B0F0"/>
                </a:solidFill>
              </a:rPr>
              <a:t>회원구분 </a:t>
            </a:r>
            <a:r>
              <a:rPr lang="en-US" altLang="ko-KR" sz="800" b="1" dirty="0">
                <a:solidFill>
                  <a:srgbClr val="00B0F0"/>
                </a:solidFill>
              </a:rPr>
              <a:t>: </a:t>
            </a:r>
            <a:r>
              <a:rPr lang="ko-KR" altLang="en-US" sz="800" dirty="0"/>
              <a:t>전체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 err="1">
                <a:solidFill>
                  <a:srgbClr val="00B0F0"/>
                </a:solidFill>
              </a:rPr>
              <a:t>회원별</a:t>
            </a:r>
            <a:r>
              <a:rPr lang="ko-KR" altLang="en-US" sz="1000" b="1" dirty="0">
                <a:solidFill>
                  <a:srgbClr val="00B0F0"/>
                </a:solidFill>
              </a:rPr>
              <a:t> 상세 정보 조회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회원 정보와 회사 정보를 조회할 수 있음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 err="1"/>
              <a:t>탭메뉴로</a:t>
            </a:r>
            <a:r>
              <a:rPr lang="ko-KR" altLang="en-US" sz="800" dirty="0"/>
              <a:t> 구분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</p:txBody>
      </p:sp>
      <p:sp>
        <p:nvSpPr>
          <p:cNvPr id="18" name="직사각형 17"/>
          <p:cNvSpPr/>
          <p:nvPr/>
        </p:nvSpPr>
        <p:spPr>
          <a:xfrm>
            <a:off x="209715" y="92352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187489" y="1163189"/>
            <a:ext cx="250546" cy="182633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502000" y="1109210"/>
            <a:ext cx="250546" cy="182633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567376" y="1103522"/>
            <a:ext cx="250546" cy="182633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221188" y="3961975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512322" y="4290864"/>
            <a:ext cx="7979357" cy="194132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정보 상세 화면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9150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504425" y="3941254"/>
            <a:ext cx="683066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512322" y="2131863"/>
          <a:ext cx="7979357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6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7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47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16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03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53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95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아이디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이름</a:t>
                      </a:r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차수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 만료일 ▼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기준금액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메모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test1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0000.00.00.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(+10)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온라인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test2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0000.00.00. (+2)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test3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로지텍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0000.00.00.(-3)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test4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한길사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0000.00.00.(-11)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매거진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test5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0000.00.00.(-12)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/>
          <a:srcRect b="73469"/>
          <a:stretch/>
        </p:blipFill>
        <p:spPr>
          <a:xfrm>
            <a:off x="483784" y="1268985"/>
            <a:ext cx="8252494" cy="196649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4907868" y="1321620"/>
            <a:ext cx="1333341" cy="12456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홍길동                  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4731" y="1268985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/>
              <a:t>영업대표</a:t>
            </a:r>
            <a:endParaRPr lang="ko-KR" altLang="en-US" sz="800" dirty="0"/>
          </a:p>
        </p:txBody>
      </p:sp>
      <p:sp>
        <p:nvSpPr>
          <p:cNvPr id="26" name="TextBox 25"/>
          <p:cNvSpPr txBox="1"/>
          <p:nvPr/>
        </p:nvSpPr>
        <p:spPr>
          <a:xfrm>
            <a:off x="6497724" y="127946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구분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7158340" y="1324908"/>
            <a:ext cx="1333341" cy="12456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전체            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7158339" y="1446180"/>
            <a:ext cx="1333341" cy="26990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법인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개인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592" y="923528"/>
            <a:ext cx="16866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서비스 </a:t>
            </a:r>
            <a:r>
              <a:rPr lang="en-US" altLang="ko-KR" sz="1200" dirty="0"/>
              <a:t>&gt; </a:t>
            </a:r>
            <a:r>
              <a:rPr lang="ko-KR" altLang="en-US" sz="1200" dirty="0"/>
              <a:t>재계약 관리</a:t>
            </a:r>
          </a:p>
        </p:txBody>
      </p:sp>
      <p:sp>
        <p:nvSpPr>
          <p:cNvPr id="30" name="모서리가 둥근 직사각형 29"/>
          <p:cNvSpPr/>
          <p:nvPr/>
        </p:nvSpPr>
        <p:spPr>
          <a:xfrm>
            <a:off x="483784" y="1610929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1187491" y="1610929"/>
            <a:ext cx="998707" cy="18553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컨택</a:t>
            </a:r>
            <a:r>
              <a:rPr lang="ko-KR" altLang="en-US" sz="800" dirty="0">
                <a:solidFill>
                  <a:schemeClr val="tx1"/>
                </a:solidFill>
              </a:rPr>
              <a:t> 채널     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5747" y="3941254"/>
            <a:ext cx="12634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회원정보       회사정보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2363390" y="1604690"/>
            <a:ext cx="879885" cy="1917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879105" y="2430309"/>
            <a:ext cx="8489589" cy="2997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249" y="2525122"/>
            <a:ext cx="83263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회원구분  </a:t>
            </a:r>
            <a:r>
              <a:rPr lang="en-US" altLang="ko-KR" sz="800" dirty="0"/>
              <a:t>l</a:t>
            </a:r>
            <a:r>
              <a:rPr lang="ko-KR" altLang="en-US" sz="800" dirty="0"/>
              <a:t>  아이디  </a:t>
            </a:r>
            <a:r>
              <a:rPr lang="en-US" altLang="ko-KR" sz="800" dirty="0"/>
              <a:t>l</a:t>
            </a:r>
            <a:r>
              <a:rPr lang="ko-KR" altLang="en-US" sz="800" dirty="0"/>
              <a:t>  이름     </a:t>
            </a:r>
            <a:r>
              <a:rPr lang="en-US" altLang="ko-KR" sz="800" dirty="0"/>
              <a:t>l</a:t>
            </a:r>
            <a:r>
              <a:rPr lang="ko-KR" altLang="en-US" sz="800" dirty="0"/>
              <a:t>    회사명  </a:t>
            </a:r>
            <a:r>
              <a:rPr lang="en-US" altLang="ko-KR" sz="800" dirty="0"/>
              <a:t>l</a:t>
            </a:r>
            <a:r>
              <a:rPr lang="ko-KR" altLang="en-US" sz="800" dirty="0"/>
              <a:t>  차수   </a:t>
            </a:r>
            <a:r>
              <a:rPr lang="en-US" altLang="ko-KR" sz="800" dirty="0"/>
              <a:t>l</a:t>
            </a:r>
            <a:r>
              <a:rPr lang="ko-KR" altLang="en-US" sz="800" dirty="0"/>
              <a:t>  계약 만료일  </a:t>
            </a:r>
            <a:r>
              <a:rPr lang="en-US" altLang="ko-KR" sz="800" dirty="0"/>
              <a:t>l</a:t>
            </a:r>
            <a:r>
              <a:rPr lang="ko-KR" altLang="en-US" sz="800" dirty="0"/>
              <a:t>  기준금액  </a:t>
            </a:r>
            <a:r>
              <a:rPr lang="en-US" altLang="ko-KR" sz="800" dirty="0"/>
              <a:t>l</a:t>
            </a:r>
            <a:r>
              <a:rPr lang="ko-KR" altLang="en-US" sz="800" dirty="0"/>
              <a:t>  영업대표  </a:t>
            </a:r>
            <a:r>
              <a:rPr lang="en-US" altLang="ko-KR" sz="800" dirty="0"/>
              <a:t>l</a:t>
            </a:r>
            <a:r>
              <a:rPr lang="ko-KR" altLang="en-US" sz="800" dirty="0"/>
              <a:t>  비서 </a:t>
            </a:r>
            <a:r>
              <a:rPr lang="en-US" altLang="ko-KR" sz="800" dirty="0"/>
              <a:t>1 </a:t>
            </a:r>
            <a:r>
              <a:rPr lang="ko-KR" altLang="en-US" sz="800" dirty="0" err="1"/>
              <a:t>이메일</a:t>
            </a:r>
            <a:r>
              <a:rPr lang="ko-KR" altLang="en-US" sz="800" dirty="0"/>
              <a:t>  </a:t>
            </a:r>
            <a:r>
              <a:rPr lang="en-US" altLang="ko-KR" sz="800" dirty="0"/>
              <a:t>l</a:t>
            </a:r>
            <a:r>
              <a:rPr lang="ko-KR" altLang="en-US" sz="800" dirty="0"/>
              <a:t>  비서 </a:t>
            </a:r>
            <a:r>
              <a:rPr lang="en-US" altLang="ko-KR" sz="800" dirty="0"/>
              <a:t>2 </a:t>
            </a:r>
            <a:r>
              <a:rPr lang="ko-KR" altLang="en-US" sz="800" dirty="0" err="1"/>
              <a:t>이메일</a:t>
            </a:r>
            <a:r>
              <a:rPr lang="ko-KR" altLang="en-US" sz="800" dirty="0"/>
              <a:t>  </a:t>
            </a:r>
            <a:r>
              <a:rPr lang="en-US" altLang="ko-KR" sz="800" dirty="0"/>
              <a:t>l</a:t>
            </a:r>
            <a:r>
              <a:rPr lang="ko-KR" altLang="en-US" sz="800" dirty="0"/>
              <a:t>  회사담당자 </a:t>
            </a:r>
            <a:r>
              <a:rPr lang="en-US" altLang="ko-KR" sz="800" dirty="0"/>
              <a:t>1 </a:t>
            </a:r>
            <a:r>
              <a:rPr lang="ko-KR" altLang="en-US" sz="800" dirty="0" err="1"/>
              <a:t>이메일</a:t>
            </a:r>
            <a:r>
              <a:rPr lang="en-US" altLang="ko-KR" sz="800" dirty="0"/>
              <a:t>  l  </a:t>
            </a:r>
            <a:r>
              <a:rPr lang="ko-KR" altLang="en-US" sz="800" dirty="0"/>
              <a:t>회사담당자 </a:t>
            </a:r>
            <a:r>
              <a:rPr lang="en-US" altLang="ko-KR" sz="800" dirty="0"/>
              <a:t>2 </a:t>
            </a:r>
            <a:r>
              <a:rPr lang="ko-KR" altLang="en-US" sz="800" dirty="0" err="1"/>
              <a:t>이메일</a:t>
            </a:r>
            <a:r>
              <a:rPr lang="ko-KR" altLang="en-US" sz="800" dirty="0"/>
              <a:t>  </a:t>
            </a:r>
          </a:p>
        </p:txBody>
      </p:sp>
      <p:cxnSp>
        <p:nvCxnSpPr>
          <p:cNvPr id="3" name="꺾인 연결선 2"/>
          <p:cNvCxnSpPr>
            <a:stCxn id="36" idx="3"/>
          </p:cNvCxnSpPr>
          <p:nvPr/>
        </p:nvCxnSpPr>
        <p:spPr>
          <a:xfrm>
            <a:off x="3243275" y="1700575"/>
            <a:ext cx="427295" cy="732837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신규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재계약 커뮤니케이션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메일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문자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발송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조건별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자동 발송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CRM_03_016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997065" y="628549"/>
            <a:ext cx="20473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재계약 대상자 </a:t>
            </a:r>
            <a:r>
              <a:rPr lang="ko-KR" altLang="en-US" sz="1000" b="1" dirty="0" err="1">
                <a:solidFill>
                  <a:srgbClr val="00B0F0"/>
                </a:solidFill>
              </a:rPr>
              <a:t>다운로드택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/>
              <a:t> </a:t>
            </a:r>
            <a:r>
              <a:rPr lang="ko-KR" altLang="en-US" sz="800" dirty="0"/>
              <a:t>재계약 대상자 상세 정보를 다운로드 함</a:t>
            </a:r>
            <a:endParaRPr lang="en-US" altLang="ko-KR" sz="800" dirty="0"/>
          </a:p>
        </p:txBody>
      </p:sp>
      <p:sp>
        <p:nvSpPr>
          <p:cNvPr id="21" name="직사각형 20"/>
          <p:cNvSpPr/>
          <p:nvPr/>
        </p:nvSpPr>
        <p:spPr>
          <a:xfrm>
            <a:off x="2329807" y="174742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4063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504425" y="3941254"/>
            <a:ext cx="683066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512322" y="2131863"/>
          <a:ext cx="7979357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6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7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47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16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03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53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95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아이디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이름</a:t>
                      </a:r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차수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 만료일 ▼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기준금액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메모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test1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0000.00.00.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(+10)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온라인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test2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0000.00.00. (+2)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test3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로지텍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0000.00.00.(-3)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test4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한길사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0000.00.00.(-11)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매거진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test5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0000.00.00.(-12)</a:t>
                      </a:r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/>
          <a:srcRect b="73469"/>
          <a:stretch/>
        </p:blipFill>
        <p:spPr>
          <a:xfrm>
            <a:off x="483784" y="1268985"/>
            <a:ext cx="8252494" cy="196649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4907868" y="1321620"/>
            <a:ext cx="1333341" cy="12456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홍길동                  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4731" y="1268985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/>
              <a:t>영업대표</a:t>
            </a:r>
            <a:endParaRPr lang="ko-KR" altLang="en-US" sz="800" dirty="0"/>
          </a:p>
        </p:txBody>
      </p:sp>
      <p:sp>
        <p:nvSpPr>
          <p:cNvPr id="26" name="TextBox 25"/>
          <p:cNvSpPr txBox="1"/>
          <p:nvPr/>
        </p:nvSpPr>
        <p:spPr>
          <a:xfrm>
            <a:off x="6497724" y="127946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구분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7158340" y="1324908"/>
            <a:ext cx="1333341" cy="12456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전체            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7158339" y="1446180"/>
            <a:ext cx="1333341" cy="26990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법인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개인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592" y="923528"/>
            <a:ext cx="16866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서비스 </a:t>
            </a:r>
            <a:r>
              <a:rPr lang="en-US" altLang="ko-KR" sz="1200" dirty="0"/>
              <a:t>&gt; </a:t>
            </a:r>
            <a:r>
              <a:rPr lang="ko-KR" altLang="en-US" sz="1200" dirty="0"/>
              <a:t>재계약 관리</a:t>
            </a:r>
          </a:p>
        </p:txBody>
      </p:sp>
      <p:sp>
        <p:nvSpPr>
          <p:cNvPr id="30" name="모서리가 둥근 직사각형 29"/>
          <p:cNvSpPr/>
          <p:nvPr/>
        </p:nvSpPr>
        <p:spPr>
          <a:xfrm>
            <a:off x="483784" y="1610929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1187491" y="1610929"/>
            <a:ext cx="998707" cy="18553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컨택</a:t>
            </a:r>
            <a:r>
              <a:rPr lang="ko-KR" altLang="en-US" sz="800" dirty="0">
                <a:solidFill>
                  <a:schemeClr val="tx1"/>
                </a:solidFill>
              </a:rPr>
              <a:t> 채널     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5747" y="3941254"/>
            <a:ext cx="12634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회원정보       회사정보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2363390" y="1604690"/>
            <a:ext cx="879885" cy="1917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198" y="1935515"/>
            <a:ext cx="6202105" cy="4089400"/>
          </a:xfrm>
          <a:prstGeom prst="rect">
            <a:avLst/>
          </a:prstGeom>
        </p:spPr>
      </p:pic>
      <p:cxnSp>
        <p:nvCxnSpPr>
          <p:cNvPr id="3" name="꺾인 연결선 2"/>
          <p:cNvCxnSpPr>
            <a:stCxn id="32" idx="2"/>
            <a:endCxn id="16" idx="1"/>
          </p:cNvCxnSpPr>
          <p:nvPr/>
        </p:nvCxnSpPr>
        <p:spPr>
          <a:xfrm rot="16200000" flipH="1">
            <a:off x="844643" y="2638660"/>
            <a:ext cx="2183756" cy="499353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332330" y="6184660"/>
            <a:ext cx="59098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000" dirty="0">
                <a:solidFill>
                  <a:srgbClr val="FF0000"/>
                </a:solidFill>
              </a:rPr>
              <a:t>개인회원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법인회원 모두 회원정보에 등록된 비서 정보</a:t>
            </a:r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비서 </a:t>
            </a:r>
            <a:r>
              <a:rPr lang="en-US" altLang="ko-KR" sz="1000" dirty="0">
                <a:solidFill>
                  <a:srgbClr val="FF0000"/>
                </a:solidFill>
              </a:rPr>
              <a:t>1, </a:t>
            </a:r>
            <a:r>
              <a:rPr lang="ko-KR" altLang="en-US" sz="1000" dirty="0">
                <a:solidFill>
                  <a:srgbClr val="FF0000"/>
                </a:solidFill>
              </a:rPr>
              <a:t>비서 </a:t>
            </a:r>
            <a:r>
              <a:rPr lang="en-US" altLang="ko-KR" sz="1000" dirty="0">
                <a:solidFill>
                  <a:srgbClr val="FF0000"/>
                </a:solidFill>
              </a:rPr>
              <a:t>2)</a:t>
            </a:r>
            <a:r>
              <a:rPr lang="ko-KR" altLang="en-US" sz="1000" dirty="0">
                <a:solidFill>
                  <a:srgbClr val="FF0000"/>
                </a:solidFill>
              </a:rPr>
              <a:t>도 수신자 리스트에 포함</a:t>
            </a: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en-US" altLang="ko-KR" sz="1000" dirty="0">
                <a:solidFill>
                  <a:srgbClr val="FF0000"/>
                </a:solidFill>
              </a:rPr>
              <a:t>   (</a:t>
            </a:r>
            <a:r>
              <a:rPr lang="ko-KR" altLang="en-US" sz="1000" dirty="0">
                <a:solidFill>
                  <a:srgbClr val="FF0000"/>
                </a:solidFill>
              </a:rPr>
              <a:t>이름 또는 새 필드에 비서 표시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- </a:t>
            </a:r>
            <a:r>
              <a:rPr lang="ko-KR" altLang="en-US" sz="1000" dirty="0">
                <a:solidFill>
                  <a:srgbClr val="FF0000"/>
                </a:solidFill>
              </a:rPr>
              <a:t>선택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삭제할 수 있도록 함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186198" y="5123234"/>
            <a:ext cx="617134" cy="350196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0" name="꺾인 연결선 9"/>
          <p:cNvCxnSpPr>
            <a:stCxn id="5" idx="1"/>
            <a:endCxn id="4" idx="1"/>
          </p:cNvCxnSpPr>
          <p:nvPr/>
        </p:nvCxnSpPr>
        <p:spPr>
          <a:xfrm rot="10800000" flipH="1" flipV="1">
            <a:off x="2186198" y="5298331"/>
            <a:ext cx="146132" cy="1163327"/>
          </a:xfrm>
          <a:prstGeom prst="bentConnector3">
            <a:avLst>
              <a:gd name="adj1" fmla="val -156434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신규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재계약 커뮤니케이션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메일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문자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발송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조건별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자동 발송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CRM_03_016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276272" y="5579621"/>
            <a:ext cx="5920502" cy="1661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□           이름         구분          아이디             회사               휴대전화번호             </a:t>
            </a:r>
            <a:r>
              <a:rPr lang="ko-KR" altLang="en-US" sz="800" dirty="0" err="1">
                <a:solidFill>
                  <a:schemeClr val="tx1"/>
                </a:solidFill>
              </a:rPr>
              <a:t>이메일</a:t>
            </a:r>
            <a:r>
              <a:rPr lang="ko-KR" altLang="en-US" sz="800" dirty="0">
                <a:solidFill>
                  <a:schemeClr val="tx1"/>
                </a:solidFill>
              </a:rPr>
              <a:t>         비고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6272" y="5795955"/>
            <a:ext cx="5003293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□         홍길동         회원           </a:t>
            </a:r>
            <a:r>
              <a:rPr lang="en-US" altLang="ko-KR" sz="800" dirty="0"/>
              <a:t>test1         </a:t>
            </a:r>
            <a:r>
              <a:rPr lang="ko-KR" altLang="en-US" sz="800" dirty="0"/>
              <a:t>멀티캠퍼스         </a:t>
            </a:r>
            <a:r>
              <a:rPr lang="en-US" altLang="ko-KR" sz="800" dirty="0"/>
              <a:t>010-1234-1234        test@test.com</a:t>
            </a:r>
          </a:p>
          <a:p>
            <a:r>
              <a:rPr lang="ko-KR" altLang="en-US" sz="800" dirty="0"/>
              <a:t>□         홍길동         비서                                                 </a:t>
            </a:r>
            <a:r>
              <a:rPr lang="en-US" altLang="ko-KR" sz="800" dirty="0"/>
              <a:t>010-4321-4321        test11@test.com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97065" y="628549"/>
            <a:ext cx="16850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커뮤니케이션 진행 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00B0F0"/>
                </a:solidFill>
              </a:rPr>
              <a:t>회원정보에 포함된 비서도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00B0F0"/>
                </a:solidFill>
              </a:rPr>
              <a:t>수신자에 포함함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137092" y="5898583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0720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263" y="880308"/>
            <a:ext cx="18485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계약 </a:t>
            </a:r>
            <a:r>
              <a:rPr lang="en-US" altLang="ko-KR" sz="1200" dirty="0"/>
              <a:t>&gt; </a:t>
            </a:r>
            <a:r>
              <a:rPr lang="ko-KR" altLang="en-US" sz="1200" dirty="0"/>
              <a:t>매출 </a:t>
            </a:r>
            <a:r>
              <a:rPr lang="en-US" altLang="ko-KR" sz="1200" dirty="0"/>
              <a:t>&gt; </a:t>
            </a:r>
            <a:r>
              <a:rPr lang="ko-KR" altLang="en-US" sz="1200" dirty="0"/>
              <a:t>매출이력</a:t>
            </a:r>
            <a:endParaRPr lang="en-US" altLang="ko-KR" sz="1200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474127"/>
              </p:ext>
            </p:extLst>
          </p:nvPr>
        </p:nvGraphicFramePr>
        <p:xfrm>
          <a:off x="480209" y="1265554"/>
          <a:ext cx="833768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8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5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5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8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매출구분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196669" y="1285162"/>
            <a:ext cx="442439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017" y="1288689"/>
            <a:ext cx="186718" cy="154639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2077035" y="1285162"/>
            <a:ext cx="442439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832" y="1283415"/>
            <a:ext cx="186718" cy="154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33392" y="1222236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16" name="직사각형 15"/>
          <p:cNvSpPr/>
          <p:nvPr/>
        </p:nvSpPr>
        <p:spPr>
          <a:xfrm>
            <a:off x="6514319" y="1290385"/>
            <a:ext cx="226028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265625" y="126247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981802" y="126247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643059" y="126555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826380" y="1288867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997065" y="628549"/>
            <a:ext cx="2238113" cy="62786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일자 조회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계약기간이 포함된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총 계약금액과 계약기간으로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 err="1">
                <a:solidFill>
                  <a:srgbClr val="FF0000"/>
                </a:solidFill>
              </a:rPr>
              <a:t>일할계산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>
                <a:solidFill>
                  <a:srgbClr val="FF0000"/>
                </a:solidFill>
              </a:rPr>
              <a:t>조회한 기간 만큼의 금액으로 표기</a:t>
            </a:r>
            <a:endParaRPr lang="en-US" altLang="ko-KR" sz="800" dirty="0">
              <a:solidFill>
                <a:srgbClr val="FF0000"/>
              </a:solidFill>
            </a:endParaRP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매출</a:t>
            </a:r>
            <a:r>
              <a:rPr lang="en-US" altLang="ko-KR" sz="1000" b="1" dirty="0">
                <a:solidFill>
                  <a:srgbClr val="00B0F0"/>
                </a:solidFill>
              </a:rPr>
              <a:t> </a:t>
            </a:r>
            <a:r>
              <a:rPr lang="ko-KR" altLang="en-US" sz="1000" b="1" dirty="0">
                <a:solidFill>
                  <a:srgbClr val="00B0F0"/>
                </a:solidFill>
              </a:rPr>
              <a:t>구분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/>
              <a:t>[1] </a:t>
            </a:r>
            <a:r>
              <a:rPr lang="ko-KR" altLang="en-US" sz="800" dirty="0"/>
              <a:t>일자의 유효한 계약 차수 기준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확정매출  </a:t>
            </a:r>
            <a:r>
              <a:rPr lang="en-US" altLang="ko-KR" sz="800" dirty="0"/>
              <a:t>: MIS </a:t>
            </a:r>
            <a:r>
              <a:rPr lang="ko-KR" altLang="en-US" sz="800" dirty="0"/>
              <a:t>연동 완료</a:t>
            </a:r>
            <a:endParaRPr lang="en-US" altLang="ko-KR" sz="800" dirty="0"/>
          </a:p>
          <a:p>
            <a:r>
              <a:rPr lang="ko-KR" altLang="en-US" sz="800" dirty="0" err="1"/>
              <a:t>미확정매출</a:t>
            </a:r>
            <a:r>
              <a:rPr lang="ko-KR" altLang="en-US" sz="800" dirty="0"/>
              <a:t> </a:t>
            </a:r>
            <a:r>
              <a:rPr lang="en-US" altLang="ko-KR" sz="800" dirty="0"/>
              <a:t>: MIS </a:t>
            </a:r>
            <a:r>
              <a:rPr lang="ko-KR" altLang="en-US" sz="800" dirty="0"/>
              <a:t>연동 </a:t>
            </a:r>
            <a:r>
              <a:rPr lang="en-US" altLang="ko-KR" sz="800" dirty="0"/>
              <a:t>+ </a:t>
            </a:r>
            <a:r>
              <a:rPr lang="ko-KR" altLang="en-US" sz="800" dirty="0" err="1"/>
              <a:t>미연동</a:t>
            </a:r>
            <a:endParaRPr lang="en-US" altLang="ko-KR" sz="800" dirty="0"/>
          </a:p>
          <a:p>
            <a:r>
              <a:rPr lang="en-US" altLang="ko-KR" sz="800" dirty="0">
                <a:solidFill>
                  <a:srgbClr val="FF0000"/>
                </a:solidFill>
              </a:rPr>
              <a:t>Q. </a:t>
            </a:r>
            <a:r>
              <a:rPr lang="ko-KR" altLang="en-US" sz="800" dirty="0">
                <a:solidFill>
                  <a:srgbClr val="FF0000"/>
                </a:solidFill>
              </a:rPr>
              <a:t>예상매출 </a:t>
            </a:r>
            <a:r>
              <a:rPr lang="en-US" altLang="ko-KR" sz="800" dirty="0">
                <a:solidFill>
                  <a:srgbClr val="FF0000"/>
                </a:solidFill>
              </a:rPr>
              <a:t>:  (</a:t>
            </a:r>
            <a:r>
              <a:rPr lang="ko-KR" altLang="en-US" sz="800" dirty="0">
                <a:solidFill>
                  <a:srgbClr val="FF0000"/>
                </a:solidFill>
              </a:rPr>
              <a:t>현업 확인 필요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영업대표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>
                <a:solidFill>
                  <a:srgbClr val="00B0F0"/>
                </a:solidFill>
              </a:rPr>
              <a:t>상태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계약</a:t>
            </a:r>
            <a:r>
              <a:rPr lang="en-US" altLang="ko-KR" sz="800" dirty="0"/>
              <a:t>(</a:t>
            </a:r>
            <a:r>
              <a:rPr lang="ko-KR" altLang="en-US" sz="800" dirty="0"/>
              <a:t>청구</a:t>
            </a:r>
            <a:r>
              <a:rPr lang="en-US" altLang="ko-KR" sz="800" dirty="0"/>
              <a:t>)</a:t>
            </a:r>
          </a:p>
          <a:p>
            <a:r>
              <a:rPr lang="ko-KR" altLang="en-US" sz="800" dirty="0"/>
              <a:t>영수</a:t>
            </a:r>
            <a:endParaRPr lang="en-US" altLang="ko-KR" sz="800" dirty="0"/>
          </a:p>
          <a:p>
            <a:r>
              <a:rPr lang="ko-KR" altLang="en-US" sz="800" dirty="0"/>
              <a:t>환불</a:t>
            </a:r>
            <a:endParaRPr lang="en-US" altLang="ko-KR" sz="800" dirty="0"/>
          </a:p>
          <a:p>
            <a:r>
              <a:rPr lang="ko-KR" altLang="en-US" sz="800" dirty="0"/>
              <a:t>중도해지</a:t>
            </a:r>
            <a:r>
              <a:rPr lang="en-US" altLang="ko-KR" sz="800" dirty="0"/>
              <a:t>(</a:t>
            </a:r>
            <a:r>
              <a:rPr lang="ko-KR" altLang="en-US" sz="800" dirty="0"/>
              <a:t>교체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endParaRPr lang="en-US" altLang="ko-KR" sz="6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[5] </a:t>
            </a:r>
            <a:r>
              <a:rPr lang="ko-KR" altLang="en-US" sz="1000" b="1" dirty="0">
                <a:solidFill>
                  <a:srgbClr val="00B0F0"/>
                </a:solidFill>
              </a:rPr>
              <a:t>계약구분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MIS </a:t>
            </a:r>
            <a:r>
              <a:rPr lang="ko-KR" altLang="en-US" sz="1000" b="1" dirty="0">
                <a:solidFill>
                  <a:srgbClr val="00B0F0"/>
                </a:solidFill>
              </a:rPr>
              <a:t>연동 여부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 Y / N  (</a:t>
            </a:r>
            <a:r>
              <a:rPr lang="ko-KR" altLang="en-US" sz="800" dirty="0"/>
              <a:t>계약 정보  데이터 </a:t>
            </a:r>
            <a:r>
              <a:rPr lang="ko-KR" altLang="en-US" sz="800" dirty="0" err="1"/>
              <a:t>매핑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[5] </a:t>
            </a:r>
            <a:r>
              <a:rPr lang="ko-KR" altLang="en-US" sz="1000" b="1" dirty="0">
                <a:solidFill>
                  <a:srgbClr val="00B0F0"/>
                </a:solidFill>
              </a:rPr>
              <a:t>배분매출 여부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 Y / N  (</a:t>
            </a:r>
            <a:r>
              <a:rPr lang="ko-KR" altLang="en-US" sz="800" dirty="0"/>
              <a:t>계약 정보  데이터 </a:t>
            </a:r>
            <a:r>
              <a:rPr lang="ko-KR" altLang="en-US" sz="800" dirty="0" err="1"/>
              <a:t>매핑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480209" y="1905221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183916" y="1905221"/>
            <a:ext cx="998707" cy="18553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컨택</a:t>
            </a:r>
            <a:r>
              <a:rPr lang="ko-KR" altLang="en-US" sz="800" dirty="0">
                <a:solidFill>
                  <a:schemeClr val="tx1"/>
                </a:solidFill>
              </a:rPr>
              <a:t> 채널     ▼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2359815" y="1898982"/>
            <a:ext cx="879885" cy="1917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graphicFrame>
        <p:nvGraphicFramePr>
          <p:cNvPr id="40" name="표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500964"/>
              </p:ext>
            </p:extLst>
          </p:nvPr>
        </p:nvGraphicFramePr>
        <p:xfrm>
          <a:off x="10106524" y="3706347"/>
          <a:ext cx="939837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9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7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신규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신규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돌신</a:t>
                      </a:r>
                      <a:r>
                        <a:rPr lang="en-US" altLang="ko-KR" sz="800" u="none" dirty="0"/>
                        <a:t>) 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신규교체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재가입교체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돌재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서비스종료 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교체탈퇴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1" name="직사각형 40"/>
          <p:cNvSpPr/>
          <p:nvPr/>
        </p:nvSpPr>
        <p:spPr>
          <a:xfrm>
            <a:off x="1196669" y="1505955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3826380" y="1505955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16083" y="4864545"/>
            <a:ext cx="16399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Total 000      Page</a:t>
            </a:r>
            <a:r>
              <a:rPr lang="ko-KR" altLang="en-US" sz="800" dirty="0"/>
              <a:t> </a:t>
            </a:r>
            <a:r>
              <a:rPr lang="en-US" altLang="ko-KR" sz="800" dirty="0"/>
              <a:t>000   </a:t>
            </a:r>
            <a:endParaRPr lang="ko-KR" altLang="en-US" sz="800" dirty="0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610423"/>
              </p:ext>
            </p:extLst>
          </p:nvPr>
        </p:nvGraphicFramePr>
        <p:xfrm>
          <a:off x="487732" y="2335871"/>
          <a:ext cx="6619945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1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당월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총금액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확정매출</a:t>
                      </a:r>
                      <a:r>
                        <a:rPr lang="ko-KR" altLang="en-US" sz="500" dirty="0"/>
                        <a:t> </a:t>
                      </a:r>
                      <a:r>
                        <a:rPr lang="en-US" altLang="ko-KR" sz="500" dirty="0"/>
                        <a:t>(MIS </a:t>
                      </a:r>
                      <a:r>
                        <a:rPr lang="ko-KR" altLang="en-US" sz="500" dirty="0"/>
                        <a:t>연동 완료</a:t>
                      </a:r>
                      <a:r>
                        <a:rPr lang="en-US" altLang="ko-KR" sz="500" dirty="0"/>
                        <a:t>)</a:t>
                      </a:r>
                      <a:endParaRPr lang="ko-KR" altLang="en-US" sz="5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000,000,000 </a:t>
                      </a:r>
                      <a:r>
                        <a:rPr lang="ko-KR" altLang="en-US" sz="800" dirty="0"/>
                        <a:t>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미확정매출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500" dirty="0"/>
                        <a:t>(MIS </a:t>
                      </a:r>
                      <a:r>
                        <a:rPr lang="ko-KR" altLang="en-US" sz="500" dirty="0" err="1"/>
                        <a:t>미연동</a:t>
                      </a:r>
                      <a:r>
                        <a:rPr lang="en-US" altLang="ko-KR" sz="500" dirty="0"/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 예상매출 </a:t>
                      </a:r>
                      <a:endParaRPr lang="ko-KR" altLang="en-US" sz="5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6" name="직사각형 45"/>
          <p:cNvSpPr/>
          <p:nvPr/>
        </p:nvSpPr>
        <p:spPr>
          <a:xfrm>
            <a:off x="267377" y="149059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2980607" y="149059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5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80209" y="5399512"/>
            <a:ext cx="8269803" cy="120087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상단 리스트에서 아이디 또는 이름 클릭 시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하단에 해당 회원의 계약 상세 내용 펼침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팝업으로 실행되어도 무방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MIS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연동 매출 외 집계용 매출 현황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다운로드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CRM_04_001~003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5579339" y="748191"/>
            <a:ext cx="4332052" cy="1248403"/>
          </a:xfrm>
          <a:prstGeom prst="rect">
            <a:avLst/>
          </a:prstGeom>
          <a:solidFill>
            <a:srgbClr val="00B0F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50" dirty="0">
                <a:solidFill>
                  <a:schemeClr val="bg1"/>
                </a:solidFill>
              </a:rPr>
              <a:t>1. </a:t>
            </a:r>
            <a:r>
              <a:rPr lang="ko-KR" altLang="en-US" sz="1050" dirty="0">
                <a:solidFill>
                  <a:schemeClr val="bg1"/>
                </a:solidFill>
              </a:rPr>
              <a:t>예상매출</a:t>
            </a:r>
            <a:r>
              <a:rPr lang="en-US" altLang="ko-KR" sz="1050" dirty="0">
                <a:solidFill>
                  <a:schemeClr val="bg1"/>
                </a:solidFill>
              </a:rPr>
              <a:t>(</a:t>
            </a:r>
            <a:r>
              <a:rPr lang="ko-KR" altLang="en-US" sz="1050" dirty="0">
                <a:solidFill>
                  <a:schemeClr val="bg1"/>
                </a:solidFill>
              </a:rPr>
              <a:t>집계용</a:t>
            </a:r>
            <a:r>
              <a:rPr lang="en-US" altLang="ko-KR" sz="1050" dirty="0">
                <a:solidFill>
                  <a:schemeClr val="bg1"/>
                </a:solidFill>
              </a:rPr>
              <a:t>)</a:t>
            </a:r>
            <a:r>
              <a:rPr lang="ko-KR" altLang="en-US" sz="1050" dirty="0">
                <a:solidFill>
                  <a:schemeClr val="bg1"/>
                </a:solidFill>
              </a:rPr>
              <a:t> </a:t>
            </a:r>
            <a:r>
              <a:rPr lang="en-US" altLang="ko-KR" sz="1050" dirty="0">
                <a:solidFill>
                  <a:schemeClr val="bg1"/>
                </a:solidFill>
              </a:rPr>
              <a:t>= MIS </a:t>
            </a:r>
            <a:r>
              <a:rPr lang="ko-KR" altLang="en-US" sz="1050" dirty="0">
                <a:solidFill>
                  <a:schemeClr val="bg1"/>
                </a:solidFill>
              </a:rPr>
              <a:t>연동</a:t>
            </a:r>
            <a:r>
              <a:rPr lang="en-US" altLang="ko-KR" sz="1050" dirty="0">
                <a:solidFill>
                  <a:schemeClr val="bg1"/>
                </a:solidFill>
              </a:rPr>
              <a:t>+</a:t>
            </a:r>
            <a:r>
              <a:rPr lang="ko-KR" altLang="en-US" sz="1050" dirty="0" err="1">
                <a:solidFill>
                  <a:schemeClr val="bg1"/>
                </a:solidFill>
              </a:rPr>
              <a:t>미연동</a:t>
            </a:r>
            <a:r>
              <a:rPr lang="en-US" altLang="ko-KR" sz="1050" dirty="0">
                <a:solidFill>
                  <a:schemeClr val="bg1"/>
                </a:solidFill>
              </a:rPr>
              <a:t>?</a:t>
            </a:r>
          </a:p>
          <a:p>
            <a:r>
              <a:rPr lang="ko-KR" altLang="en-US" sz="1050" dirty="0">
                <a:solidFill>
                  <a:schemeClr val="bg1"/>
                </a:solidFill>
              </a:rPr>
              <a:t>아니면</a:t>
            </a:r>
            <a:r>
              <a:rPr lang="en-US" altLang="ko-KR" sz="1050" dirty="0">
                <a:solidFill>
                  <a:schemeClr val="bg1"/>
                </a:solidFill>
              </a:rPr>
              <a:t>, </a:t>
            </a:r>
            <a:r>
              <a:rPr lang="ko-KR" altLang="en-US" sz="1050" dirty="0">
                <a:solidFill>
                  <a:schemeClr val="bg1"/>
                </a:solidFill>
              </a:rPr>
              <a:t>별도 정보 </a:t>
            </a:r>
            <a:r>
              <a:rPr lang="ko-KR" altLang="en-US" sz="1050" dirty="0" err="1">
                <a:solidFill>
                  <a:schemeClr val="bg1"/>
                </a:solidFill>
              </a:rPr>
              <a:t>구분값</a:t>
            </a:r>
            <a:r>
              <a:rPr lang="ko-KR" altLang="en-US" sz="1050" dirty="0">
                <a:solidFill>
                  <a:schemeClr val="bg1"/>
                </a:solidFill>
              </a:rPr>
              <a:t> 추가 필요함</a:t>
            </a:r>
            <a:endParaRPr lang="en-US" altLang="ko-KR" sz="1050" dirty="0">
              <a:solidFill>
                <a:schemeClr val="bg1"/>
              </a:solidFill>
            </a:endParaRPr>
          </a:p>
          <a:p>
            <a:endParaRPr lang="en-US" altLang="ko-KR" sz="1050" dirty="0">
              <a:solidFill>
                <a:schemeClr val="bg1"/>
              </a:solidFill>
            </a:endParaRPr>
          </a:p>
          <a:p>
            <a:r>
              <a:rPr lang="en-US" altLang="ko-KR" sz="1050" dirty="0">
                <a:solidFill>
                  <a:schemeClr val="bg1"/>
                </a:solidFill>
              </a:rPr>
              <a:t>2. </a:t>
            </a:r>
            <a:r>
              <a:rPr lang="ko-KR" altLang="en-US" sz="1050" dirty="0" err="1">
                <a:solidFill>
                  <a:schemeClr val="bg1"/>
                </a:solidFill>
              </a:rPr>
              <a:t>미확정</a:t>
            </a:r>
            <a:r>
              <a:rPr lang="ko-KR" altLang="en-US" sz="1050" dirty="0">
                <a:solidFill>
                  <a:schemeClr val="bg1"/>
                </a:solidFill>
              </a:rPr>
              <a:t> 매출 </a:t>
            </a:r>
            <a:r>
              <a:rPr lang="en-US" altLang="ko-KR" sz="1050" dirty="0">
                <a:solidFill>
                  <a:schemeClr val="bg1"/>
                </a:solidFill>
              </a:rPr>
              <a:t>= MIS </a:t>
            </a:r>
            <a:r>
              <a:rPr lang="ko-KR" altLang="en-US" sz="1050" dirty="0">
                <a:solidFill>
                  <a:schemeClr val="bg1"/>
                </a:solidFill>
              </a:rPr>
              <a:t>연동</a:t>
            </a:r>
            <a:r>
              <a:rPr lang="en-US" altLang="ko-KR" sz="1050" dirty="0">
                <a:solidFill>
                  <a:schemeClr val="bg1"/>
                </a:solidFill>
              </a:rPr>
              <a:t>+</a:t>
            </a:r>
            <a:r>
              <a:rPr lang="ko-KR" altLang="en-US" sz="1050" dirty="0" err="1">
                <a:solidFill>
                  <a:schemeClr val="bg1"/>
                </a:solidFill>
              </a:rPr>
              <a:t>미연동</a:t>
            </a:r>
            <a:r>
              <a:rPr lang="en-US" altLang="ko-KR" sz="1050" dirty="0">
                <a:solidFill>
                  <a:schemeClr val="bg1"/>
                </a:solidFill>
              </a:rPr>
              <a:t>?</a:t>
            </a:r>
          </a:p>
          <a:p>
            <a:r>
              <a:rPr lang="en-US" altLang="ko-KR" sz="1050" dirty="0">
                <a:solidFill>
                  <a:schemeClr val="bg1"/>
                </a:solidFill>
              </a:rPr>
              <a:t> only </a:t>
            </a:r>
            <a:r>
              <a:rPr lang="ko-KR" altLang="en-US" sz="1050" dirty="0" err="1">
                <a:solidFill>
                  <a:schemeClr val="bg1"/>
                </a:solidFill>
              </a:rPr>
              <a:t>미연동</a:t>
            </a:r>
            <a:r>
              <a:rPr lang="en-US" altLang="ko-KR" sz="1050" dirty="0">
                <a:solidFill>
                  <a:schemeClr val="bg1"/>
                </a:solidFill>
              </a:rPr>
              <a:t>?</a:t>
            </a:r>
          </a:p>
          <a:p>
            <a:endParaRPr lang="en-US" altLang="ko-KR" sz="1050" dirty="0">
              <a:solidFill>
                <a:schemeClr val="bg1"/>
              </a:solidFill>
            </a:endParaRPr>
          </a:p>
          <a:p>
            <a:r>
              <a:rPr lang="en-US" altLang="ko-KR" sz="1050" dirty="0">
                <a:solidFill>
                  <a:schemeClr val="bg1"/>
                </a:solidFill>
              </a:rPr>
              <a:t>3. MIS </a:t>
            </a:r>
            <a:r>
              <a:rPr lang="ko-KR" altLang="en-US" sz="1050" dirty="0" err="1">
                <a:solidFill>
                  <a:schemeClr val="bg1"/>
                </a:solidFill>
              </a:rPr>
              <a:t>미연동</a:t>
            </a:r>
            <a:r>
              <a:rPr lang="ko-KR" altLang="en-US" sz="1050" dirty="0">
                <a:solidFill>
                  <a:schemeClr val="bg1"/>
                </a:solidFill>
              </a:rPr>
              <a:t> </a:t>
            </a:r>
            <a:r>
              <a:rPr lang="en-US" altLang="ko-KR" sz="1050" dirty="0">
                <a:solidFill>
                  <a:schemeClr val="bg1"/>
                </a:solidFill>
              </a:rPr>
              <a:t>= </a:t>
            </a:r>
            <a:r>
              <a:rPr lang="ko-KR" altLang="en-US" sz="1050" dirty="0">
                <a:solidFill>
                  <a:schemeClr val="bg1"/>
                </a:solidFill>
              </a:rPr>
              <a:t>계약정보 생성된 모든 데이터</a:t>
            </a:r>
            <a:r>
              <a:rPr lang="en-US" altLang="ko-KR" sz="1050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1529" y="3170688"/>
            <a:ext cx="18341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 </a:t>
            </a:r>
            <a:r>
              <a:rPr lang="ko-KR" altLang="en-US" sz="800" dirty="0" err="1">
                <a:solidFill>
                  <a:srgbClr val="FF0000"/>
                </a:solidFill>
              </a:rPr>
              <a:t>미확정</a:t>
            </a:r>
            <a:r>
              <a:rPr lang="ko-KR" altLang="en-US" sz="800" dirty="0">
                <a:solidFill>
                  <a:srgbClr val="FF0000"/>
                </a:solidFill>
              </a:rPr>
              <a:t> 매출에 탈퇴는 제외됩니다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677690"/>
              </p:ext>
            </p:extLst>
          </p:nvPr>
        </p:nvGraphicFramePr>
        <p:xfrm>
          <a:off x="487732" y="3542942"/>
          <a:ext cx="8262282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1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04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57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57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92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236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44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782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8093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475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아이디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이름</a:t>
                      </a:r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차수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계약일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상태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계약금액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청구일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MIS </a:t>
                      </a:r>
                      <a:r>
                        <a:rPr lang="ko-KR" altLang="en-US" sz="800" dirty="0"/>
                        <a:t>연동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배분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test1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YYYY-MM-DD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YYYY-MM-DD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홍길동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온라인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test2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김멀캠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test3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로지텍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test4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한길사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매거진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test5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" name="직사각형 48"/>
          <p:cNvSpPr/>
          <p:nvPr/>
        </p:nvSpPr>
        <p:spPr>
          <a:xfrm>
            <a:off x="6658450" y="341878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6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7471549" y="341038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7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02439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60536" y="1391933"/>
            <a:ext cx="534978" cy="1688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463435" y="1381467"/>
            <a:ext cx="534978" cy="1688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286687"/>
              </p:ext>
            </p:extLst>
          </p:nvPr>
        </p:nvGraphicFramePr>
        <p:xfrm>
          <a:off x="656003" y="1662444"/>
          <a:ext cx="8269805" cy="15163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5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4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7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7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616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확정매출</a:t>
                      </a:r>
                      <a:endParaRPr lang="en-US" altLang="ko-KR" sz="800" u="none" dirty="0"/>
                    </a:p>
                    <a:p>
                      <a:pPr algn="ctr" latinLnBrk="1"/>
                      <a:r>
                        <a:rPr lang="en-US" altLang="ko-KR" sz="800" u="none" dirty="0"/>
                        <a:t>(MIS </a:t>
                      </a:r>
                      <a:r>
                        <a:rPr lang="ko-KR" altLang="en-US" sz="800" u="none" dirty="0"/>
                        <a:t>연동 완료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계약금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부가세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총금액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미확정매출</a:t>
                      </a:r>
                      <a:endParaRPr lang="en-US" altLang="ko-KR" sz="800" u="none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dirty="0"/>
                        <a:t>(MIS </a:t>
                      </a:r>
                      <a:r>
                        <a:rPr lang="ko-KR" altLang="en-US" sz="800" u="none" dirty="0"/>
                        <a:t>연동</a:t>
                      </a:r>
                      <a:r>
                        <a:rPr lang="en-US" altLang="ko-KR" sz="800" u="none" dirty="0"/>
                        <a:t>+</a:t>
                      </a:r>
                      <a:r>
                        <a:rPr lang="ko-KR" altLang="en-US" sz="800" u="none" dirty="0" err="1"/>
                        <a:t>미연동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계약금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부가세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총금액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059771" y="1364891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영업대표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3754826" y="1391933"/>
            <a:ext cx="1504208" cy="16881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r"/>
            <a:r>
              <a:rPr lang="ko-KR" altLang="en-US" sz="800">
                <a:solidFill>
                  <a:schemeClr val="tx1"/>
                </a:solidFill>
              </a:rPr>
              <a:t>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2352" y="1362988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계약기간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8045922" y="1423471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263" y="880308"/>
            <a:ext cx="2210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계약 </a:t>
            </a:r>
            <a:r>
              <a:rPr lang="en-US" altLang="ko-KR" sz="1200" dirty="0"/>
              <a:t>&gt; </a:t>
            </a:r>
            <a:r>
              <a:rPr lang="ko-KR" altLang="en-US" sz="1200" dirty="0"/>
              <a:t>매출 </a:t>
            </a:r>
            <a:r>
              <a:rPr lang="en-US" altLang="ko-KR" sz="1200" dirty="0"/>
              <a:t>&gt; </a:t>
            </a:r>
            <a:r>
              <a:rPr lang="ko-KR" altLang="en-US" sz="1200" dirty="0"/>
              <a:t>월별 매출현황</a:t>
            </a:r>
            <a:endParaRPr lang="en-US" altLang="ko-KR" sz="1200" dirty="0"/>
          </a:p>
        </p:txBody>
      </p:sp>
      <p:sp>
        <p:nvSpPr>
          <p:cNvPr id="19" name="직사각형 18"/>
          <p:cNvSpPr/>
          <p:nvPr/>
        </p:nvSpPr>
        <p:spPr>
          <a:xfrm>
            <a:off x="1261829" y="1396097"/>
            <a:ext cx="442439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177" y="1399624"/>
            <a:ext cx="186718" cy="154639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2142195" y="1396097"/>
            <a:ext cx="442439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992" y="1394350"/>
            <a:ext cx="186718" cy="1546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98552" y="1333171"/>
            <a:ext cx="2920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25" name="직사각형 24"/>
          <p:cNvSpPr/>
          <p:nvPr/>
        </p:nvSpPr>
        <p:spPr>
          <a:xfrm>
            <a:off x="656004" y="3367681"/>
            <a:ext cx="8269803" cy="120087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월별 차트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총금액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기준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MIS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연동 매출 외 집계용 매출 현황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다운로드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CRM_04_001~003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1906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60536" y="1391933"/>
            <a:ext cx="534978" cy="1688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463435" y="1381467"/>
            <a:ext cx="534978" cy="1688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575986"/>
              </p:ext>
            </p:extLst>
          </p:nvPr>
        </p:nvGraphicFramePr>
        <p:xfrm>
          <a:off x="656004" y="1662444"/>
          <a:ext cx="8269804" cy="15163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0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0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4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43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616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금액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회원수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개인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회원수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확정매출</a:t>
                      </a:r>
                      <a:endParaRPr lang="en-US" altLang="ko-KR" sz="800" u="none" dirty="0"/>
                    </a:p>
                    <a:p>
                      <a:pPr algn="ctr" latinLnBrk="1"/>
                      <a:r>
                        <a:rPr lang="en-US" altLang="ko-KR" sz="800" u="none" dirty="0"/>
                        <a:t>(MIS </a:t>
                      </a:r>
                      <a:r>
                        <a:rPr lang="ko-KR" altLang="en-US" sz="800" u="none" dirty="0"/>
                        <a:t>연동 완료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계약금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000,000,000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00,000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부가세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총금액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미확정매출</a:t>
                      </a:r>
                      <a:endParaRPr lang="en-US" altLang="ko-KR" sz="800" u="none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dirty="0"/>
                        <a:t>(MIS </a:t>
                      </a:r>
                      <a:r>
                        <a:rPr lang="ko-KR" altLang="en-US" sz="800" u="none" dirty="0"/>
                        <a:t>연동</a:t>
                      </a:r>
                      <a:r>
                        <a:rPr lang="en-US" altLang="ko-KR" sz="800" u="none" dirty="0"/>
                        <a:t>+</a:t>
                      </a:r>
                      <a:r>
                        <a:rPr lang="ko-KR" altLang="en-US" sz="800" u="none" dirty="0" err="1"/>
                        <a:t>미연동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계약금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부가세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총금액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059771" y="1364891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영업대표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3754826" y="1391933"/>
            <a:ext cx="1504208" cy="16881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r"/>
            <a:r>
              <a:rPr lang="ko-KR" altLang="en-US" sz="800">
                <a:solidFill>
                  <a:schemeClr val="tx1"/>
                </a:solidFill>
              </a:rPr>
              <a:t>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2352" y="1362988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계약기간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8045922" y="1407818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263" y="880308"/>
            <a:ext cx="23647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계약 </a:t>
            </a:r>
            <a:r>
              <a:rPr lang="en-US" altLang="ko-KR" sz="1200" dirty="0"/>
              <a:t>&gt; </a:t>
            </a:r>
            <a:r>
              <a:rPr lang="ko-KR" altLang="en-US" sz="1200" dirty="0"/>
              <a:t>매출 </a:t>
            </a:r>
            <a:r>
              <a:rPr lang="en-US" altLang="ko-KR" sz="1200" dirty="0"/>
              <a:t>&gt; </a:t>
            </a:r>
            <a:r>
              <a:rPr lang="ko-KR" altLang="en-US" sz="1200" dirty="0"/>
              <a:t>기간별 매출현황</a:t>
            </a:r>
            <a:endParaRPr lang="en-US" altLang="ko-KR" sz="1200" dirty="0"/>
          </a:p>
        </p:txBody>
      </p:sp>
      <p:sp>
        <p:nvSpPr>
          <p:cNvPr id="19" name="직사각형 18"/>
          <p:cNvSpPr/>
          <p:nvPr/>
        </p:nvSpPr>
        <p:spPr>
          <a:xfrm>
            <a:off x="1261829" y="1396097"/>
            <a:ext cx="442439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177" y="1399624"/>
            <a:ext cx="186718" cy="154639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2142195" y="1396097"/>
            <a:ext cx="442439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992" y="1394350"/>
            <a:ext cx="186718" cy="1546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98552" y="1333171"/>
            <a:ext cx="2920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25" name="직사각형 24"/>
          <p:cNvSpPr/>
          <p:nvPr/>
        </p:nvSpPr>
        <p:spPr>
          <a:xfrm>
            <a:off x="656004" y="3367681"/>
            <a:ext cx="8269803" cy="120087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차트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marL="171450" indent="-171450" algn="ctr">
              <a:buFontTx/>
              <a:buChar char="-"/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전체 </a:t>
            </a:r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미확정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매출 중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MIS 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연동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확정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과 </a:t>
            </a:r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미연동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비율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</a:p>
          <a:p>
            <a:pPr marL="171450" indent="-171450" algn="ctr">
              <a:buFontTx/>
              <a:buChar char="-"/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금액 분포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MIS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연동 매출 외 집계용 매출 현황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다운로드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CRM_04_001~003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6878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263" y="880308"/>
            <a:ext cx="2265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계약 </a:t>
            </a:r>
            <a:r>
              <a:rPr lang="en-US" altLang="ko-KR" sz="1200" dirty="0"/>
              <a:t>&gt; </a:t>
            </a:r>
            <a:r>
              <a:rPr lang="ko-KR" altLang="en-US" sz="1200" dirty="0"/>
              <a:t>매출 </a:t>
            </a:r>
            <a:r>
              <a:rPr lang="en-US" altLang="ko-KR" sz="1200" dirty="0"/>
              <a:t>&gt; </a:t>
            </a:r>
            <a:r>
              <a:rPr lang="ko-KR" altLang="en-US" sz="1200" dirty="0"/>
              <a:t>연동 매출 이력</a:t>
            </a:r>
            <a:endParaRPr lang="en-US" altLang="ko-KR" sz="1200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457345"/>
              </p:ext>
            </p:extLst>
          </p:nvPr>
        </p:nvGraphicFramePr>
        <p:xfrm>
          <a:off x="480209" y="1265554"/>
          <a:ext cx="833768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8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5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5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8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MIS </a:t>
                      </a:r>
                      <a:r>
                        <a:rPr lang="ko-KR" altLang="en-US" sz="800" dirty="0"/>
                        <a:t>연동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배분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196669" y="1285162"/>
            <a:ext cx="442439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017" y="1288689"/>
            <a:ext cx="186718" cy="154639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2077035" y="1285162"/>
            <a:ext cx="442439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832" y="1283415"/>
            <a:ext cx="186718" cy="154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33392" y="1222236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16" name="직사각형 15"/>
          <p:cNvSpPr/>
          <p:nvPr/>
        </p:nvSpPr>
        <p:spPr>
          <a:xfrm>
            <a:off x="6514319" y="1290385"/>
            <a:ext cx="226028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265625" y="126247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981802" y="126247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643059" y="126555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826380" y="1288867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997065" y="628549"/>
            <a:ext cx="1768433" cy="66479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일자 조회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>
                <a:solidFill>
                  <a:srgbClr val="FF0000"/>
                </a:solidFill>
              </a:rPr>
              <a:t>Q. </a:t>
            </a:r>
            <a:r>
              <a:rPr lang="ko-KR" altLang="en-US" sz="800" dirty="0">
                <a:solidFill>
                  <a:srgbClr val="FF0000"/>
                </a:solidFill>
              </a:rPr>
              <a:t>계약기간</a:t>
            </a:r>
            <a:r>
              <a:rPr lang="en-US" altLang="ko-KR" sz="800" dirty="0">
                <a:solidFill>
                  <a:srgbClr val="FF0000"/>
                </a:solidFill>
              </a:rPr>
              <a:t>? </a:t>
            </a:r>
            <a:r>
              <a:rPr lang="ko-KR" altLang="en-US" sz="800" dirty="0">
                <a:solidFill>
                  <a:srgbClr val="FF0000"/>
                </a:solidFill>
              </a:rPr>
              <a:t>계약종료일</a:t>
            </a:r>
            <a:r>
              <a:rPr lang="en-US" altLang="ko-KR" sz="800" dirty="0">
                <a:solidFill>
                  <a:srgbClr val="FF0000"/>
                </a:solidFill>
              </a:rPr>
              <a:t>? </a:t>
            </a:r>
            <a:r>
              <a:rPr lang="ko-KR" altLang="en-US" sz="800" dirty="0">
                <a:solidFill>
                  <a:srgbClr val="FF0000"/>
                </a:solidFill>
              </a:rPr>
              <a:t>청구일</a:t>
            </a:r>
            <a:r>
              <a:rPr lang="en-US" altLang="ko-KR" sz="800" dirty="0">
                <a:solidFill>
                  <a:srgbClr val="FF0000"/>
                </a:solidFill>
              </a:rPr>
              <a:t>?</a:t>
            </a:r>
          </a:p>
          <a:p>
            <a:r>
              <a:rPr lang="ko-KR" altLang="en-US" sz="800" dirty="0">
                <a:solidFill>
                  <a:srgbClr val="FF0000"/>
                </a:solidFill>
              </a:rPr>
              <a:t>현업 확인 필요</a:t>
            </a:r>
            <a:endParaRPr lang="en-US" altLang="ko-KR" sz="800" dirty="0">
              <a:solidFill>
                <a:srgbClr val="FF0000"/>
              </a:solidFill>
            </a:endParaRP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MIS </a:t>
            </a:r>
            <a:r>
              <a:rPr lang="ko-KR" altLang="en-US" sz="1000" b="1" dirty="0">
                <a:solidFill>
                  <a:srgbClr val="00B0F0"/>
                </a:solidFill>
              </a:rPr>
              <a:t>연동 여부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전체</a:t>
            </a:r>
            <a:endParaRPr lang="en-US" altLang="ko-KR" sz="800" dirty="0"/>
          </a:p>
          <a:p>
            <a:r>
              <a:rPr lang="en-US" altLang="ko-KR" sz="800" dirty="0"/>
              <a:t>Y</a:t>
            </a:r>
          </a:p>
          <a:p>
            <a:r>
              <a:rPr lang="en-US" altLang="ko-KR" sz="800" dirty="0"/>
              <a:t>N</a:t>
            </a:r>
            <a:endParaRPr lang="en-US" altLang="ko-KR" sz="800" dirty="0">
              <a:solidFill>
                <a:srgbClr val="FF0000"/>
              </a:solidFill>
            </a:endParaRP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배분 매출 여부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전체</a:t>
            </a:r>
            <a:endParaRPr lang="en-US" altLang="ko-KR" sz="800" dirty="0"/>
          </a:p>
          <a:p>
            <a:r>
              <a:rPr lang="en-US" altLang="ko-KR" sz="800" dirty="0"/>
              <a:t>Y</a:t>
            </a:r>
          </a:p>
          <a:p>
            <a:r>
              <a:rPr lang="en-US" altLang="ko-KR" sz="800" dirty="0"/>
              <a:t>N</a:t>
            </a:r>
            <a:endParaRPr lang="en-US" altLang="ko-KR" sz="800" dirty="0">
              <a:solidFill>
                <a:srgbClr val="FF000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>
                <a:solidFill>
                  <a:srgbClr val="00B0F0"/>
                </a:solidFill>
              </a:rPr>
              <a:t>상태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계약</a:t>
            </a:r>
            <a:r>
              <a:rPr lang="en-US" altLang="ko-KR" sz="800" dirty="0"/>
              <a:t>(</a:t>
            </a:r>
            <a:r>
              <a:rPr lang="ko-KR" altLang="en-US" sz="800" dirty="0"/>
              <a:t>청구</a:t>
            </a:r>
            <a:r>
              <a:rPr lang="en-US" altLang="ko-KR" sz="800" dirty="0"/>
              <a:t>)</a:t>
            </a:r>
          </a:p>
          <a:p>
            <a:r>
              <a:rPr lang="ko-KR" altLang="en-US" sz="800" dirty="0"/>
              <a:t>영수</a:t>
            </a:r>
            <a:endParaRPr lang="en-US" altLang="ko-KR" sz="800" dirty="0"/>
          </a:p>
          <a:p>
            <a:r>
              <a:rPr lang="ko-KR" altLang="en-US" sz="800" dirty="0"/>
              <a:t>환불</a:t>
            </a:r>
            <a:endParaRPr lang="en-US" altLang="ko-KR" sz="800" dirty="0"/>
          </a:p>
          <a:p>
            <a:r>
              <a:rPr lang="ko-KR" altLang="en-US" sz="800" dirty="0"/>
              <a:t>중도해지</a:t>
            </a:r>
            <a:r>
              <a:rPr lang="en-US" altLang="ko-KR" sz="800" dirty="0"/>
              <a:t>(</a:t>
            </a:r>
            <a:r>
              <a:rPr lang="ko-KR" altLang="en-US" sz="800" dirty="0"/>
              <a:t>교체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endParaRPr lang="en-US" altLang="ko-KR" sz="6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[5] </a:t>
            </a:r>
            <a:r>
              <a:rPr lang="ko-KR" altLang="en-US" sz="1000" b="1" dirty="0">
                <a:solidFill>
                  <a:srgbClr val="00B0F0"/>
                </a:solidFill>
              </a:rPr>
              <a:t>계약구분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MIS </a:t>
            </a:r>
            <a:r>
              <a:rPr lang="ko-KR" altLang="en-US" sz="1000" b="1" dirty="0">
                <a:solidFill>
                  <a:srgbClr val="00B0F0"/>
                </a:solidFill>
              </a:rPr>
              <a:t>연동 여부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 Y / N  (</a:t>
            </a:r>
            <a:r>
              <a:rPr lang="ko-KR" altLang="en-US" sz="800" dirty="0"/>
              <a:t>계약 정보  데이터 </a:t>
            </a:r>
            <a:r>
              <a:rPr lang="ko-KR" altLang="en-US" sz="800" dirty="0" err="1"/>
              <a:t>매핑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[5] </a:t>
            </a:r>
            <a:r>
              <a:rPr lang="ko-KR" altLang="en-US" sz="1000" b="1" dirty="0">
                <a:solidFill>
                  <a:srgbClr val="00B0F0"/>
                </a:solidFill>
              </a:rPr>
              <a:t>배분매출 여부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 Y / N  (</a:t>
            </a:r>
            <a:r>
              <a:rPr lang="ko-KR" altLang="en-US" sz="800" dirty="0"/>
              <a:t>계약 정보  데이터 </a:t>
            </a:r>
            <a:r>
              <a:rPr lang="ko-KR" altLang="en-US" sz="800" dirty="0" err="1"/>
              <a:t>매핑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184728"/>
              </p:ext>
            </p:extLst>
          </p:nvPr>
        </p:nvGraphicFramePr>
        <p:xfrm>
          <a:off x="472912" y="2323005"/>
          <a:ext cx="8262282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1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04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57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57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92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236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44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782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8093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475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아이디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이름</a:t>
                      </a:r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차수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계약일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상태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계약금액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청구일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MIS </a:t>
                      </a:r>
                      <a:r>
                        <a:rPr lang="ko-KR" altLang="en-US" sz="800" dirty="0"/>
                        <a:t>연동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배분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test1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YYYY-MM-DD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YYYY-MM-DD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온라인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test2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test3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로지텍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test4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한길사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매거진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test5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모서리가 둥근 직사각형 36"/>
          <p:cNvSpPr/>
          <p:nvPr/>
        </p:nvSpPr>
        <p:spPr>
          <a:xfrm>
            <a:off x="480209" y="1905221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183916" y="1905221"/>
            <a:ext cx="998707" cy="18553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컨택</a:t>
            </a:r>
            <a:r>
              <a:rPr lang="ko-KR" altLang="en-US" sz="800" dirty="0">
                <a:solidFill>
                  <a:schemeClr val="tx1"/>
                </a:solidFill>
              </a:rPr>
              <a:t> 채널     ▼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2359815" y="1898982"/>
            <a:ext cx="879885" cy="1917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graphicFrame>
        <p:nvGraphicFramePr>
          <p:cNvPr id="40" name="표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602711"/>
              </p:ext>
            </p:extLst>
          </p:nvPr>
        </p:nvGraphicFramePr>
        <p:xfrm>
          <a:off x="10093554" y="4129134"/>
          <a:ext cx="939837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9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7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신규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신규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돌신</a:t>
                      </a:r>
                      <a:r>
                        <a:rPr lang="en-US" altLang="ko-KR" sz="800" u="none" dirty="0"/>
                        <a:t>) 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신규교체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재가입교체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돌재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서비스종료 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교체탈퇴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1" name="직사각형 40"/>
          <p:cNvSpPr/>
          <p:nvPr/>
        </p:nvSpPr>
        <p:spPr>
          <a:xfrm>
            <a:off x="1196669" y="1505955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3826380" y="1505955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01263" y="3603165"/>
            <a:ext cx="16399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Total 000      Page</a:t>
            </a:r>
            <a:r>
              <a:rPr lang="ko-KR" altLang="en-US" sz="800" dirty="0"/>
              <a:t> </a:t>
            </a:r>
            <a:r>
              <a:rPr lang="en-US" altLang="ko-KR" sz="800" dirty="0"/>
              <a:t>000   </a:t>
            </a:r>
            <a:endParaRPr lang="ko-KR" altLang="en-US" sz="800" dirty="0"/>
          </a:p>
        </p:txBody>
      </p:sp>
      <p:sp>
        <p:nvSpPr>
          <p:cNvPr id="46" name="직사각형 45"/>
          <p:cNvSpPr/>
          <p:nvPr/>
        </p:nvSpPr>
        <p:spPr>
          <a:xfrm>
            <a:off x="267377" y="149059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2980607" y="149059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5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65389" y="3970795"/>
            <a:ext cx="8269803" cy="120087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회원별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계약 상세 내용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6598234" y="219456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6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7423167" y="219456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7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MIS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연동 매출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미연동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현황 요약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CRM_04_004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6514319" y="1505955"/>
            <a:ext cx="226028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</p:spTree>
    <p:extLst>
      <p:ext uri="{BB962C8B-B14F-4D97-AF65-F5344CB8AC3E}">
        <p14:creationId xmlns:p14="http://schemas.microsoft.com/office/powerpoint/2010/main" val="19131111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610" y="959796"/>
            <a:ext cx="6686702" cy="4993531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562911" y="5072319"/>
            <a:ext cx="959796" cy="226013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377033" y="507232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97065" y="628549"/>
            <a:ext cx="210025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계약정보 수정 시</a:t>
            </a:r>
            <a:r>
              <a:rPr lang="en-US" altLang="ko-KR" sz="1000" b="1" dirty="0">
                <a:solidFill>
                  <a:srgbClr val="00B0F0"/>
                </a:solidFill>
              </a:rPr>
              <a:t> </a:t>
            </a:r>
            <a:r>
              <a:rPr lang="ko-KR" altLang="en-US" sz="1000" b="1" dirty="0">
                <a:solidFill>
                  <a:srgbClr val="00B0F0"/>
                </a:solidFill>
              </a:rPr>
              <a:t>메모 입력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MIS </a:t>
            </a:r>
            <a:r>
              <a:rPr lang="ko-KR" altLang="en-US" sz="1000" b="1" dirty="0">
                <a:solidFill>
                  <a:srgbClr val="00B0F0"/>
                </a:solidFill>
              </a:rPr>
              <a:t>연동 정보 수정 발생 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00B0F0"/>
                </a:solidFill>
              </a:rPr>
              <a:t>메모 필수 등록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>
              <a:solidFill>
                <a:srgbClr val="FF0000"/>
              </a:solidFill>
            </a:endParaRPr>
          </a:p>
          <a:p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계약정보 생성 이후 데이터 수정 발생 시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메모와 수정 이력을 함께 저장함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</a:p>
          <a:p>
            <a:endParaRPr lang="en-US" altLang="ko-KR" sz="800" dirty="0">
              <a:solidFill>
                <a:srgbClr val="FF0000"/>
              </a:solidFill>
            </a:endParaRPr>
          </a:p>
          <a:p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MIS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연동 매출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미연동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현황 요약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CRM_04_005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9535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263" y="880308"/>
            <a:ext cx="2419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계약 </a:t>
            </a:r>
            <a:r>
              <a:rPr lang="en-US" altLang="ko-KR" sz="1200" dirty="0"/>
              <a:t>&gt; </a:t>
            </a:r>
            <a:r>
              <a:rPr lang="ko-KR" altLang="en-US" sz="1200" dirty="0"/>
              <a:t>매출 </a:t>
            </a:r>
            <a:r>
              <a:rPr lang="en-US" altLang="ko-KR" sz="1200" dirty="0"/>
              <a:t>&gt; </a:t>
            </a:r>
            <a:r>
              <a:rPr lang="ko-KR" altLang="en-US" sz="1200" dirty="0"/>
              <a:t>금액 </a:t>
            </a:r>
            <a:r>
              <a:rPr lang="ko-KR" altLang="en-US" sz="1200" dirty="0" err="1"/>
              <a:t>기준별</a:t>
            </a:r>
            <a:r>
              <a:rPr lang="ko-KR" altLang="en-US" sz="1200" dirty="0"/>
              <a:t> 이력</a:t>
            </a:r>
            <a:endParaRPr lang="en-US" altLang="ko-KR" sz="1200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232606"/>
              </p:ext>
            </p:extLst>
          </p:nvPr>
        </p:nvGraphicFramePr>
        <p:xfrm>
          <a:off x="480209" y="1265554"/>
          <a:ext cx="833768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8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5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5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8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MIS </a:t>
                      </a:r>
                      <a:r>
                        <a:rPr lang="ko-KR" altLang="en-US" sz="800" dirty="0"/>
                        <a:t>연동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배분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196669" y="1285162"/>
            <a:ext cx="442439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017" y="1288689"/>
            <a:ext cx="186718" cy="154639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2077035" y="1285162"/>
            <a:ext cx="442439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832" y="1283415"/>
            <a:ext cx="186718" cy="154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33392" y="1222236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16" name="직사각형 15"/>
          <p:cNvSpPr/>
          <p:nvPr/>
        </p:nvSpPr>
        <p:spPr>
          <a:xfrm>
            <a:off x="6514319" y="1290385"/>
            <a:ext cx="226028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265625" y="126247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981802" y="126247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643059" y="126555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826380" y="1288867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997065" y="628549"/>
            <a:ext cx="1768433" cy="64017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일자 조회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>
                <a:solidFill>
                  <a:srgbClr val="FF0000"/>
                </a:solidFill>
              </a:rPr>
              <a:t>Q. </a:t>
            </a:r>
            <a:r>
              <a:rPr lang="ko-KR" altLang="en-US" sz="800" dirty="0">
                <a:solidFill>
                  <a:srgbClr val="FF0000"/>
                </a:solidFill>
              </a:rPr>
              <a:t>계약기간</a:t>
            </a:r>
            <a:r>
              <a:rPr lang="en-US" altLang="ko-KR" sz="800" dirty="0">
                <a:solidFill>
                  <a:srgbClr val="FF0000"/>
                </a:solidFill>
              </a:rPr>
              <a:t>? </a:t>
            </a:r>
            <a:r>
              <a:rPr lang="ko-KR" altLang="en-US" sz="800" dirty="0">
                <a:solidFill>
                  <a:srgbClr val="FF0000"/>
                </a:solidFill>
              </a:rPr>
              <a:t>계약종료일</a:t>
            </a:r>
            <a:r>
              <a:rPr lang="en-US" altLang="ko-KR" sz="800" dirty="0">
                <a:solidFill>
                  <a:srgbClr val="FF0000"/>
                </a:solidFill>
              </a:rPr>
              <a:t>? </a:t>
            </a:r>
            <a:r>
              <a:rPr lang="ko-KR" altLang="en-US" sz="800" dirty="0">
                <a:solidFill>
                  <a:srgbClr val="FF0000"/>
                </a:solidFill>
              </a:rPr>
              <a:t>청구일</a:t>
            </a:r>
            <a:r>
              <a:rPr lang="en-US" altLang="ko-KR" sz="800" dirty="0">
                <a:solidFill>
                  <a:srgbClr val="FF0000"/>
                </a:solidFill>
              </a:rPr>
              <a:t>?</a:t>
            </a:r>
          </a:p>
          <a:p>
            <a:r>
              <a:rPr lang="ko-KR" altLang="en-US" sz="800" dirty="0">
                <a:solidFill>
                  <a:srgbClr val="FF0000"/>
                </a:solidFill>
              </a:rPr>
              <a:t>현업 확인 필요</a:t>
            </a:r>
            <a:endParaRPr lang="en-US" altLang="ko-KR" sz="800" dirty="0">
              <a:solidFill>
                <a:srgbClr val="FF0000"/>
              </a:solidFill>
            </a:endParaRP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MIS </a:t>
            </a:r>
            <a:r>
              <a:rPr lang="ko-KR" altLang="en-US" sz="1000" b="1" dirty="0">
                <a:solidFill>
                  <a:srgbClr val="00B0F0"/>
                </a:solidFill>
              </a:rPr>
              <a:t>연동 여부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전체</a:t>
            </a:r>
            <a:endParaRPr lang="en-US" altLang="ko-KR" sz="800" dirty="0"/>
          </a:p>
          <a:p>
            <a:r>
              <a:rPr lang="en-US" altLang="ko-KR" sz="800" dirty="0"/>
              <a:t>Y</a:t>
            </a:r>
          </a:p>
          <a:p>
            <a:r>
              <a:rPr lang="en-US" altLang="ko-KR" sz="800" dirty="0"/>
              <a:t>N</a:t>
            </a:r>
            <a:endParaRPr lang="en-US" altLang="ko-KR" sz="800" dirty="0">
              <a:solidFill>
                <a:srgbClr val="FF0000"/>
              </a:solidFill>
            </a:endParaRP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배분 매출 여부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전체</a:t>
            </a:r>
            <a:endParaRPr lang="en-US" altLang="ko-KR" sz="800" dirty="0"/>
          </a:p>
          <a:p>
            <a:r>
              <a:rPr lang="en-US" altLang="ko-KR" sz="800" dirty="0"/>
              <a:t>Y</a:t>
            </a:r>
          </a:p>
          <a:p>
            <a:r>
              <a:rPr lang="en-US" altLang="ko-KR" sz="800" dirty="0"/>
              <a:t>N</a:t>
            </a:r>
            <a:endParaRPr lang="en-US" altLang="ko-KR" sz="800" dirty="0">
              <a:solidFill>
                <a:srgbClr val="FF000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>
                <a:solidFill>
                  <a:srgbClr val="00B0F0"/>
                </a:solidFill>
              </a:rPr>
              <a:t>기준</a:t>
            </a:r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금액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endParaRPr lang="en-US" altLang="ko-KR" sz="800" dirty="0"/>
          </a:p>
          <a:p>
            <a:r>
              <a:rPr lang="ko-KR" altLang="en-US" sz="800" dirty="0"/>
              <a:t>전체</a:t>
            </a:r>
            <a:endParaRPr lang="en-US" altLang="ko-KR" sz="800" dirty="0"/>
          </a:p>
          <a:p>
            <a:r>
              <a:rPr lang="ko-KR" altLang="en-US" sz="800" dirty="0"/>
              <a:t>정가</a:t>
            </a:r>
            <a:endParaRPr lang="en-US" altLang="ko-KR" sz="800" dirty="0"/>
          </a:p>
          <a:p>
            <a:r>
              <a:rPr lang="ko-KR" altLang="en-US" sz="800" dirty="0"/>
              <a:t>법인가</a:t>
            </a:r>
            <a:endParaRPr lang="en-US" altLang="ko-KR" sz="800" dirty="0"/>
          </a:p>
          <a:p>
            <a:r>
              <a:rPr lang="ko-KR" altLang="en-US" sz="800" dirty="0"/>
              <a:t>일할</a:t>
            </a:r>
            <a:endParaRPr lang="en-US" altLang="ko-KR" sz="800" dirty="0"/>
          </a:p>
          <a:p>
            <a:r>
              <a:rPr lang="ko-KR" altLang="en-US" sz="800" dirty="0" err="1"/>
              <a:t>턴키</a:t>
            </a:r>
            <a:endParaRPr lang="en-US" altLang="ko-KR" sz="800" dirty="0"/>
          </a:p>
          <a:p>
            <a:endParaRPr lang="en-US" altLang="ko-KR" sz="6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[5] </a:t>
            </a:r>
            <a:r>
              <a:rPr lang="ko-KR" altLang="en-US" sz="1000" b="1" dirty="0">
                <a:solidFill>
                  <a:srgbClr val="00B0F0"/>
                </a:solidFill>
              </a:rPr>
              <a:t>계약구분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MIS </a:t>
            </a:r>
            <a:r>
              <a:rPr lang="ko-KR" altLang="en-US" sz="1000" b="1" dirty="0">
                <a:solidFill>
                  <a:srgbClr val="00B0F0"/>
                </a:solidFill>
              </a:rPr>
              <a:t>연동 여부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 Y / N  (</a:t>
            </a:r>
            <a:r>
              <a:rPr lang="ko-KR" altLang="en-US" sz="800" dirty="0"/>
              <a:t>계약 정보  데이터 </a:t>
            </a:r>
            <a:r>
              <a:rPr lang="ko-KR" altLang="en-US" sz="800" dirty="0" err="1"/>
              <a:t>매핑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[5] </a:t>
            </a:r>
            <a:r>
              <a:rPr lang="ko-KR" altLang="en-US" sz="1000" b="1" dirty="0">
                <a:solidFill>
                  <a:srgbClr val="00B0F0"/>
                </a:solidFill>
              </a:rPr>
              <a:t>배분매출 여부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 Y / N  (</a:t>
            </a:r>
            <a:r>
              <a:rPr lang="ko-KR" altLang="en-US" sz="800" dirty="0"/>
              <a:t>계약 정보  데이터 </a:t>
            </a:r>
            <a:r>
              <a:rPr lang="ko-KR" altLang="en-US" sz="800" dirty="0" err="1"/>
              <a:t>매핑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52286"/>
              </p:ext>
            </p:extLst>
          </p:nvPr>
        </p:nvGraphicFramePr>
        <p:xfrm>
          <a:off x="472912" y="3678392"/>
          <a:ext cx="8294952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76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56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56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87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935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57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5227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4851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965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341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아이디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이름</a:t>
                      </a:r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차수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계약일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상태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계약금액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청구일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MIS </a:t>
                      </a:r>
                      <a:r>
                        <a:rPr lang="ko-KR" altLang="en-US" sz="800" dirty="0"/>
                        <a:t>연동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배분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test1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YYYY-MM-DD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정가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YYYY-MM-DD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온라인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test2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법인가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test3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로지텍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일할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정회원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test4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한길사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턴키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  <a:r>
                        <a:rPr lang="en-US" altLang="ko-KR" sz="800" u="none" dirty="0"/>
                        <a:t>-</a:t>
                      </a:r>
                      <a:r>
                        <a:rPr lang="ko-KR" altLang="en-US" sz="800" u="none" dirty="0"/>
                        <a:t>매거진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test5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모서리가 둥근 직사각형 36"/>
          <p:cNvSpPr/>
          <p:nvPr/>
        </p:nvSpPr>
        <p:spPr>
          <a:xfrm>
            <a:off x="480209" y="1905221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183916" y="1905221"/>
            <a:ext cx="998707" cy="18553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컨택</a:t>
            </a:r>
            <a:r>
              <a:rPr lang="ko-KR" altLang="en-US" sz="800" dirty="0">
                <a:solidFill>
                  <a:schemeClr val="tx1"/>
                </a:solidFill>
              </a:rPr>
              <a:t> 채널     ▼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2359815" y="1898982"/>
            <a:ext cx="879885" cy="1917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graphicFrame>
        <p:nvGraphicFramePr>
          <p:cNvPr id="40" name="표 39"/>
          <p:cNvGraphicFramePr>
            <a:graphicFrameLocks noGrp="1"/>
          </p:cNvGraphicFramePr>
          <p:nvPr/>
        </p:nvGraphicFramePr>
        <p:xfrm>
          <a:off x="10093554" y="4129134"/>
          <a:ext cx="939837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9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7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신규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신규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돌신</a:t>
                      </a:r>
                      <a:r>
                        <a:rPr lang="en-US" altLang="ko-KR" sz="800" u="none" dirty="0"/>
                        <a:t>) 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신규교체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재가입교체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돌재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서비스종료 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교체탈퇴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1" name="직사각형 40"/>
          <p:cNvSpPr/>
          <p:nvPr/>
        </p:nvSpPr>
        <p:spPr>
          <a:xfrm>
            <a:off x="1196669" y="1505955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3826380" y="1505955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01263" y="4958552"/>
            <a:ext cx="16399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Total 000      Page</a:t>
            </a:r>
            <a:r>
              <a:rPr lang="ko-KR" altLang="en-US" sz="800" dirty="0"/>
              <a:t> </a:t>
            </a:r>
            <a:r>
              <a:rPr lang="en-US" altLang="ko-KR" sz="800" dirty="0"/>
              <a:t>000   </a:t>
            </a:r>
            <a:endParaRPr lang="ko-KR" altLang="en-US" sz="800" dirty="0"/>
          </a:p>
        </p:txBody>
      </p:sp>
      <p:sp>
        <p:nvSpPr>
          <p:cNvPr id="46" name="직사각형 45"/>
          <p:cNvSpPr/>
          <p:nvPr/>
        </p:nvSpPr>
        <p:spPr>
          <a:xfrm>
            <a:off x="267377" y="149059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2980607" y="149059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5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65389" y="5326182"/>
            <a:ext cx="8269803" cy="120087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회원별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계약 상세 내용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6598234" y="354994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6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7423167" y="354994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7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MIS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연동 매출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미연동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현황 요약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금액 </a:t>
            </a:r>
            <a:r>
              <a:rPr lang="ko-KR" altLang="en-US" sz="1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기준별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이력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CRM_04_004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6514319" y="1505955"/>
            <a:ext cx="226028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362605"/>
              </p:ext>
            </p:extLst>
          </p:nvPr>
        </p:nvGraphicFramePr>
        <p:xfrm>
          <a:off x="487732" y="2335871"/>
          <a:ext cx="6619945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7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5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5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부가세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총금액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정가</a:t>
                      </a:r>
                      <a:endParaRPr lang="ko-KR" altLang="en-US" sz="5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000,000,000 </a:t>
                      </a:r>
                      <a:r>
                        <a:rPr lang="ko-KR" altLang="en-US" sz="800" dirty="0"/>
                        <a:t>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5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82229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 신규 계약 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  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법인계약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CRM_03_001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1263" y="880308"/>
            <a:ext cx="19030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계약 </a:t>
            </a:r>
            <a:r>
              <a:rPr lang="en-US" altLang="ko-KR" sz="1200" dirty="0"/>
              <a:t>&gt; </a:t>
            </a:r>
            <a:r>
              <a:rPr lang="ko-KR" altLang="en-US" sz="1200" dirty="0"/>
              <a:t>매출 </a:t>
            </a:r>
            <a:r>
              <a:rPr lang="en-US" altLang="ko-KR" sz="1200" dirty="0"/>
              <a:t>&gt; </a:t>
            </a:r>
            <a:r>
              <a:rPr lang="ko-KR" altLang="en-US" sz="1200" dirty="0"/>
              <a:t>매출 승인</a:t>
            </a:r>
            <a:endParaRPr lang="en-US" altLang="ko-KR" sz="1200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668250"/>
              </p:ext>
            </p:extLst>
          </p:nvPr>
        </p:nvGraphicFramePr>
        <p:xfrm>
          <a:off x="480209" y="1265554"/>
          <a:ext cx="833768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8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5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5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8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승인 요청 일자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금액구분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승인여부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1227447" y="1285162"/>
            <a:ext cx="507348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t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YYYY-MM-DD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190" y="1311997"/>
            <a:ext cx="142914" cy="118361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2107813" y="1285162"/>
            <a:ext cx="507348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t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YYYY-MM-DD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005" y="1306723"/>
            <a:ext cx="142914" cy="1183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64170" y="1222236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12" name="직사각형 11"/>
          <p:cNvSpPr/>
          <p:nvPr/>
        </p:nvSpPr>
        <p:spPr>
          <a:xfrm>
            <a:off x="6514319" y="1290385"/>
            <a:ext cx="226028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65625" y="126247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981802" y="126247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643059" y="126555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826380" y="1288867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480209" y="1905221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1263" y="4033735"/>
            <a:ext cx="16399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Total 000      Page</a:t>
            </a:r>
            <a:r>
              <a:rPr lang="ko-KR" altLang="en-US" sz="800" dirty="0"/>
              <a:t> </a:t>
            </a:r>
            <a:r>
              <a:rPr lang="en-US" altLang="ko-KR" sz="800" dirty="0"/>
              <a:t>000   </a:t>
            </a:r>
            <a:endParaRPr lang="ko-KR" altLang="en-US" sz="800" dirty="0"/>
          </a:p>
        </p:txBody>
      </p:sp>
      <p:sp>
        <p:nvSpPr>
          <p:cNvPr id="26" name="직사각형 25"/>
          <p:cNvSpPr/>
          <p:nvPr/>
        </p:nvSpPr>
        <p:spPr>
          <a:xfrm>
            <a:off x="472912" y="4673180"/>
            <a:ext cx="8269803" cy="120087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상단 리스트에서 구분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금액구분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이름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회사명 클릭 시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하단에 해당 계약 상세 내용 펼침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팝업으로 실행되어도 무방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687572"/>
              </p:ext>
            </p:extLst>
          </p:nvPr>
        </p:nvGraphicFramePr>
        <p:xfrm>
          <a:off x="472912" y="2712132"/>
          <a:ext cx="833016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6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62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85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01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071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913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75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60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840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7840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9167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금액구분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승인여부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차수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계약일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계약금액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청구일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계약인원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배분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인당 단가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승인 요청일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법인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정가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N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YYYY-MM-DD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000,000,000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YYYY-MM-DD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홍길동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YYYY-MM-DD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정가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N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김멀캠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특별할인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로지텍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N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개인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일할계산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김멀캠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한길사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N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□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법인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턴키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N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모서리가 둥근 직사각형 30"/>
          <p:cNvSpPr/>
          <p:nvPr/>
        </p:nvSpPr>
        <p:spPr>
          <a:xfrm>
            <a:off x="1125349" y="1905221"/>
            <a:ext cx="759923" cy="18170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34" name="모서리가 둥근 직사각형 33"/>
          <p:cNvSpPr/>
          <p:nvPr/>
        </p:nvSpPr>
        <p:spPr>
          <a:xfrm>
            <a:off x="472912" y="2437900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승인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3037" y="2444356"/>
            <a:ext cx="35076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매출 정보 선택 후 승인해 주세요</a:t>
            </a:r>
            <a:r>
              <a:rPr lang="en-US" altLang="ko-KR" sz="800" dirty="0"/>
              <a:t>.(</a:t>
            </a:r>
            <a:r>
              <a:rPr lang="ko-KR" altLang="en-US" sz="800" dirty="0"/>
              <a:t>승인 완료 시 </a:t>
            </a:r>
            <a:r>
              <a:rPr lang="en-US" altLang="ko-KR" sz="800" dirty="0"/>
              <a:t>MIS </a:t>
            </a:r>
            <a:r>
              <a:rPr lang="ko-KR" altLang="en-US" sz="800" dirty="0"/>
              <a:t>정산 연동됩니다</a:t>
            </a:r>
            <a:r>
              <a:rPr lang="en-US" altLang="ko-KR" sz="800" dirty="0"/>
              <a:t>.)</a:t>
            </a:r>
            <a:endParaRPr lang="ko-KR" altLang="en-US" sz="800" dirty="0"/>
          </a:p>
        </p:txBody>
      </p:sp>
      <p:sp>
        <p:nvSpPr>
          <p:cNvPr id="36" name="TextBox 35"/>
          <p:cNvSpPr txBox="1"/>
          <p:nvPr/>
        </p:nvSpPr>
        <p:spPr>
          <a:xfrm>
            <a:off x="9997065" y="628549"/>
            <a:ext cx="1944763" cy="584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00B0F0"/>
                </a:solidFill>
              </a:rPr>
              <a:t>매출 승인 페이지 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00B0F0"/>
                </a:solidFill>
              </a:rPr>
              <a:t>권한</a:t>
            </a:r>
            <a:r>
              <a:rPr lang="en-US" altLang="ko-KR" sz="1000" b="1" dirty="0">
                <a:solidFill>
                  <a:srgbClr val="00B0F0"/>
                </a:solidFill>
              </a:rPr>
              <a:t> </a:t>
            </a:r>
            <a:r>
              <a:rPr lang="ko-KR" altLang="en-US" sz="1000" b="1" dirty="0">
                <a:solidFill>
                  <a:srgbClr val="00B0F0"/>
                </a:solidFill>
              </a:rPr>
              <a:t>관리 필요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승인 요청일 조회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b="1" dirty="0">
                <a:solidFill>
                  <a:srgbClr val="00B0F0"/>
                </a:solidFill>
              </a:rPr>
              <a:t>[1-1] </a:t>
            </a:r>
            <a:r>
              <a:rPr lang="ko-KR" altLang="en-US" sz="800" dirty="0">
                <a:solidFill>
                  <a:srgbClr val="FF0000"/>
                </a:solidFill>
              </a:rPr>
              <a:t>페이지 진입 시 기본값은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800" dirty="0">
                <a:solidFill>
                  <a:srgbClr val="FF0000"/>
                </a:solidFill>
              </a:rPr>
              <a:t>- </a:t>
            </a:r>
            <a:r>
              <a:rPr lang="ko-KR" altLang="en-US" sz="800" dirty="0">
                <a:solidFill>
                  <a:srgbClr val="FF0000"/>
                </a:solidFill>
              </a:rPr>
              <a:t>요청일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>
                <a:solidFill>
                  <a:srgbClr val="FF0000"/>
                </a:solidFill>
              </a:rPr>
              <a:t>금액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>
                <a:solidFill>
                  <a:srgbClr val="FF0000"/>
                </a:solidFill>
              </a:rPr>
              <a:t>영업대표는 전체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800" dirty="0">
                <a:solidFill>
                  <a:srgbClr val="FF0000"/>
                </a:solidFill>
              </a:rPr>
              <a:t>- </a:t>
            </a:r>
            <a:r>
              <a:rPr lang="ko-KR" altLang="en-US" sz="800" dirty="0">
                <a:solidFill>
                  <a:srgbClr val="FF0000"/>
                </a:solidFill>
              </a:rPr>
              <a:t>승인여부는 </a:t>
            </a:r>
            <a:r>
              <a:rPr lang="en-US" altLang="ko-KR" sz="800" dirty="0">
                <a:solidFill>
                  <a:srgbClr val="FF0000"/>
                </a:solidFill>
              </a:rPr>
              <a:t>N</a:t>
            </a:r>
          </a:p>
          <a:p>
            <a:r>
              <a:rPr lang="ko-KR" altLang="en-US" sz="800" dirty="0">
                <a:solidFill>
                  <a:srgbClr val="FF0000"/>
                </a:solidFill>
              </a:rPr>
              <a:t>계약 전체 건 </a:t>
            </a:r>
            <a:r>
              <a:rPr lang="ko-KR" altLang="en-US" sz="800" dirty="0" err="1">
                <a:solidFill>
                  <a:srgbClr val="FF0000"/>
                </a:solidFill>
              </a:rPr>
              <a:t>리스트업</a:t>
            </a:r>
            <a:endParaRPr lang="en-US" altLang="ko-KR" sz="800" dirty="0">
              <a:solidFill>
                <a:srgbClr val="FF0000"/>
              </a:solidFill>
            </a:endParaRP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금액 구분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전체</a:t>
            </a:r>
            <a:endParaRPr lang="en-US" altLang="ko-KR" sz="800" dirty="0"/>
          </a:p>
          <a:p>
            <a:r>
              <a:rPr lang="ko-KR" altLang="en-US" sz="800" dirty="0"/>
              <a:t>정가</a:t>
            </a:r>
            <a:endParaRPr lang="en-US" altLang="ko-KR" sz="800" dirty="0"/>
          </a:p>
          <a:p>
            <a:r>
              <a:rPr lang="ko-KR" altLang="en-US" sz="800" dirty="0"/>
              <a:t>법인가</a:t>
            </a:r>
            <a:endParaRPr lang="en-US" altLang="ko-KR" sz="800" dirty="0"/>
          </a:p>
          <a:p>
            <a:r>
              <a:rPr lang="ko-KR" altLang="en-US" sz="800" dirty="0" err="1"/>
              <a:t>일할계산</a:t>
            </a:r>
            <a:endParaRPr lang="en-US" altLang="ko-KR" sz="800" dirty="0"/>
          </a:p>
          <a:p>
            <a:r>
              <a:rPr lang="ko-KR" altLang="en-US" sz="800" dirty="0" err="1"/>
              <a:t>턴키</a:t>
            </a:r>
            <a:endParaRPr lang="en-US" altLang="ko-KR" sz="800" dirty="0"/>
          </a:p>
          <a:p>
            <a:r>
              <a:rPr lang="ko-KR" altLang="en-US" sz="800" dirty="0"/>
              <a:t>특별할인</a:t>
            </a:r>
            <a:endParaRPr lang="en-US" altLang="ko-KR" sz="800" dirty="0">
              <a:solidFill>
                <a:srgbClr val="FF0000"/>
              </a:solidFill>
            </a:endParaRP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영업대표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/>
              <a:t>= </a:t>
            </a:r>
            <a:r>
              <a:rPr lang="ko-KR" altLang="en-US" sz="800" dirty="0"/>
              <a:t>승인 </a:t>
            </a:r>
            <a:r>
              <a:rPr lang="ko-KR" altLang="en-US" sz="800" dirty="0" err="1"/>
              <a:t>요청자</a:t>
            </a:r>
            <a:endParaRPr lang="en-US" altLang="ko-KR" sz="800" dirty="0">
              <a:solidFill>
                <a:srgbClr val="FF000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>
                <a:solidFill>
                  <a:srgbClr val="00B0F0"/>
                </a:solidFill>
              </a:rPr>
              <a:t>승인여부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전체</a:t>
            </a:r>
            <a:endParaRPr lang="en-US" altLang="ko-KR" sz="800" dirty="0"/>
          </a:p>
          <a:p>
            <a:r>
              <a:rPr lang="en-US" altLang="ko-KR" sz="800" dirty="0"/>
              <a:t>N(</a:t>
            </a:r>
            <a:r>
              <a:rPr lang="ko-KR" altLang="en-US" sz="800" dirty="0" err="1"/>
              <a:t>미승인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/>
              <a:t>Y(</a:t>
            </a:r>
            <a:r>
              <a:rPr lang="ko-KR" altLang="en-US" sz="800" dirty="0"/>
              <a:t>승인완료</a:t>
            </a:r>
            <a:r>
              <a:rPr lang="en-US" altLang="ko-KR" sz="800" dirty="0"/>
              <a:t>)</a:t>
            </a:r>
          </a:p>
          <a:p>
            <a:endParaRPr lang="en-US" altLang="ko-KR" sz="6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[5] </a:t>
            </a:r>
            <a:r>
              <a:rPr lang="ko-KR" altLang="en-US" sz="1000" b="1" dirty="0">
                <a:solidFill>
                  <a:srgbClr val="00B0F0"/>
                </a:solidFill>
              </a:rPr>
              <a:t>승인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일괄선택 혹은 개별 선택 후 승인 처리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총 </a:t>
            </a:r>
            <a:r>
              <a:rPr lang="en-US" altLang="ko-KR" sz="800" dirty="0"/>
              <a:t>O</a:t>
            </a:r>
            <a:r>
              <a:rPr lang="ko-KR" altLang="en-US" sz="800" dirty="0"/>
              <a:t>건의 계약정보를 승인합니다</a:t>
            </a:r>
            <a:r>
              <a:rPr lang="en-US" altLang="ko-KR" sz="800" dirty="0"/>
              <a:t>.</a:t>
            </a:r>
          </a:p>
          <a:p>
            <a:endParaRPr lang="en-US" altLang="ko-KR" sz="800" dirty="0"/>
          </a:p>
          <a:p>
            <a:r>
              <a:rPr lang="en-US" altLang="ko-KR" sz="800" dirty="0"/>
              <a:t>            [</a:t>
            </a:r>
            <a:r>
              <a:rPr lang="ko-KR" altLang="en-US" sz="800" dirty="0"/>
              <a:t>취소</a:t>
            </a:r>
            <a:r>
              <a:rPr lang="en-US" altLang="ko-KR" sz="800" dirty="0"/>
              <a:t>]   [</a:t>
            </a:r>
            <a:r>
              <a:rPr lang="ko-KR" altLang="en-US" sz="800" dirty="0"/>
              <a:t>확인</a:t>
            </a:r>
            <a:r>
              <a:rPr lang="en-US" altLang="ko-KR" sz="800" dirty="0"/>
              <a:t>]</a:t>
            </a:r>
          </a:p>
          <a:p>
            <a:endParaRPr lang="en-US" altLang="ko-KR" sz="800" dirty="0"/>
          </a:p>
          <a:p>
            <a:r>
              <a:rPr lang="en-US" altLang="ko-KR" sz="800" b="1" dirty="0">
                <a:solidFill>
                  <a:srgbClr val="00B0F0"/>
                </a:solidFill>
              </a:rPr>
              <a:t>[5-1] </a:t>
            </a:r>
            <a:r>
              <a:rPr lang="ko-KR" altLang="en-US" sz="800" b="1" dirty="0">
                <a:solidFill>
                  <a:srgbClr val="00B0F0"/>
                </a:solidFill>
              </a:rPr>
              <a:t>승인여부가 </a:t>
            </a:r>
            <a:r>
              <a:rPr lang="en-US" altLang="ko-KR" sz="800" b="1" dirty="0">
                <a:solidFill>
                  <a:srgbClr val="00B0F0"/>
                </a:solidFill>
              </a:rPr>
              <a:t>Y</a:t>
            </a:r>
            <a:r>
              <a:rPr lang="ko-KR" altLang="en-US" sz="800" b="1" dirty="0">
                <a:solidFill>
                  <a:srgbClr val="00B0F0"/>
                </a:solidFill>
              </a:rPr>
              <a:t>인 경우</a:t>
            </a:r>
            <a:endParaRPr lang="en-US" altLang="ko-KR" sz="8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en-US" altLang="ko-KR" sz="800" dirty="0"/>
              <a:t>Y ($</a:t>
            </a:r>
            <a:r>
              <a:rPr lang="ko-KR" altLang="en-US" sz="800" dirty="0"/>
              <a:t>승인자 이름</a:t>
            </a:r>
            <a:r>
              <a:rPr lang="en-US" altLang="ko-KR" sz="800" dirty="0"/>
              <a:t>$)  </a:t>
            </a:r>
            <a:r>
              <a:rPr lang="ko-KR" altLang="en-US" sz="800" dirty="0"/>
              <a:t>으로 안내함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[6] </a:t>
            </a:r>
            <a:r>
              <a:rPr lang="ko-KR" altLang="en-US" sz="1000" b="1" dirty="0">
                <a:solidFill>
                  <a:srgbClr val="00B0F0"/>
                </a:solidFill>
              </a:rPr>
              <a:t>금액구분 </a:t>
            </a:r>
            <a:r>
              <a:rPr lang="en-US" altLang="ko-KR" sz="1000" b="1" dirty="0">
                <a:solidFill>
                  <a:srgbClr val="00B0F0"/>
                </a:solidFill>
              </a:rPr>
              <a:t>&gt; </a:t>
            </a:r>
            <a:r>
              <a:rPr lang="ko-KR" altLang="en-US" sz="1000" b="1" dirty="0">
                <a:solidFill>
                  <a:srgbClr val="00B0F0"/>
                </a:solidFill>
              </a:rPr>
              <a:t>특별할인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 err="1"/>
              <a:t>는에</a:t>
            </a:r>
            <a:r>
              <a:rPr lang="ko-KR" altLang="en-US" sz="800" dirty="0"/>
              <a:t> 띄는 컬러로 강조</a:t>
            </a:r>
            <a:endParaRPr lang="en-US" altLang="ko-KR" sz="800" dirty="0"/>
          </a:p>
        </p:txBody>
      </p:sp>
      <p:sp>
        <p:nvSpPr>
          <p:cNvPr id="37" name="직사각형 36"/>
          <p:cNvSpPr/>
          <p:nvPr/>
        </p:nvSpPr>
        <p:spPr>
          <a:xfrm>
            <a:off x="245339" y="2762872"/>
            <a:ext cx="227573" cy="17727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216630" y="1495656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9997065" y="4928179"/>
            <a:ext cx="1770560" cy="507994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269727" y="1509377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935161" y="2338774"/>
            <a:ext cx="190187" cy="175978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5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3563637" y="2940148"/>
            <a:ext cx="227573" cy="177276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5-1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985210" y="3376448"/>
            <a:ext cx="190187" cy="175978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6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43059" y="2331207"/>
            <a:ext cx="2659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인당 단가</a:t>
            </a:r>
            <a:r>
              <a:rPr lang="en-US" altLang="ko-KR" sz="1200" dirty="0"/>
              <a:t>=</a:t>
            </a:r>
            <a:r>
              <a:rPr lang="ko-KR" altLang="en-US" sz="1200" dirty="0"/>
              <a:t>기준금액</a:t>
            </a:r>
            <a:r>
              <a:rPr lang="en-US" altLang="ko-KR" sz="1200" dirty="0"/>
              <a:t>(1</a:t>
            </a:r>
            <a:r>
              <a:rPr lang="ko-KR" altLang="en-US" sz="1200" dirty="0"/>
              <a:t>인</a:t>
            </a:r>
            <a:r>
              <a:rPr lang="en-US" altLang="ko-KR" sz="1200" dirty="0"/>
              <a:t>), </a:t>
            </a:r>
            <a:r>
              <a:rPr lang="ko-KR" altLang="en-US" sz="1200" dirty="0"/>
              <a:t>계약기간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907822" y="2003898"/>
            <a:ext cx="8268604" cy="3145276"/>
          </a:xfrm>
          <a:prstGeom prst="rect">
            <a:avLst/>
          </a:prstGeom>
          <a:solidFill>
            <a:srgbClr val="00B0F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>
                <a:solidFill>
                  <a:schemeClr val="bg1"/>
                </a:solidFill>
              </a:rPr>
              <a:t>실행하지 않음</a:t>
            </a:r>
            <a:endParaRPr lang="en-US" altLang="ko-KR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8287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263" y="880308"/>
            <a:ext cx="19030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계약 </a:t>
            </a:r>
            <a:r>
              <a:rPr lang="en-US" altLang="ko-KR" sz="1200" dirty="0"/>
              <a:t>&gt; </a:t>
            </a:r>
            <a:r>
              <a:rPr lang="ko-KR" altLang="en-US" sz="1200" dirty="0"/>
              <a:t>매출 </a:t>
            </a:r>
            <a:r>
              <a:rPr lang="en-US" altLang="ko-KR" sz="1200" dirty="0"/>
              <a:t>&gt; </a:t>
            </a:r>
            <a:r>
              <a:rPr lang="ko-KR" altLang="en-US" sz="1200" dirty="0"/>
              <a:t>매출 승인</a:t>
            </a:r>
            <a:endParaRPr lang="en-US" altLang="ko-KR" sz="1200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884764"/>
              </p:ext>
            </p:extLst>
          </p:nvPr>
        </p:nvGraphicFramePr>
        <p:xfrm>
          <a:off x="480209" y="1265554"/>
          <a:ext cx="833768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8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5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5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8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승인 요청 일자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금액구분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승인여부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1227447" y="1285162"/>
            <a:ext cx="507348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t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YYYY-MM-DD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190" y="1311997"/>
            <a:ext cx="142914" cy="11836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107813" y="1285162"/>
            <a:ext cx="507348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t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YYYY-MM-DD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005" y="1306723"/>
            <a:ext cx="142914" cy="1183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64170" y="1222236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9" name="직사각형 8"/>
          <p:cNvSpPr/>
          <p:nvPr/>
        </p:nvSpPr>
        <p:spPr>
          <a:xfrm>
            <a:off x="6514319" y="1290385"/>
            <a:ext cx="226028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3826380" y="1288867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216630" y="1495656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 신규 계약 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  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법인계약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CRM_03_001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11799" y="1950948"/>
            <a:ext cx="43506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- </a:t>
            </a:r>
            <a:r>
              <a:rPr lang="ko-KR" altLang="en-US" sz="1200" b="1" dirty="0"/>
              <a:t>접근 권한 </a:t>
            </a:r>
            <a:r>
              <a:rPr lang="en-US" altLang="ko-KR" sz="1200" b="1" dirty="0"/>
              <a:t>Y </a:t>
            </a:r>
            <a:r>
              <a:rPr lang="ko-KR" altLang="en-US" sz="1200" b="1" dirty="0"/>
              <a:t>  </a:t>
            </a:r>
            <a:r>
              <a:rPr lang="en-US" altLang="ko-KR" sz="1200" b="1" dirty="0"/>
              <a:t>:   CRM </a:t>
            </a:r>
            <a:r>
              <a:rPr lang="ko-KR" altLang="en-US" sz="1200" b="1" dirty="0"/>
              <a:t>사용자 누구나 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조회 </a:t>
            </a:r>
            <a:r>
              <a:rPr lang="en-US" altLang="ko-KR" sz="1200" b="1" dirty="0"/>
              <a:t>only)</a:t>
            </a:r>
          </a:p>
          <a:p>
            <a:endParaRPr lang="en-US" altLang="ko-KR" sz="1200" b="1" dirty="0"/>
          </a:p>
          <a:p>
            <a:r>
              <a:rPr lang="en-US" altLang="ko-KR" sz="1200" b="1" dirty="0"/>
              <a:t>- </a:t>
            </a:r>
            <a:r>
              <a:rPr lang="ko-KR" altLang="en-US" sz="1200" b="1" dirty="0"/>
              <a:t>승인 권한 </a:t>
            </a:r>
            <a:r>
              <a:rPr lang="en-US" altLang="ko-KR" sz="1200" b="1" dirty="0"/>
              <a:t>Y </a:t>
            </a:r>
            <a:r>
              <a:rPr lang="ko-KR" altLang="en-US" sz="1200" b="1" dirty="0"/>
              <a:t>  </a:t>
            </a:r>
            <a:r>
              <a:rPr lang="en-US" altLang="ko-KR" sz="1200" b="1" dirty="0"/>
              <a:t>:   SERICEO</a:t>
            </a:r>
            <a:r>
              <a:rPr lang="ko-KR" altLang="en-US" sz="1200" b="1" dirty="0" err="1"/>
              <a:t>사업그룹장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강원기</a:t>
            </a:r>
            <a:r>
              <a:rPr lang="en-US" altLang="ko-KR" sz="1200" b="1" dirty="0"/>
              <a:t>), OOO, OOO</a:t>
            </a:r>
          </a:p>
          <a:p>
            <a:r>
              <a:rPr lang="en-US" altLang="ko-KR" sz="1200" b="1" dirty="0"/>
              <a:t>                       (</a:t>
            </a:r>
            <a:r>
              <a:rPr lang="ko-KR" altLang="en-US" sz="1200" b="1" dirty="0"/>
              <a:t>단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요청자와</a:t>
            </a:r>
            <a:r>
              <a:rPr lang="ko-KR" altLang="en-US" sz="1200" b="1" dirty="0"/>
              <a:t> 승인자가 같을 수 없음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sp>
        <p:nvSpPr>
          <p:cNvPr id="15" name="직사각형 14"/>
          <p:cNvSpPr/>
          <p:nvPr/>
        </p:nvSpPr>
        <p:spPr>
          <a:xfrm>
            <a:off x="907822" y="2003898"/>
            <a:ext cx="8268604" cy="3145276"/>
          </a:xfrm>
          <a:prstGeom prst="rect">
            <a:avLst/>
          </a:prstGeom>
          <a:solidFill>
            <a:srgbClr val="00B0F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>
                <a:solidFill>
                  <a:schemeClr val="bg1"/>
                </a:solidFill>
              </a:rPr>
              <a:t>실행하지 않음</a:t>
            </a:r>
            <a:endParaRPr lang="en-US" altLang="ko-KR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3980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52" y="1554019"/>
            <a:ext cx="8612010" cy="4655981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953340" y="591381"/>
            <a:ext cx="173637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탈퇴</a:t>
            </a:r>
            <a:r>
              <a:rPr lang="en-US" altLang="ko-KR" sz="1000" b="1" dirty="0">
                <a:solidFill>
                  <a:srgbClr val="00B0F0"/>
                </a:solidFill>
              </a:rPr>
              <a:t>(=</a:t>
            </a:r>
            <a:r>
              <a:rPr lang="ko-KR" altLang="en-US" sz="1000" b="1" dirty="0">
                <a:solidFill>
                  <a:srgbClr val="00B0F0"/>
                </a:solidFill>
              </a:rPr>
              <a:t>서비스종료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  <a:r>
              <a:rPr lang="ko-KR" altLang="en-US" sz="1000" b="1" dirty="0">
                <a:solidFill>
                  <a:srgbClr val="00B0F0"/>
                </a:solidFill>
              </a:rPr>
              <a:t>사유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</p:txBody>
      </p:sp>
      <p:sp>
        <p:nvSpPr>
          <p:cNvPr id="39" name="직사각형 38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탈퇴 사유 관리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CRM_05_001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792494" y="5623554"/>
            <a:ext cx="1238655" cy="180616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4606617" y="562355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353330"/>
              </p:ext>
            </p:extLst>
          </p:nvPr>
        </p:nvGraphicFramePr>
        <p:xfrm>
          <a:off x="10051915" y="1297512"/>
          <a:ext cx="1606435" cy="3558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1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선택값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사업종료</a:t>
                      </a:r>
                      <a:r>
                        <a:rPr lang="en-US" altLang="ko-KR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입찰</a:t>
                      </a:r>
                      <a:r>
                        <a:rPr lang="en-US" altLang="ko-KR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예산부족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퇴사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부서이동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이용저조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바쁨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타서비스</a:t>
                      </a:r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이용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SERIPro</a:t>
                      </a:r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이용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콘텐츠</a:t>
                      </a:r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불만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일시중단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해외체류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직접입력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교체 </a:t>
                      </a:r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to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직접입력</a:t>
                      </a:r>
                      <a:r>
                        <a:rPr lang="en-US" altLang="ko-KR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승계받을</a:t>
                      </a:r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id)</a:t>
                      </a:r>
                    </a:p>
                    <a:p>
                      <a:pPr algn="l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맑은 고딕" panose="020B0503020000020004" pitchFamily="50" charset="-127"/>
                        </a:rPr>
                        <a:t>처리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맑은 고딕" panose="020B0503020000020004" pitchFamily="50" charset="-127"/>
                        </a:rPr>
                        <a:t>=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맑은 고딕" panose="020B0503020000020004" pitchFamily="50" charset="-127"/>
                        </a:rPr>
                        <a:t>교체탈퇴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맑은 고딕" panose="020B0503020000020004" pitchFamily="50" charset="-127"/>
                        </a:rPr>
                        <a:t>계약구분값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2675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7769" y="660265"/>
            <a:ext cx="1327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현황 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회원현황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5368456" y="1326743"/>
            <a:ext cx="518260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948559" y="1326744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122161"/>
              </p:ext>
            </p:extLst>
          </p:nvPr>
        </p:nvGraphicFramePr>
        <p:xfrm>
          <a:off x="546959" y="2866487"/>
          <a:ext cx="9017211" cy="32232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0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1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1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13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616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사유별</a:t>
                      </a:r>
                      <a:r>
                        <a:rPr lang="ko-KR" altLang="en-US" sz="800" dirty="0"/>
                        <a:t> 현황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예산부족</a:t>
                      </a:r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사업종료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/>
                        <a:t>입찰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예산부족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퇴사</a:t>
                      </a:r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퇴사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부서이동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none" dirty="0"/>
                        <a:t>O000</a:t>
                      </a:r>
                      <a:r>
                        <a:rPr lang="en-US" altLang="ko-KR" sz="800" u="none" baseline="0" dirty="0"/>
                        <a:t>    (00%)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이용저조</a:t>
                      </a:r>
                      <a:endParaRPr lang="en-US" altLang="ko-KR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이용저조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바쁨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350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타서비스</a:t>
                      </a:r>
                      <a:r>
                        <a:rPr lang="ko-KR" altLang="en-US" sz="800" dirty="0"/>
                        <a:t> 이용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타서비스이용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dirty="0" err="1"/>
                        <a:t>SERIPro</a:t>
                      </a:r>
                      <a:r>
                        <a:rPr lang="en-US" altLang="ko-KR" sz="800" u="none" dirty="0"/>
                        <a:t> </a:t>
                      </a:r>
                      <a:r>
                        <a:rPr lang="ko-KR" altLang="en-US" sz="800" u="none" dirty="0"/>
                        <a:t>이용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3501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콘텐츠</a:t>
                      </a:r>
                      <a:r>
                        <a:rPr lang="ko-KR" altLang="en-US" sz="800" u="none" dirty="0"/>
                        <a:t> 불만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일시중단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해외체류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기타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회원교체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교체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350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6472652" y="1326743"/>
            <a:ext cx="518260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052755" y="1326744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MM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7496464" y="1326743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772" y="1291591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/>
              <a:t>법인명</a:t>
            </a:r>
            <a:endParaRPr lang="ko-KR" altLang="en-US" sz="800" dirty="0"/>
          </a:p>
        </p:txBody>
      </p:sp>
      <p:sp>
        <p:nvSpPr>
          <p:cNvPr id="11" name="직사각형 10"/>
          <p:cNvSpPr/>
          <p:nvPr/>
        </p:nvSpPr>
        <p:spPr>
          <a:xfrm>
            <a:off x="1074000" y="1338220"/>
            <a:ext cx="1504208" cy="12218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0925" y="1282371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서비스종료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0492" y="1278595"/>
            <a:ext cx="2568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~</a:t>
            </a:r>
            <a:endParaRPr lang="ko-KR" altLang="en-US" sz="800" dirty="0"/>
          </a:p>
        </p:txBody>
      </p:sp>
      <p:sp>
        <p:nvSpPr>
          <p:cNvPr id="17" name="TextBox 16"/>
          <p:cNvSpPr txBox="1"/>
          <p:nvPr/>
        </p:nvSpPr>
        <p:spPr>
          <a:xfrm>
            <a:off x="546959" y="1848063"/>
            <a:ext cx="9017212" cy="2154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□   회원분류     아이디      사용여부     성명     직위      </a:t>
            </a:r>
            <a:r>
              <a:rPr lang="ko-KR" altLang="en-US" sz="800" dirty="0" err="1"/>
              <a:t>법인명</a:t>
            </a:r>
            <a:r>
              <a:rPr lang="ko-KR" altLang="en-US" sz="800" dirty="0"/>
              <a:t>       회사명      </a:t>
            </a:r>
            <a:r>
              <a:rPr lang="ko-KR" altLang="en-US" sz="800" dirty="0" err="1"/>
              <a:t>이메일</a:t>
            </a:r>
            <a:r>
              <a:rPr lang="ko-KR" altLang="en-US" sz="800" dirty="0"/>
              <a:t>     계약시작일      계약종료일   서비스 시작일     서비스 종료일     </a:t>
            </a:r>
            <a:r>
              <a:rPr lang="en-US" altLang="ko-KR" sz="800" dirty="0"/>
              <a:t>1</a:t>
            </a:r>
            <a:r>
              <a:rPr lang="ko-KR" altLang="en-US" sz="800" dirty="0" err="1"/>
              <a:t>차담당자</a:t>
            </a:r>
            <a:r>
              <a:rPr lang="ko-KR" altLang="en-US" sz="800" dirty="0"/>
              <a:t>        탈퇴 사유       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8621782" y="2132773"/>
            <a:ext cx="616086" cy="14448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사유  ▼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9508709" y="2113111"/>
            <a:ext cx="293355" cy="14448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저장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8621782" y="2323401"/>
            <a:ext cx="616086" cy="14448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사유  ▼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9508709" y="2303739"/>
            <a:ext cx="293355" cy="14448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저장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8621782" y="2526955"/>
            <a:ext cx="616086" cy="14448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사유  ▼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9508709" y="2507293"/>
            <a:ext cx="293355" cy="14448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772" y="1564203"/>
            <a:ext cx="13484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>
                <a:solidFill>
                  <a:srgbClr val="FF0000"/>
                </a:solidFill>
              </a:rPr>
              <a:t>미입력자</a:t>
            </a:r>
            <a:r>
              <a:rPr lang="ko-KR" altLang="en-US" sz="800" dirty="0">
                <a:solidFill>
                  <a:srgbClr val="FF0000"/>
                </a:solidFill>
              </a:rPr>
              <a:t> 알림 </a:t>
            </a:r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총 </a:t>
            </a:r>
            <a:r>
              <a:rPr lang="en-US" altLang="ko-KR" sz="800" dirty="0">
                <a:solidFill>
                  <a:srgbClr val="FF0000"/>
                </a:solidFill>
              </a:rPr>
              <a:t>000</a:t>
            </a:r>
            <a:r>
              <a:rPr lang="ko-KR" altLang="en-US" sz="800" dirty="0">
                <a:solidFill>
                  <a:srgbClr val="FF0000"/>
                </a:solidFill>
              </a:rPr>
              <a:t>명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1962218" y="1617268"/>
            <a:ext cx="616086" cy="14448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사유  ▼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2636102" y="1617268"/>
            <a:ext cx="616086" cy="14448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  ▼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3309986" y="1617268"/>
            <a:ext cx="616764" cy="14448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일괄저장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탈퇴 </a:t>
            </a:r>
            <a:r>
              <a:rPr lang="ko-KR" altLang="en-US" sz="1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사유별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현황 요약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상세내역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다운로드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&amp;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현황조회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CRM_05_002~006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086334" y="1615641"/>
            <a:ext cx="998707" cy="14591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컨택</a:t>
            </a:r>
            <a:r>
              <a:rPr lang="ko-KR" altLang="en-US" sz="1050" dirty="0">
                <a:solidFill>
                  <a:schemeClr val="tx1"/>
                </a:solidFill>
              </a:rPr>
              <a:t> 채널  ▼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4085017" y="1809666"/>
            <a:ext cx="998707" cy="4507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t"/>
          <a:lstStyle/>
          <a:p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이메일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문자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카카오톡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8583" y="2622716"/>
            <a:ext cx="5533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/>
              <a:t>[</a:t>
            </a:r>
            <a:r>
              <a:rPr lang="ko-KR" altLang="en-US" sz="1050" b="1" dirty="0"/>
              <a:t>집계</a:t>
            </a:r>
            <a:r>
              <a:rPr lang="en-US" altLang="ko-KR" sz="1050" b="1" dirty="0"/>
              <a:t>]</a:t>
            </a:r>
            <a:endParaRPr lang="ko-KR" altLang="en-US" sz="105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488583" y="6322105"/>
            <a:ext cx="95410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/>
              <a:t>[</a:t>
            </a:r>
            <a:r>
              <a:rPr lang="ko-KR" altLang="en-US" sz="1050" b="1" dirty="0"/>
              <a:t>회원리스트</a:t>
            </a:r>
            <a:r>
              <a:rPr lang="en-US" altLang="ko-KR" sz="1050" b="1" dirty="0"/>
              <a:t>]</a:t>
            </a:r>
            <a:endParaRPr lang="ko-KR" altLang="en-US" sz="1050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546958" y="6546824"/>
            <a:ext cx="8343951" cy="2154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No.</a:t>
            </a:r>
            <a:r>
              <a:rPr lang="ko-KR" altLang="en-US" sz="800" dirty="0"/>
              <a:t>   회원분류     아이디      사용여부     성명     직위     회사명      </a:t>
            </a:r>
            <a:r>
              <a:rPr lang="ko-KR" altLang="en-US" sz="800" dirty="0" err="1"/>
              <a:t>이메일</a:t>
            </a:r>
            <a:r>
              <a:rPr lang="ko-KR" altLang="en-US" sz="800" dirty="0"/>
              <a:t>     계약시작일      계약종료일   서비스 시작일     서비스 종료일     영업대표       탈퇴 사유      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53340" y="591381"/>
            <a:ext cx="256031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사유 </a:t>
            </a:r>
            <a:r>
              <a:rPr lang="ko-KR" altLang="en-US" sz="1000" b="1" dirty="0" err="1">
                <a:solidFill>
                  <a:srgbClr val="00B0F0"/>
                </a:solidFill>
              </a:rPr>
              <a:t>미입력자</a:t>
            </a:r>
            <a:r>
              <a:rPr lang="ko-KR" altLang="en-US" sz="1000" b="1" dirty="0">
                <a:solidFill>
                  <a:srgbClr val="00B0F0"/>
                </a:solidFill>
              </a:rPr>
              <a:t> 기본 노출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조회일 기준으로</a:t>
            </a:r>
            <a:r>
              <a:rPr lang="en-US" altLang="ko-KR" sz="800" dirty="0"/>
              <a:t>,</a:t>
            </a:r>
          </a:p>
          <a:p>
            <a:r>
              <a:rPr lang="ko-KR" altLang="en-US" sz="800" dirty="0" err="1"/>
              <a:t>미입력자</a:t>
            </a:r>
            <a:r>
              <a:rPr lang="ko-KR" altLang="en-US" sz="800" dirty="0"/>
              <a:t> 존재 시 상단 리스트로 노출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10</a:t>
            </a:r>
            <a:r>
              <a:rPr lang="ko-KR" altLang="en-US" sz="800" dirty="0"/>
              <a:t>명 이상인 경우</a:t>
            </a:r>
            <a:r>
              <a:rPr lang="en-US" altLang="ko-KR" sz="800" dirty="0"/>
              <a:t>, </a:t>
            </a:r>
            <a:r>
              <a:rPr lang="ko-KR" altLang="en-US" sz="800" dirty="0"/>
              <a:t>페이지로 구성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사유 일괄</a:t>
            </a:r>
            <a:r>
              <a:rPr lang="en-US" altLang="ko-KR" sz="1000" b="1" dirty="0">
                <a:solidFill>
                  <a:srgbClr val="00B0F0"/>
                </a:solidFill>
              </a:rPr>
              <a:t>/</a:t>
            </a:r>
            <a:r>
              <a:rPr lang="ko-KR" altLang="en-US" sz="1000" b="1" dirty="0">
                <a:solidFill>
                  <a:srgbClr val="00B0F0"/>
                </a:solidFill>
              </a:rPr>
              <a:t>선택 등록</a:t>
            </a:r>
            <a:r>
              <a:rPr lang="en-US" altLang="ko-KR" sz="1000" b="1" dirty="0">
                <a:solidFill>
                  <a:srgbClr val="00B0F0"/>
                </a:solidFill>
              </a:rPr>
              <a:t>, </a:t>
            </a:r>
            <a:r>
              <a:rPr lang="ko-KR" altLang="en-US" sz="1000" b="1" dirty="0" err="1">
                <a:solidFill>
                  <a:srgbClr val="00B0F0"/>
                </a:solidFill>
              </a:rPr>
              <a:t>컨택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대상자들을 개별 혹은 일괄 선택해서 </a:t>
            </a:r>
            <a:endParaRPr lang="en-US" altLang="ko-KR" sz="800" dirty="0"/>
          </a:p>
          <a:p>
            <a:r>
              <a:rPr lang="ko-KR" altLang="en-US" sz="800" dirty="0"/>
              <a:t>사유 등록</a:t>
            </a:r>
            <a:r>
              <a:rPr lang="en-US" altLang="ko-KR" sz="800" dirty="0"/>
              <a:t>, </a:t>
            </a:r>
            <a:r>
              <a:rPr lang="ko-KR" altLang="en-US" sz="800" dirty="0" err="1"/>
              <a:t>컨택</a:t>
            </a:r>
            <a:r>
              <a:rPr lang="en-US" altLang="ko-KR" sz="800" dirty="0"/>
              <a:t> </a:t>
            </a:r>
            <a:r>
              <a:rPr lang="ko-KR" altLang="en-US" sz="800" dirty="0"/>
              <a:t>가능함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서비스 종료일 기준 </a:t>
            </a:r>
            <a:r>
              <a:rPr lang="ko-KR" altLang="en-US" sz="1000" b="1" dirty="0" err="1">
                <a:solidFill>
                  <a:srgbClr val="00B0F0"/>
                </a:solidFill>
              </a:rPr>
              <a:t>조회값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집계는 서비스 종료일의 월 기준으로 구분하여 표기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하단 회원리스트는 기간 내 종료된 모든 회원을</a:t>
            </a:r>
            <a:endParaRPr lang="en-US" altLang="ko-KR" sz="800" dirty="0"/>
          </a:p>
          <a:p>
            <a:r>
              <a:rPr lang="ko-KR" altLang="en-US" sz="800" dirty="0" err="1"/>
              <a:t>리스트업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회원리스트는 다운로드 지원</a:t>
            </a:r>
            <a:endParaRPr lang="en-US" altLang="ko-KR" sz="800" dirty="0"/>
          </a:p>
        </p:txBody>
      </p:sp>
      <p:sp>
        <p:nvSpPr>
          <p:cNvPr id="41" name="직사각형 40"/>
          <p:cNvSpPr/>
          <p:nvPr/>
        </p:nvSpPr>
        <p:spPr>
          <a:xfrm>
            <a:off x="1429866" y="6352695"/>
            <a:ext cx="616764" cy="14448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427895" y="158718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3246094" y="1513683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96509" y="2118015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02706" y="266652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189258" y="1617934"/>
            <a:ext cx="616764" cy="14448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36102" y="1289322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담당자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3096330" y="1335951"/>
            <a:ext cx="1504208" cy="12218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0074110" y="3907767"/>
            <a:ext cx="1951113" cy="46582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탈퇴자의 이용현황은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회원별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이용현황에서 조회할 수 있음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사용여부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Y/N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으로 구분하여 조회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17769" y="934593"/>
            <a:ext cx="1004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요약     전체현황        </a:t>
            </a:r>
            <a:r>
              <a:rPr lang="ko-KR" altLang="en-US" sz="1200" dirty="0" err="1"/>
              <a:t>계약구분별</a:t>
            </a:r>
            <a:r>
              <a:rPr lang="ko-KR" altLang="en-US" sz="1200" dirty="0"/>
              <a:t> 회원현황            상품별 회원현황        </a:t>
            </a:r>
            <a:r>
              <a:rPr lang="ko-KR" altLang="en-US" sz="1200" b="1" dirty="0"/>
              <a:t>서비스종료현황</a:t>
            </a:r>
            <a:r>
              <a:rPr lang="ko-KR" altLang="en-US" sz="1200" dirty="0"/>
              <a:t>           가망고객현황     </a:t>
            </a:r>
            <a:r>
              <a:rPr lang="ko-KR" altLang="en-US" sz="1200" dirty="0" err="1"/>
              <a:t>퍼미션</a:t>
            </a:r>
            <a:r>
              <a:rPr lang="ko-KR" altLang="en-US" sz="1200" dirty="0"/>
              <a:t> 정보 현황</a:t>
            </a:r>
          </a:p>
        </p:txBody>
      </p:sp>
    </p:spTree>
    <p:extLst>
      <p:ext uri="{BB962C8B-B14F-4D97-AF65-F5344CB8AC3E}">
        <p14:creationId xmlns:p14="http://schemas.microsoft.com/office/powerpoint/2010/main" val="11187652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63655"/>
          <a:stretch/>
        </p:blipFill>
        <p:spPr>
          <a:xfrm>
            <a:off x="1252571" y="1266217"/>
            <a:ext cx="7959102" cy="1407133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5739319" y="1731523"/>
            <a:ext cx="894945" cy="1556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가망고객관리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88987" y="671268"/>
            <a:ext cx="3567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회원관리</a:t>
            </a:r>
            <a:r>
              <a:rPr lang="en-US" altLang="ko-KR" sz="1200" dirty="0"/>
              <a:t>] </a:t>
            </a:r>
            <a:r>
              <a:rPr lang="ko-KR" altLang="en-US" sz="1200" dirty="0"/>
              <a:t>메뉴에 </a:t>
            </a:r>
            <a:r>
              <a:rPr lang="en-US" altLang="ko-KR" sz="1200" dirty="0"/>
              <a:t>[</a:t>
            </a:r>
            <a:r>
              <a:rPr lang="ko-KR" altLang="en-US" sz="1200" dirty="0"/>
              <a:t>커뮤니케이션 관리</a:t>
            </a:r>
            <a:r>
              <a:rPr lang="en-US" altLang="ko-KR" sz="1200" dirty="0"/>
              <a:t>] </a:t>
            </a:r>
            <a:r>
              <a:rPr lang="ko-KR" altLang="en-US" sz="1200" dirty="0"/>
              <a:t>메뉴 신설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6693710" y="1731523"/>
            <a:ext cx="1173940" cy="1556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커뮤니케이션 관리</a:t>
            </a: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343824"/>
              </p:ext>
            </p:extLst>
          </p:nvPr>
        </p:nvGraphicFramePr>
        <p:xfrm>
          <a:off x="2066578" y="3619500"/>
          <a:ext cx="7162800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CRM_07_001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</a:rPr>
                        <a:t>회원 정보 </a:t>
                      </a:r>
                      <a:r>
                        <a:rPr lang="ko-KR" altLang="en-US" sz="1000" u="none" strike="noStrike" dirty="0" err="1">
                          <a:effectLst/>
                        </a:rPr>
                        <a:t>구분값별</a:t>
                      </a:r>
                      <a:r>
                        <a:rPr lang="en-US" altLang="ko-KR" sz="1000" u="none" strike="noStrike" dirty="0">
                          <a:effectLst/>
                        </a:rPr>
                        <a:t>, </a:t>
                      </a:r>
                      <a:r>
                        <a:rPr lang="ko-KR" altLang="en-US" sz="1000" u="none" strike="noStrike" dirty="0" err="1">
                          <a:effectLst/>
                        </a:rPr>
                        <a:t>이용현황별</a:t>
                      </a:r>
                      <a:r>
                        <a:rPr lang="ko-KR" altLang="en-US" sz="1000" u="none" strike="noStrike" dirty="0">
                          <a:effectLst/>
                        </a:rPr>
                        <a:t> 검색</a:t>
                      </a:r>
                      <a:r>
                        <a:rPr lang="en-US" altLang="ko-KR" sz="1000" u="none" strike="noStrike" dirty="0">
                          <a:effectLst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</a:rPr>
                        <a:t>조회</a:t>
                      </a:r>
                      <a:r>
                        <a:rPr lang="en-US" altLang="ko-KR" sz="1000" u="none" strike="noStrike" dirty="0">
                          <a:effectLst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</a:rPr>
                        <a:t>선택</a:t>
                      </a:r>
                      <a:r>
                        <a:rPr lang="en-US" altLang="ko-KR" sz="1000" u="none" strike="noStrike" dirty="0">
                          <a:effectLst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</a:rPr>
                        <a:t>발송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CRM_07_002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dirty="0" err="1">
                          <a:effectLst/>
                        </a:rPr>
                        <a:t>계약현황별</a:t>
                      </a:r>
                      <a:r>
                        <a:rPr lang="en-US" altLang="ko-KR" sz="1000" u="none" strike="noStrike" dirty="0">
                          <a:effectLst/>
                        </a:rPr>
                        <a:t>, </a:t>
                      </a:r>
                      <a:r>
                        <a:rPr lang="ko-KR" altLang="en-US" sz="1000" u="none" strike="noStrike" dirty="0" err="1">
                          <a:effectLst/>
                        </a:rPr>
                        <a:t>캠페인별</a:t>
                      </a:r>
                      <a:r>
                        <a:rPr lang="en-US" altLang="ko-KR" sz="1000" u="none" strike="noStrike" dirty="0">
                          <a:effectLst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</a:rPr>
                        <a:t>기타 </a:t>
                      </a:r>
                      <a:r>
                        <a:rPr lang="ko-KR" altLang="en-US" sz="1000" u="none" strike="noStrike" dirty="0" err="1">
                          <a:effectLst/>
                        </a:rPr>
                        <a:t>조건별</a:t>
                      </a:r>
                      <a:r>
                        <a:rPr lang="ko-KR" altLang="en-US" sz="1000" u="none" strike="noStrike" dirty="0">
                          <a:effectLst/>
                        </a:rPr>
                        <a:t> 대상자 검색</a:t>
                      </a:r>
                      <a:r>
                        <a:rPr lang="en-US" altLang="ko-KR" sz="1000" u="none" strike="noStrike" dirty="0">
                          <a:effectLst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</a:rPr>
                        <a:t>조회</a:t>
                      </a:r>
                      <a:r>
                        <a:rPr lang="en-US" altLang="ko-KR" sz="1000" u="none" strike="noStrike" dirty="0">
                          <a:effectLst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</a:rPr>
                        <a:t>선택</a:t>
                      </a:r>
                      <a:r>
                        <a:rPr lang="en-US" altLang="ko-KR" sz="1000" u="none" strike="noStrike" dirty="0">
                          <a:effectLst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</a:rPr>
                        <a:t>발송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CRM_07_003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</a:rPr>
                        <a:t>회원정보 조회 메뉴에서 개인별로 선택</a:t>
                      </a:r>
                      <a:r>
                        <a:rPr lang="en-US" altLang="ko-KR" sz="1000" u="none" strike="noStrike" dirty="0">
                          <a:effectLst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</a:rPr>
                        <a:t>발송하기 편리하도록 구성</a:t>
                      </a:r>
                      <a:r>
                        <a:rPr lang="en-US" altLang="ko-KR" sz="1000" u="none" strike="noStrike" dirty="0">
                          <a:effectLst/>
                        </a:rPr>
                        <a:t>(</a:t>
                      </a:r>
                      <a:r>
                        <a:rPr lang="ko-KR" altLang="en-US" sz="1000" u="none" strike="noStrike" dirty="0">
                          <a:effectLst/>
                        </a:rPr>
                        <a:t>양쪽 메뉴에서 모두 사용 가능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155950" y="3342501"/>
            <a:ext cx="4984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회원정보 조회되는 모든 페이지에서 </a:t>
            </a:r>
            <a:r>
              <a:rPr lang="en-US" altLang="ko-KR" sz="1200" dirty="0"/>
              <a:t>“</a:t>
            </a:r>
            <a:r>
              <a:rPr lang="ko-KR" altLang="en-US" sz="1200" dirty="0" err="1"/>
              <a:t>컨택</a:t>
            </a:r>
            <a:r>
              <a:rPr lang="ko-KR" altLang="en-US" sz="1200" dirty="0"/>
              <a:t> 채널</a:t>
            </a:r>
            <a:r>
              <a:rPr lang="en-US" altLang="ko-KR" sz="1200" dirty="0"/>
              <a:t>“ </a:t>
            </a:r>
            <a:r>
              <a:rPr lang="ko-KR" altLang="en-US" sz="1200" dirty="0"/>
              <a:t>선택하여 발송 가능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451406"/>
              </p:ext>
            </p:extLst>
          </p:nvPr>
        </p:nvGraphicFramePr>
        <p:xfrm>
          <a:off x="2066578" y="5845175"/>
          <a:ext cx="71628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CRM_07_006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카카오톡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 추가 검토 필요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커뮤니케이션 공통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3247290" y="5480050"/>
            <a:ext cx="16177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 err="1"/>
              <a:t>카카오톡</a:t>
            </a:r>
            <a:r>
              <a:rPr lang="ko-KR" altLang="en-US" sz="1200" dirty="0"/>
              <a:t> 별도 검토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30" name="직사각형 29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커뮤니케이션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&gt;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 조회 선택 후 발송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</a:t>
            </a:r>
            <a:r>
              <a:rPr lang="ko-KR" altLang="en-US" sz="1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작업물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삭제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CRM_07_001~006</a:t>
            </a:r>
          </a:p>
        </p:txBody>
      </p:sp>
    </p:spTree>
    <p:extLst>
      <p:ext uri="{BB962C8B-B14F-4D97-AF65-F5344CB8AC3E}">
        <p14:creationId xmlns:p14="http://schemas.microsoft.com/office/powerpoint/2010/main" val="9354395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83337"/>
          <a:stretch/>
        </p:blipFill>
        <p:spPr>
          <a:xfrm>
            <a:off x="71324" y="1111652"/>
            <a:ext cx="9865987" cy="799698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5688519" y="1704313"/>
            <a:ext cx="894945" cy="1556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가망고객관리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6642910" y="1704313"/>
            <a:ext cx="1173940" cy="1556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커뮤니케이션 관리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261773"/>
              </p:ext>
            </p:extLst>
          </p:nvPr>
        </p:nvGraphicFramePr>
        <p:xfrm>
          <a:off x="1586561" y="4644878"/>
          <a:ext cx="7974519" cy="16568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1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5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채널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■ 사용            □ 미사용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발신자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발신 전화번호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발신 </a:t>
                      </a:r>
                      <a:r>
                        <a:rPr lang="ko-KR" altLang="en-US" sz="800" dirty="0" err="1"/>
                        <a:t>이메일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마케팅 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■ 마케팅용            □ </a:t>
                      </a:r>
                      <a:r>
                        <a:rPr lang="ko-KR" altLang="en-US" sz="800" dirty="0" err="1"/>
                        <a:t>해당없음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33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템플릿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endParaRPr lang="en-US" altLang="ko-KR" sz="800" dirty="0"/>
                    </a:p>
                    <a:p>
                      <a:pPr marL="0" indent="0" algn="l" latinLnBrk="1">
                        <a:buNone/>
                      </a:pP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2698615" y="4879474"/>
            <a:ext cx="2724967" cy="15242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718198" y="5558652"/>
            <a:ext cx="820090" cy="17071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Html </a:t>
            </a:r>
            <a:r>
              <a:rPr lang="ko-KR" altLang="en-US" sz="800" dirty="0">
                <a:solidFill>
                  <a:schemeClr val="tx1"/>
                </a:solidFill>
              </a:rPr>
              <a:t>찾아보기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586561" y="4360960"/>
            <a:ext cx="529123" cy="1489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신규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2218859" y="4360960"/>
            <a:ext cx="529123" cy="1489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4678" y="4037681"/>
            <a:ext cx="12378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Total 00000     Page 0</a:t>
            </a:r>
            <a:endParaRPr lang="ko-KR" altLang="en-US" sz="800" dirty="0"/>
          </a:p>
        </p:txBody>
      </p:sp>
      <p:sp>
        <p:nvSpPr>
          <p:cNvPr id="23" name="직사각형 22"/>
          <p:cNvSpPr/>
          <p:nvPr/>
        </p:nvSpPr>
        <p:spPr>
          <a:xfrm>
            <a:off x="1403349" y="2003357"/>
            <a:ext cx="8454957" cy="4202349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698615" y="4671269"/>
            <a:ext cx="2724967" cy="15242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677047" y="5558652"/>
            <a:ext cx="514486" cy="17071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직접입력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2698615" y="5122077"/>
            <a:ext cx="2724967" cy="15242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6736533" y="5093854"/>
            <a:ext cx="2724967" cy="15242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736533" y="4879474"/>
            <a:ext cx="2724967" cy="15242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홍길동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13644" y="601675"/>
            <a:ext cx="1980029" cy="581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채널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 err="1"/>
              <a:t>이메일</a:t>
            </a:r>
            <a:endParaRPr lang="en-US" altLang="ko-KR" sz="800" dirty="0"/>
          </a:p>
          <a:p>
            <a:r>
              <a:rPr lang="ko-KR" altLang="en-US" sz="800" dirty="0"/>
              <a:t>문자</a:t>
            </a:r>
            <a:endParaRPr lang="en-US" altLang="ko-KR" sz="800" dirty="0"/>
          </a:p>
          <a:p>
            <a:r>
              <a:rPr lang="ko-KR" altLang="en-US" sz="800" dirty="0" err="1"/>
              <a:t>카카오톡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제목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해당 템플릿의 제목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발신자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기본 </a:t>
            </a:r>
            <a:r>
              <a:rPr lang="ko-KR" altLang="en-US" sz="800" dirty="0" err="1"/>
              <a:t>세팅</a:t>
            </a:r>
            <a:r>
              <a:rPr lang="ko-KR" altLang="en-US" sz="800" dirty="0"/>
              <a:t> </a:t>
            </a:r>
            <a:r>
              <a:rPr lang="en-US" altLang="ko-KR" sz="800" dirty="0"/>
              <a:t>: CRM </a:t>
            </a:r>
            <a:r>
              <a:rPr lang="ko-KR" altLang="en-US" sz="800" dirty="0"/>
              <a:t>로그인한 계정</a:t>
            </a:r>
            <a:endParaRPr lang="en-US" altLang="ko-KR" sz="800" dirty="0"/>
          </a:p>
          <a:p>
            <a:r>
              <a:rPr lang="ko-KR" altLang="en-US" sz="800" dirty="0"/>
              <a:t>직접 수정 가능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>
                <a:solidFill>
                  <a:srgbClr val="00B0F0"/>
                </a:solidFill>
              </a:rPr>
              <a:t>발신 전화번호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기본 </a:t>
            </a:r>
            <a:r>
              <a:rPr lang="ko-KR" altLang="en-US" sz="800" dirty="0" err="1"/>
              <a:t>세팅</a:t>
            </a:r>
            <a:r>
              <a:rPr lang="ko-KR" altLang="en-US" sz="800" dirty="0"/>
              <a:t> </a:t>
            </a:r>
            <a:r>
              <a:rPr lang="en-US" altLang="ko-KR" sz="800" dirty="0"/>
              <a:t>: 02-2143-8400</a:t>
            </a:r>
          </a:p>
          <a:p>
            <a:r>
              <a:rPr lang="ko-KR" altLang="en-US" sz="800" dirty="0"/>
              <a:t>직접 수정 가능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[5] </a:t>
            </a:r>
            <a:r>
              <a:rPr lang="ko-KR" altLang="en-US" sz="1000" b="1" dirty="0">
                <a:solidFill>
                  <a:srgbClr val="00B0F0"/>
                </a:solidFill>
              </a:rPr>
              <a:t>발신 </a:t>
            </a:r>
            <a:r>
              <a:rPr lang="ko-KR" altLang="en-US" sz="1000" b="1" dirty="0" err="1">
                <a:solidFill>
                  <a:srgbClr val="00B0F0"/>
                </a:solidFill>
              </a:rPr>
              <a:t>이메일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기본 </a:t>
            </a:r>
            <a:r>
              <a:rPr lang="ko-KR" altLang="en-US" sz="800" dirty="0" err="1"/>
              <a:t>세팅</a:t>
            </a:r>
            <a:r>
              <a:rPr lang="ko-KR" altLang="en-US" sz="800" dirty="0"/>
              <a:t> </a:t>
            </a:r>
            <a:r>
              <a:rPr lang="en-US" altLang="ko-KR" sz="800" dirty="0"/>
              <a:t>: [3] </a:t>
            </a:r>
            <a:r>
              <a:rPr lang="ko-KR" altLang="en-US" sz="800" dirty="0"/>
              <a:t>발신자 </a:t>
            </a:r>
            <a:r>
              <a:rPr lang="ko-KR" altLang="en-US" sz="800" dirty="0" err="1"/>
              <a:t>이메일</a:t>
            </a:r>
            <a:endParaRPr lang="en-US" altLang="ko-KR" sz="800" dirty="0"/>
          </a:p>
          <a:p>
            <a:r>
              <a:rPr lang="ko-KR" altLang="en-US" sz="800" dirty="0"/>
              <a:t>직접 수정 가능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[6] </a:t>
            </a:r>
            <a:r>
              <a:rPr lang="ko-KR" altLang="en-US" sz="1000" b="1" dirty="0">
                <a:solidFill>
                  <a:srgbClr val="00B0F0"/>
                </a:solidFill>
              </a:rPr>
              <a:t>마케팅 여부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마케팅용으로 등록된 템플릿은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회원정보 </a:t>
            </a:r>
            <a:r>
              <a:rPr lang="en-US" altLang="ko-KR" sz="800" dirty="0">
                <a:solidFill>
                  <a:srgbClr val="FF0000"/>
                </a:solidFill>
              </a:rPr>
              <a:t>&gt; </a:t>
            </a:r>
            <a:r>
              <a:rPr lang="ko-KR" altLang="en-US" sz="800" dirty="0" err="1">
                <a:solidFill>
                  <a:srgbClr val="FF0000"/>
                </a:solidFill>
              </a:rPr>
              <a:t>퍼미션</a:t>
            </a:r>
            <a:r>
              <a:rPr lang="ko-KR" altLang="en-US" sz="800" dirty="0">
                <a:solidFill>
                  <a:srgbClr val="FF0000"/>
                </a:solidFill>
              </a:rPr>
              <a:t> 정보 </a:t>
            </a:r>
            <a:r>
              <a:rPr lang="ko-KR" altLang="en-US" sz="800" dirty="0" err="1">
                <a:solidFill>
                  <a:srgbClr val="FF0000"/>
                </a:solidFill>
              </a:rPr>
              <a:t>설정값에</a:t>
            </a:r>
            <a:r>
              <a:rPr lang="ko-KR" altLang="en-US" sz="800" dirty="0">
                <a:solidFill>
                  <a:srgbClr val="FF0000"/>
                </a:solidFill>
              </a:rPr>
              <a:t> 따라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대상자를 각각 </a:t>
            </a:r>
            <a:r>
              <a:rPr lang="ko-KR" altLang="en-US" sz="800" dirty="0" err="1">
                <a:solidFill>
                  <a:srgbClr val="FF0000"/>
                </a:solidFill>
              </a:rPr>
              <a:t>타겟팅</a:t>
            </a:r>
            <a:r>
              <a:rPr lang="ko-KR" altLang="en-US" sz="800" dirty="0">
                <a:solidFill>
                  <a:srgbClr val="FF0000"/>
                </a:solidFill>
              </a:rPr>
              <a:t> 해야 함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 err="1">
                <a:solidFill>
                  <a:srgbClr val="FF0000"/>
                </a:solidFill>
              </a:rPr>
              <a:t>이메일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>
                <a:solidFill>
                  <a:srgbClr val="FF0000"/>
                </a:solidFill>
              </a:rPr>
              <a:t>휴대폰 각각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[7] </a:t>
            </a:r>
            <a:r>
              <a:rPr lang="ko-KR" altLang="en-US" sz="1000" b="1" dirty="0">
                <a:solidFill>
                  <a:srgbClr val="00B0F0"/>
                </a:solidFill>
              </a:rPr>
              <a:t>템플릿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찾아보기 </a:t>
            </a:r>
            <a:r>
              <a:rPr lang="en-US" altLang="ko-KR" sz="800" dirty="0"/>
              <a:t>(html)</a:t>
            </a:r>
          </a:p>
          <a:p>
            <a:r>
              <a:rPr lang="ko-KR" altLang="en-US" sz="800" dirty="0"/>
              <a:t>직접 입력 </a:t>
            </a:r>
            <a:r>
              <a:rPr lang="en-US" altLang="ko-KR" sz="800" dirty="0"/>
              <a:t>: </a:t>
            </a:r>
            <a:r>
              <a:rPr lang="ko-KR" altLang="en-US" sz="800" dirty="0"/>
              <a:t>텍스트 </a:t>
            </a:r>
            <a:r>
              <a:rPr lang="ko-KR" altLang="en-US" sz="800" dirty="0" err="1"/>
              <a:t>입력창</a:t>
            </a:r>
            <a:r>
              <a:rPr lang="ko-KR" altLang="en-US" sz="800" dirty="0"/>
              <a:t> 실행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Html</a:t>
            </a:r>
            <a:r>
              <a:rPr lang="ko-KR" altLang="en-US" sz="800" dirty="0"/>
              <a:t>은 별도 제작하여 등록합니다</a:t>
            </a:r>
            <a:r>
              <a:rPr lang="en-US" altLang="ko-KR" sz="800" dirty="0"/>
              <a:t>.</a:t>
            </a:r>
          </a:p>
          <a:p>
            <a:r>
              <a:rPr lang="en-US" altLang="ko-KR" sz="800" dirty="0"/>
              <a:t>(</a:t>
            </a:r>
            <a:r>
              <a:rPr lang="ko-KR" altLang="en-US" sz="800" dirty="0" err="1"/>
              <a:t>어드민</a:t>
            </a:r>
            <a:r>
              <a:rPr lang="ko-KR" altLang="en-US" sz="800" dirty="0"/>
              <a:t> 관리 메뉴 별도 관리</a:t>
            </a:r>
            <a:r>
              <a:rPr lang="en-US" altLang="ko-KR" sz="800" dirty="0"/>
              <a:t>)</a:t>
            </a:r>
            <a:endParaRPr lang="ko-KR" altLang="en-US" sz="800" dirty="0"/>
          </a:p>
          <a:p>
            <a:endParaRPr lang="ko-KR" altLang="en-US" sz="800" dirty="0"/>
          </a:p>
        </p:txBody>
      </p:sp>
      <p:sp>
        <p:nvSpPr>
          <p:cNvPr id="32" name="직사각형 31"/>
          <p:cNvSpPr/>
          <p:nvPr/>
        </p:nvSpPr>
        <p:spPr>
          <a:xfrm>
            <a:off x="1758183" y="466491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758183" y="488687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586561" y="510418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586561" y="530586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6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606794" y="488075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5606794" y="510271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5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646733" y="5904539"/>
            <a:ext cx="21066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/>
              <a:t>※ html </a:t>
            </a:r>
            <a:r>
              <a:rPr lang="ko-KR" altLang="en-US" sz="600" dirty="0"/>
              <a:t>템플릿은 </a:t>
            </a:r>
            <a:r>
              <a:rPr lang="en-US" altLang="ko-KR" sz="600" dirty="0"/>
              <a:t>&lt;</a:t>
            </a:r>
            <a:r>
              <a:rPr lang="ko-KR" altLang="en-US" sz="600" dirty="0" err="1"/>
              <a:t>이메일</a:t>
            </a:r>
            <a:r>
              <a:rPr lang="en-US" altLang="ko-KR" sz="600" dirty="0"/>
              <a:t>&gt; </a:t>
            </a:r>
            <a:r>
              <a:rPr lang="ko-KR" altLang="en-US" sz="600" dirty="0"/>
              <a:t>채널에만 등록 가능합니다</a:t>
            </a:r>
            <a:r>
              <a:rPr lang="en-US" altLang="ko-KR" sz="600" dirty="0"/>
              <a:t>.</a:t>
            </a:r>
            <a:r>
              <a:rPr lang="ko-KR" altLang="en-US" sz="600" dirty="0"/>
              <a:t> </a:t>
            </a:r>
          </a:p>
        </p:txBody>
      </p:sp>
      <p:graphicFrame>
        <p:nvGraphicFramePr>
          <p:cNvPr id="40" name="표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890655"/>
              </p:ext>
            </p:extLst>
          </p:nvPr>
        </p:nvGraphicFramePr>
        <p:xfrm>
          <a:off x="2698615" y="3302908"/>
          <a:ext cx="7162800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CRM_07_004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SERICEO </a:t>
                      </a:r>
                      <a:r>
                        <a:rPr lang="ko-KR" altLang="en-US" sz="800" u="none" strike="noStrike" dirty="0">
                          <a:effectLst/>
                        </a:rPr>
                        <a:t>구독 프로그램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스크랩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콘텐츠</a:t>
                      </a:r>
                      <a:r>
                        <a:rPr lang="ko-KR" altLang="en-US" sz="800" u="none" strike="noStrike" dirty="0">
                          <a:effectLst/>
                        </a:rPr>
                        <a:t> 등 데이터를 조회하고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매핑할</a:t>
                      </a:r>
                      <a:r>
                        <a:rPr lang="ko-KR" altLang="en-US" sz="800" u="none" strike="noStrike" dirty="0">
                          <a:effectLst/>
                        </a:rPr>
                        <a:t> 수 있음 </a:t>
                      </a:r>
                      <a:r>
                        <a:rPr lang="ko-KR" altLang="en-US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→ 단순 링크만 가능</a:t>
                      </a:r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CRM_07_005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strike="noStrike" dirty="0">
                          <a:effectLst/>
                        </a:rPr>
                        <a:t>선호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콘텐츠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많이 보는 프로그램의 최신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콘텐츠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인기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콘텐츠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r>
                        <a:rPr lang="ko-KR" altLang="en-US" sz="800" u="none" strike="noStrike" dirty="0">
                          <a:effectLst/>
                        </a:rPr>
                        <a:t>를 조회하고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매핑할</a:t>
                      </a:r>
                      <a:r>
                        <a:rPr lang="ko-KR" altLang="en-US" sz="800" u="none" strike="noStrike" dirty="0">
                          <a:effectLst/>
                        </a:rPr>
                        <a:t> 수 있음 </a:t>
                      </a:r>
                      <a:r>
                        <a:rPr lang="ko-KR" altLang="en-US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→ 단순 링크만 가능</a:t>
                      </a:r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2" name="꺾인 연결선 41"/>
          <p:cNvCxnSpPr>
            <a:endCxn id="40" idx="2"/>
          </p:cNvCxnSpPr>
          <p:nvPr/>
        </p:nvCxnSpPr>
        <p:spPr>
          <a:xfrm rot="10800000">
            <a:off x="6280016" y="3912508"/>
            <a:ext cx="3761503" cy="2280006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커뮤니케이션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&gt;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 조회 선택 후 발송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</a:t>
            </a:r>
            <a:r>
              <a:rPr lang="ko-KR" altLang="en-US" sz="1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작업물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삭제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CRM_07_001~006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1758182" y="578461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7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968231"/>
              </p:ext>
            </p:extLst>
          </p:nvPr>
        </p:nvGraphicFramePr>
        <p:xfrm>
          <a:off x="1534679" y="2170180"/>
          <a:ext cx="7974519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1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7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59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채널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마케팅 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" name="직사각형 44"/>
          <p:cNvSpPr/>
          <p:nvPr/>
        </p:nvSpPr>
        <p:spPr>
          <a:xfrm>
            <a:off x="2646732" y="2193263"/>
            <a:ext cx="1588041" cy="1738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284004" y="2189524"/>
            <a:ext cx="1333341" cy="17273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홍길동                  🔍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1534679" y="2683279"/>
            <a:ext cx="529123" cy="1489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7872783" y="2193263"/>
            <a:ext cx="1588717" cy="16899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2646733" y="2404820"/>
            <a:ext cx="1588717" cy="16899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002069"/>
              </p:ext>
            </p:extLst>
          </p:nvPr>
        </p:nvGraphicFramePr>
        <p:xfrm>
          <a:off x="1534678" y="2923632"/>
          <a:ext cx="7974520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□               채널                                  제목                                 발신자                   발신자 </a:t>
                      </a:r>
                      <a:r>
                        <a:rPr lang="ko-KR" altLang="en-US" sz="800" dirty="0" err="1"/>
                        <a:t>이메일</a:t>
                      </a:r>
                      <a:r>
                        <a:rPr lang="ko-KR" altLang="en-US" sz="800" dirty="0"/>
                        <a:t>              마케팅 여부     사용여부       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25671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78417"/>
              </p:ext>
            </p:extLst>
          </p:nvPr>
        </p:nvGraphicFramePr>
        <p:xfrm>
          <a:off x="2224750" y="4908637"/>
          <a:ext cx="2569346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7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보내려는 템플릿의 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마케팅 여부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이메일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문자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카카오톡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마케팅용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해당없음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퍼미션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정보 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 err="1"/>
                        <a:t>체크된경우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수신거부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이메일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SMS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광고성</a:t>
                      </a:r>
                      <a:r>
                        <a:rPr lang="ko-KR" altLang="en-US" sz="800" dirty="0"/>
                        <a:t> 정보 수진</a:t>
                      </a:r>
                      <a:r>
                        <a:rPr lang="en-US" altLang="ko-KR" sz="800" dirty="0"/>
                        <a:t>(DM)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468543"/>
              </p:ext>
            </p:extLst>
          </p:nvPr>
        </p:nvGraphicFramePr>
        <p:xfrm>
          <a:off x="4985487" y="4908637"/>
          <a:ext cx="2569346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7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501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보내려는 템플릿의 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마케팅 여부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이메일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문자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카카오톡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마케팅용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해당없음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퍼미션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정보 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체크</a:t>
                      </a:r>
                      <a:r>
                        <a:rPr lang="ko-KR" altLang="en-US" sz="800" baseline="0" dirty="0"/>
                        <a:t> 없는</a:t>
                      </a:r>
                      <a:endParaRPr lang="en-US" altLang="ko-KR" sz="800" baseline="0" dirty="0"/>
                    </a:p>
                    <a:p>
                      <a:pPr algn="ctr" latinLnBrk="1"/>
                      <a:r>
                        <a:rPr lang="ko-KR" altLang="en-US" sz="800" dirty="0"/>
                        <a:t>경우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수신허용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이메일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SMS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광고성</a:t>
                      </a:r>
                      <a:r>
                        <a:rPr lang="ko-KR" altLang="en-US" sz="800" dirty="0"/>
                        <a:t> 정보 수진</a:t>
                      </a:r>
                      <a:r>
                        <a:rPr lang="en-US" altLang="ko-KR" sz="800" dirty="0"/>
                        <a:t>(DM)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32345"/>
          <a:stretch/>
        </p:blipFill>
        <p:spPr>
          <a:xfrm>
            <a:off x="228692" y="1682074"/>
            <a:ext cx="6202105" cy="276670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640" y="2020918"/>
            <a:ext cx="2130037" cy="131675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84136" y="2152593"/>
            <a:ext cx="635939" cy="13273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600" dirty="0">
                <a:solidFill>
                  <a:schemeClr val="tx1"/>
                </a:solidFill>
              </a:rPr>
              <a:t>템플릿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353" y="2141928"/>
            <a:ext cx="1729961" cy="18466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600" dirty="0"/>
              <a:t>○ 직접 입력    ○ 템플릿 불러오기            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228692" y="1846486"/>
            <a:ext cx="770015" cy="174432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934651" y="640205"/>
            <a:ext cx="190308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00B0F0"/>
                </a:solidFill>
              </a:rPr>
              <a:t>메일 발송 시 템플릿 선택하기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발송</a:t>
            </a:r>
            <a:r>
              <a:rPr lang="en-US" altLang="ko-KR" sz="1000" b="1" dirty="0">
                <a:solidFill>
                  <a:srgbClr val="00B0F0"/>
                </a:solidFill>
              </a:rPr>
              <a:t> </a:t>
            </a:r>
            <a:r>
              <a:rPr lang="ko-KR" altLang="en-US" sz="1000" b="1" dirty="0">
                <a:solidFill>
                  <a:srgbClr val="00B0F0"/>
                </a:solidFill>
              </a:rPr>
              <a:t>버튼 </a:t>
            </a:r>
            <a:r>
              <a:rPr lang="ko-KR" altLang="en-US" sz="1000" b="1" dirty="0" err="1">
                <a:solidFill>
                  <a:srgbClr val="00B0F0"/>
                </a:solidFill>
              </a:rPr>
              <a:t>가독성</a:t>
            </a:r>
            <a:r>
              <a:rPr lang="ko-KR" altLang="en-US" sz="1000" b="1" dirty="0">
                <a:solidFill>
                  <a:srgbClr val="00B0F0"/>
                </a:solidFill>
              </a:rPr>
              <a:t> 강화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버튼 디자인 수정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발송 버튼을 누르면</a:t>
            </a:r>
            <a:r>
              <a:rPr lang="en-US" altLang="ko-KR" sz="1000" b="1" dirty="0">
                <a:solidFill>
                  <a:srgbClr val="00B0F0"/>
                </a:solidFill>
              </a:rPr>
              <a:t>,</a:t>
            </a:r>
          </a:p>
          <a:p>
            <a:r>
              <a:rPr lang="ko-KR" altLang="en-US" sz="1000" b="1" dirty="0">
                <a:solidFill>
                  <a:srgbClr val="00B0F0"/>
                </a:solidFill>
              </a:rPr>
              <a:t>발송 결과를 </a:t>
            </a:r>
            <a:r>
              <a:rPr lang="ko-KR" altLang="en-US" sz="1000" b="1" dirty="0" err="1">
                <a:solidFill>
                  <a:srgbClr val="00B0F0"/>
                </a:solidFill>
              </a:rPr>
              <a:t>얼럿으로</a:t>
            </a:r>
            <a:r>
              <a:rPr lang="ko-KR" altLang="en-US" sz="1000" b="1" dirty="0">
                <a:solidFill>
                  <a:srgbClr val="00B0F0"/>
                </a:solidFill>
              </a:rPr>
              <a:t> 안내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템플릿의 마케팅 여부를 체크한 후</a:t>
            </a:r>
            <a:endParaRPr lang="en-US" altLang="ko-KR" sz="800" dirty="0"/>
          </a:p>
          <a:p>
            <a:r>
              <a:rPr lang="en-US" altLang="ko-KR" sz="800" dirty="0"/>
              <a:t>DM </a:t>
            </a:r>
            <a:r>
              <a:rPr lang="ko-KR" altLang="en-US" sz="800" dirty="0"/>
              <a:t>수신거부</a:t>
            </a:r>
            <a:r>
              <a:rPr lang="en-US" altLang="ko-KR" sz="800" dirty="0"/>
              <a:t>/</a:t>
            </a:r>
            <a:r>
              <a:rPr lang="ko-KR" altLang="en-US" sz="800" dirty="0"/>
              <a:t>수신허용에 따라</a:t>
            </a:r>
            <a:endParaRPr lang="en-US" altLang="ko-KR" sz="800" dirty="0"/>
          </a:p>
          <a:p>
            <a:r>
              <a:rPr lang="ko-KR" altLang="en-US" sz="800" dirty="0" err="1"/>
              <a:t>얼럿</a:t>
            </a:r>
            <a:r>
              <a:rPr lang="ko-KR" altLang="en-US" sz="800" dirty="0"/>
              <a:t> 메시지 구성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Ex)</a:t>
            </a:r>
          </a:p>
          <a:p>
            <a:endParaRPr lang="en-US" altLang="ko-KR" sz="800" dirty="0"/>
          </a:p>
          <a:p>
            <a:pPr algn="ctr"/>
            <a:r>
              <a:rPr lang="ko-KR" altLang="en-US" sz="800" dirty="0"/>
              <a:t>발송 성공</a:t>
            </a:r>
            <a:r>
              <a:rPr lang="en-US" altLang="ko-KR" sz="800" dirty="0"/>
              <a:t> 00</a:t>
            </a:r>
            <a:r>
              <a:rPr lang="ko-KR" altLang="en-US" sz="800" dirty="0"/>
              <a:t>건</a:t>
            </a:r>
            <a:endParaRPr lang="en-US" altLang="ko-KR" sz="800" dirty="0"/>
          </a:p>
          <a:p>
            <a:pPr algn="ctr"/>
            <a:r>
              <a:rPr lang="en-US" altLang="ko-KR" sz="800" dirty="0"/>
              <a:t>DM </a:t>
            </a:r>
            <a:r>
              <a:rPr lang="ko-KR" altLang="en-US" sz="800" dirty="0"/>
              <a:t>수신거부로 인한 발송 실패 </a:t>
            </a:r>
            <a:r>
              <a:rPr lang="en-US" altLang="ko-KR" sz="800" dirty="0"/>
              <a:t>00</a:t>
            </a:r>
            <a:r>
              <a:rPr lang="ko-KR" altLang="en-US" sz="800" dirty="0"/>
              <a:t>건</a:t>
            </a:r>
            <a:endParaRPr lang="en-US" altLang="ko-KR" sz="800" dirty="0"/>
          </a:p>
          <a:p>
            <a:pPr algn="ctr"/>
            <a:endParaRPr lang="en-US" altLang="ko-KR" sz="800" dirty="0"/>
          </a:p>
          <a:p>
            <a:pPr algn="ctr"/>
            <a:r>
              <a:rPr lang="ko-KR" altLang="en-US" sz="800" dirty="0"/>
              <a:t>처리 완료됐습니다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16" name="TextBox 15"/>
          <p:cNvSpPr txBox="1"/>
          <p:nvPr/>
        </p:nvSpPr>
        <p:spPr>
          <a:xfrm>
            <a:off x="2804253" y="681655"/>
            <a:ext cx="43749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ko-KR" altLang="en-US" sz="1200" dirty="0"/>
              <a:t>프로세스 정의</a:t>
            </a:r>
            <a:r>
              <a:rPr lang="en-US" altLang="ko-KR" sz="1200" dirty="0"/>
              <a:t>&gt;</a:t>
            </a:r>
          </a:p>
          <a:p>
            <a:endParaRPr lang="en-US" altLang="ko-KR" sz="1200" dirty="0"/>
          </a:p>
          <a:p>
            <a:r>
              <a:rPr lang="ko-KR" altLang="en-US" sz="1200" dirty="0" err="1"/>
              <a:t>퍼미션</a:t>
            </a:r>
            <a:r>
              <a:rPr lang="ko-KR" altLang="en-US" sz="1200" dirty="0"/>
              <a:t> 정보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이메일</a:t>
            </a:r>
            <a:r>
              <a:rPr lang="en-US" altLang="ko-KR" sz="1200" dirty="0"/>
              <a:t>, </a:t>
            </a:r>
            <a:r>
              <a:rPr lang="ko-KR" altLang="en-US" sz="1200" dirty="0"/>
              <a:t>문자</a:t>
            </a:r>
            <a:r>
              <a:rPr lang="en-US" altLang="ko-KR" sz="1200" dirty="0"/>
              <a:t>) </a:t>
            </a:r>
            <a:r>
              <a:rPr lang="ko-KR" altLang="en-US" sz="1200" dirty="0"/>
              <a:t>체크 </a:t>
            </a:r>
            <a:r>
              <a:rPr lang="en-US" altLang="ko-KR" sz="1200" dirty="0"/>
              <a:t>: </a:t>
            </a:r>
            <a:r>
              <a:rPr lang="ko-KR" altLang="en-US" sz="1200" b="1" dirty="0" err="1">
                <a:solidFill>
                  <a:srgbClr val="FF0000"/>
                </a:solidFill>
              </a:rPr>
              <a:t>컨택</a:t>
            </a:r>
            <a:r>
              <a:rPr lang="ko-KR" altLang="en-US" sz="1200" b="1" dirty="0">
                <a:solidFill>
                  <a:srgbClr val="FF0000"/>
                </a:solidFill>
              </a:rPr>
              <a:t> 채널 선택 시점</a:t>
            </a:r>
            <a:r>
              <a:rPr lang="ko-KR" altLang="en-US" sz="1200" dirty="0"/>
              <a:t>에 체크</a:t>
            </a:r>
            <a:endParaRPr lang="en-US" altLang="ko-KR" sz="1200" dirty="0"/>
          </a:p>
          <a:p>
            <a:r>
              <a:rPr lang="ko-KR" altLang="en-US" sz="1200" dirty="0" err="1"/>
              <a:t>퍼미션</a:t>
            </a:r>
            <a:r>
              <a:rPr lang="ko-KR" altLang="en-US" sz="1200" dirty="0"/>
              <a:t> 정보</a:t>
            </a:r>
            <a:r>
              <a:rPr lang="en-US" altLang="ko-KR" sz="1200" dirty="0"/>
              <a:t>(DM)</a:t>
            </a:r>
            <a:r>
              <a:rPr lang="ko-KR" altLang="en-US" sz="1200" dirty="0"/>
              <a:t>체크 </a:t>
            </a:r>
            <a:r>
              <a:rPr lang="en-US" altLang="ko-KR" sz="1200" dirty="0"/>
              <a:t>: </a:t>
            </a:r>
            <a:r>
              <a:rPr lang="ko-KR" altLang="en-US" sz="1200" b="1" dirty="0">
                <a:solidFill>
                  <a:srgbClr val="FF0000"/>
                </a:solidFill>
              </a:rPr>
              <a:t>발송 시점</a:t>
            </a:r>
            <a:r>
              <a:rPr lang="ko-KR" altLang="en-US" sz="1200" dirty="0"/>
              <a:t>에 체크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커뮤니케이션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&gt;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 조회 선택 후 발송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</a:t>
            </a:r>
            <a:r>
              <a:rPr lang="ko-KR" altLang="en-US" sz="1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작업물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삭제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CRM_07_001~006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135753" y="175970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35752" y="196967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0005773" y="3157640"/>
            <a:ext cx="1831963" cy="815724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0481811" y="3779526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확인</a:t>
            </a:r>
          </a:p>
        </p:txBody>
      </p:sp>
    </p:spTree>
    <p:extLst>
      <p:ext uri="{BB962C8B-B14F-4D97-AF65-F5344CB8AC3E}">
        <p14:creationId xmlns:p14="http://schemas.microsoft.com/office/powerpoint/2010/main" val="23998076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17" y="800100"/>
            <a:ext cx="6202105" cy="40894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65" y="1138944"/>
            <a:ext cx="2130037" cy="13167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316561" y="1270619"/>
            <a:ext cx="635939" cy="13273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600" dirty="0">
                <a:solidFill>
                  <a:schemeClr val="tx1"/>
                </a:solidFill>
              </a:rPr>
              <a:t>템플릿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2592536" y="2410813"/>
            <a:ext cx="7184832" cy="4027178"/>
            <a:chOff x="3285268" y="2614013"/>
            <a:chExt cx="7184832" cy="4027178"/>
          </a:xfrm>
        </p:grpSpPr>
        <p:sp>
          <p:nvSpPr>
            <p:cNvPr id="10" name="직사각형 9"/>
            <p:cNvSpPr/>
            <p:nvPr/>
          </p:nvSpPr>
          <p:spPr>
            <a:xfrm>
              <a:off x="3285268" y="2614013"/>
              <a:ext cx="7184832" cy="402717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380799" y="6123450"/>
              <a:ext cx="163993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Total 000      Page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000   </a:t>
              </a:r>
              <a:endParaRPr lang="ko-KR" altLang="en-US" sz="8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038702" y="6122943"/>
              <a:ext cx="152317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/>
                <a:t>◀  </a:t>
              </a:r>
              <a:r>
                <a:rPr lang="en-US" altLang="ko-KR" sz="800" dirty="0"/>
                <a:t>1 2 3 4 5 6 7 8 9 10   </a:t>
              </a:r>
              <a:r>
                <a:rPr lang="ko-KR" altLang="en-US" sz="800" dirty="0"/>
                <a:t>▶</a:t>
              </a: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9587364" y="6151303"/>
              <a:ext cx="410106" cy="1252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r>
                <a:rPr lang="en-US" altLang="ko-KR" sz="800" dirty="0">
                  <a:solidFill>
                    <a:schemeClr val="tx1"/>
                  </a:solidFill>
                </a:rPr>
                <a:t>50 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9121933" y="6405013"/>
              <a:ext cx="879885" cy="1464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닫기</a:t>
              </a:r>
            </a:p>
          </p:txBody>
        </p:sp>
      </p:grpSp>
      <p:sp>
        <p:nvSpPr>
          <p:cNvPr id="20" name="직사각형 19"/>
          <p:cNvSpPr/>
          <p:nvPr/>
        </p:nvSpPr>
        <p:spPr>
          <a:xfrm>
            <a:off x="7345970" y="6213366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선택 적용하기</a:t>
            </a: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708372"/>
              </p:ext>
            </p:extLst>
          </p:nvPr>
        </p:nvGraphicFramePr>
        <p:xfrm>
          <a:off x="2688066" y="2556756"/>
          <a:ext cx="7030100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3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7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0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5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채널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마케팅 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3669718" y="2588536"/>
            <a:ext cx="1420894" cy="16899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 err="1">
                <a:solidFill>
                  <a:schemeClr val="tx1"/>
                </a:solidFill>
              </a:rPr>
              <a:t>이메일</a:t>
            </a:r>
            <a:r>
              <a:rPr lang="ko-KR" altLang="en-US" sz="800" dirty="0">
                <a:solidFill>
                  <a:schemeClr val="tx1"/>
                </a:solidFill>
              </a:rPr>
              <a:t>            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012629" y="2580832"/>
            <a:ext cx="1949689" cy="1767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688066" y="3087824"/>
            <a:ext cx="529123" cy="1489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365842"/>
              </p:ext>
            </p:extLst>
          </p:nvPr>
        </p:nvGraphicFramePr>
        <p:xfrm>
          <a:off x="2688067" y="3356327"/>
          <a:ext cx="7030100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3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□               채널                               제목                              발신자                발신자 </a:t>
                      </a:r>
                      <a:r>
                        <a:rPr lang="ko-KR" altLang="en-US" sz="800" dirty="0" err="1"/>
                        <a:t>이메일</a:t>
                      </a:r>
                      <a:r>
                        <a:rPr lang="ko-KR" altLang="en-US" sz="800" dirty="0"/>
                        <a:t> </a:t>
                      </a:r>
                      <a:r>
                        <a:rPr lang="ko-KR" altLang="en-US" sz="800" baseline="0" dirty="0"/>
                        <a:t>                   마케팅여부       </a:t>
                      </a:r>
                      <a:r>
                        <a:rPr lang="ko-KR" altLang="en-US" sz="800" dirty="0"/>
                        <a:t>사용여부       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직사각형 26"/>
          <p:cNvSpPr/>
          <p:nvPr/>
        </p:nvSpPr>
        <p:spPr>
          <a:xfrm>
            <a:off x="8660818" y="2580832"/>
            <a:ext cx="1003300" cy="1767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dirty="0">
                <a:solidFill>
                  <a:schemeClr val="tx1"/>
                </a:solidFill>
              </a:rPr>
              <a:t>Y             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9" name="꺾인 연결선 28"/>
          <p:cNvCxnSpPr>
            <a:endCxn id="10" idx="1"/>
          </p:cNvCxnSpPr>
          <p:nvPr/>
        </p:nvCxnSpPr>
        <p:spPr>
          <a:xfrm rot="16200000" flipH="1">
            <a:off x="681246" y="2513111"/>
            <a:ext cx="3012087" cy="810493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997065" y="628549"/>
            <a:ext cx="2145139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00B0F0"/>
                </a:solidFill>
              </a:rPr>
              <a:t>메일 발송 시 템플릿 선택하기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템플릿 불러오기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 err="1"/>
              <a:t>이메일</a:t>
            </a:r>
            <a:r>
              <a:rPr lang="ko-KR" altLang="en-US" sz="800" dirty="0"/>
              <a:t> </a:t>
            </a:r>
            <a:r>
              <a:rPr lang="en-US" altLang="ko-KR" sz="800" dirty="0"/>
              <a:t>/ </a:t>
            </a:r>
            <a:r>
              <a:rPr lang="ko-KR" altLang="en-US" sz="800" dirty="0"/>
              <a:t>사용여부 </a:t>
            </a:r>
            <a:r>
              <a:rPr lang="en-US" altLang="ko-KR" sz="800" dirty="0"/>
              <a:t>Y </a:t>
            </a:r>
            <a:r>
              <a:rPr lang="ko-KR" altLang="en-US" sz="800" dirty="0"/>
              <a:t>템플릿 리스트 중에서</a:t>
            </a:r>
            <a:endParaRPr lang="en-US" altLang="ko-KR" sz="800" dirty="0"/>
          </a:p>
          <a:p>
            <a:r>
              <a:rPr lang="ko-KR" altLang="en-US" sz="800" dirty="0"/>
              <a:t>사용할 템플릿을 선택 적용합니다</a:t>
            </a:r>
            <a:r>
              <a:rPr lang="en-US" altLang="ko-KR" sz="800" dirty="0"/>
              <a:t>.</a:t>
            </a:r>
          </a:p>
          <a:p>
            <a:endParaRPr lang="en-US" altLang="ko-KR" sz="800" dirty="0"/>
          </a:p>
          <a:p>
            <a:r>
              <a:rPr lang="en-US" altLang="ko-KR" sz="800" dirty="0"/>
              <a:t>&lt;</a:t>
            </a:r>
            <a:r>
              <a:rPr lang="ko-KR" altLang="en-US" sz="800" dirty="0"/>
              <a:t>액션</a:t>
            </a:r>
            <a:r>
              <a:rPr lang="en-US" altLang="ko-KR" sz="800" dirty="0"/>
              <a:t>&gt;</a:t>
            </a:r>
          </a:p>
          <a:p>
            <a:r>
              <a:rPr lang="ko-KR" altLang="en-US" sz="800" dirty="0"/>
              <a:t>체크박스 선택 후 선택 적용하기</a:t>
            </a:r>
            <a:endParaRPr lang="en-US" altLang="ko-KR" sz="800" dirty="0"/>
          </a:p>
          <a:p>
            <a:r>
              <a:rPr lang="ko-KR" altLang="en-US" sz="800" dirty="0"/>
              <a:t>제목 더블클릭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상세 정보 자동 입력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해당 템플릿에 등록된 데이터 </a:t>
            </a:r>
            <a:endParaRPr lang="en-US" altLang="ko-KR" sz="800" dirty="0"/>
          </a:p>
          <a:p>
            <a:r>
              <a:rPr lang="ko-KR" altLang="en-US" sz="800" dirty="0"/>
              <a:t>자동 입력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직접 수정 가능</a:t>
            </a:r>
            <a:endParaRPr lang="en-US" altLang="ko-KR" sz="800" dirty="0"/>
          </a:p>
        </p:txBody>
      </p:sp>
      <p:sp>
        <p:nvSpPr>
          <p:cNvPr id="31" name="직사각형 30"/>
          <p:cNvSpPr/>
          <p:nvPr/>
        </p:nvSpPr>
        <p:spPr>
          <a:xfrm>
            <a:off x="102962" y="127061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2860704" y="442440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39778" y="1259954"/>
            <a:ext cx="1729961" cy="18466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600" dirty="0"/>
              <a:t>○ 직접 입력    ○ 템플릿 불러오기            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메일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문자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카카오톡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템플릿 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직접 작성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CRM_07_007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113358" y="4182750"/>
            <a:ext cx="1140053" cy="32865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대상자 추가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3669718" y="2781235"/>
            <a:ext cx="1420894" cy="16899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4556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03" y="850900"/>
            <a:ext cx="5060548" cy="457835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5790261" y="1473819"/>
            <a:ext cx="635939" cy="13273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템플릿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338430" y="1473819"/>
            <a:ext cx="4913019" cy="141696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7" name="직선 화살표 연결선 6"/>
          <p:cNvCxnSpPr>
            <a:stCxn id="5" idx="3"/>
            <a:endCxn id="3" idx="1"/>
          </p:cNvCxnSpPr>
          <p:nvPr/>
        </p:nvCxnSpPr>
        <p:spPr>
          <a:xfrm flipV="1">
            <a:off x="5251449" y="1540185"/>
            <a:ext cx="538812" cy="4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/>
          <p:cNvGrpSpPr/>
          <p:nvPr/>
        </p:nvGrpSpPr>
        <p:grpSpPr>
          <a:xfrm>
            <a:off x="2197845" y="2582263"/>
            <a:ext cx="7184832" cy="4027178"/>
            <a:chOff x="3285268" y="2614013"/>
            <a:chExt cx="7184832" cy="4027178"/>
          </a:xfrm>
        </p:grpSpPr>
        <p:sp>
          <p:nvSpPr>
            <p:cNvPr id="9" name="직사각형 8"/>
            <p:cNvSpPr/>
            <p:nvPr/>
          </p:nvSpPr>
          <p:spPr>
            <a:xfrm>
              <a:off x="3285268" y="2614013"/>
              <a:ext cx="7184832" cy="402717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380799" y="6123450"/>
              <a:ext cx="163993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Total 000      Page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000   </a:t>
              </a:r>
              <a:endParaRPr lang="ko-KR" altLang="en-US" sz="8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038702" y="6122943"/>
              <a:ext cx="152317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/>
                <a:t>◀  </a:t>
              </a:r>
              <a:r>
                <a:rPr lang="en-US" altLang="ko-KR" sz="800" dirty="0"/>
                <a:t>1 2 3 4 5 6 7 8 9 10   </a:t>
              </a:r>
              <a:r>
                <a:rPr lang="ko-KR" altLang="en-US" sz="800" dirty="0"/>
                <a:t>▶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9587364" y="6151303"/>
              <a:ext cx="410106" cy="1252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r>
                <a:rPr lang="en-US" altLang="ko-KR" sz="800" dirty="0">
                  <a:solidFill>
                    <a:schemeClr val="tx1"/>
                  </a:solidFill>
                </a:rPr>
                <a:t>50 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9121933" y="6405013"/>
              <a:ext cx="879885" cy="1464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닫기</a:t>
              </a:r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6951279" y="6384816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선택 적용하기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178357"/>
              </p:ext>
            </p:extLst>
          </p:nvPr>
        </p:nvGraphicFramePr>
        <p:xfrm>
          <a:off x="2293375" y="2728206"/>
          <a:ext cx="7030100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3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7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0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5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채널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마케팅 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직사각형 15"/>
          <p:cNvSpPr/>
          <p:nvPr/>
        </p:nvSpPr>
        <p:spPr>
          <a:xfrm>
            <a:off x="3275027" y="2759986"/>
            <a:ext cx="1420894" cy="16899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문자            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617938" y="2752282"/>
            <a:ext cx="1949689" cy="1767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293376" y="3272486"/>
            <a:ext cx="529123" cy="1489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8266127" y="2752282"/>
            <a:ext cx="1003300" cy="1767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dirty="0">
                <a:solidFill>
                  <a:schemeClr val="tx1"/>
                </a:solidFill>
              </a:rPr>
              <a:t>Y             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997065" y="628549"/>
            <a:ext cx="2042547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SMS</a:t>
            </a:r>
            <a:r>
              <a:rPr lang="ko-KR" altLang="en-US" sz="1000" b="1" dirty="0">
                <a:solidFill>
                  <a:srgbClr val="00B0F0"/>
                </a:solidFill>
              </a:rPr>
              <a:t> 발송 시 템플릿 선택하기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템플릿 불러오기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문자 </a:t>
            </a:r>
            <a:r>
              <a:rPr lang="en-US" altLang="ko-KR" sz="800" dirty="0"/>
              <a:t>/ </a:t>
            </a:r>
            <a:r>
              <a:rPr lang="ko-KR" altLang="en-US" sz="800" dirty="0"/>
              <a:t>사용여부 </a:t>
            </a:r>
            <a:r>
              <a:rPr lang="en-US" altLang="ko-KR" sz="800" dirty="0"/>
              <a:t>Y </a:t>
            </a:r>
            <a:r>
              <a:rPr lang="ko-KR" altLang="en-US" sz="800" dirty="0"/>
              <a:t>템플릿 리스트 중에서</a:t>
            </a:r>
            <a:endParaRPr lang="en-US" altLang="ko-KR" sz="800" dirty="0"/>
          </a:p>
          <a:p>
            <a:r>
              <a:rPr lang="ko-KR" altLang="en-US" sz="800" dirty="0"/>
              <a:t>사용할 템플릿을 선택 적용합니다</a:t>
            </a:r>
            <a:r>
              <a:rPr lang="en-US" altLang="ko-KR" sz="800" dirty="0"/>
              <a:t>.</a:t>
            </a:r>
          </a:p>
          <a:p>
            <a:endParaRPr lang="en-US" altLang="ko-KR" sz="800" dirty="0"/>
          </a:p>
          <a:p>
            <a:r>
              <a:rPr lang="en-US" altLang="ko-KR" sz="800" dirty="0"/>
              <a:t>&lt;</a:t>
            </a:r>
            <a:r>
              <a:rPr lang="ko-KR" altLang="en-US" sz="800" dirty="0"/>
              <a:t>액션</a:t>
            </a:r>
            <a:r>
              <a:rPr lang="en-US" altLang="ko-KR" sz="800" dirty="0"/>
              <a:t>&gt;</a:t>
            </a:r>
          </a:p>
          <a:p>
            <a:r>
              <a:rPr lang="ko-KR" altLang="en-US" sz="800" dirty="0"/>
              <a:t>체크박스 선택 후 선택 적용하기</a:t>
            </a:r>
            <a:endParaRPr lang="en-US" altLang="ko-KR" sz="800" dirty="0"/>
          </a:p>
          <a:p>
            <a:r>
              <a:rPr lang="ko-KR" altLang="en-US" sz="800" dirty="0"/>
              <a:t>제목 더블클릭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상세 정보 자동 입력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해당 템플릿에 등록된 데이터 </a:t>
            </a:r>
            <a:endParaRPr lang="en-US" altLang="ko-KR" sz="800" dirty="0"/>
          </a:p>
          <a:p>
            <a:r>
              <a:rPr lang="ko-KR" altLang="en-US" sz="800" dirty="0"/>
              <a:t>자동 입력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직접 수정 가능</a:t>
            </a:r>
            <a:endParaRPr lang="en-US" altLang="ko-KR" sz="800" dirty="0"/>
          </a:p>
        </p:txBody>
      </p:sp>
      <p:sp>
        <p:nvSpPr>
          <p:cNvPr id="22" name="직사각형 21"/>
          <p:cNvSpPr/>
          <p:nvPr/>
        </p:nvSpPr>
        <p:spPr>
          <a:xfrm>
            <a:off x="102962" y="127061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24" name="꺾인 연결선 23"/>
          <p:cNvCxnSpPr>
            <a:endCxn id="9" idx="1"/>
          </p:cNvCxnSpPr>
          <p:nvPr/>
        </p:nvCxnSpPr>
        <p:spPr>
          <a:xfrm rot="16200000" flipH="1">
            <a:off x="68405" y="2466412"/>
            <a:ext cx="3051634" cy="1207245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2791678" y="456930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60782" y="1447851"/>
            <a:ext cx="1729961" cy="18466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600" dirty="0"/>
              <a:t>○ 직접 입력    ○ 템플릿 불러오기            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메일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문자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카카오톡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템플릿 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직접 작성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CRM_07_007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3275027" y="2957456"/>
            <a:ext cx="1420894" cy="16899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    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57853"/>
              </p:ext>
            </p:extLst>
          </p:nvPr>
        </p:nvGraphicFramePr>
        <p:xfrm>
          <a:off x="2293377" y="3531661"/>
          <a:ext cx="7030098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30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□               채널                                  제목                                 발신자                   발신자 </a:t>
                      </a:r>
                      <a:r>
                        <a:rPr lang="ko-KR" altLang="en-US" sz="800" dirty="0" err="1"/>
                        <a:t>이메일</a:t>
                      </a:r>
                      <a:r>
                        <a:rPr lang="ko-KR" altLang="en-US" sz="800" dirty="0"/>
                        <a:t>              마케팅 여부     사용여부       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03174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03" y="850900"/>
            <a:ext cx="5060548" cy="457835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38430" y="1473819"/>
            <a:ext cx="4913019" cy="141696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7" name="직선 화살표 연결선 6"/>
          <p:cNvCxnSpPr>
            <a:stCxn id="5" idx="3"/>
          </p:cNvCxnSpPr>
          <p:nvPr/>
        </p:nvCxnSpPr>
        <p:spPr>
          <a:xfrm flipV="1">
            <a:off x="5251449" y="1540185"/>
            <a:ext cx="538812" cy="4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/>
          <p:cNvGrpSpPr/>
          <p:nvPr/>
        </p:nvGrpSpPr>
        <p:grpSpPr>
          <a:xfrm>
            <a:off x="2197845" y="2582263"/>
            <a:ext cx="7184832" cy="4027178"/>
            <a:chOff x="3285268" y="2614013"/>
            <a:chExt cx="7184832" cy="4027178"/>
          </a:xfrm>
        </p:grpSpPr>
        <p:sp>
          <p:nvSpPr>
            <p:cNvPr id="9" name="직사각형 8"/>
            <p:cNvSpPr/>
            <p:nvPr/>
          </p:nvSpPr>
          <p:spPr>
            <a:xfrm>
              <a:off x="3285268" y="2614013"/>
              <a:ext cx="7184832" cy="402717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380799" y="6123450"/>
              <a:ext cx="163993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Total 000      Page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000   </a:t>
              </a:r>
              <a:endParaRPr lang="ko-KR" altLang="en-US" sz="8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038702" y="6122943"/>
              <a:ext cx="152317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/>
                <a:t>◀  </a:t>
              </a:r>
              <a:r>
                <a:rPr lang="en-US" altLang="ko-KR" sz="800" dirty="0"/>
                <a:t>1 2 3 4 5 6 7 8 9 10   </a:t>
              </a:r>
              <a:r>
                <a:rPr lang="ko-KR" altLang="en-US" sz="800" dirty="0"/>
                <a:t>▶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9587364" y="6151303"/>
              <a:ext cx="410106" cy="1252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r>
                <a:rPr lang="en-US" altLang="ko-KR" sz="800" dirty="0">
                  <a:solidFill>
                    <a:schemeClr val="tx1"/>
                  </a:solidFill>
                </a:rPr>
                <a:t>50 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9121933" y="6405013"/>
              <a:ext cx="879885" cy="1464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닫기</a:t>
              </a:r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6951279" y="6384816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선택 적용하기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762062"/>
              </p:ext>
            </p:extLst>
          </p:nvPr>
        </p:nvGraphicFramePr>
        <p:xfrm>
          <a:off x="2293375" y="2728206"/>
          <a:ext cx="7030100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3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7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0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5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채널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마케팅 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직사각형 15"/>
          <p:cNvSpPr/>
          <p:nvPr/>
        </p:nvSpPr>
        <p:spPr>
          <a:xfrm>
            <a:off x="3275027" y="2759986"/>
            <a:ext cx="1420894" cy="16899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 err="1">
                <a:solidFill>
                  <a:schemeClr val="tx1"/>
                </a:solidFill>
              </a:rPr>
              <a:t>카카오톡</a:t>
            </a:r>
            <a:r>
              <a:rPr lang="ko-KR" altLang="en-US" sz="800" dirty="0">
                <a:solidFill>
                  <a:schemeClr val="tx1"/>
                </a:solidFill>
              </a:rPr>
              <a:t>        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617938" y="2752282"/>
            <a:ext cx="1949689" cy="1767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293376" y="3371635"/>
            <a:ext cx="529123" cy="1489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8266127" y="2752282"/>
            <a:ext cx="1003300" cy="1767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dirty="0">
                <a:solidFill>
                  <a:schemeClr val="tx1"/>
                </a:solidFill>
              </a:rPr>
              <a:t>Y             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67503" y="850900"/>
            <a:ext cx="1326347" cy="158750"/>
          </a:xfrm>
          <a:prstGeom prst="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err="1">
                <a:solidFill>
                  <a:schemeClr val="bg1"/>
                </a:solidFill>
              </a:rPr>
              <a:t>카카오톡</a:t>
            </a:r>
            <a:r>
              <a:rPr lang="ko-KR" altLang="en-US" sz="1000" b="1" dirty="0">
                <a:solidFill>
                  <a:schemeClr val="bg1"/>
                </a:solidFill>
              </a:rPr>
              <a:t> 발송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7065" y="628549"/>
            <a:ext cx="2279791" cy="26161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solidFill>
                  <a:srgbClr val="00B0F0"/>
                </a:solidFill>
              </a:rPr>
              <a:t>카카오톡</a:t>
            </a:r>
            <a:r>
              <a:rPr lang="ko-KR" altLang="en-US" sz="1000" b="1" dirty="0">
                <a:solidFill>
                  <a:srgbClr val="00B0F0"/>
                </a:solidFill>
              </a:rPr>
              <a:t> 발송 시 템플릿 선택하기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템플릿 불러오기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 err="1"/>
              <a:t>카카오톡</a:t>
            </a:r>
            <a:r>
              <a:rPr lang="ko-KR" altLang="en-US" sz="800" dirty="0"/>
              <a:t> </a:t>
            </a:r>
            <a:r>
              <a:rPr lang="en-US" altLang="ko-KR" sz="800" dirty="0"/>
              <a:t>/ </a:t>
            </a:r>
            <a:r>
              <a:rPr lang="ko-KR" altLang="en-US" sz="800" dirty="0"/>
              <a:t>사용여부 </a:t>
            </a:r>
            <a:r>
              <a:rPr lang="en-US" altLang="ko-KR" sz="800" dirty="0"/>
              <a:t>Y </a:t>
            </a:r>
            <a:r>
              <a:rPr lang="ko-KR" altLang="en-US" sz="800" dirty="0"/>
              <a:t>템플릿 리스트 중에서</a:t>
            </a:r>
            <a:endParaRPr lang="en-US" altLang="ko-KR" sz="800" dirty="0"/>
          </a:p>
          <a:p>
            <a:r>
              <a:rPr lang="ko-KR" altLang="en-US" sz="800" dirty="0"/>
              <a:t>사용할 템플릿을 선택 적용합니다</a:t>
            </a:r>
            <a:r>
              <a:rPr lang="en-US" altLang="ko-KR" sz="800" dirty="0"/>
              <a:t>.</a:t>
            </a:r>
          </a:p>
          <a:p>
            <a:endParaRPr lang="en-US" altLang="ko-KR" sz="800" dirty="0"/>
          </a:p>
          <a:p>
            <a:r>
              <a:rPr lang="en-US" altLang="ko-KR" sz="800" dirty="0"/>
              <a:t>&lt;</a:t>
            </a:r>
            <a:r>
              <a:rPr lang="ko-KR" altLang="en-US" sz="800" dirty="0"/>
              <a:t>액션</a:t>
            </a:r>
            <a:r>
              <a:rPr lang="en-US" altLang="ko-KR" sz="800" dirty="0"/>
              <a:t>&gt;</a:t>
            </a:r>
          </a:p>
          <a:p>
            <a:r>
              <a:rPr lang="ko-KR" altLang="en-US" sz="800" dirty="0"/>
              <a:t>체크박스 선택 후 선택 적용하기</a:t>
            </a:r>
            <a:endParaRPr lang="en-US" altLang="ko-KR" sz="800" dirty="0"/>
          </a:p>
          <a:p>
            <a:r>
              <a:rPr lang="ko-KR" altLang="en-US" sz="800" dirty="0"/>
              <a:t>제목 더블클릭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상세 정보 자동 입력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템플릿 리스트에서 선택 후 </a:t>
            </a:r>
            <a:r>
              <a:rPr lang="en-US" altLang="ko-KR" sz="800" dirty="0"/>
              <a:t>[</a:t>
            </a:r>
            <a:r>
              <a:rPr lang="ko-KR" altLang="en-US" sz="800" dirty="0"/>
              <a:t>선택 적용하기</a:t>
            </a:r>
            <a:r>
              <a:rPr lang="en-US" altLang="ko-KR" sz="800" dirty="0"/>
              <a:t>]</a:t>
            </a:r>
            <a:r>
              <a:rPr lang="ko-KR" altLang="en-US" sz="800" dirty="0"/>
              <a:t>를</a:t>
            </a:r>
            <a:endParaRPr lang="en-US" altLang="ko-KR" sz="800" dirty="0"/>
          </a:p>
          <a:p>
            <a:r>
              <a:rPr lang="ko-KR" altLang="en-US" sz="800" dirty="0"/>
              <a:t>누르면 </a:t>
            </a:r>
            <a:endParaRPr lang="en-US" altLang="ko-KR" sz="800" dirty="0"/>
          </a:p>
          <a:p>
            <a:r>
              <a:rPr lang="ko-KR" altLang="en-US" sz="800" dirty="0"/>
              <a:t>해당 템플릿에 등록된 데이터 </a:t>
            </a:r>
            <a:endParaRPr lang="en-US" altLang="ko-KR" sz="800" dirty="0"/>
          </a:p>
          <a:p>
            <a:r>
              <a:rPr lang="ko-KR" altLang="en-US" sz="800" dirty="0"/>
              <a:t>자동 입력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불려온 화면</a:t>
            </a:r>
            <a:r>
              <a:rPr lang="en-US" altLang="ko-KR" sz="800" dirty="0"/>
              <a:t>(</a:t>
            </a:r>
            <a:r>
              <a:rPr lang="ko-KR" altLang="en-US" sz="800" dirty="0"/>
              <a:t>발송화면</a:t>
            </a:r>
            <a:r>
              <a:rPr lang="en-US" altLang="ko-KR" sz="800" dirty="0"/>
              <a:t>)</a:t>
            </a:r>
            <a:r>
              <a:rPr lang="ko-KR" altLang="en-US" sz="800" dirty="0"/>
              <a:t>에서 직접 수정도 가능</a:t>
            </a:r>
            <a:endParaRPr lang="en-US" altLang="ko-KR" sz="800" dirty="0"/>
          </a:p>
        </p:txBody>
      </p:sp>
      <p:sp>
        <p:nvSpPr>
          <p:cNvPr id="23" name="직사각형 22"/>
          <p:cNvSpPr/>
          <p:nvPr/>
        </p:nvSpPr>
        <p:spPr>
          <a:xfrm>
            <a:off x="102962" y="127061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24" name="꺾인 연결선 23"/>
          <p:cNvCxnSpPr/>
          <p:nvPr/>
        </p:nvCxnSpPr>
        <p:spPr>
          <a:xfrm rot="16200000" flipH="1">
            <a:off x="68405" y="2466412"/>
            <a:ext cx="3051634" cy="1207245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2791678" y="456930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790261" y="1473819"/>
            <a:ext cx="635939" cy="13273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템플릿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0782" y="1447851"/>
            <a:ext cx="1729961" cy="18466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600" dirty="0"/>
              <a:t>○ 직접 입력    ○ 템플릿 불러오기            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메일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문자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카카오톡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템플릿 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직접 작성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CRM_07_007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3275027" y="2964026"/>
            <a:ext cx="1420894" cy="16899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37760"/>
              </p:ext>
            </p:extLst>
          </p:nvPr>
        </p:nvGraphicFramePr>
        <p:xfrm>
          <a:off x="2293377" y="3648754"/>
          <a:ext cx="7030098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30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□               채널                                  제목                                 발신자                   발신자 </a:t>
                      </a:r>
                      <a:r>
                        <a:rPr lang="ko-KR" altLang="en-US" sz="800" dirty="0" err="1"/>
                        <a:t>이메일</a:t>
                      </a:r>
                      <a:r>
                        <a:rPr lang="ko-KR" altLang="en-US" sz="800" dirty="0"/>
                        <a:t>              마케팅 여부     사용여부       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86105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03" y="850900"/>
            <a:ext cx="5060548" cy="457835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38430" y="1473819"/>
            <a:ext cx="4913019" cy="141696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7" name="직선 화살표 연결선 6"/>
          <p:cNvCxnSpPr>
            <a:stCxn id="5" idx="3"/>
          </p:cNvCxnSpPr>
          <p:nvPr/>
        </p:nvCxnSpPr>
        <p:spPr>
          <a:xfrm flipV="1">
            <a:off x="5251449" y="1540185"/>
            <a:ext cx="538812" cy="4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67503" y="850900"/>
            <a:ext cx="1326347" cy="158750"/>
          </a:xfrm>
          <a:prstGeom prst="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err="1">
                <a:solidFill>
                  <a:schemeClr val="bg1"/>
                </a:solidFill>
              </a:rPr>
              <a:t>카카오톡</a:t>
            </a:r>
            <a:r>
              <a:rPr lang="ko-KR" altLang="en-US" sz="1000" b="1" dirty="0">
                <a:solidFill>
                  <a:schemeClr val="bg1"/>
                </a:solidFill>
              </a:rPr>
              <a:t> 발송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7065" y="628549"/>
            <a:ext cx="2279791" cy="26161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solidFill>
                  <a:srgbClr val="00B0F0"/>
                </a:solidFill>
              </a:rPr>
              <a:t>카카오톡</a:t>
            </a:r>
            <a:r>
              <a:rPr lang="ko-KR" altLang="en-US" sz="1000" b="1" dirty="0">
                <a:solidFill>
                  <a:srgbClr val="00B0F0"/>
                </a:solidFill>
              </a:rPr>
              <a:t> 발송 시 템플릿 선택하기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템플릿 불러오기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 err="1"/>
              <a:t>카카오톡</a:t>
            </a:r>
            <a:r>
              <a:rPr lang="ko-KR" altLang="en-US" sz="800" dirty="0"/>
              <a:t> </a:t>
            </a:r>
            <a:r>
              <a:rPr lang="en-US" altLang="ko-KR" sz="800" dirty="0"/>
              <a:t>/ </a:t>
            </a:r>
            <a:r>
              <a:rPr lang="ko-KR" altLang="en-US" sz="800" dirty="0"/>
              <a:t>사용여부 </a:t>
            </a:r>
            <a:r>
              <a:rPr lang="en-US" altLang="ko-KR" sz="800" dirty="0"/>
              <a:t>Y </a:t>
            </a:r>
            <a:r>
              <a:rPr lang="ko-KR" altLang="en-US" sz="800" dirty="0"/>
              <a:t>템플릿 리스트 중에서</a:t>
            </a:r>
            <a:endParaRPr lang="en-US" altLang="ko-KR" sz="800" dirty="0"/>
          </a:p>
          <a:p>
            <a:r>
              <a:rPr lang="ko-KR" altLang="en-US" sz="800" dirty="0"/>
              <a:t>사용할 템플릿을 선택 적용합니다</a:t>
            </a:r>
            <a:r>
              <a:rPr lang="en-US" altLang="ko-KR" sz="800" dirty="0"/>
              <a:t>.</a:t>
            </a:r>
          </a:p>
          <a:p>
            <a:endParaRPr lang="en-US" altLang="ko-KR" sz="800" dirty="0"/>
          </a:p>
          <a:p>
            <a:r>
              <a:rPr lang="en-US" altLang="ko-KR" sz="800" dirty="0"/>
              <a:t>&lt;</a:t>
            </a:r>
            <a:r>
              <a:rPr lang="ko-KR" altLang="en-US" sz="800" dirty="0"/>
              <a:t>액션</a:t>
            </a:r>
            <a:r>
              <a:rPr lang="en-US" altLang="ko-KR" sz="800" dirty="0"/>
              <a:t>&gt;</a:t>
            </a:r>
          </a:p>
          <a:p>
            <a:r>
              <a:rPr lang="ko-KR" altLang="en-US" sz="800" dirty="0"/>
              <a:t>체크박스 선택 후 선택 적용하기</a:t>
            </a:r>
            <a:endParaRPr lang="en-US" altLang="ko-KR" sz="800" dirty="0"/>
          </a:p>
          <a:p>
            <a:r>
              <a:rPr lang="ko-KR" altLang="en-US" sz="800" dirty="0"/>
              <a:t>제목 더블클릭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상세 정보 자동 입력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템플릿 리스트에서 선택 후 </a:t>
            </a:r>
            <a:r>
              <a:rPr lang="en-US" altLang="ko-KR" sz="800" dirty="0"/>
              <a:t>[</a:t>
            </a:r>
            <a:r>
              <a:rPr lang="ko-KR" altLang="en-US" sz="800" dirty="0"/>
              <a:t>선택 적용하기</a:t>
            </a:r>
            <a:r>
              <a:rPr lang="en-US" altLang="ko-KR" sz="800" dirty="0"/>
              <a:t>]</a:t>
            </a:r>
            <a:r>
              <a:rPr lang="ko-KR" altLang="en-US" sz="800" dirty="0"/>
              <a:t>를</a:t>
            </a:r>
            <a:endParaRPr lang="en-US" altLang="ko-KR" sz="800" dirty="0"/>
          </a:p>
          <a:p>
            <a:r>
              <a:rPr lang="ko-KR" altLang="en-US" sz="800" dirty="0"/>
              <a:t>누르면 </a:t>
            </a:r>
            <a:endParaRPr lang="en-US" altLang="ko-KR" sz="800" dirty="0"/>
          </a:p>
          <a:p>
            <a:r>
              <a:rPr lang="ko-KR" altLang="en-US" sz="800" dirty="0"/>
              <a:t>해당 템플릿에 등록된 데이터 </a:t>
            </a:r>
            <a:endParaRPr lang="en-US" altLang="ko-KR" sz="800" dirty="0"/>
          </a:p>
          <a:p>
            <a:r>
              <a:rPr lang="ko-KR" altLang="en-US" sz="800" dirty="0"/>
              <a:t>자동 입력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불려온 화면</a:t>
            </a:r>
            <a:r>
              <a:rPr lang="en-US" altLang="ko-KR" sz="800" dirty="0"/>
              <a:t>(</a:t>
            </a:r>
            <a:r>
              <a:rPr lang="ko-KR" altLang="en-US" sz="800" dirty="0"/>
              <a:t>발송화면</a:t>
            </a:r>
            <a:r>
              <a:rPr lang="en-US" altLang="ko-KR" sz="800" dirty="0"/>
              <a:t>)</a:t>
            </a:r>
            <a:r>
              <a:rPr lang="ko-KR" altLang="en-US" sz="800" dirty="0"/>
              <a:t>에서 직접 수정도 가능</a:t>
            </a:r>
            <a:endParaRPr lang="en-US" altLang="ko-KR" sz="800" dirty="0"/>
          </a:p>
        </p:txBody>
      </p:sp>
      <p:sp>
        <p:nvSpPr>
          <p:cNvPr id="23" name="직사각형 22"/>
          <p:cNvSpPr/>
          <p:nvPr/>
        </p:nvSpPr>
        <p:spPr>
          <a:xfrm>
            <a:off x="102962" y="127061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790261" y="1473819"/>
            <a:ext cx="635939" cy="13273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템플릿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0782" y="1447851"/>
            <a:ext cx="1729961" cy="18466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600" dirty="0"/>
              <a:t>○ 직접 입력    ○ 템플릿 불러오기            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메일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문자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카카오톡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템플릿 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직접 작성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CRM_07_007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8842075" y="72851"/>
            <a:ext cx="3968151" cy="1160725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marL="228600" indent="-228600" algn="ctr"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</a:rPr>
              <a:t>대상자 </a:t>
            </a:r>
            <a:r>
              <a:rPr lang="ko-KR" altLang="en-US" sz="1200" b="1" dirty="0" err="1">
                <a:solidFill>
                  <a:schemeClr val="tx1"/>
                </a:solidFill>
              </a:rPr>
              <a:t>리스트업할</a:t>
            </a:r>
            <a:r>
              <a:rPr lang="ko-KR" altLang="en-US" sz="1200" b="1" dirty="0">
                <a:solidFill>
                  <a:schemeClr val="tx1"/>
                </a:solidFill>
              </a:rPr>
              <a:t> 때 </a:t>
            </a:r>
            <a:r>
              <a:rPr lang="ko-KR" altLang="en-US" sz="1200" b="1" dirty="0" err="1">
                <a:solidFill>
                  <a:schemeClr val="tx1"/>
                </a:solidFill>
              </a:rPr>
              <a:t>퍼미션</a:t>
            </a:r>
            <a:r>
              <a:rPr lang="ko-KR" altLang="en-US" sz="1200" b="1" dirty="0">
                <a:solidFill>
                  <a:schemeClr val="tx1"/>
                </a:solidFill>
              </a:rPr>
              <a:t> 정보 표시하기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 algn="ctr"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</a:rPr>
              <a:t>발송 시 </a:t>
            </a:r>
            <a:r>
              <a:rPr lang="ko-KR" altLang="en-US" sz="1200" b="1" dirty="0" err="1">
                <a:solidFill>
                  <a:schemeClr val="tx1"/>
                </a:solidFill>
              </a:rPr>
              <a:t>퍼미션</a:t>
            </a:r>
            <a:r>
              <a:rPr lang="ko-KR" altLang="en-US" sz="1200" b="1" dirty="0">
                <a:solidFill>
                  <a:schemeClr val="tx1"/>
                </a:solidFill>
              </a:rPr>
              <a:t> 정보에 따라 성공</a:t>
            </a:r>
            <a:r>
              <a:rPr lang="en-US" altLang="ko-KR" sz="1200" b="1" dirty="0">
                <a:solidFill>
                  <a:schemeClr val="tx1"/>
                </a:solidFill>
              </a:rPr>
              <a:t>/</a:t>
            </a:r>
            <a:r>
              <a:rPr lang="ko-KR" altLang="en-US" sz="1200" b="1" dirty="0">
                <a:solidFill>
                  <a:schemeClr val="tx1"/>
                </a:solidFill>
              </a:rPr>
              <a:t>실패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607836" y="3342504"/>
            <a:ext cx="6921373" cy="365760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703452"/>
              </p:ext>
            </p:extLst>
          </p:nvPr>
        </p:nvGraphicFramePr>
        <p:xfrm>
          <a:off x="5472613" y="3342504"/>
          <a:ext cx="1976337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8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접촉거부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광고수신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이메일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휴대폰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3081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58581"/>
          <a:stretch/>
        </p:blipFill>
        <p:spPr>
          <a:xfrm>
            <a:off x="544387" y="1155791"/>
            <a:ext cx="9222347" cy="174953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가망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&amp;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체험 캠페인 고객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CRM_08_001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5739319" y="1731523"/>
            <a:ext cx="894945" cy="1556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tx1"/>
                </a:solidFill>
              </a:rPr>
              <a:t>가망고객관리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88987" y="671268"/>
            <a:ext cx="32047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회원관리</a:t>
            </a:r>
            <a:r>
              <a:rPr lang="en-US" altLang="ko-KR" sz="1200" dirty="0"/>
              <a:t>] </a:t>
            </a:r>
            <a:r>
              <a:rPr lang="ko-KR" altLang="en-US" sz="1200" dirty="0"/>
              <a:t>메뉴에 </a:t>
            </a:r>
            <a:r>
              <a:rPr lang="en-US" altLang="ko-KR" sz="1200" dirty="0"/>
              <a:t>[</a:t>
            </a:r>
            <a:r>
              <a:rPr lang="ko-KR" altLang="en-US" sz="1200" dirty="0"/>
              <a:t>가망고객관리</a:t>
            </a:r>
            <a:r>
              <a:rPr lang="en-US" altLang="ko-KR" sz="1200" dirty="0"/>
              <a:t>] </a:t>
            </a:r>
            <a:r>
              <a:rPr lang="ko-KR" altLang="en-US" sz="1200" dirty="0"/>
              <a:t>메뉴 신설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41770" y="3942945"/>
            <a:ext cx="50738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회원관리 </a:t>
            </a:r>
            <a:r>
              <a:rPr lang="en-US" altLang="ko-KR" sz="1200" dirty="0"/>
              <a:t>/ </a:t>
            </a:r>
            <a:r>
              <a:rPr lang="ko-KR" altLang="en-US" sz="1200" dirty="0"/>
              <a:t>그룹관리 </a:t>
            </a:r>
            <a:r>
              <a:rPr lang="en-US" altLang="ko-KR" sz="1200" dirty="0"/>
              <a:t>/ </a:t>
            </a:r>
            <a:r>
              <a:rPr lang="ko-KR" altLang="en-US" sz="1200" dirty="0"/>
              <a:t>대량업로드 </a:t>
            </a:r>
            <a:r>
              <a:rPr lang="en-US" altLang="ko-KR" sz="1200" dirty="0"/>
              <a:t>/ </a:t>
            </a:r>
            <a:r>
              <a:rPr lang="ko-KR" altLang="en-US" sz="1200" dirty="0"/>
              <a:t>회원정보 일괄수정 </a:t>
            </a:r>
            <a:r>
              <a:rPr lang="en-US" altLang="ko-KR" sz="1200" dirty="0"/>
              <a:t>/ </a:t>
            </a:r>
            <a:r>
              <a:rPr lang="ko-KR" altLang="en-US" sz="1200" dirty="0"/>
              <a:t>가망고객관리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451371" y="1706550"/>
            <a:ext cx="4182893" cy="180616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0" name="직선 화살표 연결선 9"/>
          <p:cNvCxnSpPr>
            <a:stCxn id="9" idx="2"/>
          </p:cNvCxnSpPr>
          <p:nvPr/>
        </p:nvCxnSpPr>
        <p:spPr>
          <a:xfrm flipH="1">
            <a:off x="4533089" y="1887166"/>
            <a:ext cx="9729" cy="197795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7222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가망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&amp;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체험 캠페인 고객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CRM_08_001~005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769" y="660265"/>
            <a:ext cx="2470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회원 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회원관리 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가망고객관리</a:t>
            </a:r>
          </a:p>
        </p:txBody>
      </p:sp>
      <p:graphicFrame>
        <p:nvGraphicFramePr>
          <p:cNvPr id="68" name="표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504302"/>
              </p:ext>
            </p:extLst>
          </p:nvPr>
        </p:nvGraphicFramePr>
        <p:xfrm>
          <a:off x="851711" y="948837"/>
          <a:ext cx="8128000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7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고객명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회원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고객명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회사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유형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유입일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처리상태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" name="직사각형 68"/>
          <p:cNvSpPr/>
          <p:nvPr/>
        </p:nvSpPr>
        <p:spPr>
          <a:xfrm>
            <a:off x="2048775" y="974595"/>
            <a:ext cx="2821021" cy="1536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6126265" y="973668"/>
            <a:ext cx="2821021" cy="1536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2048774" y="1186129"/>
            <a:ext cx="2821021" cy="1536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6126265" y="1183242"/>
            <a:ext cx="884877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73" name="그림 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1" y="1186769"/>
            <a:ext cx="186718" cy="154639"/>
          </a:xfrm>
          <a:prstGeom prst="rect">
            <a:avLst/>
          </a:prstGeom>
        </p:spPr>
      </p:pic>
      <p:sp>
        <p:nvSpPr>
          <p:cNvPr id="74" name="직사각형 73"/>
          <p:cNvSpPr/>
          <p:nvPr/>
        </p:nvSpPr>
        <p:spPr>
          <a:xfrm>
            <a:off x="7503698" y="1183242"/>
            <a:ext cx="884877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75" name="그림 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914" y="1186769"/>
            <a:ext cx="186718" cy="154639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7232415" y="1120316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77" name="모서리가 둥근 직사각형 76"/>
          <p:cNvSpPr/>
          <p:nvPr/>
        </p:nvSpPr>
        <p:spPr>
          <a:xfrm>
            <a:off x="868824" y="1747334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cxnSp>
        <p:nvCxnSpPr>
          <p:cNvPr id="78" name="직선 연결선 77"/>
          <p:cNvCxnSpPr/>
          <p:nvPr/>
        </p:nvCxnSpPr>
        <p:spPr>
          <a:xfrm>
            <a:off x="868824" y="2016913"/>
            <a:ext cx="8128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/>
          <p:cNvSpPr/>
          <p:nvPr/>
        </p:nvSpPr>
        <p:spPr>
          <a:xfrm>
            <a:off x="2048773" y="1404080"/>
            <a:ext cx="2821021" cy="1536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</a:rPr>
              <a:t>진행중</a:t>
            </a:r>
            <a:r>
              <a:rPr lang="ko-KR" altLang="en-US" sz="800" dirty="0">
                <a:solidFill>
                  <a:schemeClr val="tx1"/>
                </a:solidFill>
              </a:rPr>
              <a:t>                                                  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6126265" y="1400824"/>
            <a:ext cx="2820501" cy="16642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홍길동                                                             🔍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907822" y="96064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907822" y="1192055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5105653" y="119401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907822" y="141224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953340" y="591381"/>
            <a:ext cx="2316660" cy="4124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고객명</a:t>
            </a:r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회사</a:t>
            </a:r>
            <a:r>
              <a:rPr lang="en-US" altLang="ko-KR" sz="1000" b="1" dirty="0">
                <a:solidFill>
                  <a:srgbClr val="00B0F0"/>
                </a:solidFill>
              </a:rPr>
              <a:t>), </a:t>
            </a:r>
            <a:r>
              <a:rPr lang="ko-KR" altLang="en-US" sz="1000" b="1" dirty="0" err="1">
                <a:solidFill>
                  <a:srgbClr val="00B0F0"/>
                </a:solidFill>
              </a:rPr>
              <a:t>회원명</a:t>
            </a:r>
            <a:r>
              <a:rPr lang="en-US" altLang="ko-KR" sz="1000" b="1" dirty="0">
                <a:solidFill>
                  <a:srgbClr val="00B0F0"/>
                </a:solidFill>
              </a:rPr>
              <a:t> </a:t>
            </a:r>
            <a:r>
              <a:rPr lang="ko-KR" altLang="en-US" sz="1000" b="1" dirty="0">
                <a:solidFill>
                  <a:srgbClr val="00B0F0"/>
                </a:solidFill>
              </a:rPr>
              <a:t>검색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회사 또는 회원 이름으로 조회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유형 조회</a:t>
            </a:r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 err="1">
                <a:solidFill>
                  <a:srgbClr val="00B0F0"/>
                </a:solidFill>
              </a:rPr>
              <a:t>드롭박스</a:t>
            </a:r>
            <a:r>
              <a:rPr lang="en-US" altLang="ko-KR" sz="1000" b="1" dirty="0">
                <a:solidFill>
                  <a:srgbClr val="00B0F0"/>
                </a:solidFill>
              </a:rPr>
              <a:t>, </a:t>
            </a:r>
            <a:r>
              <a:rPr lang="ko-KR" altLang="en-US" sz="1000" b="1" dirty="0">
                <a:solidFill>
                  <a:srgbClr val="00B0F0"/>
                </a:solidFill>
              </a:rPr>
              <a:t>선택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  <a:endParaRPr lang="en-US" altLang="ko-KR" sz="800" dirty="0"/>
          </a:p>
          <a:p>
            <a:endParaRPr lang="en-US" altLang="ko-KR" sz="800" dirty="0"/>
          </a:p>
          <a:p>
            <a:pPr marL="171450" indent="-171450">
              <a:buFontTx/>
              <a:buChar char="-"/>
            </a:pPr>
            <a:r>
              <a:rPr lang="ko-KR" altLang="en-US" sz="800" dirty="0"/>
              <a:t>탈퇴회원</a:t>
            </a:r>
            <a:r>
              <a:rPr lang="en-US" altLang="ko-KR" sz="800" dirty="0"/>
              <a:t> : </a:t>
            </a:r>
            <a:r>
              <a:rPr lang="ko-KR" altLang="en-US" sz="800" dirty="0"/>
              <a:t>서비스여부 </a:t>
            </a:r>
            <a:r>
              <a:rPr lang="en-US" altLang="ko-KR" sz="800" dirty="0"/>
              <a:t>N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/>
              <a:t>캠페인</a:t>
            </a:r>
            <a:r>
              <a:rPr lang="en-US" altLang="ko-KR" sz="800" dirty="0"/>
              <a:t>-</a:t>
            </a:r>
            <a:r>
              <a:rPr lang="ko-KR" altLang="en-US" sz="800" dirty="0"/>
              <a:t>검토용</a:t>
            </a:r>
            <a:endParaRPr lang="en-US" altLang="ko-KR" sz="800" dirty="0"/>
          </a:p>
          <a:p>
            <a:pPr marL="171450" indent="-171450">
              <a:buFontTx/>
              <a:buChar char="-"/>
            </a:pPr>
            <a:r>
              <a:rPr lang="ko-KR" altLang="en-US" sz="800" dirty="0"/>
              <a:t>캠페인</a:t>
            </a:r>
            <a:r>
              <a:rPr lang="en-US" altLang="ko-KR" sz="800" dirty="0"/>
              <a:t>-</a:t>
            </a:r>
            <a:r>
              <a:rPr lang="ko-KR" altLang="en-US" sz="800" dirty="0"/>
              <a:t>오프라인</a:t>
            </a:r>
            <a:endParaRPr lang="en-US" altLang="ko-KR" sz="800" dirty="0"/>
          </a:p>
          <a:p>
            <a:pPr marL="171450" indent="-171450">
              <a:buFontTx/>
              <a:buChar char="-"/>
            </a:pPr>
            <a:r>
              <a:rPr lang="ko-KR" altLang="en-US" sz="800" dirty="0"/>
              <a:t>캠페인</a:t>
            </a:r>
            <a:r>
              <a:rPr lang="en-US" altLang="ko-KR" sz="800" dirty="0"/>
              <a:t>-2</a:t>
            </a:r>
            <a:r>
              <a:rPr lang="ko-KR" altLang="en-US" sz="800" dirty="0" err="1"/>
              <a:t>주체험</a:t>
            </a:r>
            <a:endParaRPr lang="en-US" altLang="ko-KR" sz="800" dirty="0"/>
          </a:p>
          <a:p>
            <a:pPr marL="171450" indent="-171450">
              <a:buFontTx/>
              <a:buChar char="-"/>
            </a:pPr>
            <a:endParaRPr lang="en-US" altLang="ko-KR" sz="800" b="1" dirty="0">
              <a:solidFill>
                <a:srgbClr val="00B0F0"/>
              </a:solidFill>
            </a:endParaRPr>
          </a:p>
          <a:p>
            <a:endParaRPr lang="en-US" altLang="ko-KR" sz="800" b="1" dirty="0">
              <a:solidFill>
                <a:srgbClr val="00B0F0"/>
              </a:solidFill>
            </a:endParaRPr>
          </a:p>
          <a:p>
            <a:r>
              <a:rPr lang="en-US" altLang="ko-KR" sz="800" b="1" dirty="0">
                <a:solidFill>
                  <a:srgbClr val="00B0F0"/>
                </a:solidFill>
              </a:rPr>
              <a:t> </a:t>
            </a:r>
            <a:r>
              <a:rPr lang="ko-KR" altLang="en-US" sz="800" b="1" dirty="0">
                <a:solidFill>
                  <a:srgbClr val="00B0F0"/>
                </a:solidFill>
              </a:rPr>
              <a:t>탈퇴회원 </a:t>
            </a:r>
            <a:r>
              <a:rPr lang="en-US" altLang="ko-KR" sz="800" b="1" dirty="0">
                <a:solidFill>
                  <a:srgbClr val="00B0F0"/>
                </a:solidFill>
              </a:rPr>
              <a:t>: </a:t>
            </a:r>
            <a:r>
              <a:rPr lang="ko-KR" altLang="en-US" sz="800" b="1" dirty="0">
                <a:solidFill>
                  <a:srgbClr val="00B0F0"/>
                </a:solidFill>
              </a:rPr>
              <a:t>서비스 종료된 사람</a:t>
            </a:r>
            <a:endParaRPr lang="en-US" altLang="ko-KR" sz="800" b="1" dirty="0">
              <a:solidFill>
                <a:srgbClr val="00B0F0"/>
              </a:solidFill>
            </a:endParaRPr>
          </a:p>
          <a:p>
            <a:r>
              <a:rPr lang="en-US" altLang="ko-KR" sz="800" b="1" dirty="0">
                <a:solidFill>
                  <a:srgbClr val="00B0F0"/>
                </a:solidFill>
              </a:rPr>
              <a:t> </a:t>
            </a:r>
            <a:r>
              <a:rPr lang="ko-KR" altLang="en-US" sz="800" b="1" dirty="0">
                <a:solidFill>
                  <a:srgbClr val="00B0F0"/>
                </a:solidFill>
              </a:rPr>
              <a:t>은퇴회원 </a:t>
            </a:r>
            <a:r>
              <a:rPr lang="en-US" altLang="ko-KR" sz="800" b="1" dirty="0">
                <a:solidFill>
                  <a:srgbClr val="00B0F0"/>
                </a:solidFill>
              </a:rPr>
              <a:t>: </a:t>
            </a:r>
          </a:p>
          <a:p>
            <a:r>
              <a:rPr lang="en-US" altLang="ko-KR" sz="800" b="1" dirty="0">
                <a:solidFill>
                  <a:srgbClr val="00B0F0"/>
                </a:solidFill>
              </a:rPr>
              <a:t> </a:t>
            </a:r>
            <a:r>
              <a:rPr lang="ko-KR" altLang="en-US" sz="800" b="1" dirty="0">
                <a:solidFill>
                  <a:srgbClr val="00B0F0"/>
                </a:solidFill>
              </a:rPr>
              <a:t>추천회원 </a:t>
            </a:r>
            <a:r>
              <a:rPr lang="en-US" altLang="ko-KR" sz="800" b="1" dirty="0">
                <a:solidFill>
                  <a:srgbClr val="00B0F0"/>
                </a:solidFill>
              </a:rPr>
              <a:t>: </a:t>
            </a:r>
            <a:r>
              <a:rPr lang="ko-KR" altLang="en-US" sz="800" b="1" dirty="0">
                <a:solidFill>
                  <a:srgbClr val="00B0F0"/>
                </a:solidFill>
              </a:rPr>
              <a:t>회원추천으로 등록된 사람</a:t>
            </a:r>
            <a:endParaRPr lang="en-US" altLang="ko-KR" sz="800" b="1" dirty="0">
              <a:solidFill>
                <a:srgbClr val="00B0F0"/>
              </a:solidFill>
            </a:endParaRPr>
          </a:p>
          <a:p>
            <a:r>
              <a:rPr lang="en-US" altLang="ko-KR" sz="800" b="1" dirty="0">
                <a:solidFill>
                  <a:srgbClr val="00B0F0"/>
                </a:solidFill>
              </a:rPr>
              <a:t> </a:t>
            </a:r>
            <a:r>
              <a:rPr lang="ko-KR" altLang="en-US" sz="800" b="1" dirty="0">
                <a:solidFill>
                  <a:srgbClr val="00B0F0"/>
                </a:solidFill>
              </a:rPr>
              <a:t>체험캠페인회원 </a:t>
            </a:r>
            <a:r>
              <a:rPr lang="en-US" altLang="ko-KR" sz="800" b="1" dirty="0">
                <a:solidFill>
                  <a:srgbClr val="00B0F0"/>
                </a:solidFill>
              </a:rPr>
              <a:t>:  </a:t>
            </a:r>
            <a:r>
              <a:rPr lang="ko-KR" altLang="en-US" sz="800" b="1" dirty="0">
                <a:solidFill>
                  <a:srgbClr val="00B0F0"/>
                </a:solidFill>
              </a:rPr>
              <a:t>체험 캠페인에 등록된 사람</a:t>
            </a:r>
            <a:endParaRPr lang="en-US" altLang="ko-KR" sz="800" b="1" dirty="0">
              <a:solidFill>
                <a:srgbClr val="00B0F0"/>
              </a:solidFill>
            </a:endParaRPr>
          </a:p>
          <a:p>
            <a:endParaRPr lang="en-US" altLang="ko-KR" sz="800" b="1" dirty="0">
              <a:solidFill>
                <a:srgbClr val="00B0F0"/>
              </a:solidFill>
            </a:endParaRPr>
          </a:p>
          <a:p>
            <a:endParaRPr lang="en-US" altLang="ko-KR" sz="800" b="1" dirty="0">
              <a:solidFill>
                <a:srgbClr val="00B0F0"/>
              </a:solidFill>
            </a:endParaRPr>
          </a:p>
          <a:p>
            <a:endParaRPr lang="en-US" altLang="ko-KR" sz="800" b="1" dirty="0">
              <a:solidFill>
                <a:srgbClr val="00B0F0"/>
              </a:solidFill>
            </a:endParaRPr>
          </a:p>
          <a:p>
            <a:r>
              <a:rPr lang="en-US" altLang="ko-KR" sz="800" b="1" dirty="0">
                <a:solidFill>
                  <a:srgbClr val="00B0F0"/>
                </a:solidFill>
              </a:rPr>
              <a:t>[</a:t>
            </a:r>
            <a:r>
              <a:rPr lang="en-US" altLang="ko-KR" sz="1000" b="1" dirty="0">
                <a:solidFill>
                  <a:srgbClr val="00B0F0"/>
                </a:solidFill>
              </a:rPr>
              <a:t>3] </a:t>
            </a:r>
            <a:r>
              <a:rPr lang="ko-KR" altLang="en-US" sz="1000" b="1" dirty="0">
                <a:solidFill>
                  <a:srgbClr val="00B0F0"/>
                </a:solidFill>
              </a:rPr>
              <a:t>가망고객으로 유입된 날짜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 : </a:t>
            </a:r>
            <a:r>
              <a:rPr lang="ko-KR" altLang="en-US" sz="1000" b="1" dirty="0">
                <a:solidFill>
                  <a:srgbClr val="00B0F0"/>
                </a:solidFill>
              </a:rPr>
              <a:t>각 </a:t>
            </a:r>
            <a:r>
              <a:rPr lang="ko-KR" altLang="en-US" sz="1000" b="1" dirty="0" err="1">
                <a:solidFill>
                  <a:srgbClr val="00B0F0"/>
                </a:solidFill>
              </a:rPr>
              <a:t>유형값으로</a:t>
            </a:r>
            <a:r>
              <a:rPr lang="ko-KR" altLang="en-US" sz="1000" b="1" dirty="0">
                <a:solidFill>
                  <a:srgbClr val="00B0F0"/>
                </a:solidFill>
              </a:rPr>
              <a:t> 등록된 날짜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b="1" dirty="0">
              <a:solidFill>
                <a:srgbClr val="00B0F0"/>
              </a:solidFill>
            </a:endParaRPr>
          </a:p>
          <a:p>
            <a:endParaRPr lang="en-US" altLang="ko-KR" sz="8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>
                <a:solidFill>
                  <a:srgbClr val="00B0F0"/>
                </a:solidFill>
              </a:rPr>
              <a:t>처리상태로 조회</a:t>
            </a:r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 err="1">
                <a:solidFill>
                  <a:srgbClr val="00B0F0"/>
                </a:solidFill>
              </a:rPr>
              <a:t>드롭박스</a:t>
            </a:r>
            <a:r>
              <a:rPr lang="en-US" altLang="ko-KR" sz="1000" b="1" dirty="0">
                <a:solidFill>
                  <a:srgbClr val="00B0F0"/>
                </a:solidFill>
              </a:rPr>
              <a:t>, </a:t>
            </a:r>
            <a:r>
              <a:rPr lang="ko-KR" altLang="en-US" sz="1000" b="1" dirty="0">
                <a:solidFill>
                  <a:srgbClr val="00B0F0"/>
                </a:solidFill>
              </a:rPr>
              <a:t>선택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 err="1"/>
              <a:t>진행중</a:t>
            </a:r>
            <a:r>
              <a:rPr lang="ko-KR" altLang="en-US" sz="800" dirty="0"/>
              <a:t> </a:t>
            </a:r>
            <a:r>
              <a:rPr lang="en-US" altLang="ko-KR" sz="800" dirty="0"/>
              <a:t>(</a:t>
            </a:r>
            <a:r>
              <a:rPr lang="ko-KR" altLang="en-US" sz="800" dirty="0"/>
              <a:t>디폴트</a:t>
            </a:r>
            <a:r>
              <a:rPr lang="en-US" altLang="ko-KR" sz="800" dirty="0"/>
              <a:t>)</a:t>
            </a:r>
          </a:p>
          <a:p>
            <a:r>
              <a:rPr lang="ko-KR" altLang="en-US" sz="800" dirty="0"/>
              <a:t>유료회원 전환</a:t>
            </a:r>
            <a:endParaRPr lang="en-US" altLang="ko-KR" sz="800" dirty="0"/>
          </a:p>
          <a:p>
            <a:r>
              <a:rPr lang="ko-KR" altLang="en-US" sz="800" dirty="0"/>
              <a:t>종료</a:t>
            </a:r>
            <a:endParaRPr lang="en-US" altLang="ko-KR" sz="800" dirty="0"/>
          </a:p>
          <a:p>
            <a:r>
              <a:rPr lang="ko-KR" altLang="en-US" sz="800" dirty="0"/>
              <a:t>전체</a:t>
            </a:r>
            <a:endParaRPr lang="en-US" altLang="ko-KR" sz="800" dirty="0"/>
          </a:p>
          <a:p>
            <a:endParaRPr lang="en-US" altLang="ko-KR" sz="800" dirty="0"/>
          </a:p>
        </p:txBody>
      </p:sp>
      <p:sp>
        <p:nvSpPr>
          <p:cNvPr id="23" name="직사각형 22"/>
          <p:cNvSpPr/>
          <p:nvPr/>
        </p:nvSpPr>
        <p:spPr>
          <a:xfrm>
            <a:off x="5649839" y="2862083"/>
            <a:ext cx="3968151" cy="1160725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marL="228600" indent="-228600" algn="ctr">
              <a:buAutoNum type="arabicPeriod"/>
            </a:pPr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유형</a:t>
            </a:r>
            <a:r>
              <a:rPr lang="en-US" altLang="ko-KR" sz="1200" b="1" dirty="0">
                <a:solidFill>
                  <a:schemeClr val="tx1"/>
                </a:solidFill>
              </a:rPr>
              <a:t>] </a:t>
            </a:r>
            <a:r>
              <a:rPr lang="ko-KR" altLang="en-US" sz="1200" b="1" dirty="0" err="1">
                <a:solidFill>
                  <a:schemeClr val="tx1"/>
                </a:solidFill>
              </a:rPr>
              <a:t>구분값</a:t>
            </a:r>
            <a:r>
              <a:rPr lang="ko-KR" altLang="en-US" sz="1200" b="1" dirty="0">
                <a:solidFill>
                  <a:schemeClr val="tx1"/>
                </a:solidFill>
              </a:rPr>
              <a:t> 데이터 정의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3438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가망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&amp;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체험 캠페인 고객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7769" y="660265"/>
            <a:ext cx="2470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회원 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회원관리 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가망고객관리</a:t>
            </a:r>
          </a:p>
        </p:txBody>
      </p:sp>
      <p:sp>
        <p:nvSpPr>
          <p:cNvPr id="14" name="모서리가 둥근 직사각형 13"/>
          <p:cNvSpPr/>
          <p:nvPr/>
        </p:nvSpPr>
        <p:spPr>
          <a:xfrm>
            <a:off x="868824" y="1747334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868824" y="2016913"/>
            <a:ext cx="8128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824" y="2076018"/>
            <a:ext cx="82076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□         유입일                  고객명</a:t>
            </a:r>
            <a:r>
              <a:rPr lang="en-US" altLang="ko-KR" sz="800" dirty="0"/>
              <a:t>(</a:t>
            </a:r>
            <a:r>
              <a:rPr lang="ko-KR" altLang="en-US" sz="800" dirty="0"/>
              <a:t>회원</a:t>
            </a:r>
            <a:r>
              <a:rPr lang="en-US" altLang="ko-KR" sz="800" dirty="0"/>
              <a:t>)              </a:t>
            </a:r>
            <a:r>
              <a:rPr lang="ko-KR" altLang="en-US" sz="800" dirty="0"/>
              <a:t>고객명</a:t>
            </a:r>
            <a:r>
              <a:rPr lang="en-US" altLang="ko-KR" sz="800" dirty="0"/>
              <a:t>(</a:t>
            </a:r>
            <a:r>
              <a:rPr lang="ko-KR" altLang="en-US" sz="800" dirty="0"/>
              <a:t>회사</a:t>
            </a:r>
            <a:r>
              <a:rPr lang="en-US" altLang="ko-KR" sz="800" dirty="0"/>
              <a:t>)                       </a:t>
            </a:r>
            <a:r>
              <a:rPr lang="ko-KR" altLang="en-US" sz="800" dirty="0"/>
              <a:t>유형                   </a:t>
            </a:r>
            <a:r>
              <a:rPr lang="ko-KR" altLang="en-US" sz="800" dirty="0" err="1"/>
              <a:t>컨택정보</a:t>
            </a:r>
            <a:r>
              <a:rPr lang="ko-KR" altLang="en-US" sz="800" dirty="0"/>
              <a:t>                처리상태                                담당자   </a:t>
            </a:r>
            <a:r>
              <a:rPr lang="en-US" altLang="ko-KR" sz="800" dirty="0"/>
              <a:t>     </a:t>
            </a:r>
            <a:endParaRPr lang="ko-KR" altLang="en-US" sz="800" dirty="0"/>
          </a:p>
        </p:txBody>
      </p:sp>
      <p:sp>
        <p:nvSpPr>
          <p:cNvPr id="17" name="TextBox 16"/>
          <p:cNvSpPr txBox="1"/>
          <p:nvPr/>
        </p:nvSpPr>
        <p:spPr>
          <a:xfrm>
            <a:off x="6521972" y="2403119"/>
            <a:ext cx="8370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종료</a:t>
            </a:r>
            <a:endParaRPr lang="en-US" altLang="ko-KR" sz="800" dirty="0"/>
          </a:p>
          <a:p>
            <a:pPr algn="ctr"/>
            <a:endParaRPr lang="en-US" altLang="ko-KR" sz="800" dirty="0"/>
          </a:p>
          <a:p>
            <a:pPr algn="ctr"/>
            <a:r>
              <a:rPr lang="ko-KR" altLang="en-US" sz="800" dirty="0" err="1"/>
              <a:t>진행중</a:t>
            </a:r>
            <a:endParaRPr lang="en-US" altLang="ko-KR" sz="800" dirty="0"/>
          </a:p>
          <a:p>
            <a:pPr algn="ctr"/>
            <a:endParaRPr lang="en-US" altLang="ko-KR" sz="800" dirty="0"/>
          </a:p>
          <a:p>
            <a:pPr algn="ctr"/>
            <a:r>
              <a:rPr lang="ko-KR" altLang="en-US" sz="800" dirty="0"/>
              <a:t>유료회원 전환</a:t>
            </a:r>
            <a:endParaRPr lang="en-US" altLang="ko-KR" sz="800" dirty="0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1539372" y="1747334"/>
            <a:ext cx="690854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다운로드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17770" y="4849123"/>
            <a:ext cx="9677056" cy="17570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9642" y="4908230"/>
            <a:ext cx="974657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/>
              <a:t>No     </a:t>
            </a:r>
            <a:r>
              <a:rPr lang="ko-KR" altLang="en-US" sz="700" dirty="0"/>
              <a:t>고객명</a:t>
            </a:r>
            <a:r>
              <a:rPr lang="en-US" altLang="ko-KR" sz="700" dirty="0"/>
              <a:t>(</a:t>
            </a:r>
            <a:r>
              <a:rPr lang="ko-KR" altLang="en-US" sz="700" dirty="0"/>
              <a:t>회원</a:t>
            </a:r>
            <a:r>
              <a:rPr lang="en-US" altLang="ko-KR" sz="700" dirty="0"/>
              <a:t>)   </a:t>
            </a:r>
            <a:r>
              <a:rPr lang="ko-KR" altLang="en-US" sz="700" dirty="0"/>
              <a:t>고객명</a:t>
            </a:r>
            <a:r>
              <a:rPr lang="en-US" altLang="ko-KR" sz="700" dirty="0"/>
              <a:t>(</a:t>
            </a:r>
            <a:r>
              <a:rPr lang="ko-KR" altLang="en-US" sz="700" dirty="0"/>
              <a:t>회사</a:t>
            </a:r>
            <a:r>
              <a:rPr lang="en-US" altLang="ko-KR" sz="700" dirty="0"/>
              <a:t>)      </a:t>
            </a:r>
            <a:r>
              <a:rPr lang="ko-KR" altLang="en-US" sz="700" dirty="0"/>
              <a:t>사용 아이디</a:t>
            </a:r>
            <a:r>
              <a:rPr lang="en-US" altLang="ko-KR" sz="700" dirty="0"/>
              <a:t>         </a:t>
            </a:r>
            <a:r>
              <a:rPr lang="ko-KR" altLang="en-US" sz="700" dirty="0"/>
              <a:t>전화번호      휴대폰      유형     유입일       서비스시작일     서비스종료일      </a:t>
            </a:r>
            <a:r>
              <a:rPr lang="ko-KR" altLang="en-US" sz="700" dirty="0" err="1"/>
              <a:t>컨택</a:t>
            </a:r>
            <a:r>
              <a:rPr lang="ko-KR" altLang="en-US" sz="700" dirty="0"/>
              <a:t> 영업대표        </a:t>
            </a:r>
            <a:r>
              <a:rPr lang="ko-KR" altLang="en-US" sz="700" dirty="0" err="1"/>
              <a:t>컨택</a:t>
            </a:r>
            <a:r>
              <a:rPr lang="ko-KR" altLang="en-US" sz="700" dirty="0"/>
              <a:t> 제목      </a:t>
            </a:r>
            <a:r>
              <a:rPr lang="ko-KR" altLang="en-US" sz="700" dirty="0" err="1"/>
              <a:t>컨택</a:t>
            </a:r>
            <a:r>
              <a:rPr lang="ko-KR" altLang="en-US" sz="700" dirty="0"/>
              <a:t> 내용       처리담당자   처리상태    </a:t>
            </a:r>
            <a:r>
              <a:rPr lang="ko-KR" altLang="en-US" sz="700" dirty="0" err="1"/>
              <a:t>처리일시</a:t>
            </a:r>
            <a:r>
              <a:rPr lang="ko-KR" altLang="en-US" sz="700" dirty="0"/>
              <a:t>     처리내용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30226" y="1697889"/>
            <a:ext cx="23711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총 </a:t>
            </a:r>
            <a:r>
              <a:rPr lang="en-US" altLang="ko-KR" sz="1000" dirty="0"/>
              <a:t>000</a:t>
            </a:r>
            <a:r>
              <a:rPr lang="ko-KR" altLang="en-US" sz="1000" dirty="0"/>
              <a:t>건 중 </a:t>
            </a:r>
            <a:r>
              <a:rPr lang="en-US" altLang="ko-KR" sz="1000" dirty="0">
                <a:solidFill>
                  <a:srgbClr val="00B0F0"/>
                </a:solidFill>
              </a:rPr>
              <a:t>000</a:t>
            </a:r>
            <a:r>
              <a:rPr lang="ko-KR" altLang="en-US" sz="1000" dirty="0"/>
              <a:t>건 유료회원 전환완료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CRM_08_001~005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3340" y="591381"/>
            <a:ext cx="2545890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 err="1">
                <a:solidFill>
                  <a:srgbClr val="00B0F0"/>
                </a:solidFill>
              </a:rPr>
              <a:t>조건별</a:t>
            </a:r>
            <a:r>
              <a:rPr lang="ko-KR" altLang="en-US" sz="1000" b="1" dirty="0">
                <a:solidFill>
                  <a:srgbClr val="00B0F0"/>
                </a:solidFill>
              </a:rPr>
              <a:t> 검색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조회 시 결과값 </a:t>
            </a:r>
            <a:r>
              <a:rPr lang="ko-KR" altLang="en-US" sz="800" dirty="0" err="1"/>
              <a:t>리스트업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/>
              <a:t>필수 정보만 표기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내역 다운로드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조회 결과를 다운로드 할 수 있음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/>
              <a:t>모든 정보 다운로드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※ </a:t>
            </a:r>
            <a:r>
              <a:rPr lang="ko-KR" altLang="en-US" sz="1000" b="1" dirty="0" err="1">
                <a:solidFill>
                  <a:srgbClr val="00B0F0"/>
                </a:solidFill>
              </a:rPr>
              <a:t>컨택</a:t>
            </a:r>
            <a:r>
              <a:rPr lang="ko-KR" altLang="en-US" sz="1000" b="1" dirty="0">
                <a:solidFill>
                  <a:srgbClr val="00B0F0"/>
                </a:solidFill>
              </a:rPr>
              <a:t> 정보가 </a:t>
            </a:r>
            <a:r>
              <a:rPr lang="en-US" altLang="ko-KR" sz="1000" b="1" dirty="0">
                <a:solidFill>
                  <a:srgbClr val="00B0F0"/>
                </a:solidFill>
              </a:rPr>
              <a:t>2</a:t>
            </a:r>
            <a:r>
              <a:rPr lang="ko-KR" altLang="en-US" sz="1000" b="1" dirty="0">
                <a:solidFill>
                  <a:srgbClr val="00B0F0"/>
                </a:solidFill>
              </a:rPr>
              <a:t>회 이상 등록된 경우</a:t>
            </a:r>
            <a:r>
              <a:rPr lang="en-US" altLang="ko-KR" sz="1000" b="1" dirty="0">
                <a:solidFill>
                  <a:srgbClr val="00B0F0"/>
                </a:solidFill>
              </a:rPr>
              <a:t>,</a:t>
            </a:r>
          </a:p>
          <a:p>
            <a:r>
              <a:rPr lang="ko-KR" altLang="en-US" sz="1000" b="1" dirty="0">
                <a:solidFill>
                  <a:srgbClr val="00B0F0"/>
                </a:solidFill>
              </a:rPr>
              <a:t>접촉일자 </a:t>
            </a:r>
            <a:r>
              <a:rPr lang="ko-KR" altLang="en-US" sz="1000" b="1" dirty="0" err="1">
                <a:solidFill>
                  <a:srgbClr val="00B0F0"/>
                </a:solidFill>
              </a:rPr>
              <a:t>정보별로</a:t>
            </a:r>
            <a:r>
              <a:rPr lang="ko-KR" altLang="en-US" sz="1000" b="1" dirty="0">
                <a:solidFill>
                  <a:srgbClr val="00B0F0"/>
                </a:solidFill>
              </a:rPr>
              <a:t> 각각 내역이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00B0F0"/>
                </a:solidFill>
              </a:rPr>
              <a:t>나오도록 조회</a:t>
            </a:r>
            <a:r>
              <a:rPr lang="en-US" altLang="ko-KR" sz="1000" b="1" dirty="0">
                <a:solidFill>
                  <a:srgbClr val="00B0F0"/>
                </a:solidFill>
              </a:rPr>
              <a:t>, </a:t>
            </a:r>
            <a:r>
              <a:rPr lang="ko-KR" altLang="en-US" sz="1000" b="1" dirty="0">
                <a:solidFill>
                  <a:srgbClr val="00B0F0"/>
                </a:solidFill>
              </a:rPr>
              <a:t>다운로드 합니다</a:t>
            </a:r>
            <a:r>
              <a:rPr lang="en-US" altLang="ko-KR" sz="1000" b="1" dirty="0">
                <a:solidFill>
                  <a:srgbClr val="00B0F0"/>
                </a:solidFill>
              </a:rPr>
              <a:t>.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※  CEO, Pro </a:t>
            </a:r>
            <a:r>
              <a:rPr lang="ko-KR" altLang="en-US" sz="800" dirty="0"/>
              <a:t>아이디가 </a:t>
            </a:r>
            <a:r>
              <a:rPr lang="en-US" altLang="ko-KR" sz="800" dirty="0"/>
              <a:t>2</a:t>
            </a:r>
            <a:r>
              <a:rPr lang="ko-KR" altLang="en-US" sz="800" dirty="0"/>
              <a:t>개 이상 등록된 경우</a:t>
            </a:r>
            <a:endParaRPr lang="en-US" altLang="ko-KR" sz="800" dirty="0"/>
          </a:p>
          <a:p>
            <a:r>
              <a:rPr lang="ko-KR" altLang="en-US" sz="800" dirty="0"/>
              <a:t>입력된 수만큼 오른쪽 필드를 추가하여 표기합니다</a:t>
            </a:r>
            <a:r>
              <a:rPr lang="en-US" altLang="ko-KR" sz="800" dirty="0"/>
              <a:t>.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전환완료 카운트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처리상태를 </a:t>
            </a:r>
            <a:r>
              <a:rPr lang="en-US" altLang="ko-KR" sz="800" dirty="0"/>
              <a:t>“</a:t>
            </a:r>
            <a:r>
              <a:rPr lang="ko-KR" altLang="en-US" sz="800" dirty="0"/>
              <a:t>유료회원 전환</a:t>
            </a:r>
            <a:r>
              <a:rPr lang="en-US" altLang="ko-KR" sz="800" dirty="0"/>
              <a:t>＂</a:t>
            </a:r>
            <a:r>
              <a:rPr lang="ko-KR" altLang="en-US" sz="800" dirty="0"/>
              <a:t>으로 검색하면</a:t>
            </a:r>
            <a:endParaRPr lang="en-US" altLang="ko-KR" sz="800" dirty="0"/>
          </a:p>
          <a:p>
            <a:r>
              <a:rPr lang="ko-KR" altLang="en-US" sz="800" dirty="0"/>
              <a:t>조회 결과</a:t>
            </a:r>
            <a:r>
              <a:rPr lang="en-US" altLang="ko-KR" sz="800" dirty="0"/>
              <a:t> </a:t>
            </a:r>
            <a:r>
              <a:rPr lang="ko-KR" altLang="en-US" sz="800" dirty="0"/>
              <a:t>요약정보 제공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/>
              <a:t>접촉 건수</a:t>
            </a:r>
            <a:r>
              <a:rPr lang="en-US" altLang="ko-KR" sz="800" dirty="0"/>
              <a:t>,  </a:t>
            </a:r>
            <a:r>
              <a:rPr lang="ko-KR" altLang="en-US" sz="800" dirty="0"/>
              <a:t>처리상태 중 </a:t>
            </a:r>
            <a:r>
              <a:rPr lang="en-US" altLang="ko-KR" sz="800" dirty="0"/>
              <a:t>“</a:t>
            </a:r>
            <a:r>
              <a:rPr lang="ko-KR" altLang="en-US" sz="800" dirty="0"/>
              <a:t>전환완료</a:t>
            </a:r>
            <a:r>
              <a:rPr lang="en-US" altLang="ko-KR" sz="800" dirty="0"/>
              <a:t>＂</a:t>
            </a:r>
            <a:r>
              <a:rPr lang="ko-KR" altLang="en-US" sz="800" dirty="0"/>
              <a:t>건수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>
                <a:solidFill>
                  <a:srgbClr val="00B0F0"/>
                </a:solidFill>
              </a:rPr>
              <a:t>고객명 클릭 시 상세 정보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등록 정보 화면으로 연결</a:t>
            </a:r>
            <a:r>
              <a:rPr lang="en-US" altLang="ko-KR" sz="800" dirty="0"/>
              <a:t>(</a:t>
            </a:r>
            <a:r>
              <a:rPr lang="ko-KR" altLang="en-US" sz="800" dirty="0"/>
              <a:t>다음페이지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[4-1] </a:t>
            </a:r>
            <a:r>
              <a:rPr lang="ko-KR" altLang="en-US" sz="800" dirty="0" err="1"/>
              <a:t>컨택</a:t>
            </a:r>
            <a:r>
              <a:rPr lang="ko-KR" altLang="en-US" sz="800" dirty="0"/>
              <a:t> 정보가 </a:t>
            </a:r>
            <a:r>
              <a:rPr lang="en-US" altLang="ko-KR" sz="800" dirty="0"/>
              <a:t>1</a:t>
            </a:r>
            <a:r>
              <a:rPr lang="ko-KR" altLang="en-US" sz="800" dirty="0"/>
              <a:t>회 이상 등록되어 있으면</a:t>
            </a:r>
            <a:endParaRPr lang="en-US" altLang="ko-KR" sz="800" dirty="0"/>
          </a:p>
          <a:p>
            <a:r>
              <a:rPr lang="en-US" altLang="ko-KR" sz="800" dirty="0"/>
              <a:t> Y, </a:t>
            </a:r>
          </a:p>
          <a:p>
            <a:r>
              <a:rPr lang="en-US" altLang="ko-KR" sz="800" dirty="0"/>
              <a:t> </a:t>
            </a:r>
            <a:r>
              <a:rPr lang="ko-KR" altLang="en-US" sz="800" dirty="0"/>
              <a:t>없으면 </a:t>
            </a:r>
            <a:r>
              <a:rPr lang="en-US" altLang="ko-KR" sz="800" dirty="0"/>
              <a:t>N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[4-1] </a:t>
            </a:r>
            <a:r>
              <a:rPr lang="ko-KR" altLang="en-US" sz="800" dirty="0"/>
              <a:t>처리유형이 등록되지 않은 상태는 </a:t>
            </a:r>
            <a:r>
              <a:rPr lang="en-US" altLang="ko-KR" sz="800" dirty="0"/>
              <a:t>“</a:t>
            </a:r>
            <a:r>
              <a:rPr lang="ko-KR" altLang="en-US" sz="800" dirty="0" err="1"/>
              <a:t>진행중</a:t>
            </a:r>
            <a:r>
              <a:rPr lang="en-US" altLang="ko-KR" sz="800" dirty="0"/>
              <a:t>＂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610930" y="1758863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435005" y="1645893"/>
            <a:ext cx="183964" cy="202882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20" name="꺾인 연결선 19"/>
          <p:cNvCxnSpPr>
            <a:stCxn id="30" idx="2"/>
          </p:cNvCxnSpPr>
          <p:nvPr/>
        </p:nvCxnSpPr>
        <p:spPr>
          <a:xfrm rot="5400000">
            <a:off x="-356100" y="2966038"/>
            <a:ext cx="3000350" cy="765825"/>
          </a:xfrm>
          <a:prstGeom prst="bentConnector3">
            <a:avLst>
              <a:gd name="adj1" fmla="val 801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2185004" y="1577106"/>
            <a:ext cx="183964" cy="202882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953311" y="2350566"/>
            <a:ext cx="7872919" cy="256447"/>
          </a:xfrm>
          <a:prstGeom prst="rect">
            <a:avLst/>
          </a:prstGeom>
          <a:solidFill>
            <a:srgbClr val="00B0F0">
              <a:alpha val="36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560919" y="2377348"/>
            <a:ext cx="183964" cy="202882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519607" y="2574227"/>
            <a:ext cx="3705225" cy="123732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탈퇴회원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+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캠페인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무료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 리스트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4887896" y="1725227"/>
            <a:ext cx="649497" cy="20763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선택 삭제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684099" y="1690678"/>
            <a:ext cx="183964" cy="202882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5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38063"/>
              </p:ext>
            </p:extLst>
          </p:nvPr>
        </p:nvGraphicFramePr>
        <p:xfrm>
          <a:off x="851711" y="948837"/>
          <a:ext cx="8128000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7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고객명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회원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고객명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회사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유형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유입일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처리상태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" name="직사각형 36"/>
          <p:cNvSpPr/>
          <p:nvPr/>
        </p:nvSpPr>
        <p:spPr>
          <a:xfrm>
            <a:off x="2048775" y="974595"/>
            <a:ext cx="2821021" cy="1536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6126265" y="973668"/>
            <a:ext cx="2821021" cy="1536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2048774" y="1186129"/>
            <a:ext cx="2821021" cy="1536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126265" y="1183242"/>
            <a:ext cx="884877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1" y="1186769"/>
            <a:ext cx="186718" cy="154639"/>
          </a:xfrm>
          <a:prstGeom prst="rect">
            <a:avLst/>
          </a:prstGeom>
        </p:spPr>
      </p:pic>
      <p:sp>
        <p:nvSpPr>
          <p:cNvPr id="42" name="직사각형 41"/>
          <p:cNvSpPr/>
          <p:nvPr/>
        </p:nvSpPr>
        <p:spPr>
          <a:xfrm>
            <a:off x="7503698" y="1183242"/>
            <a:ext cx="884877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43" name="그림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914" y="1186769"/>
            <a:ext cx="186718" cy="15463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232415" y="1120316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45" name="직사각형 44"/>
          <p:cNvSpPr/>
          <p:nvPr/>
        </p:nvSpPr>
        <p:spPr>
          <a:xfrm>
            <a:off x="2048773" y="1404080"/>
            <a:ext cx="2821021" cy="1536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</a:rPr>
              <a:t>진행중</a:t>
            </a:r>
            <a:r>
              <a:rPr lang="ko-KR" altLang="en-US" sz="800" dirty="0">
                <a:solidFill>
                  <a:schemeClr val="tx1"/>
                </a:solidFill>
              </a:rPr>
              <a:t>                                                  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126265" y="1400824"/>
            <a:ext cx="2820501" cy="16642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홍길동                                                             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16860" y="2403119"/>
            <a:ext cx="263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/>
              <a:t>Y</a:t>
            </a:r>
          </a:p>
          <a:p>
            <a:pPr algn="ctr"/>
            <a:endParaRPr lang="en-US" altLang="ko-KR" sz="800" dirty="0"/>
          </a:p>
          <a:p>
            <a:pPr algn="ctr"/>
            <a:r>
              <a:rPr lang="en-US" altLang="ko-KR" sz="800" dirty="0"/>
              <a:t>N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470927" y="2082299"/>
            <a:ext cx="257099" cy="197768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4-1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439729" y="2093694"/>
            <a:ext cx="257099" cy="197768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4-2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6991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가망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&amp;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체험 캠페인 고객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769" y="660265"/>
            <a:ext cx="2470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회원 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회원관리 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가망고객관리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7575" y="3039820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■ 고객정보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796804"/>
              </p:ext>
            </p:extLst>
          </p:nvPr>
        </p:nvGraphicFramePr>
        <p:xfrm>
          <a:off x="851711" y="3316819"/>
          <a:ext cx="812800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7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고객명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회원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멀티캠퍼스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고객명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회사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가나다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사용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abcde12345!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휴대폰번호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010-0000-0000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전화번호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02-0000-0000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이메일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multi@multicampus.com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유형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탈퇴회원 </a:t>
                      </a:r>
                      <a:r>
                        <a:rPr lang="en-US" altLang="ko-KR" sz="800" dirty="0"/>
                        <a:t>($</a:t>
                      </a:r>
                      <a:r>
                        <a:rPr lang="ko-KR" altLang="en-US" sz="800" dirty="0"/>
                        <a:t>기존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 err="1"/>
                        <a:t>회원구분값</a:t>
                      </a:r>
                      <a:r>
                        <a:rPr lang="en-US" altLang="ko-KR" sz="800" dirty="0"/>
                        <a:t>$)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유입일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YYYY.MM.DD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서비스 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YYYY.MM.DD ~ YYYY.MM.DD.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97575" y="4529367"/>
            <a:ext cx="9060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■ </a:t>
            </a:r>
            <a:r>
              <a:rPr lang="ko-KR" altLang="en-US" sz="1050" dirty="0" err="1"/>
              <a:t>컨택정보</a:t>
            </a:r>
            <a:endParaRPr lang="ko-KR" altLang="en-US" sz="1050" dirty="0"/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746481"/>
              </p:ext>
            </p:extLst>
          </p:nvPr>
        </p:nvGraphicFramePr>
        <p:xfrm>
          <a:off x="851711" y="4794646"/>
          <a:ext cx="8128000" cy="10055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7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채널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컨택일시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8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직사각형 24"/>
          <p:cNvSpPr/>
          <p:nvPr/>
        </p:nvSpPr>
        <p:spPr>
          <a:xfrm>
            <a:off x="6132008" y="4828065"/>
            <a:ext cx="2746103" cy="16910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126265" y="5057899"/>
            <a:ext cx="884877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2024-01-20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1" y="5061426"/>
            <a:ext cx="186718" cy="154639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136" y="5057897"/>
            <a:ext cx="150281" cy="150281"/>
          </a:xfrm>
          <a:prstGeom prst="rect">
            <a:avLst/>
          </a:prstGeom>
        </p:spPr>
      </p:pic>
      <p:sp>
        <p:nvSpPr>
          <p:cNvPr id="32" name="직사각형 31"/>
          <p:cNvSpPr/>
          <p:nvPr/>
        </p:nvSpPr>
        <p:spPr>
          <a:xfrm>
            <a:off x="7319525" y="5057899"/>
            <a:ext cx="248030" cy="15028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10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7598968" y="5057898"/>
            <a:ext cx="248030" cy="15028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054716" y="5276791"/>
            <a:ext cx="6892570" cy="45995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5</a:t>
            </a:r>
            <a:r>
              <a:rPr lang="ko-KR" altLang="en-US" sz="800" dirty="0">
                <a:solidFill>
                  <a:schemeClr val="tx1"/>
                </a:solidFill>
              </a:rPr>
              <a:t>명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할인가 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제안 완료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2060945" y="4829200"/>
            <a:ext cx="2821021" cy="1536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851711" y="1758000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851711" y="2769386"/>
            <a:ext cx="933805" cy="20131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계약 등록하기</a:t>
            </a:r>
          </a:p>
        </p:txBody>
      </p:sp>
      <p:sp>
        <p:nvSpPr>
          <p:cNvPr id="48" name="모서리가 둥근 직사각형 47"/>
          <p:cNvSpPr/>
          <p:nvPr/>
        </p:nvSpPr>
        <p:spPr>
          <a:xfrm>
            <a:off x="1916495" y="2778835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저장</a:t>
            </a:r>
          </a:p>
        </p:txBody>
      </p:sp>
      <p:cxnSp>
        <p:nvCxnSpPr>
          <p:cNvPr id="51" name="직선 연결선 50"/>
          <p:cNvCxnSpPr/>
          <p:nvPr/>
        </p:nvCxnSpPr>
        <p:spPr>
          <a:xfrm>
            <a:off x="851711" y="2027579"/>
            <a:ext cx="8128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97575" y="5840126"/>
            <a:ext cx="9060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■ 처리정보</a:t>
            </a:r>
          </a:p>
        </p:txBody>
      </p: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835859"/>
              </p:ext>
            </p:extLst>
          </p:nvPr>
        </p:nvGraphicFramePr>
        <p:xfrm>
          <a:off x="829821" y="6094042"/>
          <a:ext cx="8128000" cy="714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7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처리담당자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처리상태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0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처리내용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4" name="직사각형 53"/>
          <p:cNvSpPr/>
          <p:nvPr/>
        </p:nvSpPr>
        <p:spPr>
          <a:xfrm>
            <a:off x="2027403" y="6128701"/>
            <a:ext cx="2820501" cy="16642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홍길동                                                             🔍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2026884" y="6328919"/>
            <a:ext cx="6898512" cy="44575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1785516" y="4599712"/>
            <a:ext cx="1002801" cy="13911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+ </a:t>
            </a:r>
            <a:r>
              <a:rPr lang="ko-KR" altLang="en-US" sz="800" dirty="0" err="1">
                <a:solidFill>
                  <a:schemeClr val="tx1"/>
                </a:solidFill>
              </a:rPr>
              <a:t>컨택정보</a:t>
            </a:r>
            <a:r>
              <a:rPr lang="ko-KR" altLang="en-US" sz="800" dirty="0">
                <a:solidFill>
                  <a:schemeClr val="tx1"/>
                </a:solidFill>
              </a:rPr>
              <a:t> 추가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CRM_08_001~005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53340" y="591381"/>
            <a:ext cx="2287806" cy="621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00B0F0"/>
                </a:solidFill>
              </a:rPr>
              <a:t>기 등록된 고객을 선택하면 연결되는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00B0F0"/>
                </a:solidFill>
              </a:rPr>
              <a:t>상세 화면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 err="1">
                <a:solidFill>
                  <a:srgbClr val="00B0F0"/>
                </a:solidFill>
              </a:rPr>
              <a:t>컨택</a:t>
            </a:r>
            <a:r>
              <a:rPr lang="ko-KR" altLang="en-US" sz="1000" b="1" dirty="0">
                <a:solidFill>
                  <a:srgbClr val="00B0F0"/>
                </a:solidFill>
              </a:rPr>
              <a:t> 정보 등록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 err="1">
                <a:solidFill>
                  <a:srgbClr val="00B0F0"/>
                </a:solidFill>
              </a:rPr>
              <a:t>컨택정보</a:t>
            </a:r>
            <a:r>
              <a:rPr lang="ko-KR" altLang="en-US" sz="1000" b="1" dirty="0">
                <a:solidFill>
                  <a:srgbClr val="00B0F0"/>
                </a:solidFill>
              </a:rPr>
              <a:t> 추가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제안 유형이 다르거나</a:t>
            </a:r>
            <a:r>
              <a:rPr lang="en-US" altLang="ko-KR" sz="800" dirty="0"/>
              <a:t>, </a:t>
            </a:r>
            <a:r>
              <a:rPr lang="ko-KR" altLang="en-US" sz="800" dirty="0"/>
              <a:t>별도 정보관리가</a:t>
            </a:r>
            <a:endParaRPr lang="en-US" altLang="ko-KR" sz="800" dirty="0"/>
          </a:p>
          <a:p>
            <a:r>
              <a:rPr lang="ko-KR" altLang="en-US" sz="800" dirty="0"/>
              <a:t>필요한 경우 </a:t>
            </a:r>
            <a:r>
              <a:rPr lang="ko-KR" altLang="en-US" sz="800" dirty="0" err="1"/>
              <a:t>컨택정보를</a:t>
            </a:r>
            <a:r>
              <a:rPr lang="ko-KR" altLang="en-US" sz="800" dirty="0"/>
              <a:t> 추가할 수 있음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 err="1"/>
              <a:t>컨택정보</a:t>
            </a:r>
            <a:r>
              <a:rPr lang="ko-KR" altLang="en-US" sz="800" dirty="0"/>
              <a:t> 추가 시 </a:t>
            </a:r>
            <a:r>
              <a:rPr lang="en-US" altLang="ko-KR" sz="800" dirty="0"/>
              <a:t>[</a:t>
            </a:r>
            <a:r>
              <a:rPr lang="ko-KR" altLang="en-US" sz="800" dirty="0" err="1"/>
              <a:t>컨택정보</a:t>
            </a:r>
            <a:r>
              <a:rPr lang="en-US" altLang="ko-KR" sz="800" dirty="0"/>
              <a:t>] </a:t>
            </a:r>
            <a:r>
              <a:rPr lang="ko-KR" altLang="en-US" sz="800" dirty="0"/>
              <a:t>필드 전체</a:t>
            </a:r>
            <a:endParaRPr lang="en-US" altLang="ko-KR" sz="800" dirty="0"/>
          </a:p>
          <a:p>
            <a:r>
              <a:rPr lang="en-US" altLang="ko-KR" sz="800" dirty="0"/>
              <a:t>1SET </a:t>
            </a:r>
            <a:r>
              <a:rPr lang="ko-KR" altLang="en-US" sz="800" dirty="0"/>
              <a:t>추가 생성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endParaRPr lang="en-US" altLang="ko-KR" sz="8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제목</a:t>
            </a:r>
            <a:endParaRPr lang="en-US" altLang="ko-KR" sz="800" b="1" dirty="0">
              <a:solidFill>
                <a:srgbClr val="00B0F0"/>
              </a:solidFill>
            </a:endParaRPr>
          </a:p>
          <a:p>
            <a:endParaRPr lang="en-US" altLang="ko-KR" sz="800" b="1" dirty="0">
              <a:solidFill>
                <a:srgbClr val="00B0F0"/>
              </a:solidFill>
            </a:endParaRPr>
          </a:p>
          <a:p>
            <a:endParaRPr lang="en-US" altLang="ko-KR" sz="8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 err="1">
                <a:solidFill>
                  <a:srgbClr val="00B0F0"/>
                </a:solidFill>
              </a:rPr>
              <a:t>컨택</a:t>
            </a:r>
            <a:r>
              <a:rPr lang="ko-KR" altLang="en-US" sz="1000" b="1" dirty="0">
                <a:solidFill>
                  <a:srgbClr val="00B0F0"/>
                </a:solidFill>
              </a:rPr>
              <a:t> 채널 </a:t>
            </a:r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 err="1">
                <a:solidFill>
                  <a:srgbClr val="00B0F0"/>
                </a:solidFill>
              </a:rPr>
              <a:t>드롭박스</a:t>
            </a:r>
            <a:r>
              <a:rPr lang="en-US" altLang="ko-KR" sz="1000" b="1" dirty="0">
                <a:solidFill>
                  <a:srgbClr val="00B0F0"/>
                </a:solidFill>
              </a:rPr>
              <a:t>, </a:t>
            </a:r>
            <a:r>
              <a:rPr lang="ko-KR" altLang="en-US" sz="1000" b="1" dirty="0">
                <a:solidFill>
                  <a:srgbClr val="00B0F0"/>
                </a:solidFill>
              </a:rPr>
              <a:t>선택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 err="1"/>
              <a:t>이메일</a:t>
            </a:r>
            <a:endParaRPr lang="en-US" altLang="ko-KR" sz="800" dirty="0"/>
          </a:p>
          <a:p>
            <a:pPr marL="171450" indent="-171450">
              <a:buFontTx/>
              <a:buChar char="-"/>
            </a:pPr>
            <a:r>
              <a:rPr lang="ko-KR" altLang="en-US" sz="800" dirty="0"/>
              <a:t>전화</a:t>
            </a:r>
            <a:endParaRPr lang="en-US" altLang="ko-KR" sz="800" dirty="0"/>
          </a:p>
          <a:p>
            <a:pPr marL="171450" indent="-171450">
              <a:buFontTx/>
              <a:buChar char="-"/>
            </a:pPr>
            <a:r>
              <a:rPr lang="ko-KR" altLang="en-US" sz="800" dirty="0"/>
              <a:t>방문</a:t>
            </a:r>
            <a:endParaRPr lang="en-US" altLang="ko-KR" sz="800" dirty="0"/>
          </a:p>
          <a:p>
            <a:pPr marL="171450" indent="-171450">
              <a:buFontTx/>
              <a:buChar char="-"/>
            </a:pPr>
            <a:r>
              <a:rPr lang="ko-KR" altLang="en-US" sz="800" dirty="0"/>
              <a:t>기타</a:t>
            </a:r>
            <a:endParaRPr lang="en-US" altLang="ko-KR" sz="800" dirty="0"/>
          </a:p>
          <a:p>
            <a:pPr marL="171450" indent="-171450">
              <a:buFontTx/>
              <a:buChar char="-"/>
            </a:pPr>
            <a:endParaRPr lang="en-US" altLang="ko-KR" sz="800" dirty="0"/>
          </a:p>
          <a:p>
            <a:pPr lvl="0"/>
            <a:endParaRPr lang="en-US" altLang="ko-KR" sz="800" b="1" dirty="0">
              <a:solidFill>
                <a:srgbClr val="00B0F0"/>
              </a:solidFill>
            </a:endParaRPr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[5] </a:t>
            </a:r>
            <a:r>
              <a:rPr lang="ko-KR" altLang="en-US" sz="1000" b="1" dirty="0">
                <a:solidFill>
                  <a:srgbClr val="00B0F0"/>
                </a:solidFill>
              </a:rPr>
              <a:t>영업대표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pPr marL="171450" lvl="0" indent="-171450">
              <a:buFontTx/>
              <a:buChar char="-"/>
            </a:pPr>
            <a:r>
              <a:rPr lang="en-US" altLang="ko-KR" sz="800" dirty="0">
                <a:solidFill>
                  <a:prstClr val="black"/>
                </a:solidFill>
              </a:rPr>
              <a:t>CRM </a:t>
            </a:r>
            <a:r>
              <a:rPr lang="ko-KR" altLang="en-US" sz="800" dirty="0" err="1">
                <a:solidFill>
                  <a:prstClr val="black"/>
                </a:solidFill>
              </a:rPr>
              <a:t>로그인된</a:t>
            </a:r>
            <a:r>
              <a:rPr lang="ko-KR" altLang="en-US" sz="800" dirty="0">
                <a:solidFill>
                  <a:prstClr val="black"/>
                </a:solidFill>
              </a:rPr>
              <a:t> 계정 자동 </a:t>
            </a:r>
            <a:r>
              <a:rPr lang="ko-KR" altLang="en-US" sz="800" dirty="0" err="1">
                <a:solidFill>
                  <a:prstClr val="black"/>
                </a:solidFill>
              </a:rPr>
              <a:t>세팅</a:t>
            </a:r>
            <a:endParaRPr lang="en-US" altLang="ko-KR" sz="800" dirty="0">
              <a:solidFill>
                <a:prstClr val="black"/>
              </a:solidFill>
            </a:endParaRPr>
          </a:p>
          <a:p>
            <a:pPr marL="171450" lvl="0" indent="-171450">
              <a:buFontTx/>
              <a:buChar char="-"/>
            </a:pPr>
            <a:r>
              <a:rPr lang="ko-KR" altLang="en-US" sz="800" dirty="0">
                <a:solidFill>
                  <a:prstClr val="black"/>
                </a:solidFill>
              </a:rPr>
              <a:t>다른 영업대표 검색 가능</a:t>
            </a:r>
            <a:endParaRPr lang="en-US" altLang="ko-KR" sz="800" dirty="0"/>
          </a:p>
          <a:p>
            <a:pPr lvl="0"/>
            <a:endParaRPr lang="en-US" altLang="ko-KR" sz="800" b="1" dirty="0">
              <a:solidFill>
                <a:srgbClr val="00B0F0"/>
              </a:solidFill>
            </a:endParaRPr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[6] </a:t>
            </a:r>
            <a:r>
              <a:rPr lang="ko-KR" altLang="en-US" sz="1000" b="1" dirty="0" err="1">
                <a:solidFill>
                  <a:srgbClr val="00B0F0"/>
                </a:solidFill>
              </a:rPr>
              <a:t>컨택일시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pPr marL="171450" lvl="0" indent="-171450">
              <a:buFontTx/>
              <a:buChar char="-"/>
            </a:pPr>
            <a:r>
              <a:rPr lang="ko-KR" altLang="en-US" sz="800" dirty="0">
                <a:solidFill>
                  <a:prstClr val="black"/>
                </a:solidFill>
              </a:rPr>
              <a:t>등록 시점 자동 </a:t>
            </a:r>
            <a:r>
              <a:rPr lang="ko-KR" altLang="en-US" sz="800" dirty="0" err="1">
                <a:solidFill>
                  <a:prstClr val="black"/>
                </a:solidFill>
              </a:rPr>
              <a:t>세팅</a:t>
            </a:r>
            <a:r>
              <a:rPr lang="ko-KR" altLang="en-US" sz="800" dirty="0">
                <a:solidFill>
                  <a:prstClr val="black"/>
                </a:solidFill>
              </a:rPr>
              <a:t> </a:t>
            </a:r>
            <a:r>
              <a:rPr lang="en-US" altLang="ko-KR" sz="800" dirty="0">
                <a:solidFill>
                  <a:prstClr val="black"/>
                </a:solidFill>
              </a:rPr>
              <a:t>(</a:t>
            </a:r>
            <a:r>
              <a:rPr lang="ko-KR" altLang="en-US" sz="800" dirty="0">
                <a:solidFill>
                  <a:prstClr val="black"/>
                </a:solidFill>
              </a:rPr>
              <a:t>수정가능</a:t>
            </a:r>
            <a:r>
              <a:rPr lang="en-US" altLang="ko-KR" sz="800" dirty="0">
                <a:solidFill>
                  <a:prstClr val="black"/>
                </a:solidFill>
              </a:rPr>
              <a:t>)</a:t>
            </a:r>
          </a:p>
          <a:p>
            <a:endParaRPr lang="en-US" altLang="ko-KR" sz="800" dirty="0"/>
          </a:p>
          <a:p>
            <a:pPr lvl="0"/>
            <a:endParaRPr lang="en-US" altLang="ko-KR" sz="800" b="1" dirty="0">
              <a:solidFill>
                <a:srgbClr val="00B0F0"/>
              </a:solidFill>
            </a:endParaRPr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[7] </a:t>
            </a:r>
            <a:r>
              <a:rPr lang="ko-KR" altLang="en-US" sz="1000" b="1" dirty="0">
                <a:solidFill>
                  <a:srgbClr val="00B0F0"/>
                </a:solidFill>
              </a:rPr>
              <a:t>상세 내용 입력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endParaRPr lang="en-US" altLang="ko-KR" sz="8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[8] </a:t>
            </a:r>
            <a:r>
              <a:rPr lang="ko-KR" altLang="en-US" sz="1000" b="1" dirty="0">
                <a:solidFill>
                  <a:srgbClr val="00B0F0"/>
                </a:solidFill>
              </a:rPr>
              <a:t>처리 담당자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pPr marL="171450" lvl="0" indent="-171450">
              <a:buFontTx/>
              <a:buChar char="-"/>
            </a:pPr>
            <a:r>
              <a:rPr lang="en-US" altLang="ko-KR" sz="800" dirty="0">
                <a:solidFill>
                  <a:prstClr val="black"/>
                </a:solidFill>
              </a:rPr>
              <a:t>CRM </a:t>
            </a:r>
            <a:r>
              <a:rPr lang="ko-KR" altLang="en-US" sz="800" dirty="0" err="1">
                <a:solidFill>
                  <a:prstClr val="black"/>
                </a:solidFill>
              </a:rPr>
              <a:t>로그인된</a:t>
            </a:r>
            <a:r>
              <a:rPr lang="ko-KR" altLang="en-US" sz="800" dirty="0">
                <a:solidFill>
                  <a:prstClr val="black"/>
                </a:solidFill>
              </a:rPr>
              <a:t> 계정 자동 </a:t>
            </a:r>
            <a:r>
              <a:rPr lang="ko-KR" altLang="en-US" sz="800" dirty="0" err="1">
                <a:solidFill>
                  <a:prstClr val="black"/>
                </a:solidFill>
              </a:rPr>
              <a:t>세팅</a:t>
            </a:r>
            <a:endParaRPr lang="en-US" altLang="ko-KR" sz="800" dirty="0">
              <a:solidFill>
                <a:prstClr val="black"/>
              </a:solidFill>
            </a:endParaRPr>
          </a:p>
          <a:p>
            <a:pPr marL="171450" lvl="0" indent="-171450">
              <a:buFontTx/>
              <a:buChar char="-"/>
            </a:pPr>
            <a:r>
              <a:rPr lang="ko-KR" altLang="en-US" sz="800" dirty="0">
                <a:solidFill>
                  <a:prstClr val="black"/>
                </a:solidFill>
              </a:rPr>
              <a:t>다른 영업대표 검색 가능</a:t>
            </a:r>
            <a:endParaRPr lang="en-US" altLang="ko-KR" sz="800" dirty="0">
              <a:solidFill>
                <a:prstClr val="black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[9] </a:t>
            </a:r>
            <a:r>
              <a:rPr lang="ko-KR" altLang="en-US" sz="1000" b="1" dirty="0">
                <a:solidFill>
                  <a:srgbClr val="00B0F0"/>
                </a:solidFill>
              </a:rPr>
              <a:t>처리유형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유료회원 전환 </a:t>
            </a:r>
            <a:r>
              <a:rPr lang="en-US" altLang="ko-KR" sz="800" dirty="0"/>
              <a:t>: </a:t>
            </a:r>
            <a:r>
              <a:rPr lang="ko-KR" altLang="en-US" sz="800" dirty="0"/>
              <a:t>상단 </a:t>
            </a:r>
            <a:r>
              <a:rPr lang="en-US" altLang="ko-KR" sz="800" dirty="0"/>
              <a:t>[</a:t>
            </a:r>
            <a:r>
              <a:rPr lang="ko-KR" altLang="en-US" sz="800" dirty="0"/>
              <a:t>계약 등록하기</a:t>
            </a:r>
            <a:r>
              <a:rPr lang="en-US" altLang="ko-KR" sz="800" dirty="0"/>
              <a:t>]</a:t>
            </a:r>
            <a:r>
              <a:rPr lang="ko-KR" altLang="en-US" sz="800" dirty="0"/>
              <a:t>를 눌러 </a:t>
            </a:r>
            <a:endParaRPr lang="en-US" altLang="ko-KR" sz="800" dirty="0"/>
          </a:p>
          <a:p>
            <a:r>
              <a:rPr lang="ko-KR" altLang="en-US" sz="800" dirty="0"/>
              <a:t>계약 정보가 생성되면 자동으로 체크</a:t>
            </a:r>
            <a:endParaRPr lang="en-US" altLang="ko-KR" sz="800" dirty="0"/>
          </a:p>
          <a:p>
            <a:pPr marL="171450" lvl="0" indent="-171450">
              <a:buFontTx/>
              <a:buChar char="-"/>
            </a:pPr>
            <a:endParaRPr lang="en-US" altLang="ko-KR" sz="800" dirty="0"/>
          </a:p>
          <a:p>
            <a:pPr lvl="0"/>
            <a:r>
              <a:rPr lang="ko-KR" altLang="en-US" sz="800" dirty="0"/>
              <a:t>종료 </a:t>
            </a:r>
            <a:r>
              <a:rPr lang="en-US" altLang="ko-KR" sz="800" dirty="0"/>
              <a:t>: </a:t>
            </a:r>
            <a:r>
              <a:rPr lang="ko-KR" altLang="en-US" sz="800" dirty="0"/>
              <a:t>전환 희망 없는 경우 체크</a:t>
            </a:r>
            <a:endParaRPr lang="en-US" altLang="ko-KR" sz="800" dirty="0"/>
          </a:p>
          <a:p>
            <a:pPr lvl="0"/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[10] </a:t>
            </a:r>
            <a:r>
              <a:rPr lang="ko-KR" altLang="en-US" sz="1000" b="1" dirty="0">
                <a:solidFill>
                  <a:srgbClr val="00B0F0"/>
                </a:solidFill>
              </a:rPr>
              <a:t>처리내용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r>
              <a:rPr lang="ko-KR" altLang="en-US" sz="800" dirty="0"/>
              <a:t>메모 입력</a:t>
            </a:r>
            <a:endParaRPr lang="en-US" altLang="ko-KR" sz="800" dirty="0"/>
          </a:p>
        </p:txBody>
      </p:sp>
      <p:sp>
        <p:nvSpPr>
          <p:cNvPr id="98" name="직사각형 97"/>
          <p:cNvSpPr/>
          <p:nvPr/>
        </p:nvSpPr>
        <p:spPr>
          <a:xfrm>
            <a:off x="665834" y="458277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116781" y="6101868"/>
            <a:ext cx="19431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□ 유료회원 전환                □ 종료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2573989" y="2769323"/>
            <a:ext cx="526515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삭제</a:t>
            </a:r>
          </a:p>
        </p:txBody>
      </p:sp>
      <p:graphicFrame>
        <p:nvGraphicFramePr>
          <p:cNvPr id="86" name="표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749664"/>
              </p:ext>
            </p:extLst>
          </p:nvPr>
        </p:nvGraphicFramePr>
        <p:xfrm>
          <a:off x="851711" y="948837"/>
          <a:ext cx="8128000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7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고객명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회원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고객명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회사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유형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유입일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처리상태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9" name="직사각형 98"/>
          <p:cNvSpPr/>
          <p:nvPr/>
        </p:nvSpPr>
        <p:spPr>
          <a:xfrm>
            <a:off x="2048775" y="974595"/>
            <a:ext cx="2821021" cy="1536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6126265" y="973668"/>
            <a:ext cx="2821021" cy="1536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2048774" y="1186129"/>
            <a:ext cx="2821021" cy="1536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6126265" y="1183242"/>
            <a:ext cx="884877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03" name="그림 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1" y="1186769"/>
            <a:ext cx="186718" cy="154639"/>
          </a:xfrm>
          <a:prstGeom prst="rect">
            <a:avLst/>
          </a:prstGeom>
        </p:spPr>
      </p:pic>
      <p:sp>
        <p:nvSpPr>
          <p:cNvPr id="104" name="직사각형 103"/>
          <p:cNvSpPr/>
          <p:nvPr/>
        </p:nvSpPr>
        <p:spPr>
          <a:xfrm>
            <a:off x="7503698" y="1183242"/>
            <a:ext cx="884877" cy="1581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YYYY-MM-DD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05" name="그림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3914" y="1186769"/>
            <a:ext cx="186718" cy="154639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7232415" y="1120316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107" name="직사각형 106"/>
          <p:cNvSpPr/>
          <p:nvPr/>
        </p:nvSpPr>
        <p:spPr>
          <a:xfrm>
            <a:off x="2048773" y="1404080"/>
            <a:ext cx="2821021" cy="1536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</a:rPr>
              <a:t>진행중</a:t>
            </a:r>
            <a:r>
              <a:rPr lang="ko-KR" altLang="en-US" sz="800" dirty="0">
                <a:solidFill>
                  <a:schemeClr val="tx1"/>
                </a:solidFill>
              </a:rPr>
              <a:t>                                                             </a:t>
            </a:r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6126265" y="1400824"/>
            <a:ext cx="2820501" cy="16642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홍길동                                                             🔍</a:t>
            </a:r>
          </a:p>
        </p:txBody>
      </p:sp>
      <p:sp>
        <p:nvSpPr>
          <p:cNvPr id="110" name="직사각형 109"/>
          <p:cNvSpPr/>
          <p:nvPr/>
        </p:nvSpPr>
        <p:spPr>
          <a:xfrm>
            <a:off x="1632543" y="445395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1064706" y="480813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2061465" y="5038701"/>
            <a:ext cx="2820501" cy="16642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홍길동                                                             🔍</a:t>
            </a:r>
          </a:p>
        </p:txBody>
      </p:sp>
      <p:sp>
        <p:nvSpPr>
          <p:cNvPr id="113" name="직사각형 112"/>
          <p:cNvSpPr/>
          <p:nvPr/>
        </p:nvSpPr>
        <p:spPr>
          <a:xfrm>
            <a:off x="5158379" y="479832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1054876" y="502405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5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5148549" y="501423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6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1058259" y="541928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7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943647" y="612112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8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5065440" y="611496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9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961937" y="649036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10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120" name="직선 연결선 119"/>
          <p:cNvCxnSpPr/>
          <p:nvPr/>
        </p:nvCxnSpPr>
        <p:spPr>
          <a:xfrm>
            <a:off x="868824" y="2016913"/>
            <a:ext cx="8128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868824" y="2076018"/>
            <a:ext cx="82076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□         유입일                  고객명</a:t>
            </a:r>
            <a:r>
              <a:rPr lang="en-US" altLang="ko-KR" sz="800" dirty="0"/>
              <a:t>(</a:t>
            </a:r>
            <a:r>
              <a:rPr lang="ko-KR" altLang="en-US" sz="800" dirty="0"/>
              <a:t>회원</a:t>
            </a:r>
            <a:r>
              <a:rPr lang="en-US" altLang="ko-KR" sz="800" dirty="0"/>
              <a:t>)              </a:t>
            </a:r>
            <a:r>
              <a:rPr lang="ko-KR" altLang="en-US" sz="800" dirty="0"/>
              <a:t>고객명</a:t>
            </a:r>
            <a:r>
              <a:rPr lang="en-US" altLang="ko-KR" sz="800" dirty="0"/>
              <a:t>(</a:t>
            </a:r>
            <a:r>
              <a:rPr lang="ko-KR" altLang="en-US" sz="800" dirty="0"/>
              <a:t>회사</a:t>
            </a:r>
            <a:r>
              <a:rPr lang="en-US" altLang="ko-KR" sz="800" dirty="0"/>
              <a:t>)                       </a:t>
            </a:r>
            <a:r>
              <a:rPr lang="ko-KR" altLang="en-US" sz="800" dirty="0"/>
              <a:t>유형                   </a:t>
            </a:r>
            <a:r>
              <a:rPr lang="ko-KR" altLang="en-US" sz="800" dirty="0" err="1"/>
              <a:t>컨택정보</a:t>
            </a:r>
            <a:r>
              <a:rPr lang="ko-KR" altLang="en-US" sz="800" dirty="0"/>
              <a:t>                처리상태                                담당자   </a:t>
            </a:r>
            <a:r>
              <a:rPr lang="en-US" altLang="ko-KR" sz="800" dirty="0"/>
              <a:t>     </a:t>
            </a:r>
            <a:endParaRPr lang="ko-KR" altLang="en-US" sz="800" dirty="0"/>
          </a:p>
        </p:txBody>
      </p:sp>
      <p:sp>
        <p:nvSpPr>
          <p:cNvPr id="122" name="모서리가 둥근 직사각형 121"/>
          <p:cNvSpPr/>
          <p:nvPr/>
        </p:nvSpPr>
        <p:spPr>
          <a:xfrm>
            <a:off x="1539372" y="1747334"/>
            <a:ext cx="690854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다운로드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2230226" y="2350566"/>
            <a:ext cx="1914178" cy="256447"/>
          </a:xfrm>
          <a:prstGeom prst="rect">
            <a:avLst/>
          </a:prstGeom>
          <a:solidFill>
            <a:srgbClr val="00B0F0">
              <a:alpha val="36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" name="꺾인 연결선 5"/>
          <p:cNvCxnSpPr>
            <a:stCxn id="126" idx="1"/>
            <a:endCxn id="9" idx="1"/>
          </p:cNvCxnSpPr>
          <p:nvPr/>
        </p:nvCxnSpPr>
        <p:spPr>
          <a:xfrm rot="10800000" flipV="1">
            <a:off x="851712" y="2478789"/>
            <a:ext cx="1378515" cy="1371429"/>
          </a:xfrm>
          <a:prstGeom prst="bentConnector3">
            <a:avLst>
              <a:gd name="adj1" fmla="val 1165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4625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7769" y="660265"/>
            <a:ext cx="1327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현황 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회원현황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3340" y="591381"/>
            <a:ext cx="2178802" cy="3016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가망고객 현황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b="1" dirty="0">
                <a:solidFill>
                  <a:srgbClr val="00B0F0"/>
                </a:solidFill>
              </a:rPr>
              <a:t>[1-1] </a:t>
            </a:r>
            <a:r>
              <a:rPr lang="ko-KR" altLang="en-US" sz="800" dirty="0"/>
              <a:t>월별 유입 </a:t>
            </a:r>
            <a:r>
              <a:rPr lang="ko-KR" altLang="en-US" sz="800" dirty="0" err="1"/>
              <a:t>회원수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b="1" dirty="0">
                <a:solidFill>
                  <a:srgbClr val="00B0F0"/>
                </a:solidFill>
              </a:rPr>
              <a:t>[1-2] </a:t>
            </a:r>
            <a:r>
              <a:rPr lang="ko-KR" altLang="en-US" sz="800" dirty="0"/>
              <a:t>종료로 처리된 </a:t>
            </a:r>
            <a:r>
              <a:rPr lang="ko-KR" altLang="en-US" sz="800" dirty="0" err="1"/>
              <a:t>회원수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b="1" dirty="0">
                <a:solidFill>
                  <a:srgbClr val="00B0F0"/>
                </a:solidFill>
              </a:rPr>
              <a:t>[1-3] </a:t>
            </a:r>
            <a:r>
              <a:rPr lang="ko-KR" altLang="en-US" sz="800" dirty="0"/>
              <a:t>유료회원 전환수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b="1" dirty="0">
                <a:solidFill>
                  <a:srgbClr val="00B0F0"/>
                </a:solidFill>
              </a:rPr>
              <a:t>[1-4] </a:t>
            </a:r>
            <a:r>
              <a:rPr lang="ko-KR" altLang="en-US" sz="800" dirty="0"/>
              <a:t>해당월말 기준 누적 전체 </a:t>
            </a:r>
            <a:r>
              <a:rPr lang="ko-KR" altLang="en-US" sz="800" dirty="0" err="1"/>
              <a:t>가망고객수</a:t>
            </a:r>
            <a:r>
              <a:rPr lang="en-US" altLang="ko-KR" sz="800" dirty="0"/>
              <a:t> 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캠페인 시작 또는 종료일이</a:t>
            </a:r>
            <a:endParaRPr lang="en-US" altLang="ko-KR" sz="800" dirty="0"/>
          </a:p>
          <a:p>
            <a:r>
              <a:rPr lang="ko-KR" altLang="en-US" sz="800" dirty="0"/>
              <a:t>데이터 조회 기간에 포함되면 결과값으로</a:t>
            </a:r>
            <a:endParaRPr lang="en-US" altLang="ko-KR" sz="800" dirty="0"/>
          </a:p>
          <a:p>
            <a:r>
              <a:rPr lang="ko-KR" altLang="en-US" sz="800" dirty="0"/>
              <a:t>조회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합계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 err="1"/>
              <a:t>조회일의</a:t>
            </a:r>
            <a:r>
              <a:rPr lang="ko-KR" altLang="en-US" sz="800" dirty="0"/>
              <a:t> 마지막 날짜 기준의 </a:t>
            </a:r>
            <a:endParaRPr lang="en-US" altLang="ko-KR" sz="800" dirty="0"/>
          </a:p>
          <a:p>
            <a:r>
              <a:rPr lang="ko-KR" altLang="en-US" sz="800" dirty="0"/>
              <a:t>최종 합계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b="1" dirty="0">
                <a:solidFill>
                  <a:srgbClr val="00B0F0"/>
                </a:solidFill>
              </a:rPr>
              <a:t>[3] </a:t>
            </a:r>
            <a:r>
              <a:rPr lang="ko-KR" altLang="en-US" sz="800" dirty="0" err="1"/>
              <a:t>상세값</a:t>
            </a:r>
            <a:r>
              <a:rPr lang="ko-KR" altLang="en-US" sz="800" dirty="0"/>
              <a:t> 클릭 시 내역 조회 팝업 실행</a:t>
            </a:r>
            <a:endParaRPr lang="en-US" altLang="ko-KR" sz="800" dirty="0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541010"/>
              </p:ext>
            </p:extLst>
          </p:nvPr>
        </p:nvGraphicFramePr>
        <p:xfrm>
          <a:off x="391269" y="2652185"/>
          <a:ext cx="9219659" cy="10896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3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3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3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61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YYYY.MM.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 err="1"/>
                        <a:t>유입회원수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 err="1"/>
                        <a:t>종료수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유료회원 전환수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누적 전체 </a:t>
                      </a:r>
                      <a:r>
                        <a:rPr lang="ko-KR" altLang="en-US" sz="800" u="none" dirty="0" err="1"/>
                        <a:t>회원수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sng" dirty="0"/>
                        <a:t>000</a:t>
                      </a:r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직사각형 18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 현황 요약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상세내역 조회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다운로드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CRM_08_007~009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048698" y="2489233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98348" y="2885191"/>
            <a:ext cx="222023" cy="198230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92044" y="3112869"/>
            <a:ext cx="222023" cy="198230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41926" y="3311099"/>
            <a:ext cx="222023" cy="198230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466383" y="3512717"/>
            <a:ext cx="222023" cy="198230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17769" y="934593"/>
            <a:ext cx="1004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요약     전체현황        </a:t>
            </a:r>
            <a:r>
              <a:rPr lang="ko-KR" altLang="en-US" sz="1200" dirty="0" err="1"/>
              <a:t>계약구분별</a:t>
            </a:r>
            <a:r>
              <a:rPr lang="ko-KR" altLang="en-US" sz="1200" dirty="0"/>
              <a:t> 회원현황            상품별 회원현황        서비스종료현황           </a:t>
            </a:r>
            <a:r>
              <a:rPr lang="ko-KR" altLang="en-US" sz="1200" b="1" dirty="0"/>
              <a:t>가망고객현황</a:t>
            </a:r>
            <a:r>
              <a:rPr lang="ko-KR" altLang="en-US" sz="1200" dirty="0"/>
              <a:t>     </a:t>
            </a:r>
            <a:r>
              <a:rPr lang="ko-KR" altLang="en-US" sz="1200" dirty="0" err="1"/>
              <a:t>퍼미션</a:t>
            </a:r>
            <a:r>
              <a:rPr lang="ko-KR" altLang="en-US" sz="1200" dirty="0"/>
              <a:t> 정보 현황</a:t>
            </a:r>
          </a:p>
        </p:txBody>
      </p:sp>
      <p:grpSp>
        <p:nvGrpSpPr>
          <p:cNvPr id="39" name="그룹 38"/>
          <p:cNvGrpSpPr/>
          <p:nvPr/>
        </p:nvGrpSpPr>
        <p:grpSpPr>
          <a:xfrm>
            <a:off x="1887166" y="3839183"/>
            <a:ext cx="7495511" cy="2770258"/>
            <a:chOff x="2974589" y="3870933"/>
            <a:chExt cx="7495511" cy="2770258"/>
          </a:xfrm>
        </p:grpSpPr>
        <p:sp>
          <p:nvSpPr>
            <p:cNvPr id="40" name="직사각형 39"/>
            <p:cNvSpPr/>
            <p:nvPr/>
          </p:nvSpPr>
          <p:spPr>
            <a:xfrm>
              <a:off x="2974589" y="3870933"/>
              <a:ext cx="7495511" cy="27702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380799" y="6123450"/>
              <a:ext cx="163993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Total 000      Page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000   </a:t>
              </a:r>
              <a:endParaRPr lang="ko-KR" altLang="en-US" sz="8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038702" y="6122943"/>
              <a:ext cx="152317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/>
                <a:t>◀  </a:t>
              </a:r>
              <a:r>
                <a:rPr lang="en-US" altLang="ko-KR" sz="800" dirty="0"/>
                <a:t>1 2 3 4 5 6 7 8 9 10   </a:t>
              </a:r>
              <a:r>
                <a:rPr lang="ko-KR" altLang="en-US" sz="800" dirty="0"/>
                <a:t>▶</a:t>
              </a: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9587364" y="6151303"/>
              <a:ext cx="410106" cy="1252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r>
                <a:rPr lang="en-US" altLang="ko-KR" sz="800" dirty="0">
                  <a:solidFill>
                    <a:schemeClr val="tx1"/>
                  </a:solidFill>
                </a:rPr>
                <a:t>50 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9121933" y="6405013"/>
              <a:ext cx="879885" cy="1464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닫기</a:t>
              </a:r>
            </a:p>
          </p:txBody>
        </p:sp>
      </p:grp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965628"/>
              </p:ext>
            </p:extLst>
          </p:nvPr>
        </p:nvGraphicFramePr>
        <p:xfrm>
          <a:off x="2056905" y="4644335"/>
          <a:ext cx="7156032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3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2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29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29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29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29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29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29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29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29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296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5275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No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고객명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회원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고객명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회사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아이디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휴대폰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전화번호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/>
                        <a:t>이메일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유형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유입일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접촉거부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광고성정보수신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유료회원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전환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7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이메일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휴대폰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sng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5" name="모서리가 둥근 직사각형 44"/>
          <p:cNvSpPr/>
          <p:nvPr/>
        </p:nvSpPr>
        <p:spPr>
          <a:xfrm>
            <a:off x="2056905" y="4290943"/>
            <a:ext cx="690854" cy="1855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다운로드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940691" y="395938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2787954" y="253249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8704994" y="4449277"/>
            <a:ext cx="3968151" cy="1160725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marL="228600" indent="-228600" algn="ctr"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</a:rPr>
              <a:t>가망고객현황 페이지 수정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graphicFrame>
        <p:nvGraphicFramePr>
          <p:cNvPr id="68" name="표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786870"/>
              </p:ext>
            </p:extLst>
          </p:nvPr>
        </p:nvGraphicFramePr>
        <p:xfrm>
          <a:off x="391269" y="1275708"/>
          <a:ext cx="9316934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3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1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3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조회 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 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유형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그룹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9" name="직사각형 68"/>
          <p:cNvSpPr/>
          <p:nvPr/>
        </p:nvSpPr>
        <p:spPr>
          <a:xfrm>
            <a:off x="1117360" y="1300590"/>
            <a:ext cx="782488" cy="1577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YYYYMMDD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2342975" y="1307846"/>
            <a:ext cx="782488" cy="1577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YYYYMMDD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077085" y="1235490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72" name="직사각형 71"/>
          <p:cNvSpPr/>
          <p:nvPr/>
        </p:nvSpPr>
        <p:spPr>
          <a:xfrm>
            <a:off x="907822" y="4640183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1117360" y="1512489"/>
            <a:ext cx="226028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76" name="직사각형 75"/>
          <p:cNvSpPr/>
          <p:nvPr/>
        </p:nvSpPr>
        <p:spPr>
          <a:xfrm>
            <a:off x="4237253" y="1288293"/>
            <a:ext cx="2272521" cy="1666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pic>
        <p:nvPicPr>
          <p:cNvPr id="78" name="그림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167" y="1304749"/>
            <a:ext cx="186718" cy="154639"/>
          </a:xfrm>
          <a:prstGeom prst="rect">
            <a:avLst/>
          </a:prstGeom>
        </p:spPr>
      </p:pic>
      <p:pic>
        <p:nvPicPr>
          <p:cNvPr id="79" name="그림 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463" y="1307846"/>
            <a:ext cx="186718" cy="154639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042262" y="1997772"/>
            <a:ext cx="392767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dirty="0">
                <a:solidFill>
                  <a:srgbClr val="FF0000"/>
                </a:solidFill>
              </a:rPr>
              <a:t>데이터 기준 </a:t>
            </a:r>
            <a:r>
              <a:rPr lang="en-US" altLang="ko-KR" sz="600" dirty="0">
                <a:solidFill>
                  <a:srgbClr val="FF0000"/>
                </a:solidFill>
              </a:rPr>
              <a:t>: </a:t>
            </a:r>
            <a:r>
              <a:rPr lang="ko-KR" altLang="en-US" sz="600" dirty="0">
                <a:solidFill>
                  <a:srgbClr val="FF0000"/>
                </a:solidFill>
              </a:rPr>
              <a:t>집계</a:t>
            </a:r>
            <a:r>
              <a:rPr lang="en-US" altLang="ko-KR" sz="600" dirty="0">
                <a:solidFill>
                  <a:srgbClr val="FF0000"/>
                </a:solidFill>
              </a:rPr>
              <a:t>, </a:t>
            </a:r>
            <a:r>
              <a:rPr lang="ko-KR" altLang="en-US" sz="600" dirty="0">
                <a:solidFill>
                  <a:srgbClr val="FF0000"/>
                </a:solidFill>
              </a:rPr>
              <a:t>카테고리 </a:t>
            </a:r>
            <a:r>
              <a:rPr lang="en-US" altLang="ko-KR" sz="600" dirty="0">
                <a:solidFill>
                  <a:srgbClr val="FF0000"/>
                </a:solidFill>
              </a:rPr>
              <a:t>&gt; </a:t>
            </a:r>
            <a:r>
              <a:rPr lang="ko-KR" altLang="en-US" sz="600" dirty="0">
                <a:solidFill>
                  <a:srgbClr val="FF0000"/>
                </a:solidFill>
              </a:rPr>
              <a:t>기타 </a:t>
            </a:r>
            <a:r>
              <a:rPr lang="en-US" altLang="ko-KR" sz="600" dirty="0">
                <a:solidFill>
                  <a:srgbClr val="FF0000"/>
                </a:solidFill>
              </a:rPr>
              <a:t>: </a:t>
            </a:r>
            <a:r>
              <a:rPr lang="ko-KR" altLang="en-US" sz="600" dirty="0">
                <a:solidFill>
                  <a:srgbClr val="FF0000"/>
                </a:solidFill>
              </a:rPr>
              <a:t>포럼</a:t>
            </a:r>
            <a:r>
              <a:rPr lang="en-US" altLang="ko-KR" sz="600" dirty="0">
                <a:solidFill>
                  <a:srgbClr val="FF0000"/>
                </a:solidFill>
              </a:rPr>
              <a:t>, </a:t>
            </a:r>
            <a:r>
              <a:rPr lang="ko-KR" altLang="en-US" sz="600" dirty="0">
                <a:solidFill>
                  <a:srgbClr val="FF0000"/>
                </a:solidFill>
              </a:rPr>
              <a:t>세시레터</a:t>
            </a:r>
            <a:r>
              <a:rPr lang="en-US" altLang="ko-KR" sz="600" dirty="0">
                <a:solidFill>
                  <a:srgbClr val="FF0000"/>
                </a:solidFill>
              </a:rPr>
              <a:t> </a:t>
            </a:r>
            <a:r>
              <a:rPr lang="ko-KR" altLang="en-US" sz="600" dirty="0">
                <a:solidFill>
                  <a:srgbClr val="FF0000"/>
                </a:solidFill>
              </a:rPr>
              <a:t>등 학습시간이 누적되는 비 </a:t>
            </a:r>
            <a:r>
              <a:rPr lang="ko-KR" altLang="en-US" sz="600" dirty="0" err="1">
                <a:solidFill>
                  <a:srgbClr val="FF0000"/>
                </a:solidFill>
              </a:rPr>
              <a:t>콘텐츠형</a:t>
            </a:r>
            <a:r>
              <a:rPr lang="ko-KR" altLang="en-US" sz="600" dirty="0">
                <a:solidFill>
                  <a:srgbClr val="FF0000"/>
                </a:solidFill>
              </a:rPr>
              <a:t> 서비스 이용 시간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376459" y="2012496"/>
            <a:ext cx="665803" cy="1301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4234099" y="1517992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84" name="직사각형 83"/>
          <p:cNvSpPr/>
          <p:nvPr/>
        </p:nvSpPr>
        <p:spPr>
          <a:xfrm>
            <a:off x="7374897" y="1510388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3434124" y="120722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6555041" y="1213305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3434123" y="175359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387082" y="2385535"/>
            <a:ext cx="665803" cy="1301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47EB47-076E-F7D1-89A3-2C3B40C7F9DF}"/>
              </a:ext>
            </a:extLst>
          </p:cNvPr>
          <p:cNvSpPr/>
          <p:nvPr/>
        </p:nvSpPr>
        <p:spPr>
          <a:xfrm>
            <a:off x="-746876" y="75846"/>
            <a:ext cx="3591148" cy="1114917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유형이 왜 필요할까</a:t>
            </a:r>
            <a:r>
              <a:rPr lang="en-US" altLang="ko-KR" sz="1200" dirty="0">
                <a:solidFill>
                  <a:schemeClr val="bg1"/>
                </a:solidFill>
              </a:rPr>
              <a:t>?</a:t>
            </a: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어차피 </a:t>
            </a:r>
            <a:r>
              <a:rPr lang="ko-KR" altLang="en-US" sz="1200" dirty="0" err="1">
                <a:solidFill>
                  <a:schemeClr val="bg1"/>
                </a:solidFill>
              </a:rPr>
              <a:t>종료수를</a:t>
            </a:r>
            <a:r>
              <a:rPr lang="ko-KR" altLang="en-US" sz="1200" dirty="0">
                <a:solidFill>
                  <a:schemeClr val="bg1"/>
                </a:solidFill>
              </a:rPr>
              <a:t> 클릭해서 조회해도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아래 </a:t>
            </a:r>
            <a:r>
              <a:rPr lang="en-US" altLang="ko-KR" sz="1200" dirty="0">
                <a:solidFill>
                  <a:schemeClr val="bg1"/>
                </a:solidFill>
              </a:rPr>
              <a:t>LIST</a:t>
            </a:r>
            <a:r>
              <a:rPr lang="ko-KR" altLang="en-US" sz="1200" dirty="0">
                <a:solidFill>
                  <a:schemeClr val="bg1"/>
                </a:solidFill>
              </a:rPr>
              <a:t>에는 구분 전체가 다 </a:t>
            </a:r>
            <a:r>
              <a:rPr lang="ko-KR" altLang="en-US" sz="1200" dirty="0" err="1">
                <a:solidFill>
                  <a:schemeClr val="bg1"/>
                </a:solidFill>
              </a:rPr>
              <a:t>나올텐데</a:t>
            </a:r>
            <a:r>
              <a:rPr lang="en-US" altLang="ko-KR" sz="1200" dirty="0">
                <a:solidFill>
                  <a:schemeClr val="bg1"/>
                </a:solidFill>
              </a:rPr>
              <a:t>..?</a:t>
            </a:r>
          </a:p>
        </p:txBody>
      </p:sp>
    </p:spTree>
    <p:extLst>
      <p:ext uri="{BB962C8B-B14F-4D97-AF65-F5344CB8AC3E}">
        <p14:creationId xmlns:p14="http://schemas.microsoft.com/office/powerpoint/2010/main" val="37049228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95" y="1309624"/>
            <a:ext cx="8463064" cy="379782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회사관리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구 법인관리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추가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회사관리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195" y="719670"/>
            <a:ext cx="3795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- </a:t>
            </a:r>
            <a:r>
              <a:rPr lang="ko-KR" altLang="en-US" sz="1200" dirty="0"/>
              <a:t>기존 </a:t>
            </a:r>
            <a:r>
              <a:rPr lang="en-US" altLang="ko-KR" sz="1200" dirty="0"/>
              <a:t>“</a:t>
            </a:r>
            <a:r>
              <a:rPr lang="ko-KR" altLang="en-US" sz="1200" dirty="0"/>
              <a:t>법인</a:t>
            </a:r>
            <a:r>
              <a:rPr lang="en-US" altLang="ko-KR" sz="1200" dirty="0"/>
              <a:t>”,”</a:t>
            </a:r>
            <a:r>
              <a:rPr lang="ko-KR" altLang="en-US" sz="1200" dirty="0"/>
              <a:t>회사</a:t>
            </a:r>
            <a:r>
              <a:rPr lang="en-US" altLang="ko-KR" sz="1200" dirty="0"/>
              <a:t>”</a:t>
            </a:r>
            <a:r>
              <a:rPr lang="ko-KR" altLang="en-US" sz="1200" dirty="0"/>
              <a:t>로 구분한 것을 </a:t>
            </a:r>
            <a:r>
              <a:rPr lang="en-US" altLang="ko-KR" sz="1200" dirty="0"/>
              <a:t>“</a:t>
            </a:r>
            <a:r>
              <a:rPr lang="ko-KR" altLang="en-US" sz="1200" dirty="0"/>
              <a:t>회사</a:t>
            </a:r>
            <a:r>
              <a:rPr lang="en-US" altLang="ko-KR" sz="1200" dirty="0"/>
              <a:t>＂</a:t>
            </a:r>
            <a:r>
              <a:rPr lang="ko-KR" altLang="en-US" sz="1200" dirty="0"/>
              <a:t>로 통일함</a:t>
            </a:r>
            <a:endParaRPr lang="en-US" altLang="ko-KR" sz="1200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기존 </a:t>
            </a:r>
            <a:r>
              <a:rPr lang="en-US" altLang="ko-KR" sz="1200" dirty="0"/>
              <a:t>“</a:t>
            </a:r>
            <a:r>
              <a:rPr lang="ko-KR" altLang="en-US" sz="1200" dirty="0"/>
              <a:t>법인</a:t>
            </a:r>
            <a:r>
              <a:rPr lang="en-US" altLang="ko-KR" sz="1200" dirty="0"/>
              <a:t>“ </a:t>
            </a:r>
            <a:r>
              <a:rPr lang="ko-KR" altLang="en-US" sz="1200" dirty="0"/>
              <a:t>데이터를 </a:t>
            </a:r>
            <a:r>
              <a:rPr lang="en-US" altLang="ko-KR" sz="1200" dirty="0"/>
              <a:t>“</a:t>
            </a:r>
            <a:r>
              <a:rPr lang="ko-KR" altLang="en-US" sz="1200" dirty="0"/>
              <a:t>회사</a:t>
            </a:r>
            <a:r>
              <a:rPr lang="en-US" altLang="ko-KR" sz="1200" dirty="0"/>
              <a:t>”</a:t>
            </a:r>
            <a:r>
              <a:rPr lang="ko-KR" altLang="en-US" sz="1200" dirty="0"/>
              <a:t>로 변경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977959" y="1511004"/>
            <a:ext cx="680936" cy="188093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429968" y="1711485"/>
            <a:ext cx="680936" cy="188093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413757" y="2113346"/>
            <a:ext cx="1076524" cy="188093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105715" y="3880753"/>
            <a:ext cx="680936" cy="188093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53340" y="591381"/>
            <a:ext cx="2186817" cy="312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 err="1">
                <a:solidFill>
                  <a:srgbClr val="00B0F0"/>
                </a:solidFill>
              </a:rPr>
              <a:t>네이밍</a:t>
            </a:r>
            <a:r>
              <a:rPr lang="ko-KR" altLang="en-US" sz="1000" b="1" dirty="0">
                <a:solidFill>
                  <a:srgbClr val="00B0F0"/>
                </a:solidFill>
              </a:rPr>
              <a:t> 변경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00B0F0"/>
                </a:solidFill>
              </a:rPr>
              <a:t>법인 </a:t>
            </a:r>
            <a:r>
              <a:rPr lang="en-US" altLang="ko-KR" sz="1000" b="1" dirty="0">
                <a:solidFill>
                  <a:srgbClr val="00B0F0"/>
                </a:solidFill>
              </a:rPr>
              <a:t>&gt; </a:t>
            </a:r>
            <a:r>
              <a:rPr lang="ko-KR" altLang="en-US" sz="1000" b="1" dirty="0">
                <a:solidFill>
                  <a:srgbClr val="00B0F0"/>
                </a:solidFill>
              </a:rPr>
              <a:t>회사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신규 </a:t>
            </a:r>
            <a:r>
              <a:rPr lang="en-US" altLang="ko-KR" sz="1000" b="1" dirty="0">
                <a:solidFill>
                  <a:srgbClr val="00B0F0"/>
                </a:solidFill>
              </a:rPr>
              <a:t>[</a:t>
            </a:r>
            <a:r>
              <a:rPr lang="ko-KR" altLang="en-US" sz="1000" b="1" dirty="0">
                <a:solidFill>
                  <a:srgbClr val="00B0F0"/>
                </a:solidFill>
              </a:rPr>
              <a:t>회사</a:t>
            </a:r>
            <a:r>
              <a:rPr lang="en-US" altLang="ko-KR" sz="1000" b="1" dirty="0">
                <a:solidFill>
                  <a:srgbClr val="00B0F0"/>
                </a:solidFill>
              </a:rPr>
              <a:t>] </a:t>
            </a:r>
            <a:r>
              <a:rPr lang="ko-KR" altLang="en-US" sz="1000" b="1" dirty="0">
                <a:solidFill>
                  <a:srgbClr val="00B0F0"/>
                </a:solidFill>
              </a:rPr>
              <a:t>등록 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00B0F0"/>
                </a:solidFill>
              </a:rPr>
              <a:t>회사 정보는 검색</a:t>
            </a:r>
            <a:r>
              <a:rPr lang="en-US" altLang="ko-KR" sz="1000" b="1" dirty="0">
                <a:solidFill>
                  <a:srgbClr val="00B0F0"/>
                </a:solidFill>
              </a:rPr>
              <a:t>, </a:t>
            </a:r>
            <a:r>
              <a:rPr lang="ko-KR" altLang="en-US" sz="1000" b="1" dirty="0">
                <a:solidFill>
                  <a:srgbClr val="00B0F0"/>
                </a:solidFill>
              </a:rPr>
              <a:t>선택하여 인풋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회사 정보 상세 팝업</a:t>
            </a:r>
            <a:r>
              <a:rPr lang="en-US" altLang="ko-KR" sz="1000" b="1" dirty="0">
                <a:solidFill>
                  <a:srgbClr val="00B0F0"/>
                </a:solidFill>
              </a:rPr>
              <a:t>=MIS </a:t>
            </a:r>
            <a:r>
              <a:rPr lang="ko-KR" altLang="en-US" sz="1000" b="1" dirty="0">
                <a:solidFill>
                  <a:srgbClr val="00B0F0"/>
                </a:solidFill>
              </a:rPr>
              <a:t>연동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/>
              <a:t>MIS “</a:t>
            </a:r>
            <a:r>
              <a:rPr lang="ko-KR" altLang="en-US" sz="800" dirty="0"/>
              <a:t>매출처</a:t>
            </a:r>
            <a:r>
              <a:rPr lang="en-US" altLang="ko-KR" sz="800" dirty="0"/>
              <a:t>“ </a:t>
            </a:r>
            <a:r>
              <a:rPr lang="ko-KR" altLang="en-US" sz="800" dirty="0"/>
              <a:t>정보를 연계하여</a:t>
            </a:r>
            <a:endParaRPr lang="en-US" altLang="ko-KR" sz="800" dirty="0"/>
          </a:p>
          <a:p>
            <a:r>
              <a:rPr lang="ko-KR" altLang="en-US" sz="800" dirty="0"/>
              <a:t>넣을 수 있도록 함</a:t>
            </a:r>
            <a:endParaRPr lang="en-US" altLang="ko-KR" sz="800" dirty="0"/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직접 정보를 수정하여 저장할 수 있음</a:t>
            </a:r>
            <a:endParaRPr lang="en-US" altLang="ko-KR" sz="800" dirty="0"/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MIS </a:t>
            </a:r>
            <a:r>
              <a:rPr lang="ko-KR" altLang="en-US" sz="1000" b="1" dirty="0">
                <a:solidFill>
                  <a:srgbClr val="00B0F0"/>
                </a:solidFill>
              </a:rPr>
              <a:t>매출처 정보 없는 회사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en-US" altLang="ko-KR" sz="800" dirty="0"/>
              <a:t>MIS </a:t>
            </a:r>
            <a:r>
              <a:rPr lang="ko-KR" altLang="en-US" sz="800" dirty="0"/>
              <a:t>정보에 없는 회사인 경우</a:t>
            </a:r>
            <a:endParaRPr lang="en-US" altLang="ko-KR" sz="800" dirty="0"/>
          </a:p>
          <a:p>
            <a:r>
              <a:rPr lang="ko-KR" altLang="en-US" sz="800" dirty="0"/>
              <a:t>회사명  직접 입력할 수 있도록 함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1000" b="1" dirty="0">
              <a:solidFill>
                <a:srgbClr val="00B0F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859080" y="1395103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rcRect l="19042" t="84279" r="60498" b="12135"/>
          <a:stretch/>
        </p:blipFill>
        <p:spPr>
          <a:xfrm>
            <a:off x="1970996" y="3932180"/>
            <a:ext cx="1731523" cy="136188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1994882" y="3781035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679" y="4108521"/>
            <a:ext cx="4455921" cy="2113993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 rot="20547490">
            <a:off x="4999711" y="4841630"/>
            <a:ext cx="2126053" cy="2791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SAMPLE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7" name="꺾인 연결선 16"/>
          <p:cNvCxnSpPr>
            <a:stCxn id="12" idx="3"/>
            <a:endCxn id="14" idx="1"/>
          </p:cNvCxnSpPr>
          <p:nvPr/>
        </p:nvCxnSpPr>
        <p:spPr>
          <a:xfrm>
            <a:off x="3702519" y="4000274"/>
            <a:ext cx="325160" cy="1165244"/>
          </a:xfrm>
          <a:prstGeom prst="bentConnector3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3772160" y="411427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7004050" y="5998285"/>
            <a:ext cx="685313" cy="16121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직접 입력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818173" y="600071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11293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72485"/>
          <a:stretch/>
        </p:blipFill>
        <p:spPr>
          <a:xfrm>
            <a:off x="350195" y="1309625"/>
            <a:ext cx="8463064" cy="1044956"/>
          </a:xfrm>
          <a:prstGeom prst="rect">
            <a:avLst/>
          </a:prstGeom>
        </p:spPr>
      </p:pic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315221"/>
              </p:ext>
            </p:extLst>
          </p:nvPr>
        </p:nvGraphicFramePr>
        <p:xfrm>
          <a:off x="767445" y="3071088"/>
          <a:ext cx="833768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8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5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1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8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사업자등록번호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종목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등록일자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고객사</a:t>
                      </a:r>
                      <a:r>
                        <a:rPr lang="ko-KR" altLang="en-US" sz="800" dirty="0"/>
                        <a:t> 담당자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6801555" y="3095919"/>
            <a:ext cx="226028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113616" y="3307869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6801554" y="3307869"/>
            <a:ext cx="226028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1483908" y="3307869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483909" y="3095919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4113617" y="3083373"/>
            <a:ext cx="1765172" cy="17352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1442333" y="1681353"/>
            <a:ext cx="7431288" cy="353187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회사관리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구 법인관리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추가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회사관리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53340" y="591381"/>
            <a:ext cx="17924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00B0F0"/>
                </a:solidFill>
              </a:rPr>
              <a:t>검색 옵션 변경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00B0F0"/>
                </a:solidFill>
              </a:rPr>
              <a:t>업종 </a:t>
            </a:r>
            <a:r>
              <a:rPr lang="en-US" altLang="ko-KR" sz="1000" b="1" dirty="0">
                <a:solidFill>
                  <a:srgbClr val="00B0F0"/>
                </a:solidFill>
              </a:rPr>
              <a:t>-&gt; </a:t>
            </a:r>
            <a:r>
              <a:rPr lang="ko-KR" altLang="en-US" sz="1000" b="1" dirty="0">
                <a:solidFill>
                  <a:srgbClr val="00B0F0"/>
                </a:solidFill>
              </a:rPr>
              <a:t>종목으로 명칭 변경</a:t>
            </a:r>
            <a:endParaRPr lang="en-US" altLang="ko-KR" sz="1000" b="1" dirty="0">
              <a:solidFill>
                <a:srgbClr val="00B0F0"/>
              </a:solidFill>
            </a:endParaRPr>
          </a:p>
        </p:txBody>
      </p:sp>
      <p:cxnSp>
        <p:nvCxnSpPr>
          <p:cNvPr id="38" name="직선 화살표 연결선 37"/>
          <p:cNvCxnSpPr>
            <a:stCxn id="33" idx="2"/>
          </p:cNvCxnSpPr>
          <p:nvPr/>
        </p:nvCxnSpPr>
        <p:spPr>
          <a:xfrm>
            <a:off x="5157977" y="2034540"/>
            <a:ext cx="10923" cy="873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6156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회사관리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구 법인관리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추가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회사관리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3340" y="591381"/>
            <a:ext cx="2021707" cy="5570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00B0F0"/>
                </a:solidFill>
              </a:rPr>
              <a:t>신규 회사 정보 입력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[1] MIS </a:t>
            </a:r>
            <a:r>
              <a:rPr lang="ko-KR" altLang="en-US" sz="1000" b="1" dirty="0">
                <a:solidFill>
                  <a:srgbClr val="00B0F0"/>
                </a:solidFill>
              </a:rPr>
              <a:t>정보 연동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대표자</a:t>
            </a:r>
            <a:r>
              <a:rPr lang="en-US" altLang="ko-KR" sz="800" dirty="0"/>
              <a:t>, </a:t>
            </a:r>
            <a:r>
              <a:rPr lang="ko-KR" altLang="en-US" sz="800" dirty="0"/>
              <a:t>사업자등록번호</a:t>
            </a:r>
            <a:r>
              <a:rPr lang="en-US" altLang="ko-KR" sz="800" dirty="0"/>
              <a:t>, </a:t>
            </a:r>
            <a:r>
              <a:rPr lang="ko-KR" altLang="en-US" sz="800" dirty="0"/>
              <a:t>주소</a:t>
            </a:r>
            <a:r>
              <a:rPr lang="en-US" altLang="ko-KR" sz="800" dirty="0"/>
              <a:t>, </a:t>
            </a:r>
            <a:r>
              <a:rPr lang="ko-KR" altLang="en-US" sz="800" dirty="0"/>
              <a:t>업태</a:t>
            </a:r>
            <a:r>
              <a:rPr lang="en-US" altLang="ko-KR" sz="800" dirty="0"/>
              <a:t>,</a:t>
            </a:r>
          </a:p>
          <a:p>
            <a:r>
              <a:rPr lang="ko-KR" altLang="en-US" sz="800" dirty="0"/>
              <a:t>종복</a:t>
            </a:r>
            <a:r>
              <a:rPr lang="en-US" altLang="ko-KR" sz="800" dirty="0"/>
              <a:t>, </a:t>
            </a:r>
            <a:r>
              <a:rPr lang="ko-KR" altLang="en-US" sz="800" dirty="0"/>
              <a:t>업종</a:t>
            </a:r>
            <a:r>
              <a:rPr lang="en-US" altLang="ko-KR" sz="800" dirty="0"/>
              <a:t>, </a:t>
            </a:r>
            <a:r>
              <a:rPr lang="ko-KR" altLang="en-US" sz="800" dirty="0"/>
              <a:t>전화번호</a:t>
            </a:r>
            <a:r>
              <a:rPr lang="en-US" altLang="ko-KR" sz="800" dirty="0"/>
              <a:t>, </a:t>
            </a:r>
            <a:r>
              <a:rPr lang="ko-KR" altLang="en-US" sz="800" dirty="0"/>
              <a:t>팩스</a:t>
            </a:r>
            <a:r>
              <a:rPr lang="en-US" altLang="ko-KR" sz="800" dirty="0"/>
              <a:t>, </a:t>
            </a:r>
            <a:r>
              <a:rPr lang="ko-KR" altLang="en-US" sz="800" dirty="0"/>
              <a:t>대내</a:t>
            </a:r>
            <a:r>
              <a:rPr lang="en-US" altLang="ko-KR" sz="800" dirty="0"/>
              <a:t>/</a:t>
            </a:r>
            <a:r>
              <a:rPr lang="ko-KR" altLang="en-US" sz="800" dirty="0"/>
              <a:t>외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자동 인풋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수정 가능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※ </a:t>
            </a:r>
            <a:r>
              <a:rPr lang="ko-KR" altLang="en-US" sz="800" dirty="0"/>
              <a:t>단</a:t>
            </a:r>
            <a:r>
              <a:rPr lang="en-US" altLang="ko-KR" sz="800" dirty="0"/>
              <a:t>, MIS</a:t>
            </a:r>
            <a:r>
              <a:rPr lang="ko-KR" altLang="en-US" sz="800" dirty="0"/>
              <a:t>에 정보가 없어서 </a:t>
            </a:r>
            <a:r>
              <a:rPr lang="ko-KR" altLang="en-US" sz="800" dirty="0" err="1"/>
              <a:t>매핑</a:t>
            </a:r>
            <a:r>
              <a:rPr lang="ko-KR" altLang="en-US" sz="800" dirty="0"/>
              <a:t> 못하고</a:t>
            </a:r>
            <a:endParaRPr lang="en-US" altLang="ko-KR" sz="800" dirty="0"/>
          </a:p>
          <a:p>
            <a:r>
              <a:rPr lang="ko-KR" altLang="en-US" sz="800" dirty="0"/>
              <a:t>직업 입력을 선택하면</a:t>
            </a:r>
            <a:r>
              <a:rPr lang="en-US" altLang="ko-KR" sz="800" dirty="0"/>
              <a:t>,</a:t>
            </a:r>
          </a:p>
          <a:p>
            <a:r>
              <a:rPr lang="ko-KR" altLang="en-US" sz="800" dirty="0"/>
              <a:t>모든 필드 직접 입력할 수 있도록</a:t>
            </a:r>
            <a:endParaRPr lang="en-US" altLang="ko-KR" sz="800" dirty="0"/>
          </a:p>
          <a:p>
            <a:r>
              <a:rPr lang="ko-KR" altLang="en-US" sz="800" dirty="0"/>
              <a:t>활성화 됨</a:t>
            </a:r>
            <a:endParaRPr lang="en-US" altLang="ko-KR" sz="800" dirty="0"/>
          </a:p>
          <a:p>
            <a:r>
              <a:rPr lang="en-US" altLang="ko-KR" sz="1200" b="1" dirty="0">
                <a:solidFill>
                  <a:srgbClr val="FF0000"/>
                </a:solidFill>
              </a:rPr>
              <a:t>-&gt; </a:t>
            </a:r>
            <a:r>
              <a:rPr lang="ko-KR" altLang="en-US" sz="1200" b="1" dirty="0">
                <a:solidFill>
                  <a:srgbClr val="FF0000"/>
                </a:solidFill>
              </a:rPr>
              <a:t>기본적으로 직접 </a:t>
            </a:r>
            <a:br>
              <a:rPr lang="en-US" altLang="ko-KR" sz="1200" b="1" dirty="0">
                <a:solidFill>
                  <a:srgbClr val="FF0000"/>
                </a:solidFill>
              </a:rPr>
            </a:br>
            <a:r>
              <a:rPr lang="ko-KR" altLang="en-US" sz="1200" b="1" dirty="0">
                <a:solidFill>
                  <a:srgbClr val="FF0000"/>
                </a:solidFill>
              </a:rPr>
              <a:t>입력할 수 있는 인풋 박스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en-US" altLang="ko-KR" sz="1200" b="1" dirty="0">
                <a:solidFill>
                  <a:srgbClr val="FF0000"/>
                </a:solidFill>
              </a:rPr>
              <a:t> MIS </a:t>
            </a:r>
            <a:r>
              <a:rPr lang="ko-KR" altLang="en-US" sz="1200" b="1" dirty="0">
                <a:solidFill>
                  <a:srgbClr val="FF0000"/>
                </a:solidFill>
              </a:rPr>
              <a:t>에서 연동된 데이터 </a:t>
            </a:r>
            <a:br>
              <a:rPr lang="en-US" altLang="ko-KR" sz="1200" b="1" dirty="0">
                <a:solidFill>
                  <a:srgbClr val="FF0000"/>
                </a:solidFill>
              </a:rPr>
            </a:br>
            <a:r>
              <a:rPr lang="ko-KR" altLang="en-US" sz="1200" b="1" dirty="0">
                <a:solidFill>
                  <a:srgbClr val="FF0000"/>
                </a:solidFill>
              </a:rPr>
              <a:t>자동 채워짐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-&gt; </a:t>
            </a:r>
            <a:r>
              <a:rPr lang="ko-KR" altLang="en-US" sz="800" dirty="0"/>
              <a:t>업종 삭제 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영업대표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기본 </a:t>
            </a:r>
            <a:r>
              <a:rPr lang="ko-KR" altLang="en-US" sz="800" dirty="0" err="1"/>
              <a:t>세팅</a:t>
            </a:r>
            <a:r>
              <a:rPr lang="ko-KR" altLang="en-US" sz="800" dirty="0"/>
              <a:t> </a:t>
            </a:r>
            <a:r>
              <a:rPr lang="en-US" altLang="ko-KR" sz="800" dirty="0"/>
              <a:t>: CRM </a:t>
            </a:r>
            <a:r>
              <a:rPr lang="ko-KR" altLang="en-US" sz="800" dirty="0"/>
              <a:t>로그인 계정자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추가로 검색하여 선택</a:t>
            </a:r>
            <a:r>
              <a:rPr lang="en-US" altLang="ko-KR" sz="800" dirty="0"/>
              <a:t>, </a:t>
            </a:r>
            <a:r>
              <a:rPr lang="ko-KR" altLang="en-US" sz="800" dirty="0"/>
              <a:t>입력할 수 있음</a:t>
            </a:r>
            <a:endParaRPr lang="en-US" altLang="ko-KR" sz="800" dirty="0"/>
          </a:p>
          <a:p>
            <a:endParaRPr lang="en-US" altLang="ko-KR" sz="800" dirty="0"/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사용여부 </a:t>
            </a:r>
            <a:r>
              <a:rPr lang="en-US" altLang="ko-KR" sz="1000" b="1" dirty="0">
                <a:solidFill>
                  <a:srgbClr val="00B0F0"/>
                </a:solidFill>
              </a:rPr>
              <a:t>- </a:t>
            </a:r>
            <a:r>
              <a:rPr lang="ko-KR" altLang="en-US" sz="1000" b="1" dirty="0">
                <a:solidFill>
                  <a:srgbClr val="00B0F0"/>
                </a:solidFill>
              </a:rPr>
              <a:t>연차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pPr lvl="0"/>
            <a:r>
              <a:rPr lang="ko-KR" altLang="en-US" sz="800" dirty="0"/>
              <a:t>기존 프로세스 유지</a:t>
            </a:r>
            <a:endParaRPr lang="en-US" altLang="ko-KR" sz="800" dirty="0"/>
          </a:p>
          <a:p>
            <a:pPr lvl="0"/>
            <a:endParaRPr lang="en-US" altLang="ko-KR" sz="800" b="1" dirty="0">
              <a:solidFill>
                <a:srgbClr val="00B0F0"/>
              </a:solidFill>
            </a:endParaRPr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 err="1">
                <a:solidFill>
                  <a:srgbClr val="00B0F0"/>
                </a:solidFill>
              </a:rPr>
              <a:t>고객사</a:t>
            </a:r>
            <a:r>
              <a:rPr lang="ko-KR" altLang="en-US" sz="1000" b="1" dirty="0">
                <a:solidFill>
                  <a:srgbClr val="00B0F0"/>
                </a:solidFill>
              </a:rPr>
              <a:t> 담당자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해당 회사</a:t>
            </a:r>
            <a:r>
              <a:rPr lang="en-US" altLang="ko-KR" sz="800" dirty="0"/>
              <a:t>(</a:t>
            </a:r>
            <a:r>
              <a:rPr lang="ko-KR" altLang="en-US" sz="800" dirty="0" err="1"/>
              <a:t>고객사</a:t>
            </a:r>
            <a:r>
              <a:rPr lang="en-US" altLang="ko-KR" sz="800" dirty="0"/>
              <a:t>)</a:t>
            </a:r>
            <a:r>
              <a:rPr lang="ko-KR" altLang="en-US" sz="800" dirty="0"/>
              <a:t>의 담당자 정보 입력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복수로 등록할 수 있음 </a:t>
            </a:r>
            <a:r>
              <a:rPr lang="en-US" altLang="ko-KR" sz="800" dirty="0"/>
              <a:t>(+ </a:t>
            </a:r>
            <a:r>
              <a:rPr lang="ko-KR" altLang="en-US" sz="800" dirty="0"/>
              <a:t>담당자 추가</a:t>
            </a:r>
            <a:r>
              <a:rPr lang="en-US" altLang="ko-KR" sz="800" dirty="0"/>
              <a:t>)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88" y="713106"/>
            <a:ext cx="3315574" cy="1298108"/>
          </a:xfrm>
          <a:prstGeom prst="rect">
            <a:avLst/>
          </a:prstGeom>
        </p:spPr>
      </p:pic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528190"/>
              </p:ext>
            </p:extLst>
          </p:nvPr>
        </p:nvGraphicFramePr>
        <p:xfrm>
          <a:off x="790305" y="2392203"/>
          <a:ext cx="8337685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8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5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5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8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대표자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사업자등록번호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주소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업태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종목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대내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전화번호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팩스번호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● 사용    ○ </a:t>
                      </a:r>
                      <a:r>
                        <a:rPr lang="ko-KR" altLang="en-US" sz="800" dirty="0" err="1"/>
                        <a:t>사용안함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연차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직사각형 36"/>
          <p:cNvSpPr/>
          <p:nvPr/>
        </p:nvSpPr>
        <p:spPr>
          <a:xfrm>
            <a:off x="1506766" y="2415550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6332" y="2167628"/>
            <a:ext cx="12202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[</a:t>
            </a:r>
            <a:r>
              <a:rPr lang="ko-KR" altLang="en-US" sz="1000" b="1" dirty="0" err="1"/>
              <a:t>고객사</a:t>
            </a:r>
            <a:r>
              <a:rPr lang="ko-KR" altLang="en-US" sz="1000" b="1" dirty="0"/>
              <a:t> 기본정보</a:t>
            </a:r>
            <a:r>
              <a:rPr lang="en-US" altLang="ko-KR" sz="1000" b="1" dirty="0"/>
              <a:t>]</a:t>
            </a:r>
            <a:endParaRPr lang="ko-KR" altLang="en-US" sz="1000" b="1" dirty="0"/>
          </a:p>
        </p:txBody>
      </p:sp>
      <p:sp>
        <p:nvSpPr>
          <p:cNvPr id="56" name="직사각형 55"/>
          <p:cNvSpPr/>
          <p:nvPr/>
        </p:nvSpPr>
        <p:spPr>
          <a:xfrm>
            <a:off x="1506766" y="3271071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홍길동                                🔍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6332" y="3631582"/>
            <a:ext cx="13933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[</a:t>
            </a:r>
            <a:r>
              <a:rPr lang="ko-KR" altLang="en-US" sz="1000" b="1" dirty="0" err="1"/>
              <a:t>고객사</a:t>
            </a:r>
            <a:r>
              <a:rPr lang="ko-KR" altLang="en-US" sz="1000" b="1" dirty="0"/>
              <a:t> 담당자 정보</a:t>
            </a:r>
            <a:r>
              <a:rPr lang="en-US" altLang="ko-KR" sz="1000" b="1" dirty="0"/>
              <a:t>]</a:t>
            </a:r>
            <a:endParaRPr lang="ko-KR" altLang="en-US" sz="1000" b="1" dirty="0"/>
          </a:p>
        </p:txBody>
      </p:sp>
      <p:graphicFrame>
        <p:nvGraphicFramePr>
          <p:cNvPr id="58" name="표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629318"/>
              </p:ext>
            </p:extLst>
          </p:nvPr>
        </p:nvGraphicFramePr>
        <p:xfrm>
          <a:off x="790304" y="3874654"/>
          <a:ext cx="833768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8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5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5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8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직급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부서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연락처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이메일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휴대폰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9" name="직사각형 58"/>
          <p:cNvSpPr/>
          <p:nvPr/>
        </p:nvSpPr>
        <p:spPr>
          <a:xfrm>
            <a:off x="2089662" y="3674086"/>
            <a:ext cx="796180" cy="1120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+ 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담당자 추가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6332" y="4473953"/>
            <a:ext cx="15215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[</a:t>
            </a:r>
            <a:r>
              <a:rPr lang="ko-KR" altLang="en-US" sz="1000" b="1" dirty="0" err="1"/>
              <a:t>고객사</a:t>
            </a:r>
            <a:r>
              <a:rPr lang="ko-KR" altLang="en-US" sz="1000" b="1" dirty="0"/>
              <a:t> 담당임원 정보</a:t>
            </a:r>
            <a:r>
              <a:rPr lang="en-US" altLang="ko-KR" sz="1000" b="1" dirty="0"/>
              <a:t>]</a:t>
            </a:r>
            <a:endParaRPr lang="ko-KR" altLang="en-US" sz="1000" b="1" dirty="0"/>
          </a:p>
        </p:txBody>
      </p:sp>
      <p:graphicFrame>
        <p:nvGraphicFramePr>
          <p:cNvPr id="61" name="표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784159"/>
              </p:ext>
            </p:extLst>
          </p:nvPr>
        </p:nvGraphicFramePr>
        <p:xfrm>
          <a:off x="790304" y="4717025"/>
          <a:ext cx="833768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8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5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5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8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직급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부서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연락처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이메일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휴대폰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696332" y="5316324"/>
            <a:ext cx="2079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[</a:t>
            </a:r>
            <a:r>
              <a:rPr lang="ko-KR" altLang="en-US" sz="1000" b="1" dirty="0" err="1"/>
              <a:t>고객사</a:t>
            </a:r>
            <a:r>
              <a:rPr lang="ko-KR" altLang="en-US" sz="1000" b="1" dirty="0"/>
              <a:t> 세금계산서 담당자 정보</a:t>
            </a:r>
            <a:r>
              <a:rPr lang="en-US" altLang="ko-KR" sz="1000" b="1" dirty="0"/>
              <a:t>]</a:t>
            </a:r>
            <a:endParaRPr lang="ko-KR" altLang="en-US" sz="1000" b="1" dirty="0"/>
          </a:p>
        </p:txBody>
      </p:sp>
      <p:graphicFrame>
        <p:nvGraphicFramePr>
          <p:cNvPr id="63" name="표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620027"/>
              </p:ext>
            </p:extLst>
          </p:nvPr>
        </p:nvGraphicFramePr>
        <p:xfrm>
          <a:off x="790304" y="5559396"/>
          <a:ext cx="8337685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8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5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5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8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연락처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이메일</a:t>
                      </a:r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8" name="꺾인 연결선 67"/>
          <p:cNvCxnSpPr>
            <a:stCxn id="37" idx="0"/>
          </p:cNvCxnSpPr>
          <p:nvPr/>
        </p:nvCxnSpPr>
        <p:spPr>
          <a:xfrm rot="5400000" flipH="1" flipV="1">
            <a:off x="3135069" y="1562221"/>
            <a:ext cx="107612" cy="1599047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721945" y="327107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3308627" y="326456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565450" y="3721907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506765" y="2619035"/>
            <a:ext cx="7528283" cy="17257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506765" y="2849494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506765" y="3047029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4122043" y="2849494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122043" y="3047029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6823089" y="2849494"/>
            <a:ext cx="221196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823088" y="3271070"/>
            <a:ext cx="221196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132990" y="2413503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4004349" y="230520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6823087" y="2420812"/>
            <a:ext cx="221196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506763" y="3910826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506763" y="4108361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122041" y="3910826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122041" y="4108361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6823087" y="3910826"/>
            <a:ext cx="221196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823087" y="4108361"/>
            <a:ext cx="221196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506763" y="4750489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506763" y="4948024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122041" y="4750489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122041" y="4948024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6823087" y="4750489"/>
            <a:ext cx="221196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6823087" y="4948024"/>
            <a:ext cx="221196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506763" y="5575221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122041" y="5575221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6823087" y="5575221"/>
            <a:ext cx="221196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1562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59" y="1629386"/>
            <a:ext cx="7022257" cy="3540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0195" y="719670"/>
            <a:ext cx="4514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/>
              <a:t>기존 </a:t>
            </a:r>
            <a:r>
              <a:rPr lang="en-US" altLang="ko-KR" sz="1200" dirty="0"/>
              <a:t>“</a:t>
            </a:r>
            <a:r>
              <a:rPr lang="ko-KR" altLang="en-US" sz="1200" dirty="0"/>
              <a:t>법인담당자</a:t>
            </a:r>
            <a:r>
              <a:rPr lang="en-US" altLang="ko-KR" sz="1200" dirty="0"/>
              <a:t>”</a:t>
            </a:r>
            <a:r>
              <a:rPr lang="ko-KR" altLang="en-US" sz="1200" dirty="0"/>
              <a:t>는 </a:t>
            </a:r>
            <a:r>
              <a:rPr lang="en-US" altLang="ko-KR" sz="1200" dirty="0"/>
              <a:t>“</a:t>
            </a:r>
            <a:r>
              <a:rPr lang="ko-KR" altLang="en-US" sz="1200" dirty="0"/>
              <a:t>영업대표</a:t>
            </a:r>
            <a:r>
              <a:rPr lang="en-US" altLang="ko-KR" sz="1200" dirty="0"/>
              <a:t>＂</a:t>
            </a:r>
            <a:r>
              <a:rPr lang="ko-KR" altLang="en-US" sz="1200" dirty="0"/>
              <a:t>로 일괄 변경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서식 내 </a:t>
            </a:r>
            <a:r>
              <a:rPr lang="ko-KR" altLang="en-US" sz="1200" dirty="0" err="1"/>
              <a:t>네이밍</a:t>
            </a:r>
            <a:r>
              <a:rPr lang="en-US" altLang="ko-KR" sz="1200" dirty="0"/>
              <a:t>(</a:t>
            </a:r>
            <a:r>
              <a:rPr lang="ko-KR" altLang="en-US" sz="1200" dirty="0"/>
              <a:t>필드 항목</a:t>
            </a:r>
            <a:r>
              <a:rPr lang="en-US" altLang="ko-KR" sz="1200" dirty="0"/>
              <a:t>, </a:t>
            </a:r>
            <a:r>
              <a:rPr lang="ko-KR" altLang="en-US" sz="1200" dirty="0"/>
              <a:t>메모 등 전체</a:t>
            </a:r>
            <a:r>
              <a:rPr lang="en-US" altLang="ko-KR" sz="1200" dirty="0"/>
              <a:t>) </a:t>
            </a:r>
            <a:r>
              <a:rPr lang="ko-KR" altLang="en-US" sz="1200" dirty="0"/>
              <a:t>모두 반영해 주세요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4" name="직사각형 3"/>
          <p:cNvSpPr/>
          <p:nvPr/>
        </p:nvSpPr>
        <p:spPr>
          <a:xfrm>
            <a:off x="4921184" y="2213949"/>
            <a:ext cx="433771" cy="188093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724719" y="1680549"/>
            <a:ext cx="433771" cy="188093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 flipH="1">
            <a:off x="1628775" y="4377690"/>
            <a:ext cx="434340" cy="977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28665" y="529780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회사번호</a:t>
            </a:r>
            <a:endParaRPr lang="ko-KR" altLang="en-US" sz="1200" dirty="0"/>
          </a:p>
        </p:txBody>
      </p:sp>
      <p:sp>
        <p:nvSpPr>
          <p:cNvPr id="9" name="직사각형 8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회사관리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구 법인관리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추가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회사관리</a:t>
            </a:r>
          </a:p>
        </p:txBody>
      </p:sp>
    </p:spTree>
    <p:extLst>
      <p:ext uri="{BB962C8B-B14F-4D97-AF65-F5344CB8AC3E}">
        <p14:creationId xmlns:p14="http://schemas.microsoft.com/office/powerpoint/2010/main" val="288167084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81481"/>
          <a:stretch/>
        </p:blipFill>
        <p:spPr>
          <a:xfrm>
            <a:off x="350195" y="1309625"/>
            <a:ext cx="8463064" cy="703325"/>
          </a:xfrm>
          <a:prstGeom prst="rect">
            <a:avLst/>
          </a:prstGeom>
        </p:spPr>
      </p:pic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408127"/>
              </p:ext>
            </p:extLst>
          </p:nvPr>
        </p:nvGraphicFramePr>
        <p:xfrm>
          <a:off x="1148445" y="1758695"/>
          <a:ext cx="833768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8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5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5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5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6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8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사업자등록번호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그룹검색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7182555" y="1783526"/>
            <a:ext cx="226028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7182554" y="1995476"/>
            <a:ext cx="226028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1864909" y="1783526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4565904" y="1777253"/>
            <a:ext cx="1765172" cy="17352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회사관리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구 법인관리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추가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회사관리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498850" y="1517650"/>
            <a:ext cx="1624384" cy="19700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고객사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담당자 관리 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174195" y="2358933"/>
            <a:ext cx="293355" cy="1459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1864909" y="2000834"/>
            <a:ext cx="1765172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617167" y="2358933"/>
            <a:ext cx="998707" cy="1459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컨택</a:t>
            </a:r>
            <a:r>
              <a:rPr lang="ko-KR" altLang="en-US" sz="800" dirty="0">
                <a:solidFill>
                  <a:schemeClr val="tx1"/>
                </a:solidFill>
              </a:rPr>
              <a:t> 채널  ▼</a:t>
            </a:r>
          </a:p>
        </p:txBody>
      </p:sp>
      <p:cxnSp>
        <p:nvCxnSpPr>
          <p:cNvPr id="6" name="직선 연결선 5"/>
          <p:cNvCxnSpPr/>
          <p:nvPr/>
        </p:nvCxnSpPr>
        <p:spPr>
          <a:xfrm flipV="1">
            <a:off x="1148445" y="2717800"/>
            <a:ext cx="8294390" cy="1905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48445" y="2775014"/>
            <a:ext cx="79544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□      회사       구분          담당자              차수            그룹           계약시작일           계약종료일        서비스시작일       서비스종료일            영업대표         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092200" y="4603750"/>
            <a:ext cx="8209780" cy="2006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하단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회사 상세정보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=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회사관리에서 등록한 정보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953340" y="591381"/>
            <a:ext cx="2462534" cy="597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solidFill>
                  <a:srgbClr val="00B0F0"/>
                </a:solidFill>
              </a:rPr>
              <a:t>고객사</a:t>
            </a:r>
            <a:r>
              <a:rPr lang="ko-KR" altLang="en-US" sz="1000" b="1" dirty="0">
                <a:solidFill>
                  <a:srgbClr val="00B0F0"/>
                </a:solidFill>
              </a:rPr>
              <a:t> 담당자 관리 메뉴 신설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>
              <a:solidFill>
                <a:srgbClr val="FF0000"/>
              </a:solidFill>
            </a:endParaRPr>
          </a:p>
          <a:p>
            <a:pPr lvl="0"/>
            <a:r>
              <a:rPr lang="ko-KR" altLang="en-US" sz="800" dirty="0">
                <a:solidFill>
                  <a:srgbClr val="FF0000"/>
                </a:solidFill>
              </a:rPr>
              <a:t>개인</a:t>
            </a:r>
            <a:r>
              <a:rPr lang="en-US" altLang="ko-KR" sz="800" dirty="0">
                <a:solidFill>
                  <a:srgbClr val="FF0000"/>
                </a:solidFill>
              </a:rPr>
              <a:t>/</a:t>
            </a:r>
            <a:r>
              <a:rPr lang="ko-KR" altLang="en-US" sz="800" dirty="0">
                <a:solidFill>
                  <a:srgbClr val="FF0000"/>
                </a:solidFill>
              </a:rPr>
              <a:t>법인고객 공통으로</a:t>
            </a:r>
            <a:endParaRPr lang="en-US" altLang="ko-KR" sz="800" dirty="0">
              <a:solidFill>
                <a:srgbClr val="FF0000"/>
              </a:solidFill>
            </a:endParaRPr>
          </a:p>
          <a:p>
            <a:pPr lvl="0"/>
            <a:r>
              <a:rPr lang="en-US" altLang="ko-KR" sz="800" dirty="0">
                <a:solidFill>
                  <a:srgbClr val="FF0000"/>
                </a:solidFill>
              </a:rPr>
              <a:t> - </a:t>
            </a:r>
            <a:r>
              <a:rPr lang="ko-KR" altLang="en-US" sz="800" dirty="0">
                <a:solidFill>
                  <a:srgbClr val="FF0000"/>
                </a:solidFill>
              </a:rPr>
              <a:t>회원 정보 </a:t>
            </a:r>
            <a:r>
              <a:rPr lang="en-US" altLang="ko-KR" sz="800" dirty="0">
                <a:solidFill>
                  <a:srgbClr val="FF0000"/>
                </a:solidFill>
              </a:rPr>
              <a:t>&gt; </a:t>
            </a:r>
            <a:r>
              <a:rPr lang="ko-KR" altLang="en-US" sz="800" dirty="0">
                <a:solidFill>
                  <a:srgbClr val="FF0000"/>
                </a:solidFill>
              </a:rPr>
              <a:t>비서</a:t>
            </a:r>
            <a:endParaRPr lang="en-US" altLang="ko-KR" sz="800" dirty="0">
              <a:solidFill>
                <a:srgbClr val="FF0000"/>
              </a:solidFill>
            </a:endParaRPr>
          </a:p>
          <a:p>
            <a:pPr lvl="0"/>
            <a:r>
              <a:rPr lang="en-US" altLang="ko-KR" sz="800" dirty="0">
                <a:solidFill>
                  <a:srgbClr val="FF0000"/>
                </a:solidFill>
              </a:rPr>
              <a:t> - </a:t>
            </a:r>
            <a:r>
              <a:rPr lang="ko-KR" altLang="en-US" sz="800" dirty="0">
                <a:solidFill>
                  <a:srgbClr val="FF0000"/>
                </a:solidFill>
              </a:rPr>
              <a:t>회사 정보 </a:t>
            </a:r>
            <a:r>
              <a:rPr lang="en-US" altLang="ko-KR" sz="800" dirty="0">
                <a:solidFill>
                  <a:srgbClr val="FF0000"/>
                </a:solidFill>
              </a:rPr>
              <a:t>&gt; </a:t>
            </a:r>
            <a:r>
              <a:rPr lang="ko-KR" altLang="en-US" sz="800" dirty="0" err="1">
                <a:solidFill>
                  <a:srgbClr val="FF0000"/>
                </a:solidFill>
              </a:rPr>
              <a:t>고객사</a:t>
            </a:r>
            <a:r>
              <a:rPr lang="ko-KR" altLang="en-US" sz="800" dirty="0">
                <a:solidFill>
                  <a:srgbClr val="FF0000"/>
                </a:solidFill>
              </a:rPr>
              <a:t> 담당자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>
                <a:solidFill>
                  <a:srgbClr val="FF0000"/>
                </a:solidFill>
              </a:rPr>
              <a:t>세금계산서 담당자</a:t>
            </a:r>
            <a:endParaRPr lang="en-US" altLang="ko-KR" sz="800" dirty="0">
              <a:solidFill>
                <a:srgbClr val="FF0000"/>
              </a:solidFill>
            </a:endParaRPr>
          </a:p>
          <a:p>
            <a:pPr lvl="0"/>
            <a:endParaRPr lang="en-US" altLang="ko-KR" sz="800" dirty="0">
              <a:solidFill>
                <a:srgbClr val="FF0000"/>
              </a:solidFill>
            </a:endParaRPr>
          </a:p>
          <a:p>
            <a:pPr lvl="0"/>
            <a:r>
              <a:rPr lang="ko-KR" altLang="en-US" sz="800" dirty="0">
                <a:solidFill>
                  <a:srgbClr val="FF0000"/>
                </a:solidFill>
              </a:rPr>
              <a:t>한번에 조회하고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 err="1">
                <a:solidFill>
                  <a:srgbClr val="FF0000"/>
                </a:solidFill>
              </a:rPr>
              <a:t>커뮤니케이션할</a:t>
            </a:r>
            <a:r>
              <a:rPr lang="ko-KR" altLang="en-US" sz="800" dirty="0">
                <a:solidFill>
                  <a:srgbClr val="FF0000"/>
                </a:solidFill>
              </a:rPr>
              <a:t>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pPr lvl="0"/>
            <a:r>
              <a:rPr lang="ko-KR" altLang="en-US" sz="800" dirty="0">
                <a:solidFill>
                  <a:srgbClr val="FF0000"/>
                </a:solidFill>
              </a:rPr>
              <a:t>있는 기능</a:t>
            </a:r>
            <a:endParaRPr lang="en-US" altLang="ko-KR" sz="800" dirty="0">
              <a:solidFill>
                <a:srgbClr val="FF000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검색옵션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en-US" altLang="ko-KR" sz="800" dirty="0"/>
              <a:t>[1-1] </a:t>
            </a:r>
            <a:r>
              <a:rPr lang="ko-KR" altLang="en-US" sz="800" dirty="0"/>
              <a:t>그룹 검색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그룹관리에서 생성한 </a:t>
            </a:r>
            <a:r>
              <a:rPr lang="ko-KR" altLang="en-US" sz="800" dirty="0" err="1"/>
              <a:t>그룹명을</a:t>
            </a:r>
            <a:r>
              <a:rPr lang="ko-KR" altLang="en-US" sz="800" dirty="0"/>
              <a:t> 검색하여</a:t>
            </a:r>
            <a:endParaRPr lang="en-US" altLang="ko-KR" sz="800" dirty="0"/>
          </a:p>
          <a:p>
            <a:r>
              <a:rPr lang="ko-KR" altLang="en-US" sz="800" dirty="0"/>
              <a:t>입력함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/>
              <a:t>해당 그룹에 등록된 복수 회사의 담당자를</a:t>
            </a:r>
            <a:endParaRPr lang="en-US" altLang="ko-KR" sz="800" dirty="0"/>
          </a:p>
          <a:p>
            <a:r>
              <a:rPr lang="ko-KR" altLang="en-US" sz="800" dirty="0"/>
              <a:t>일괄 조회함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조회 결과 리스트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회사</a:t>
            </a:r>
            <a:r>
              <a:rPr lang="en-US" altLang="ko-KR" sz="800" dirty="0"/>
              <a:t>, </a:t>
            </a:r>
            <a:r>
              <a:rPr lang="ko-KR" altLang="en-US" sz="800" dirty="0"/>
              <a:t>담당자를 클릭하면 하단에</a:t>
            </a:r>
            <a:endParaRPr lang="en-US" altLang="ko-KR" sz="800" dirty="0"/>
          </a:p>
          <a:p>
            <a:r>
              <a:rPr lang="ko-KR" altLang="en-US" sz="800" dirty="0"/>
              <a:t>해당 회사의 등록 정보가 나타남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담당자 </a:t>
            </a:r>
            <a:r>
              <a:rPr lang="ko-KR" altLang="en-US" sz="1000" b="1" dirty="0" err="1">
                <a:solidFill>
                  <a:srgbClr val="00B0F0"/>
                </a:solidFill>
              </a:rPr>
              <a:t>컨택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pPr lvl="0"/>
            <a:r>
              <a:rPr lang="ko-KR" altLang="en-US" sz="800" dirty="0"/>
              <a:t>개별 혹은 전체 선택하여</a:t>
            </a:r>
            <a:endParaRPr lang="en-US" altLang="ko-KR" sz="800" dirty="0"/>
          </a:p>
          <a:p>
            <a:pPr lvl="0"/>
            <a:r>
              <a:rPr lang="ko-KR" altLang="en-US" sz="800" b="1" dirty="0">
                <a:solidFill>
                  <a:srgbClr val="00B0F0"/>
                </a:solidFill>
              </a:rPr>
              <a:t>커뮤니케이션 진행</a:t>
            </a:r>
            <a:endParaRPr lang="en-US" altLang="ko-KR" sz="800" b="1" dirty="0">
              <a:solidFill>
                <a:srgbClr val="00B0F0"/>
              </a:solidFill>
            </a:endParaRPr>
          </a:p>
          <a:p>
            <a:pPr lvl="0"/>
            <a:endParaRPr lang="en-US" altLang="ko-KR" sz="800" b="1" dirty="0">
              <a:solidFill>
                <a:srgbClr val="00B0F0"/>
              </a:solidFill>
            </a:endParaRPr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>
                <a:solidFill>
                  <a:srgbClr val="00B0F0"/>
                </a:solidFill>
              </a:rPr>
              <a:t>구분</a:t>
            </a:r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담당자 구분</a:t>
            </a:r>
            <a:r>
              <a:rPr lang="en-US" altLang="ko-KR" sz="1000" b="1" dirty="0">
                <a:solidFill>
                  <a:srgbClr val="00B0F0"/>
                </a:solidFill>
              </a:rPr>
              <a:t>/ </a:t>
            </a:r>
            <a:r>
              <a:rPr lang="ko-KR" altLang="en-US" sz="1000" b="1" dirty="0">
                <a:solidFill>
                  <a:srgbClr val="00B0F0"/>
                </a:solidFill>
              </a:rPr>
              <a:t>선택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pPr lvl="0"/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r>
              <a:rPr lang="ko-KR" altLang="en-US" sz="800" dirty="0">
                <a:solidFill>
                  <a:srgbClr val="FF0000"/>
                </a:solidFill>
              </a:rPr>
              <a:t>전체</a:t>
            </a:r>
            <a:endParaRPr lang="en-US" altLang="ko-KR" sz="800" dirty="0">
              <a:solidFill>
                <a:srgbClr val="FF0000"/>
              </a:solidFill>
            </a:endParaRPr>
          </a:p>
          <a:p>
            <a:pPr lvl="0"/>
            <a:r>
              <a:rPr lang="ko-KR" altLang="en-US" sz="800" dirty="0" err="1">
                <a:solidFill>
                  <a:srgbClr val="FF0000"/>
                </a:solidFill>
              </a:rPr>
              <a:t>고객사</a:t>
            </a:r>
            <a:r>
              <a:rPr lang="ko-KR" altLang="en-US" sz="800" dirty="0">
                <a:solidFill>
                  <a:srgbClr val="FF0000"/>
                </a:solidFill>
              </a:rPr>
              <a:t> 담당자 </a:t>
            </a:r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회사정보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</a:p>
          <a:p>
            <a:pPr lvl="0"/>
            <a:r>
              <a:rPr lang="ko-KR" altLang="en-US" sz="800" dirty="0">
                <a:solidFill>
                  <a:srgbClr val="FF0000"/>
                </a:solidFill>
              </a:rPr>
              <a:t>세금계산서 담당자 </a:t>
            </a:r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회사정보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</a:p>
          <a:p>
            <a:pPr lvl="0"/>
            <a:r>
              <a:rPr lang="ko-KR" altLang="en-US" sz="800" dirty="0">
                <a:solidFill>
                  <a:srgbClr val="FF0000"/>
                </a:solidFill>
              </a:rPr>
              <a:t>비서 </a:t>
            </a:r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회원정보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</a:p>
          <a:p>
            <a:pPr lvl="0"/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endParaRPr lang="en-US" altLang="ko-KR" sz="800" dirty="0"/>
          </a:p>
          <a:p>
            <a:pPr lvl="0"/>
            <a:endParaRPr lang="en-US" altLang="ko-KR" sz="800" b="1" dirty="0">
              <a:solidFill>
                <a:srgbClr val="00B0F0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055506" y="164642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055506" y="1971980"/>
            <a:ext cx="233544" cy="153244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918211" y="2795735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2522935" y="237127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10" name="꺾인 연결선 9"/>
          <p:cNvCxnSpPr>
            <a:stCxn id="51" idx="1"/>
            <a:endCxn id="8" idx="1"/>
          </p:cNvCxnSpPr>
          <p:nvPr/>
        </p:nvCxnSpPr>
        <p:spPr>
          <a:xfrm rot="10800000" flipH="1" flipV="1">
            <a:off x="918210" y="2882736"/>
            <a:ext cx="173989" cy="2724314"/>
          </a:xfrm>
          <a:prstGeom prst="bentConnector3">
            <a:avLst>
              <a:gd name="adj1" fmla="val -131388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6478503" y="175456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7230294" y="1960057"/>
            <a:ext cx="2212541" cy="5852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t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전체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고객사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담당자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세금계산서 담당자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비서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573087" y="1997724"/>
            <a:ext cx="1765172" cy="17352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</p:spTree>
    <p:extLst>
      <p:ext uri="{BB962C8B-B14F-4D97-AF65-F5344CB8AC3E}">
        <p14:creationId xmlns:p14="http://schemas.microsoft.com/office/powerpoint/2010/main" val="290510362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586465"/>
              </p:ext>
            </p:extLst>
          </p:nvPr>
        </p:nvGraphicFramePr>
        <p:xfrm>
          <a:off x="526291" y="1821946"/>
          <a:ext cx="8953983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7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1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61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61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61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61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61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61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61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61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461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4617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4617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평균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유료회원수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00,000</a:t>
                      </a:r>
                      <a:endParaRPr lang="ko-KR" altLang="en-US" sz="800" u="sng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접속자수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접속률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동영상시청자수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시청률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전체 조회수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/>
                        <a:t>(1</a:t>
                      </a:r>
                      <a:r>
                        <a:rPr lang="ko-KR" altLang="en-US" sz="800" baseline="0" dirty="0"/>
                        <a:t>인당</a:t>
                      </a:r>
                      <a:r>
                        <a:rPr lang="en-US" altLang="ko-KR" sz="800" baseline="0" dirty="0"/>
                        <a:t>)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aseline="0" dirty="0"/>
                        <a:t>전체 이용시간</a:t>
                      </a:r>
                      <a:r>
                        <a:rPr lang="en-US" altLang="ko-KR" sz="800" baseline="0" dirty="0"/>
                        <a:t>(</a:t>
                      </a:r>
                      <a:r>
                        <a:rPr lang="ko-KR" altLang="en-US" sz="800" baseline="0" dirty="0"/>
                        <a:t>분</a:t>
                      </a:r>
                      <a:r>
                        <a:rPr lang="en-US" altLang="ko-KR" sz="800" baseline="0" dirty="0"/>
                        <a:t>)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/>
                        <a:t>(1</a:t>
                      </a:r>
                      <a:r>
                        <a:rPr lang="ko-KR" altLang="en-US" sz="800" baseline="0" dirty="0"/>
                        <a:t>인당</a:t>
                      </a:r>
                      <a:r>
                        <a:rPr lang="en-US" altLang="ko-KR" sz="800" baseline="0" dirty="0"/>
                        <a:t>)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573120" y="1403330"/>
            <a:ext cx="518260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YYYY   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121120" y="1403329"/>
            <a:ext cx="293355" cy="125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769" y="660265"/>
            <a:ext cx="1327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현황 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이용현황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8647212" y="1382167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이용현황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CRM_06_001-011, 021-022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2795" y="660265"/>
            <a:ext cx="2425664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&lt;</a:t>
            </a:r>
            <a:r>
              <a:rPr lang="ko-KR" altLang="en-US" sz="1000" b="1" dirty="0">
                <a:solidFill>
                  <a:srgbClr val="00B0F0"/>
                </a:solidFill>
              </a:rPr>
              <a:t>데이터 기준</a:t>
            </a:r>
            <a:r>
              <a:rPr lang="en-US" altLang="ko-KR" sz="1000" b="1" dirty="0">
                <a:solidFill>
                  <a:srgbClr val="00B0F0"/>
                </a:solidFill>
              </a:rPr>
              <a:t>&gt; ※ main </a:t>
            </a:r>
            <a:r>
              <a:rPr lang="ko-KR" altLang="en-US" sz="1000" b="1" dirty="0">
                <a:solidFill>
                  <a:srgbClr val="00B0F0"/>
                </a:solidFill>
              </a:rPr>
              <a:t>과 동일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접속자수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해당 월 </a:t>
            </a:r>
            <a:r>
              <a:rPr lang="en-US" altLang="ko-KR" sz="800" dirty="0"/>
              <a:t>1</a:t>
            </a:r>
            <a:r>
              <a:rPr lang="ko-KR" altLang="en-US" sz="800" dirty="0"/>
              <a:t>회 이상 로그인한 </a:t>
            </a:r>
            <a:r>
              <a:rPr lang="ko-KR" altLang="en-US" sz="800" dirty="0" err="1"/>
              <a:t>유료회원수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접속률</a:t>
            </a:r>
            <a:r>
              <a:rPr lang="en-US" altLang="ko-KR" sz="1000" b="1" dirty="0">
                <a:solidFill>
                  <a:srgbClr val="00B0F0"/>
                </a:solidFill>
              </a:rPr>
              <a:t>(%)</a:t>
            </a:r>
          </a:p>
          <a:p>
            <a:r>
              <a:rPr lang="en-US" altLang="ko-KR" sz="800" dirty="0"/>
              <a:t>  [1] </a:t>
            </a:r>
            <a:r>
              <a:rPr lang="ko-KR" altLang="en-US" sz="800" dirty="0"/>
              <a:t>접속자수</a:t>
            </a:r>
            <a:r>
              <a:rPr lang="en-US" altLang="ko-KR" sz="800" dirty="0"/>
              <a:t> / </a:t>
            </a:r>
            <a:r>
              <a:rPr lang="ko-KR" altLang="en-US" sz="800" dirty="0"/>
              <a:t>유료회원</a:t>
            </a:r>
            <a:r>
              <a:rPr lang="en-US" altLang="ko-KR" sz="800" dirty="0"/>
              <a:t>*100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동영상 시청자수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해당 월 동영상 </a:t>
            </a:r>
            <a:r>
              <a:rPr lang="en-US" altLang="ko-KR" sz="800" dirty="0"/>
              <a:t>1</a:t>
            </a:r>
            <a:r>
              <a:rPr lang="ko-KR" altLang="en-US" sz="800" dirty="0"/>
              <a:t>편 이상 학습한 </a:t>
            </a:r>
            <a:r>
              <a:rPr lang="ko-KR" altLang="en-US" sz="800" dirty="0" err="1"/>
              <a:t>유료회원수</a:t>
            </a:r>
            <a:endParaRPr lang="en-US" altLang="ko-KR" sz="800" dirty="0"/>
          </a:p>
          <a:p>
            <a:r>
              <a:rPr lang="ko-KR" altLang="en-US" sz="800" dirty="0"/>
              <a:t>클릭 시 시청자 상세 조회 화면 팝업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>
                <a:solidFill>
                  <a:srgbClr val="00B0F0"/>
                </a:solidFill>
              </a:rPr>
              <a:t>동영상시청률</a:t>
            </a:r>
            <a:r>
              <a:rPr lang="en-US" altLang="ko-KR" sz="1000" b="1" dirty="0">
                <a:solidFill>
                  <a:srgbClr val="00B0F0"/>
                </a:solidFill>
              </a:rPr>
              <a:t>(%)</a:t>
            </a:r>
            <a:endParaRPr lang="en-US" altLang="ko-KR" sz="1100" b="1" dirty="0">
              <a:solidFill>
                <a:srgbClr val="00B0F0"/>
              </a:solidFill>
            </a:endParaRPr>
          </a:p>
          <a:p>
            <a:r>
              <a:rPr lang="en-US" altLang="ko-KR" sz="1000" dirty="0"/>
              <a:t>  </a:t>
            </a:r>
            <a:r>
              <a:rPr lang="en-US" altLang="ko-KR" sz="800" dirty="0"/>
              <a:t>[3] </a:t>
            </a:r>
            <a:r>
              <a:rPr lang="ko-KR" altLang="en-US" sz="800" dirty="0"/>
              <a:t>동영상시청자수</a:t>
            </a:r>
            <a:r>
              <a:rPr lang="en-US" altLang="ko-KR" sz="800" dirty="0"/>
              <a:t> / [1] </a:t>
            </a:r>
            <a:r>
              <a:rPr lang="ko-KR" altLang="en-US" sz="800" dirty="0"/>
              <a:t>접속자수</a:t>
            </a:r>
            <a:r>
              <a:rPr lang="en-US" altLang="ko-KR" sz="800" dirty="0"/>
              <a:t>*100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[5] </a:t>
            </a:r>
            <a:r>
              <a:rPr lang="ko-KR" altLang="en-US" sz="1000" b="1" dirty="0">
                <a:solidFill>
                  <a:srgbClr val="00B0F0"/>
                </a:solidFill>
              </a:rPr>
              <a:t>전체조회수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/>
              <a:t>[3] </a:t>
            </a:r>
            <a:r>
              <a:rPr lang="ko-KR" altLang="en-US" sz="800" dirty="0"/>
              <a:t>동영상시청자가 조회한 </a:t>
            </a:r>
            <a:r>
              <a:rPr lang="ko-KR" altLang="en-US" sz="800" dirty="0" err="1"/>
              <a:t>콘텐츠수</a:t>
            </a:r>
            <a:r>
              <a:rPr lang="en-US" altLang="ko-KR" sz="800" dirty="0"/>
              <a:t>(</a:t>
            </a:r>
            <a:r>
              <a:rPr lang="ko-KR" altLang="en-US" sz="800" dirty="0"/>
              <a:t>중복포함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[6] 1</a:t>
            </a:r>
            <a:r>
              <a:rPr lang="ko-KR" altLang="en-US" sz="1000" b="1" dirty="0">
                <a:solidFill>
                  <a:srgbClr val="00B0F0"/>
                </a:solidFill>
              </a:rPr>
              <a:t>인당 조회수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/>
              <a:t>5] </a:t>
            </a:r>
            <a:r>
              <a:rPr lang="ko-KR" altLang="en-US" sz="800" dirty="0"/>
              <a:t>전체조회수 </a:t>
            </a:r>
            <a:r>
              <a:rPr lang="en-US" altLang="ko-KR" sz="800" dirty="0"/>
              <a:t>(</a:t>
            </a:r>
            <a:r>
              <a:rPr lang="ko-KR" altLang="en-US" sz="800" dirty="0"/>
              <a:t>나누기</a:t>
            </a:r>
            <a:r>
              <a:rPr lang="en-US" altLang="ko-KR" sz="800" dirty="0"/>
              <a:t>) [3] </a:t>
            </a:r>
            <a:r>
              <a:rPr lang="ko-KR" altLang="en-US" sz="800" dirty="0"/>
              <a:t>동영상 시청자수 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[7] </a:t>
            </a:r>
            <a:r>
              <a:rPr lang="ko-KR" altLang="en-US" sz="1000" b="1" dirty="0">
                <a:solidFill>
                  <a:srgbClr val="00B0F0"/>
                </a:solidFill>
              </a:rPr>
              <a:t>전체 이용시간</a:t>
            </a:r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분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r>
              <a:rPr lang="en-US" altLang="ko-KR" sz="800" dirty="0"/>
              <a:t>[3] </a:t>
            </a:r>
            <a:r>
              <a:rPr lang="ko-KR" altLang="en-US" sz="800" dirty="0"/>
              <a:t>동영상시청자의 전체 이용시간</a:t>
            </a:r>
            <a:r>
              <a:rPr lang="en-US" altLang="ko-KR" sz="800" dirty="0"/>
              <a:t>(</a:t>
            </a:r>
            <a:r>
              <a:rPr lang="ko-KR" altLang="en-US" sz="800" dirty="0"/>
              <a:t>중복포함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[8] 1</a:t>
            </a:r>
            <a:r>
              <a:rPr lang="ko-KR" altLang="en-US" sz="1000" b="1" dirty="0">
                <a:solidFill>
                  <a:srgbClr val="00B0F0"/>
                </a:solidFill>
              </a:rPr>
              <a:t>인당 이용시간</a:t>
            </a:r>
            <a:r>
              <a:rPr lang="en-US" altLang="ko-KR" sz="1000" b="1" dirty="0">
                <a:solidFill>
                  <a:srgbClr val="00B0F0"/>
                </a:solidFill>
              </a:rPr>
              <a:t>(</a:t>
            </a:r>
            <a:r>
              <a:rPr lang="ko-KR" altLang="en-US" sz="1000" b="1" dirty="0">
                <a:solidFill>
                  <a:srgbClr val="00B0F0"/>
                </a:solidFill>
              </a:rPr>
              <a:t>분</a:t>
            </a:r>
            <a:r>
              <a:rPr lang="en-US" altLang="ko-KR" sz="1000" b="1" dirty="0">
                <a:solidFill>
                  <a:srgbClr val="00B0F0"/>
                </a:solidFill>
              </a:rPr>
              <a:t>)</a:t>
            </a:r>
          </a:p>
          <a:p>
            <a:r>
              <a:rPr lang="en-US" altLang="ko-KR" sz="800" dirty="0"/>
              <a:t> [7] </a:t>
            </a:r>
            <a:r>
              <a:rPr lang="ko-KR" altLang="en-US" sz="800" dirty="0"/>
              <a:t>전체 이용시간 </a:t>
            </a:r>
            <a:r>
              <a:rPr lang="en-US" altLang="ko-KR" sz="800" dirty="0"/>
              <a:t>(</a:t>
            </a:r>
            <a:r>
              <a:rPr lang="ko-KR" altLang="en-US" sz="800" dirty="0"/>
              <a:t>나누기</a:t>
            </a:r>
            <a:r>
              <a:rPr lang="en-US" altLang="ko-KR" sz="800" dirty="0"/>
              <a:t>) [3] </a:t>
            </a:r>
            <a:r>
              <a:rPr lang="ko-KR" altLang="en-US" sz="800" dirty="0"/>
              <a:t>동영상 시청자수 </a:t>
            </a:r>
          </a:p>
          <a:p>
            <a:endParaRPr lang="ko-KR" altLang="en-US" sz="800" dirty="0"/>
          </a:p>
        </p:txBody>
      </p:sp>
      <p:sp>
        <p:nvSpPr>
          <p:cNvPr id="22" name="TextBox 21"/>
          <p:cNvSpPr txBox="1"/>
          <p:nvPr/>
        </p:nvSpPr>
        <p:spPr>
          <a:xfrm>
            <a:off x="492004" y="1648717"/>
            <a:ext cx="234230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dirty="0">
                <a:solidFill>
                  <a:srgbClr val="FF0000"/>
                </a:solidFill>
              </a:rPr>
              <a:t>모든 데이터는 해당월의 </a:t>
            </a:r>
            <a:r>
              <a:rPr lang="en-US" altLang="ko-KR" sz="600" dirty="0">
                <a:solidFill>
                  <a:srgbClr val="FF0000"/>
                </a:solidFill>
              </a:rPr>
              <a:t>&lt;</a:t>
            </a:r>
            <a:r>
              <a:rPr lang="ko-KR" altLang="en-US" sz="600" dirty="0">
                <a:solidFill>
                  <a:srgbClr val="FF0000"/>
                </a:solidFill>
              </a:rPr>
              <a:t>유료</a:t>
            </a:r>
            <a:r>
              <a:rPr lang="en-US" altLang="ko-KR" sz="600" dirty="0">
                <a:solidFill>
                  <a:srgbClr val="FF0000"/>
                </a:solidFill>
              </a:rPr>
              <a:t>&amp;</a:t>
            </a:r>
            <a:r>
              <a:rPr lang="ko-KR" altLang="en-US" sz="600" dirty="0">
                <a:solidFill>
                  <a:srgbClr val="FF0000"/>
                </a:solidFill>
              </a:rPr>
              <a:t>사용여부 </a:t>
            </a:r>
            <a:r>
              <a:rPr lang="en-US" altLang="ko-KR" sz="600" dirty="0">
                <a:solidFill>
                  <a:srgbClr val="FF0000"/>
                </a:solidFill>
              </a:rPr>
              <a:t>Y&gt; </a:t>
            </a:r>
            <a:r>
              <a:rPr lang="ko-KR" altLang="en-US" sz="600" dirty="0">
                <a:solidFill>
                  <a:srgbClr val="FF0000"/>
                </a:solidFill>
              </a:rPr>
              <a:t>회원 기준입니다</a:t>
            </a:r>
            <a:r>
              <a:rPr lang="en-US" altLang="ko-KR" sz="600" dirty="0">
                <a:solidFill>
                  <a:srgbClr val="FF0000"/>
                </a:solidFill>
              </a:rPr>
              <a:t>.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26291" y="4603750"/>
            <a:ext cx="4324569" cy="2006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하단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상단에서 선택된 연도의 월별 데이터 추이를 그래프로 표현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  <a:p>
            <a:pPr algn="ctr"/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 현황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]</a:t>
            </a:r>
          </a:p>
          <a:p>
            <a:pPr algn="ctr"/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월별  </a:t>
            </a:r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회원수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+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접속자수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+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동영상 시청자수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5106158" y="4603750"/>
            <a:ext cx="4374116" cy="2006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하단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상단에서 선택된 연도의 월별 데이터 추이를 그래프로 표현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  <a:p>
            <a:pPr algn="ctr"/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이용현황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]</a:t>
            </a:r>
          </a:p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월별 전체 조회수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+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전체 이용시간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224" y="911636"/>
            <a:ext cx="9576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요약</a:t>
            </a:r>
            <a:r>
              <a:rPr lang="ko-KR" altLang="en-US" sz="1000" dirty="0"/>
              <a:t>          </a:t>
            </a:r>
            <a:r>
              <a:rPr lang="ko-KR" altLang="en-US" sz="1000" dirty="0" err="1"/>
              <a:t>회원별</a:t>
            </a:r>
            <a:r>
              <a:rPr lang="ko-KR" altLang="en-US" sz="1000" dirty="0"/>
              <a:t> 이용현황            이용현황 집계           이용현황 교차 집계            상세 시청내역            서비스 참여현황           클래스 참여현황                                             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8842075" y="72852"/>
            <a:ext cx="3968151" cy="54801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marL="228600" indent="-228600" algn="ctr"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</a:rPr>
              <a:t>이용현황 추가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91746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17769" y="660265"/>
            <a:ext cx="1327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현황 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이용현황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이용현황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2795" y="660265"/>
            <a:ext cx="2375971" cy="606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&lt;</a:t>
            </a:r>
            <a:r>
              <a:rPr lang="ko-KR" altLang="en-US" sz="1000" b="1" dirty="0">
                <a:solidFill>
                  <a:srgbClr val="00B0F0"/>
                </a:solidFill>
              </a:rPr>
              <a:t>데이터 기준</a:t>
            </a:r>
            <a:r>
              <a:rPr lang="en-US" altLang="ko-KR" sz="1000" b="1" dirty="0">
                <a:solidFill>
                  <a:srgbClr val="00B0F0"/>
                </a:solidFill>
              </a:rPr>
              <a:t>&gt; ※ main </a:t>
            </a:r>
            <a:r>
              <a:rPr lang="ko-KR" altLang="en-US" sz="1000" b="1" dirty="0">
                <a:solidFill>
                  <a:srgbClr val="00B0F0"/>
                </a:solidFill>
              </a:rPr>
              <a:t>과 동일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회원구분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/>
              <a:t>CEO </a:t>
            </a:r>
            <a:r>
              <a:rPr lang="ko-KR" altLang="en-US" sz="800" dirty="0"/>
              <a:t>회원 </a:t>
            </a:r>
            <a:r>
              <a:rPr lang="ko-KR" altLang="en-US" sz="800" dirty="0" err="1"/>
              <a:t>구분값별로</a:t>
            </a:r>
            <a:r>
              <a:rPr lang="ko-KR" altLang="en-US" sz="800" dirty="0"/>
              <a:t> 선택해서 조회할 수 있음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 err="1"/>
              <a:t>미선택</a:t>
            </a:r>
            <a:r>
              <a:rPr lang="ko-KR" altLang="en-US" sz="800" dirty="0"/>
              <a:t> 시 전체회원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사용여부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 err="1"/>
              <a:t>사용중</a:t>
            </a:r>
            <a:r>
              <a:rPr lang="en-US" altLang="ko-KR" sz="800" dirty="0"/>
              <a:t>, </a:t>
            </a:r>
            <a:r>
              <a:rPr lang="ko-KR" altLang="en-US" sz="800" dirty="0"/>
              <a:t>탈퇴</a:t>
            </a:r>
            <a:r>
              <a:rPr lang="en-US" altLang="ko-KR" sz="800" dirty="0"/>
              <a:t>, </a:t>
            </a:r>
            <a:r>
              <a:rPr lang="ko-KR" altLang="en-US" sz="800" dirty="0"/>
              <a:t>전체 중 선택할 수 있음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 err="1"/>
              <a:t>미선택</a:t>
            </a:r>
            <a:r>
              <a:rPr lang="ko-KR" altLang="en-US" sz="800" dirty="0"/>
              <a:t> 시 전체회원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ko-KR" altLang="en-US" sz="1000" b="1" dirty="0">
                <a:solidFill>
                  <a:srgbClr val="00B0F0"/>
                </a:solidFill>
              </a:rPr>
              <a:t>사용여부 </a:t>
            </a:r>
            <a:r>
              <a:rPr lang="en-US" altLang="ko-KR" sz="1000" b="1" dirty="0">
                <a:solidFill>
                  <a:srgbClr val="00B0F0"/>
                </a:solidFill>
              </a:rPr>
              <a:t>N</a:t>
            </a:r>
            <a:r>
              <a:rPr lang="ko-KR" altLang="en-US" sz="1000" b="1" dirty="0">
                <a:solidFill>
                  <a:srgbClr val="00B0F0"/>
                </a:solidFill>
              </a:rPr>
              <a:t>을 선택하는 경우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1000" b="1" dirty="0">
                <a:solidFill>
                  <a:srgbClr val="00B0F0"/>
                </a:solidFill>
              </a:rPr>
              <a:t>데이터 제어 필요함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/>
              <a:t>(</a:t>
            </a:r>
            <a:r>
              <a:rPr lang="ko-KR" altLang="en-US" sz="800" dirty="0"/>
              <a:t>탈퇴 회원의 개인 정보는 삭제되므로</a:t>
            </a:r>
            <a:r>
              <a:rPr lang="en-US" altLang="ko-KR" sz="800" dirty="0"/>
              <a:t>)</a:t>
            </a:r>
          </a:p>
          <a:p>
            <a:pPr lvl="0"/>
            <a:r>
              <a:rPr lang="ko-KR" altLang="en-US" sz="800" dirty="0"/>
              <a:t>남겨진 값으로만 안내함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그룹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/>
              <a:t>“</a:t>
            </a:r>
            <a:r>
              <a:rPr lang="ko-KR" altLang="en-US" sz="800" dirty="0"/>
              <a:t>그룹</a:t>
            </a:r>
            <a:r>
              <a:rPr lang="en-US" altLang="ko-KR" sz="800" dirty="0"/>
              <a:t>”</a:t>
            </a:r>
            <a:r>
              <a:rPr lang="ko-KR" altLang="en-US" sz="800" dirty="0"/>
              <a:t>으로 </a:t>
            </a:r>
            <a:r>
              <a:rPr lang="ko-KR" altLang="en-US" sz="800" dirty="0" err="1"/>
              <a:t>매핑된</a:t>
            </a:r>
            <a:r>
              <a:rPr lang="ko-KR" altLang="en-US" sz="800" dirty="0"/>
              <a:t> </a:t>
            </a:r>
            <a:r>
              <a:rPr lang="ko-KR" altLang="en-US" sz="800" dirty="0" err="1"/>
              <a:t>단위별로</a:t>
            </a:r>
            <a:r>
              <a:rPr lang="ko-KR" altLang="en-US" sz="800" dirty="0"/>
              <a:t> 조회할 수 있음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[4] </a:t>
            </a:r>
            <a:r>
              <a:rPr lang="ko-KR" altLang="en-US" sz="1000" b="1" dirty="0">
                <a:solidFill>
                  <a:srgbClr val="00B0F0"/>
                </a:solidFill>
              </a:rPr>
              <a:t>영업대표</a:t>
            </a:r>
            <a:endParaRPr lang="en-US" altLang="ko-KR" sz="11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조회하는 영업대표의 담당으로 등록된</a:t>
            </a:r>
            <a:endParaRPr lang="en-US" altLang="ko-KR" sz="800" dirty="0"/>
          </a:p>
          <a:p>
            <a:r>
              <a:rPr lang="ko-KR" altLang="en-US" sz="800" dirty="0"/>
              <a:t>회원 전체를 조회할 수 있음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[5] </a:t>
            </a:r>
            <a:r>
              <a:rPr lang="ko-KR" altLang="en-US" sz="1000" b="1" dirty="0">
                <a:solidFill>
                  <a:srgbClr val="00B0F0"/>
                </a:solidFill>
              </a:rPr>
              <a:t>이용일수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조회 기간의 마지막 날짜에서 </a:t>
            </a:r>
            <a:endParaRPr lang="en-US" altLang="ko-KR" sz="800" dirty="0"/>
          </a:p>
          <a:p>
            <a:r>
              <a:rPr lang="ko-KR" altLang="en-US" sz="800" dirty="0"/>
              <a:t>해당회원의 계약 시작일을 뺀 날짜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[6] </a:t>
            </a:r>
            <a:r>
              <a:rPr lang="ko-KR" altLang="en-US" sz="1000" b="1" dirty="0" err="1">
                <a:solidFill>
                  <a:srgbClr val="00B0F0"/>
                </a:solidFill>
              </a:rPr>
              <a:t>로그인일수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조회한 기간 동안의 로그인 일수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[7] </a:t>
            </a:r>
            <a:r>
              <a:rPr lang="ko-KR" altLang="en-US" sz="1000" b="1" dirty="0">
                <a:solidFill>
                  <a:srgbClr val="00B0F0"/>
                </a:solidFill>
              </a:rPr>
              <a:t>도서신청</a:t>
            </a:r>
            <a:r>
              <a:rPr lang="en-US" altLang="ko-KR" sz="1000" b="1" dirty="0">
                <a:solidFill>
                  <a:srgbClr val="00B0F0"/>
                </a:solidFill>
              </a:rPr>
              <a:t> </a:t>
            </a:r>
          </a:p>
          <a:p>
            <a:r>
              <a:rPr lang="ko-KR" altLang="en-US" sz="800" dirty="0"/>
              <a:t>권수로 표기 </a:t>
            </a:r>
            <a:r>
              <a:rPr lang="en-US" altLang="ko-KR" sz="800" dirty="0"/>
              <a:t>(</a:t>
            </a:r>
            <a:r>
              <a:rPr lang="ko-KR" altLang="en-US" sz="800" dirty="0" err="1"/>
              <a:t>윌라</a:t>
            </a:r>
            <a:r>
              <a:rPr lang="en-US" altLang="ko-KR" sz="800" dirty="0"/>
              <a:t>/</a:t>
            </a:r>
            <a:r>
              <a:rPr lang="ko-KR" altLang="en-US" sz="800" dirty="0"/>
              <a:t>밀리 신청자는 </a:t>
            </a:r>
            <a:r>
              <a:rPr lang="en-US" altLang="ko-KR" sz="800" dirty="0"/>
              <a:t>5</a:t>
            </a:r>
            <a:r>
              <a:rPr lang="ko-KR" altLang="en-US" sz="800" dirty="0"/>
              <a:t>권으로 계산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[8] </a:t>
            </a:r>
            <a:r>
              <a:rPr lang="ko-KR" altLang="en-US" sz="1000" b="1" dirty="0" err="1">
                <a:solidFill>
                  <a:srgbClr val="00B0F0"/>
                </a:solidFill>
              </a:rPr>
              <a:t>인사이트</a:t>
            </a:r>
            <a:r>
              <a:rPr lang="ko-KR" altLang="en-US" sz="1000" b="1" dirty="0">
                <a:solidFill>
                  <a:srgbClr val="00B0F0"/>
                </a:solidFill>
              </a:rPr>
              <a:t> 포럼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포럼 참여 횟수 표기</a:t>
            </a:r>
            <a:r>
              <a:rPr lang="en-US" altLang="ko-KR" sz="800" dirty="0"/>
              <a:t>(</a:t>
            </a:r>
            <a:r>
              <a:rPr lang="ko-KR" altLang="en-US" sz="800" dirty="0"/>
              <a:t>단</a:t>
            </a:r>
            <a:r>
              <a:rPr lang="en-US" altLang="ko-KR" sz="800" dirty="0"/>
              <a:t>, </a:t>
            </a:r>
            <a:r>
              <a:rPr lang="ko-KR" altLang="en-US" sz="800" dirty="0"/>
              <a:t>온</a:t>
            </a:r>
            <a:r>
              <a:rPr lang="en-US" altLang="ko-KR" sz="800" dirty="0"/>
              <a:t>/</a:t>
            </a:r>
            <a:r>
              <a:rPr lang="ko-KR" altLang="en-US" sz="800" dirty="0"/>
              <a:t>오프 구분</a:t>
            </a:r>
            <a:r>
              <a:rPr lang="en-US" altLang="ko-KR" sz="800" dirty="0"/>
              <a:t>)</a:t>
            </a:r>
          </a:p>
          <a:p>
            <a:r>
              <a:rPr lang="ko-KR" altLang="en-US" sz="800" dirty="0"/>
              <a:t>온</a:t>
            </a:r>
            <a:r>
              <a:rPr lang="en-US" altLang="ko-KR" sz="800" dirty="0"/>
              <a:t>/</a:t>
            </a:r>
            <a:r>
              <a:rPr lang="ko-KR" altLang="en-US" sz="800" dirty="0"/>
              <a:t>오프를 구분하지 못한 기존 데이터는</a:t>
            </a:r>
            <a:endParaRPr lang="en-US" altLang="ko-KR" sz="800" dirty="0"/>
          </a:p>
          <a:p>
            <a:r>
              <a:rPr lang="ko-KR" altLang="en-US" sz="800" dirty="0"/>
              <a:t>오프로 표기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[9] </a:t>
            </a:r>
            <a:r>
              <a:rPr lang="ko-KR" altLang="en-US" sz="1000" b="1" dirty="0">
                <a:solidFill>
                  <a:srgbClr val="00B0F0"/>
                </a:solidFill>
              </a:rPr>
              <a:t>선호 카테고리</a:t>
            </a:r>
            <a:r>
              <a:rPr lang="en-US" altLang="ko-KR" sz="1000" b="1" dirty="0">
                <a:solidFill>
                  <a:srgbClr val="00B0F0"/>
                </a:solidFill>
              </a:rPr>
              <a:t>&amp;</a:t>
            </a:r>
            <a:r>
              <a:rPr lang="ko-KR" altLang="en-US" sz="1000" b="1" dirty="0">
                <a:solidFill>
                  <a:srgbClr val="00B0F0"/>
                </a:solidFill>
              </a:rPr>
              <a:t>프로그램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조회수 기준</a:t>
            </a:r>
            <a:endParaRPr lang="en-US" altLang="ko-KR" sz="800" dirty="0"/>
          </a:p>
          <a:p>
            <a:pPr lvl="0"/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b="1" dirty="0">
                <a:solidFill>
                  <a:srgbClr val="00B0F0"/>
                </a:solidFill>
              </a:rPr>
              <a:t>[10] </a:t>
            </a:r>
            <a:r>
              <a:rPr lang="ko-KR" altLang="en-US" sz="1000" b="1" dirty="0">
                <a:solidFill>
                  <a:srgbClr val="00B0F0"/>
                </a:solidFill>
              </a:rPr>
              <a:t>다운로드 데이터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r>
              <a:rPr lang="ko-KR" altLang="en-US" sz="800" dirty="0">
                <a:solidFill>
                  <a:prstClr val="black"/>
                </a:solidFill>
              </a:rPr>
              <a:t>다운로드 시 상세 개인정보 추가</a:t>
            </a:r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r>
              <a:rPr lang="ko-KR" altLang="en-US" sz="800" dirty="0" err="1">
                <a:solidFill>
                  <a:prstClr val="black"/>
                </a:solidFill>
              </a:rPr>
              <a:t>퍼비션</a:t>
            </a:r>
            <a:r>
              <a:rPr lang="ko-KR" altLang="en-US" sz="800" dirty="0">
                <a:solidFill>
                  <a:prstClr val="black"/>
                </a:solidFill>
              </a:rPr>
              <a:t> 정보 추가</a:t>
            </a:r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r>
              <a:rPr lang="en-US" altLang="ko-KR" sz="800" dirty="0"/>
              <a:t>(</a:t>
            </a:r>
            <a:r>
              <a:rPr lang="ko-KR" altLang="en-US" sz="800" dirty="0" err="1"/>
              <a:t>가독성</a:t>
            </a:r>
            <a:r>
              <a:rPr lang="ko-KR" altLang="en-US" sz="800" dirty="0"/>
              <a:t> 고려하여</a:t>
            </a:r>
            <a:r>
              <a:rPr lang="en-US" altLang="ko-KR" sz="800" dirty="0"/>
              <a:t>, </a:t>
            </a:r>
            <a:r>
              <a:rPr lang="ko-KR" altLang="en-US" sz="800" dirty="0"/>
              <a:t>최적화된 포맷으로</a:t>
            </a:r>
            <a:endParaRPr lang="en-US" altLang="ko-KR" sz="800" dirty="0"/>
          </a:p>
          <a:p>
            <a:pPr lvl="0"/>
            <a:r>
              <a:rPr lang="ko-KR" altLang="en-US" sz="800" dirty="0"/>
              <a:t>다운로드 되도록 포맷 디자인 필요</a:t>
            </a:r>
            <a:r>
              <a:rPr lang="en-US" altLang="ko-KR" sz="800" dirty="0"/>
              <a:t>)</a:t>
            </a: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433327"/>
              </p:ext>
            </p:extLst>
          </p:nvPr>
        </p:nvGraphicFramePr>
        <p:xfrm>
          <a:off x="391269" y="1275708"/>
          <a:ext cx="9316934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3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1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3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조회 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 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그룹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1117360" y="1300590"/>
            <a:ext cx="782488" cy="1577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YYYYMMDD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342975" y="1307846"/>
            <a:ext cx="782488" cy="1577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YYYYMMDD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077085" y="1235490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34" name="직사각형 33"/>
          <p:cNvSpPr/>
          <p:nvPr/>
        </p:nvSpPr>
        <p:spPr>
          <a:xfrm>
            <a:off x="337224" y="1744133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231344" y="1512489"/>
            <a:ext cx="2284340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1117360" y="1512489"/>
            <a:ext cx="2260281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4231344" y="1314818"/>
            <a:ext cx="956828" cy="1459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254899" y="1314332"/>
            <a:ext cx="1260785" cy="14644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7364080" y="1314331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pic>
        <p:nvPicPr>
          <p:cNvPr id="53" name="그림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167" y="1304749"/>
            <a:ext cx="186718" cy="154639"/>
          </a:xfrm>
          <a:prstGeom prst="rect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463" y="1307846"/>
            <a:ext cx="186718" cy="154639"/>
          </a:xfrm>
          <a:prstGeom prst="rect">
            <a:avLst/>
          </a:prstGeom>
        </p:spPr>
      </p:pic>
      <p:sp>
        <p:nvSpPr>
          <p:cNvPr id="55" name="직사각형 54"/>
          <p:cNvSpPr/>
          <p:nvPr/>
        </p:nvSpPr>
        <p:spPr>
          <a:xfrm>
            <a:off x="7364080" y="1506460"/>
            <a:ext cx="2284340" cy="16098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42262" y="1997772"/>
            <a:ext cx="392767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dirty="0">
                <a:solidFill>
                  <a:srgbClr val="FF0000"/>
                </a:solidFill>
              </a:rPr>
              <a:t>데이터 기준 </a:t>
            </a:r>
            <a:r>
              <a:rPr lang="en-US" altLang="ko-KR" sz="600" dirty="0">
                <a:solidFill>
                  <a:srgbClr val="FF0000"/>
                </a:solidFill>
              </a:rPr>
              <a:t>: </a:t>
            </a:r>
            <a:r>
              <a:rPr lang="ko-KR" altLang="en-US" sz="600" dirty="0">
                <a:solidFill>
                  <a:srgbClr val="FF0000"/>
                </a:solidFill>
              </a:rPr>
              <a:t>집계</a:t>
            </a:r>
            <a:r>
              <a:rPr lang="en-US" altLang="ko-KR" sz="600" dirty="0">
                <a:solidFill>
                  <a:srgbClr val="FF0000"/>
                </a:solidFill>
              </a:rPr>
              <a:t>, </a:t>
            </a:r>
            <a:r>
              <a:rPr lang="ko-KR" altLang="en-US" sz="600" dirty="0">
                <a:solidFill>
                  <a:srgbClr val="FF0000"/>
                </a:solidFill>
              </a:rPr>
              <a:t>카테고리 </a:t>
            </a:r>
            <a:r>
              <a:rPr lang="en-US" altLang="ko-KR" sz="600" dirty="0">
                <a:solidFill>
                  <a:srgbClr val="FF0000"/>
                </a:solidFill>
              </a:rPr>
              <a:t>&gt; </a:t>
            </a:r>
            <a:r>
              <a:rPr lang="ko-KR" altLang="en-US" sz="600" dirty="0">
                <a:solidFill>
                  <a:srgbClr val="FF0000"/>
                </a:solidFill>
              </a:rPr>
              <a:t>기타 </a:t>
            </a:r>
            <a:r>
              <a:rPr lang="en-US" altLang="ko-KR" sz="600" dirty="0">
                <a:solidFill>
                  <a:srgbClr val="FF0000"/>
                </a:solidFill>
              </a:rPr>
              <a:t>: </a:t>
            </a:r>
            <a:r>
              <a:rPr lang="ko-KR" altLang="en-US" sz="600" dirty="0">
                <a:solidFill>
                  <a:srgbClr val="FF0000"/>
                </a:solidFill>
              </a:rPr>
              <a:t>포럼</a:t>
            </a:r>
            <a:r>
              <a:rPr lang="en-US" altLang="ko-KR" sz="600" dirty="0">
                <a:solidFill>
                  <a:srgbClr val="FF0000"/>
                </a:solidFill>
              </a:rPr>
              <a:t>, </a:t>
            </a:r>
            <a:r>
              <a:rPr lang="ko-KR" altLang="en-US" sz="600" dirty="0">
                <a:solidFill>
                  <a:srgbClr val="FF0000"/>
                </a:solidFill>
              </a:rPr>
              <a:t>세시레터</a:t>
            </a:r>
            <a:r>
              <a:rPr lang="en-US" altLang="ko-KR" sz="600" dirty="0">
                <a:solidFill>
                  <a:srgbClr val="FF0000"/>
                </a:solidFill>
              </a:rPr>
              <a:t> </a:t>
            </a:r>
            <a:r>
              <a:rPr lang="ko-KR" altLang="en-US" sz="600" dirty="0">
                <a:solidFill>
                  <a:srgbClr val="FF0000"/>
                </a:solidFill>
              </a:rPr>
              <a:t>등 학습시간이 누적되는 비 </a:t>
            </a:r>
            <a:r>
              <a:rPr lang="ko-KR" altLang="en-US" sz="600" dirty="0" err="1">
                <a:solidFill>
                  <a:srgbClr val="FF0000"/>
                </a:solidFill>
              </a:rPr>
              <a:t>콘텐츠형</a:t>
            </a:r>
            <a:r>
              <a:rPr lang="ko-KR" altLang="en-US" sz="600" dirty="0">
                <a:solidFill>
                  <a:srgbClr val="FF0000"/>
                </a:solidFill>
              </a:rPr>
              <a:t> 서비스 이용 시간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376459" y="2244209"/>
            <a:ext cx="665803" cy="1301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graphicFrame>
        <p:nvGraphicFramePr>
          <p:cNvPr id="62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23607"/>
              </p:ext>
            </p:extLst>
          </p:nvPr>
        </p:nvGraphicFramePr>
        <p:xfrm>
          <a:off x="391269" y="2451454"/>
          <a:ext cx="9316917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6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48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16106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</a:tblGrid>
              <a:tr h="1823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No.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회원 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이용일수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로그인 일수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도서신청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인사이트</a:t>
                      </a:r>
                      <a:r>
                        <a:rPr lang="ko-KR" altLang="en-US" sz="600" dirty="0"/>
                        <a:t> 포럼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PC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모바일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TV</a:t>
                      </a:r>
                      <a:r>
                        <a:rPr lang="ko-KR" altLang="en-US" sz="600" dirty="0" err="1"/>
                        <a:t>앱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선호 카테고리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개인선호</a:t>
                      </a:r>
                      <a:endParaRPr lang="en-US" altLang="ko-KR" sz="600" dirty="0"/>
                    </a:p>
                    <a:p>
                      <a:pPr algn="ctr" latinLnBrk="1"/>
                      <a:r>
                        <a:rPr lang="ko-KR" altLang="en-US" sz="600" dirty="0"/>
                        <a:t>프로그램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카테고리별</a:t>
                      </a:r>
                      <a:r>
                        <a:rPr lang="ko-KR" altLang="en-US" sz="600" dirty="0"/>
                        <a:t> 학습시간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분</a:t>
                      </a:r>
                      <a:r>
                        <a:rPr lang="en-US" altLang="ko-KR" sz="600" dirty="0"/>
                        <a:t>)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온라인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오프라인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시청수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시간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분</a:t>
                      </a:r>
                      <a:r>
                        <a:rPr lang="en-US" altLang="ko-KR" sz="600" dirty="0"/>
                        <a:t>)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시청수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시간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분</a:t>
                      </a:r>
                      <a:r>
                        <a:rPr lang="en-US" altLang="ko-KR" sz="600" dirty="0"/>
                        <a:t>)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시청수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시간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분</a:t>
                      </a:r>
                      <a:r>
                        <a:rPr lang="en-US" altLang="ko-KR" sz="600" dirty="0"/>
                        <a:t>)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시청수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시간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분</a:t>
                      </a:r>
                      <a:r>
                        <a:rPr lang="en-US" altLang="ko-KR" sz="600" dirty="0"/>
                        <a:t>)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Best1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/>
                        <a:t>Best2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/>
                        <a:t>Best3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리더십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∙</a:t>
                      </a:r>
                      <a:r>
                        <a:rPr lang="ko-KR" altLang="en-US" sz="6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피플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>
                          <a:latin typeface="+mn-lt"/>
                          <a:ea typeface="+mn-ea"/>
                        </a:rPr>
                        <a:t>경영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+mn-ea"/>
                        </a:rPr>
                        <a:t>∙전략</a:t>
                      </a:r>
                      <a:endParaRPr lang="ko-KR" altLang="en-US" sz="600" dirty="0"/>
                    </a:p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>
                          <a:latin typeface="+mn-lt"/>
                          <a:ea typeface="+mn-ea"/>
                        </a:rPr>
                        <a:t>경제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+mn-ea"/>
                        </a:rPr>
                        <a:t>∙</a:t>
                      </a:r>
                      <a:r>
                        <a:rPr lang="ko-KR" altLang="en-US" sz="600" dirty="0" err="1">
                          <a:latin typeface="맑은 고딕" panose="020B0503020000020004" pitchFamily="50" charset="-127"/>
                          <a:ea typeface="+mn-ea"/>
                        </a:rPr>
                        <a:t>트렌드</a:t>
                      </a:r>
                      <a:endParaRPr lang="ko-KR" altLang="en-US" sz="600" dirty="0"/>
                    </a:p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>
                          <a:latin typeface="+mn-lt"/>
                          <a:ea typeface="+mn-ea"/>
                        </a:rPr>
                        <a:t>인문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+mn-ea"/>
                        </a:rPr>
                        <a:t>∙라이프</a:t>
                      </a:r>
                      <a:endParaRPr lang="ko-KR" altLang="en-US" sz="600" dirty="0"/>
                    </a:p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특집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기타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u="sng" dirty="0"/>
                        <a:t>법인</a:t>
                      </a:r>
                      <a:r>
                        <a:rPr lang="en-US" altLang="ko-KR" sz="600" u="sng" dirty="0"/>
                        <a:t>-</a:t>
                      </a:r>
                      <a:r>
                        <a:rPr lang="ko-KR" altLang="en-US" sz="600" u="sng" dirty="0"/>
                        <a:t>정회원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Y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" name="직사각형 62"/>
          <p:cNvSpPr/>
          <p:nvPr/>
        </p:nvSpPr>
        <p:spPr>
          <a:xfrm rot="20547490">
            <a:off x="3906912" y="3107021"/>
            <a:ext cx="2126053" cy="2791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조회 데이터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7224" y="911636"/>
            <a:ext cx="9576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요약          </a:t>
            </a:r>
            <a:r>
              <a:rPr lang="ko-KR" altLang="en-US" sz="1000" b="1" dirty="0" err="1"/>
              <a:t>회원별</a:t>
            </a:r>
            <a:r>
              <a:rPr lang="ko-KR" altLang="en-US" sz="1000" b="1" dirty="0"/>
              <a:t> 이용현황            </a:t>
            </a:r>
            <a:r>
              <a:rPr lang="ko-KR" altLang="en-US" sz="1000" dirty="0"/>
              <a:t>이용현황 집계           이용현황 교차 집계            상세 시청내역            서비스 참여현황           클래스 참여현황                                             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376459" y="2012496"/>
            <a:ext cx="665803" cy="1301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1117360" y="1731469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4231344" y="1727097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326654"/>
              </p:ext>
            </p:extLst>
          </p:nvPr>
        </p:nvGraphicFramePr>
        <p:xfrm>
          <a:off x="392722" y="4633040"/>
          <a:ext cx="9259973" cy="201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33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34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35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36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37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38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39"/>
                    </a:ext>
                  </a:extLst>
                </a:gridCol>
                <a:gridCol w="225853">
                  <a:extLst>
                    <a:ext uri="{9D8B030D-6E8A-4147-A177-3AD203B41FA5}">
                      <a16:colId xmlns:a16="http://schemas.microsoft.com/office/drawing/2014/main" val="20040"/>
                    </a:ext>
                  </a:extLst>
                </a:gridCol>
              </a:tblGrid>
              <a:tr h="1823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No.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회원 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직위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핸드폰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이메일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계약시작일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계약종료일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서비스시작일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서비스종료일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이용일수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로그인 일수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도서신청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인사이트</a:t>
                      </a:r>
                      <a:r>
                        <a:rPr lang="ko-KR" altLang="en-US" sz="600" dirty="0"/>
                        <a:t> 포럼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PC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모바일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TV</a:t>
                      </a:r>
                      <a:r>
                        <a:rPr lang="ko-KR" altLang="en-US" sz="600" dirty="0" err="1"/>
                        <a:t>앱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선호 카테고리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개인선호</a:t>
                      </a:r>
                      <a:endParaRPr lang="en-US" altLang="ko-KR" sz="600" dirty="0"/>
                    </a:p>
                    <a:p>
                      <a:pPr algn="ctr" latinLnBrk="1"/>
                      <a:r>
                        <a:rPr lang="ko-KR" altLang="en-US" sz="600" dirty="0"/>
                        <a:t>프로그램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카테고리별</a:t>
                      </a:r>
                      <a:r>
                        <a:rPr lang="ko-KR" altLang="en-US" sz="600" dirty="0"/>
                        <a:t> 학습시간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분</a:t>
                      </a:r>
                      <a:r>
                        <a:rPr lang="en-US" altLang="ko-KR" sz="600" dirty="0"/>
                        <a:t>)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접촉거부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광고수신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온라인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오프라인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시청수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시간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분</a:t>
                      </a:r>
                      <a:r>
                        <a:rPr lang="en-US" altLang="ko-KR" sz="600" dirty="0"/>
                        <a:t>)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시청수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시간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분</a:t>
                      </a:r>
                      <a:r>
                        <a:rPr lang="en-US" altLang="ko-KR" sz="600" dirty="0"/>
                        <a:t>)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시청수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시간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분</a:t>
                      </a:r>
                      <a:r>
                        <a:rPr lang="en-US" altLang="ko-KR" sz="600" dirty="0"/>
                        <a:t>)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시청수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시간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분</a:t>
                      </a:r>
                      <a:r>
                        <a:rPr lang="en-US" altLang="ko-KR" sz="600" dirty="0"/>
                        <a:t>)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Best1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/>
                        <a:t>Best2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/>
                        <a:t>Best3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리더십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∙</a:t>
                      </a:r>
                      <a:r>
                        <a:rPr lang="ko-KR" altLang="en-US" sz="6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피플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>
                          <a:latin typeface="+mn-lt"/>
                          <a:ea typeface="+mn-ea"/>
                        </a:rPr>
                        <a:t>경영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+mn-ea"/>
                        </a:rPr>
                        <a:t>∙전략</a:t>
                      </a:r>
                      <a:endParaRPr lang="ko-KR" altLang="en-US" sz="600" dirty="0"/>
                    </a:p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>
                          <a:latin typeface="+mn-lt"/>
                          <a:ea typeface="+mn-ea"/>
                        </a:rPr>
                        <a:t>경제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+mn-ea"/>
                        </a:rPr>
                        <a:t>∙</a:t>
                      </a:r>
                      <a:r>
                        <a:rPr lang="ko-KR" altLang="en-US" sz="600" dirty="0" err="1">
                          <a:latin typeface="맑은 고딕" panose="020B0503020000020004" pitchFamily="50" charset="-127"/>
                          <a:ea typeface="+mn-ea"/>
                        </a:rPr>
                        <a:t>트렌드</a:t>
                      </a:r>
                      <a:endParaRPr lang="ko-KR" altLang="en-US" sz="600" dirty="0"/>
                    </a:p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>
                          <a:latin typeface="+mn-lt"/>
                          <a:ea typeface="+mn-ea"/>
                        </a:rPr>
                        <a:t>인문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+mn-ea"/>
                        </a:rPr>
                        <a:t>∙라이프</a:t>
                      </a:r>
                      <a:endParaRPr lang="ko-KR" altLang="en-US" sz="600" dirty="0"/>
                    </a:p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특집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기타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이메일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휴대폰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u="sng" dirty="0"/>
                        <a:t>법인</a:t>
                      </a:r>
                      <a:r>
                        <a:rPr lang="en-US" altLang="ko-KR" sz="600" u="sng" dirty="0"/>
                        <a:t>-</a:t>
                      </a:r>
                      <a:r>
                        <a:rPr lang="ko-KR" altLang="en-US" sz="600" u="sng" dirty="0"/>
                        <a:t>정회원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Y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4" name="직사각형 63"/>
          <p:cNvSpPr/>
          <p:nvPr/>
        </p:nvSpPr>
        <p:spPr>
          <a:xfrm rot="20547490">
            <a:off x="3595242" y="5849067"/>
            <a:ext cx="2126053" cy="2791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다운로드 데이터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3434124" y="1207229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555041" y="1213305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3434123" y="175359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2191030" y="2260471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5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2511130" y="225957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6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2841439" y="225957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7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434123" y="2253593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8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7010659" y="225359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9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4565329" y="570042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10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CRM_06_001-011, 021-022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8842075" y="72852"/>
            <a:ext cx="3968151" cy="54801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marL="228600" indent="-228600" algn="ctr"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</a:rPr>
              <a:t>이용현황 추가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09818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17769" y="660265"/>
            <a:ext cx="1327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현황 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이용현황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2795" y="660265"/>
            <a:ext cx="2642070" cy="47397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기준구분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/>
              <a:t>(</a:t>
            </a:r>
            <a:r>
              <a:rPr lang="ko-KR" altLang="en-US" sz="800" dirty="0"/>
              <a:t>각 항목별 </a:t>
            </a:r>
            <a:r>
              <a:rPr lang="ko-KR" altLang="en-US" sz="800" dirty="0" err="1"/>
              <a:t>구분값은</a:t>
            </a:r>
            <a:r>
              <a:rPr lang="ko-KR" altLang="en-US" sz="800" dirty="0"/>
              <a:t> </a:t>
            </a:r>
            <a:r>
              <a:rPr lang="en-US" altLang="ko-KR" sz="800" dirty="0"/>
              <a:t>CRM </a:t>
            </a:r>
            <a:r>
              <a:rPr lang="ko-KR" altLang="en-US" sz="800" dirty="0"/>
              <a:t>데이터에 의해 </a:t>
            </a:r>
            <a:r>
              <a:rPr lang="ko-KR" altLang="en-US" sz="800" dirty="0" err="1"/>
              <a:t>리스트업됨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/>
              <a:t>(</a:t>
            </a:r>
            <a:r>
              <a:rPr lang="ko-KR" altLang="en-US" sz="800" dirty="0"/>
              <a:t>단 기준을 새로 만드는 항목은 아래 정의된</a:t>
            </a:r>
            <a:endParaRPr lang="en-US" altLang="ko-KR" sz="800" dirty="0"/>
          </a:p>
          <a:p>
            <a:r>
              <a:rPr lang="ko-KR" altLang="en-US" sz="800" dirty="0"/>
              <a:t>값으로 구분하여 표기함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800" dirty="0"/>
              <a:t>-</a:t>
            </a:r>
            <a:r>
              <a:rPr lang="ko-KR" altLang="en-US" sz="800" dirty="0"/>
              <a:t>회원구분 </a:t>
            </a:r>
            <a:r>
              <a:rPr lang="en-US" altLang="ko-KR" sz="800" dirty="0"/>
              <a:t>: </a:t>
            </a:r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정회원</a:t>
            </a:r>
            <a:r>
              <a:rPr lang="en-US" altLang="ko-KR" sz="800" dirty="0"/>
              <a:t>, </a:t>
            </a:r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매거진 </a:t>
            </a:r>
            <a:r>
              <a:rPr lang="en-US" altLang="ko-KR" sz="800" dirty="0"/>
              <a:t>….</a:t>
            </a:r>
          </a:p>
          <a:p>
            <a:r>
              <a:rPr lang="en-US" altLang="ko-KR" sz="800" dirty="0"/>
              <a:t>   (</a:t>
            </a:r>
            <a:r>
              <a:rPr lang="ko-KR" altLang="en-US" sz="800" dirty="0"/>
              <a:t>유료</a:t>
            </a:r>
            <a:r>
              <a:rPr lang="en-US" altLang="ko-KR" sz="800" dirty="0"/>
              <a:t>, </a:t>
            </a:r>
            <a:r>
              <a:rPr lang="ko-KR" altLang="en-US" sz="800" dirty="0"/>
              <a:t>무료 모두 표기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/>
              <a:t>연령 </a:t>
            </a:r>
            <a:r>
              <a:rPr lang="en-US" altLang="ko-KR" sz="800" dirty="0"/>
              <a:t>: 40</a:t>
            </a:r>
            <a:r>
              <a:rPr lang="ko-KR" altLang="en-US" sz="800" dirty="0"/>
              <a:t>대 미만</a:t>
            </a:r>
            <a:r>
              <a:rPr lang="en-US" altLang="ko-KR" sz="800" dirty="0"/>
              <a:t>, 40</a:t>
            </a:r>
            <a:r>
              <a:rPr lang="ko-KR" altLang="en-US" sz="800" dirty="0"/>
              <a:t>대</a:t>
            </a:r>
            <a:r>
              <a:rPr lang="en-US" altLang="ko-KR" sz="800" dirty="0"/>
              <a:t>, 50</a:t>
            </a:r>
            <a:r>
              <a:rPr lang="ko-KR" altLang="en-US" sz="800" dirty="0"/>
              <a:t>대</a:t>
            </a:r>
            <a:r>
              <a:rPr lang="en-US" altLang="ko-KR" sz="800" dirty="0"/>
              <a:t>, 60</a:t>
            </a:r>
            <a:r>
              <a:rPr lang="ko-KR" altLang="en-US" sz="800" dirty="0"/>
              <a:t>대</a:t>
            </a:r>
            <a:r>
              <a:rPr lang="en-US" altLang="ko-KR" sz="800" dirty="0"/>
              <a:t>, 70</a:t>
            </a:r>
            <a:r>
              <a:rPr lang="ko-KR" altLang="en-US" sz="800" dirty="0"/>
              <a:t>대</a:t>
            </a:r>
            <a:r>
              <a:rPr lang="en-US" altLang="ko-KR" sz="800" dirty="0"/>
              <a:t>, </a:t>
            </a:r>
            <a:r>
              <a:rPr lang="ko-KR" altLang="en-US" sz="800" dirty="0"/>
              <a:t>연령미상</a:t>
            </a:r>
            <a:endParaRPr lang="en-US" altLang="ko-KR" sz="800" dirty="0"/>
          </a:p>
          <a:p>
            <a:r>
              <a:rPr lang="en-US" altLang="ko-KR" sz="800" dirty="0"/>
              <a:t>-</a:t>
            </a:r>
            <a:r>
              <a:rPr lang="ko-KR" altLang="en-US" sz="800" dirty="0"/>
              <a:t>성별 </a:t>
            </a:r>
            <a:r>
              <a:rPr lang="en-US" altLang="ko-KR" sz="800" dirty="0"/>
              <a:t>: </a:t>
            </a:r>
            <a:r>
              <a:rPr lang="ko-KR" altLang="en-US" sz="800" dirty="0"/>
              <a:t>남</a:t>
            </a:r>
            <a:r>
              <a:rPr lang="en-US" altLang="ko-KR" sz="800" dirty="0"/>
              <a:t>, </a:t>
            </a:r>
            <a:r>
              <a:rPr lang="ko-KR" altLang="en-US" sz="800" dirty="0"/>
              <a:t>여</a:t>
            </a:r>
            <a:endParaRPr lang="en-US" altLang="ko-KR" sz="800" dirty="0"/>
          </a:p>
          <a:p>
            <a:r>
              <a:rPr lang="en-US" altLang="ko-KR" sz="800" dirty="0"/>
              <a:t>-</a:t>
            </a:r>
            <a:r>
              <a:rPr lang="ko-KR" altLang="en-US" sz="800" dirty="0"/>
              <a:t>연차 </a:t>
            </a:r>
            <a:r>
              <a:rPr lang="en-US" altLang="ko-KR" sz="800" dirty="0"/>
              <a:t>: 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/>
              <a:t>업종 </a:t>
            </a:r>
            <a:r>
              <a:rPr lang="en-US" altLang="ko-KR" sz="800" dirty="0"/>
              <a:t>: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/>
              <a:t>업태</a:t>
            </a:r>
            <a:r>
              <a:rPr lang="en-US" altLang="ko-KR" sz="800" dirty="0"/>
              <a:t>: 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/>
              <a:t>대내외 </a:t>
            </a:r>
            <a:r>
              <a:rPr lang="en-US" altLang="ko-KR" sz="800" dirty="0"/>
              <a:t>: </a:t>
            </a:r>
            <a:r>
              <a:rPr lang="ko-KR" altLang="en-US" sz="800" dirty="0"/>
              <a:t>대내</a:t>
            </a:r>
            <a:r>
              <a:rPr lang="en-US" altLang="ko-KR" sz="800" dirty="0"/>
              <a:t>, </a:t>
            </a:r>
            <a:r>
              <a:rPr lang="ko-KR" altLang="en-US" sz="800" dirty="0"/>
              <a:t>대외</a:t>
            </a:r>
            <a:endParaRPr lang="en-US" altLang="ko-KR" sz="800" dirty="0"/>
          </a:p>
          <a:p>
            <a:r>
              <a:rPr lang="en-US" altLang="ko-KR" sz="800" dirty="0"/>
              <a:t>-</a:t>
            </a:r>
            <a:r>
              <a:rPr lang="ko-KR" altLang="en-US" sz="800" dirty="0"/>
              <a:t>직위 </a:t>
            </a:r>
            <a:r>
              <a:rPr lang="en-US" altLang="ko-KR" sz="800" dirty="0"/>
              <a:t>: 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/>
              <a:t>지역 </a:t>
            </a:r>
            <a:r>
              <a:rPr lang="en-US" altLang="ko-KR" sz="800" dirty="0"/>
              <a:t>: 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/>
              <a:t>디바이스 </a:t>
            </a:r>
            <a:r>
              <a:rPr lang="en-US" altLang="ko-KR" sz="800" dirty="0"/>
              <a:t>: PC, Mobile, </a:t>
            </a:r>
            <a:r>
              <a:rPr lang="ko-KR" altLang="en-US" sz="800" dirty="0" err="1"/>
              <a:t>안드로이드</a:t>
            </a:r>
            <a:r>
              <a:rPr lang="ko-KR" altLang="en-US" sz="800" dirty="0"/>
              <a:t> </a:t>
            </a:r>
            <a:r>
              <a:rPr lang="ko-KR" altLang="en-US" sz="800" dirty="0" err="1"/>
              <a:t>앱</a:t>
            </a:r>
            <a:r>
              <a:rPr lang="en-US" altLang="ko-KR" sz="800" dirty="0"/>
              <a:t>, iOS</a:t>
            </a:r>
            <a:r>
              <a:rPr lang="ko-KR" altLang="en-US" sz="800" dirty="0" err="1"/>
              <a:t>앱</a:t>
            </a:r>
            <a:r>
              <a:rPr lang="en-US" altLang="ko-KR" sz="800" dirty="0"/>
              <a:t>,</a:t>
            </a:r>
          </a:p>
          <a:p>
            <a:r>
              <a:rPr lang="en-US" altLang="ko-KR" sz="800" dirty="0"/>
              <a:t>              </a:t>
            </a:r>
            <a:r>
              <a:rPr lang="ko-KR" altLang="en-US" sz="800" dirty="0" err="1"/>
              <a:t>모바일웹</a:t>
            </a:r>
            <a:r>
              <a:rPr lang="en-US" altLang="ko-KR" sz="800" dirty="0"/>
              <a:t>, TV</a:t>
            </a:r>
            <a:r>
              <a:rPr lang="ko-KR" altLang="en-US" sz="800" dirty="0" err="1"/>
              <a:t>앱</a:t>
            </a:r>
            <a:endParaRPr lang="en-US" altLang="ko-KR" sz="800" dirty="0"/>
          </a:p>
          <a:p>
            <a:r>
              <a:rPr lang="en-US" altLang="ko-KR" sz="800" dirty="0"/>
              <a:t>-</a:t>
            </a:r>
            <a:r>
              <a:rPr lang="ko-KR" altLang="en-US" sz="800" dirty="0"/>
              <a:t>오프참여 </a:t>
            </a:r>
            <a:r>
              <a:rPr lang="en-US" altLang="ko-KR" sz="800" dirty="0"/>
              <a:t>: 10</a:t>
            </a:r>
            <a:r>
              <a:rPr lang="ko-KR" altLang="en-US" sz="800" dirty="0"/>
              <a:t>회 이상</a:t>
            </a:r>
            <a:r>
              <a:rPr lang="en-US" altLang="ko-KR" sz="800" dirty="0"/>
              <a:t>, 6~9</a:t>
            </a:r>
            <a:r>
              <a:rPr lang="ko-KR" altLang="en-US" sz="800" dirty="0"/>
              <a:t>회</a:t>
            </a:r>
            <a:r>
              <a:rPr lang="en-US" altLang="ko-KR" sz="800" dirty="0"/>
              <a:t>, 2~5</a:t>
            </a:r>
            <a:r>
              <a:rPr lang="ko-KR" altLang="en-US" sz="800" dirty="0"/>
              <a:t>회</a:t>
            </a:r>
            <a:r>
              <a:rPr lang="en-US" altLang="ko-KR" sz="800" dirty="0"/>
              <a:t>, 1</a:t>
            </a:r>
            <a:r>
              <a:rPr lang="ko-KR" altLang="en-US" sz="800" dirty="0"/>
              <a:t>회</a:t>
            </a:r>
            <a:r>
              <a:rPr lang="en-US" altLang="ko-KR" sz="800" dirty="0"/>
              <a:t>, 0</a:t>
            </a:r>
            <a:r>
              <a:rPr lang="ko-KR" altLang="en-US" sz="800" dirty="0"/>
              <a:t>회</a:t>
            </a:r>
            <a:endParaRPr lang="en-US" altLang="ko-KR" sz="800" dirty="0"/>
          </a:p>
          <a:p>
            <a:r>
              <a:rPr lang="en-US" altLang="ko-KR" sz="800" dirty="0"/>
              <a:t>-</a:t>
            </a:r>
            <a:r>
              <a:rPr lang="ko-KR" altLang="en-US" sz="800" dirty="0" err="1"/>
              <a:t>회원수</a:t>
            </a:r>
            <a:r>
              <a:rPr lang="ko-KR" altLang="en-US" sz="800" dirty="0"/>
              <a:t> </a:t>
            </a:r>
            <a:r>
              <a:rPr lang="en-US" altLang="ko-KR" sz="800" dirty="0"/>
              <a:t>: 100</a:t>
            </a:r>
            <a:r>
              <a:rPr lang="ko-KR" altLang="en-US" sz="800" dirty="0"/>
              <a:t>명 이상</a:t>
            </a:r>
            <a:r>
              <a:rPr lang="en-US" altLang="ko-KR" sz="800" dirty="0"/>
              <a:t>,  60~99</a:t>
            </a:r>
            <a:r>
              <a:rPr lang="ko-KR" altLang="en-US" sz="800" dirty="0"/>
              <a:t>명</a:t>
            </a:r>
            <a:r>
              <a:rPr lang="en-US" altLang="ko-KR" sz="800" dirty="0"/>
              <a:t>, 20~59</a:t>
            </a:r>
            <a:r>
              <a:rPr lang="ko-KR" altLang="en-US" sz="800" dirty="0"/>
              <a:t>명</a:t>
            </a:r>
            <a:r>
              <a:rPr lang="en-US" altLang="ko-KR" sz="800" dirty="0"/>
              <a:t>, 10~19</a:t>
            </a:r>
            <a:r>
              <a:rPr lang="ko-KR" altLang="en-US" sz="800" dirty="0"/>
              <a:t>명</a:t>
            </a:r>
            <a:r>
              <a:rPr lang="en-US" altLang="ko-KR" sz="800" dirty="0"/>
              <a:t>,</a:t>
            </a:r>
          </a:p>
          <a:p>
            <a:r>
              <a:rPr lang="en-US" altLang="ko-KR" sz="800" dirty="0"/>
              <a:t>           2~9</a:t>
            </a:r>
            <a:r>
              <a:rPr lang="ko-KR" altLang="en-US" sz="800" dirty="0"/>
              <a:t>명</a:t>
            </a:r>
            <a:r>
              <a:rPr lang="en-US" altLang="ko-KR" sz="800" dirty="0"/>
              <a:t>, 1</a:t>
            </a:r>
            <a:r>
              <a:rPr lang="ko-KR" altLang="en-US" sz="800" dirty="0"/>
              <a:t>명</a:t>
            </a:r>
            <a:endParaRPr lang="en-US" altLang="ko-KR" sz="800" dirty="0"/>
          </a:p>
          <a:p>
            <a:r>
              <a:rPr lang="en-US" altLang="ko-KR" sz="800" dirty="0"/>
              <a:t>-</a:t>
            </a:r>
            <a:r>
              <a:rPr lang="ko-KR" altLang="en-US" sz="800" dirty="0"/>
              <a:t>카테고리 </a:t>
            </a:r>
            <a:r>
              <a:rPr lang="en-US" altLang="ko-KR" sz="800" dirty="0"/>
              <a:t>: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/>
              <a:t>프로그램 </a:t>
            </a:r>
            <a:r>
              <a:rPr lang="en-US" altLang="ko-KR" sz="800" dirty="0"/>
              <a:t>: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 err="1"/>
              <a:t>콘텐츠</a:t>
            </a:r>
            <a:r>
              <a:rPr lang="ko-KR" altLang="en-US" sz="800" dirty="0"/>
              <a:t> </a:t>
            </a:r>
            <a:r>
              <a:rPr lang="en-US" altLang="ko-KR" sz="800" dirty="0"/>
              <a:t>: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/>
              <a:t>시간대별 </a:t>
            </a:r>
            <a:r>
              <a:rPr lang="en-US" altLang="ko-KR" sz="800" dirty="0"/>
              <a:t>: 00~03</a:t>
            </a:r>
            <a:r>
              <a:rPr lang="ko-KR" altLang="en-US" sz="800" dirty="0"/>
              <a:t>시</a:t>
            </a:r>
            <a:r>
              <a:rPr lang="en-US" altLang="ko-KR" sz="800" dirty="0"/>
              <a:t>, 03~06</a:t>
            </a:r>
            <a:r>
              <a:rPr lang="ko-KR" altLang="en-US" sz="800" dirty="0"/>
              <a:t>시</a:t>
            </a:r>
            <a:r>
              <a:rPr lang="en-US" altLang="ko-KR" sz="800" dirty="0"/>
              <a:t>, 06~09</a:t>
            </a:r>
            <a:r>
              <a:rPr lang="ko-KR" altLang="en-US" sz="800" dirty="0"/>
              <a:t>시</a:t>
            </a:r>
            <a:r>
              <a:rPr lang="en-US" altLang="ko-KR" sz="800" dirty="0"/>
              <a:t>, 09~12</a:t>
            </a:r>
            <a:r>
              <a:rPr lang="ko-KR" altLang="en-US" sz="800" dirty="0"/>
              <a:t>시</a:t>
            </a:r>
            <a:r>
              <a:rPr lang="en-US" altLang="ko-KR" sz="800" dirty="0"/>
              <a:t>,</a:t>
            </a:r>
          </a:p>
          <a:p>
            <a:r>
              <a:rPr lang="en-US" altLang="ko-KR" sz="800" dirty="0"/>
              <a:t>      12~15</a:t>
            </a:r>
            <a:r>
              <a:rPr lang="ko-KR" altLang="en-US" sz="800" dirty="0"/>
              <a:t>시</a:t>
            </a:r>
            <a:r>
              <a:rPr lang="en-US" altLang="ko-KR" sz="800" dirty="0"/>
              <a:t>, 15~18</a:t>
            </a:r>
            <a:r>
              <a:rPr lang="ko-KR" altLang="en-US" sz="800" dirty="0"/>
              <a:t>시</a:t>
            </a:r>
            <a:r>
              <a:rPr lang="en-US" altLang="ko-KR" sz="800" dirty="0"/>
              <a:t>, 18~21</a:t>
            </a:r>
            <a:r>
              <a:rPr lang="ko-KR" altLang="en-US" sz="800" dirty="0"/>
              <a:t>시</a:t>
            </a:r>
            <a:r>
              <a:rPr lang="en-US" altLang="ko-KR" sz="800" dirty="0"/>
              <a:t>, 21~24</a:t>
            </a:r>
            <a:r>
              <a:rPr lang="ko-KR" altLang="en-US" sz="800" dirty="0"/>
              <a:t>시</a:t>
            </a:r>
            <a:endParaRPr lang="en-US" altLang="ko-KR" sz="800" dirty="0"/>
          </a:p>
          <a:p>
            <a:r>
              <a:rPr lang="en-US" altLang="ko-KR" sz="800" dirty="0"/>
              <a:t>-</a:t>
            </a:r>
            <a:r>
              <a:rPr lang="ko-KR" altLang="en-US" sz="800" dirty="0" err="1"/>
              <a:t>요일별</a:t>
            </a:r>
            <a:r>
              <a:rPr lang="ko-KR" altLang="en-US" sz="800" dirty="0"/>
              <a:t> </a:t>
            </a:r>
            <a:r>
              <a:rPr lang="en-US" altLang="ko-KR" sz="800" dirty="0"/>
              <a:t>: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/>
              <a:t>일별 </a:t>
            </a:r>
            <a:r>
              <a:rPr lang="en-US" altLang="ko-KR" sz="800" dirty="0"/>
              <a:t>: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/>
              <a:t>관심사 </a:t>
            </a:r>
            <a:r>
              <a:rPr lang="en-US" altLang="ko-KR" sz="800" dirty="0"/>
              <a:t>: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※ </a:t>
            </a:r>
            <a:r>
              <a:rPr lang="ko-KR" altLang="en-US" sz="1000" b="1" dirty="0">
                <a:solidFill>
                  <a:srgbClr val="00B0F0"/>
                </a:solidFill>
              </a:rPr>
              <a:t>기준은 최대 </a:t>
            </a:r>
            <a:r>
              <a:rPr lang="en-US" altLang="ko-KR" sz="1000" b="1" dirty="0">
                <a:solidFill>
                  <a:srgbClr val="00B0F0"/>
                </a:solidFill>
              </a:rPr>
              <a:t>3</a:t>
            </a:r>
            <a:r>
              <a:rPr lang="ko-KR" altLang="en-US" sz="1000" b="1" dirty="0">
                <a:solidFill>
                  <a:srgbClr val="00B0F0"/>
                </a:solidFill>
              </a:rPr>
              <a:t>개까지 선택 가능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데이터 합산이 아니라</a:t>
            </a:r>
            <a:r>
              <a:rPr lang="en-US" altLang="ko-KR" sz="800" dirty="0"/>
              <a:t>,</a:t>
            </a:r>
          </a:p>
          <a:p>
            <a:r>
              <a:rPr lang="ko-KR" altLang="en-US" sz="800" dirty="0"/>
              <a:t>조회되는 집계 표 하단에 구분하여</a:t>
            </a:r>
            <a:endParaRPr lang="en-US" altLang="ko-KR" sz="800" dirty="0"/>
          </a:p>
          <a:p>
            <a:r>
              <a:rPr lang="ko-KR" altLang="en-US" sz="800" dirty="0"/>
              <a:t>표기함</a:t>
            </a:r>
            <a:endParaRPr lang="en-US" altLang="ko-KR" sz="800" dirty="0"/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091872"/>
              </p:ext>
            </p:extLst>
          </p:nvPr>
        </p:nvGraphicFramePr>
        <p:xfrm>
          <a:off x="391269" y="1275708"/>
          <a:ext cx="9316934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0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1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3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조회 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 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기준 구분</a:t>
                      </a:r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기준 구분 </a:t>
                      </a:r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기준 구분 </a:t>
                      </a:r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그룹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1117360" y="1300590"/>
            <a:ext cx="782488" cy="1577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YYYYMMDD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342975" y="1307846"/>
            <a:ext cx="782488" cy="1577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YYYYMMDD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077085" y="1235490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31" name="직사각형 30"/>
          <p:cNvSpPr/>
          <p:nvPr/>
        </p:nvSpPr>
        <p:spPr>
          <a:xfrm>
            <a:off x="175173" y="152482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231344" y="1314818"/>
            <a:ext cx="956828" cy="1459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254899" y="1314332"/>
            <a:ext cx="1260785" cy="14644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7364080" y="1314331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pic>
        <p:nvPicPr>
          <p:cNvPr id="53" name="그림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167" y="1304749"/>
            <a:ext cx="186718" cy="154639"/>
          </a:xfrm>
          <a:prstGeom prst="rect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829" y="1307517"/>
            <a:ext cx="186718" cy="154639"/>
          </a:xfrm>
          <a:prstGeom prst="rect">
            <a:avLst/>
          </a:prstGeom>
        </p:spPr>
      </p:pic>
      <p:sp>
        <p:nvSpPr>
          <p:cNvPr id="57" name="직사각형 56"/>
          <p:cNvSpPr/>
          <p:nvPr/>
        </p:nvSpPr>
        <p:spPr>
          <a:xfrm>
            <a:off x="391269" y="2024655"/>
            <a:ext cx="665803" cy="1301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391269" y="2506090"/>
            <a:ext cx="665803" cy="1301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graphicFrame>
        <p:nvGraphicFramePr>
          <p:cNvPr id="62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535377"/>
              </p:ext>
            </p:extLst>
          </p:nvPr>
        </p:nvGraphicFramePr>
        <p:xfrm>
          <a:off x="391269" y="2737803"/>
          <a:ext cx="9316927" cy="1661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7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3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27208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</a:tblGrid>
              <a:tr h="41148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No.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ko-KR" altLang="en-US" sz="600" dirty="0" err="1"/>
                        <a:t>회원수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/>
                        <a:t>접속자수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ko-KR" altLang="en-US" sz="600" dirty="0"/>
                        <a:t>동영상시청자수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인사이트포럼</a:t>
                      </a:r>
                      <a:endParaRPr lang="en-US" altLang="ko-KR" sz="600" dirty="0"/>
                    </a:p>
                    <a:p>
                      <a:pPr algn="ctr" latinLnBrk="1"/>
                      <a:r>
                        <a:rPr lang="ko-KR" altLang="en-US" sz="600" dirty="0"/>
                        <a:t>참여자수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PC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모바일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TV</a:t>
                      </a:r>
                      <a:r>
                        <a:rPr lang="ko-KR" altLang="en-US" sz="600" dirty="0" err="1"/>
                        <a:t>앱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선호 카테고리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선호</a:t>
                      </a:r>
                      <a:endParaRPr lang="en-US" altLang="ko-KR" sz="600" dirty="0"/>
                    </a:p>
                    <a:p>
                      <a:pPr algn="ctr" latinLnBrk="1"/>
                      <a:r>
                        <a:rPr lang="ko-KR" altLang="en-US" sz="600" dirty="0"/>
                        <a:t>프로그램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선호</a:t>
                      </a:r>
                      <a:endParaRPr lang="en-US" altLang="ko-KR" sz="600" dirty="0"/>
                    </a:p>
                    <a:p>
                      <a:pPr algn="ctr" latinLnBrk="1"/>
                      <a:r>
                        <a:rPr lang="ko-KR" altLang="en-US" sz="600" dirty="0" err="1"/>
                        <a:t>콘텐츠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카테고리별</a:t>
                      </a:r>
                      <a:r>
                        <a:rPr lang="ko-KR" altLang="en-US" sz="600" dirty="0"/>
                        <a:t> 학습시간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분</a:t>
                      </a:r>
                      <a:r>
                        <a:rPr lang="en-US" altLang="ko-KR" sz="600" dirty="0"/>
                        <a:t>)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시청수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시간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분</a:t>
                      </a:r>
                      <a:r>
                        <a:rPr lang="en-US" altLang="ko-KR" sz="600" dirty="0"/>
                        <a:t>)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시청수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시간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분</a:t>
                      </a:r>
                      <a:r>
                        <a:rPr lang="en-US" altLang="ko-KR" sz="600" dirty="0"/>
                        <a:t>)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시청수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시간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분</a:t>
                      </a:r>
                      <a:r>
                        <a:rPr lang="en-US" altLang="ko-KR" sz="600" dirty="0"/>
                        <a:t>)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시청수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시간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분</a:t>
                      </a:r>
                      <a:r>
                        <a:rPr lang="en-US" altLang="ko-KR" sz="600" dirty="0"/>
                        <a:t>)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Best1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/>
                        <a:t>Best2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/>
                        <a:t>Best3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Best1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/>
                        <a:t>Best2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/>
                        <a:t>Best3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리더십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∙</a:t>
                      </a:r>
                      <a:r>
                        <a:rPr lang="ko-KR" altLang="en-US" sz="6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피플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>
                          <a:latin typeface="+mn-lt"/>
                          <a:ea typeface="+mn-ea"/>
                        </a:rPr>
                        <a:t>경영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+mn-ea"/>
                        </a:rPr>
                        <a:t>∙전략</a:t>
                      </a:r>
                      <a:endParaRPr lang="ko-KR" altLang="en-US" sz="600" dirty="0"/>
                    </a:p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>
                          <a:latin typeface="+mn-lt"/>
                          <a:ea typeface="+mn-ea"/>
                        </a:rPr>
                        <a:t>경제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+mn-ea"/>
                        </a:rPr>
                        <a:t>∙</a:t>
                      </a:r>
                      <a:r>
                        <a:rPr lang="ko-KR" altLang="en-US" sz="600" dirty="0" err="1">
                          <a:latin typeface="맑은 고딕" panose="020B0503020000020004" pitchFamily="50" charset="-127"/>
                          <a:ea typeface="+mn-ea"/>
                        </a:rPr>
                        <a:t>트렌드</a:t>
                      </a:r>
                      <a:endParaRPr lang="ko-KR" altLang="en-US" sz="600" dirty="0"/>
                    </a:p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>
                          <a:latin typeface="+mn-lt"/>
                          <a:ea typeface="+mn-ea"/>
                        </a:rPr>
                        <a:t>인문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+mn-ea"/>
                        </a:rPr>
                        <a:t>∙라이프</a:t>
                      </a:r>
                      <a:endParaRPr lang="ko-KR" altLang="en-US" sz="600" dirty="0"/>
                    </a:p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특집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라이브러리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기타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u="none" dirty="0"/>
                        <a:t>상세</a:t>
                      </a:r>
                      <a:r>
                        <a:rPr lang="en-US" altLang="ko-KR" sz="600" u="none" dirty="0"/>
                        <a:t>1</a:t>
                      </a:r>
                      <a:endParaRPr lang="ko-KR" altLang="en-US" sz="600" u="none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000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u="none" dirty="0"/>
                        <a:t>상세</a:t>
                      </a:r>
                      <a:r>
                        <a:rPr lang="en-US" altLang="ko-KR" sz="600" u="none" dirty="0"/>
                        <a:t>2</a:t>
                      </a:r>
                      <a:endParaRPr lang="ko-KR" altLang="en-US" sz="600" u="none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u="none" dirty="0"/>
                        <a:t>상세</a:t>
                      </a:r>
                      <a:r>
                        <a:rPr lang="en-US" altLang="ko-KR" sz="600" u="none" dirty="0"/>
                        <a:t>3</a:t>
                      </a:r>
                      <a:endParaRPr lang="ko-KR" altLang="en-US" sz="600" u="none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직사각형 29"/>
          <p:cNvSpPr/>
          <p:nvPr/>
        </p:nvSpPr>
        <p:spPr>
          <a:xfrm>
            <a:off x="1117360" y="1522381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7364079" y="1501620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231344" y="1521952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이용현황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1117360" y="1731469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31344" y="1727097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7224" y="911636"/>
            <a:ext cx="9576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요약          </a:t>
            </a:r>
            <a:r>
              <a:rPr lang="ko-KR" altLang="en-US" sz="1000" dirty="0" err="1"/>
              <a:t>회원별</a:t>
            </a:r>
            <a:r>
              <a:rPr lang="ko-KR" altLang="en-US" sz="1000" dirty="0"/>
              <a:t> 이용현황            </a:t>
            </a:r>
            <a:r>
              <a:rPr lang="ko-KR" altLang="en-US" sz="1000" b="1" dirty="0"/>
              <a:t>이용현황 집계           </a:t>
            </a:r>
            <a:r>
              <a:rPr lang="ko-KR" altLang="en-US" sz="1000" dirty="0"/>
              <a:t>이용현황 교차 집계            상세 시청내역            서비스 참여현황           클래스 참여현황                                             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7364079" y="1723962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6193" y="2488083"/>
            <a:ext cx="82266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dirty="0">
                <a:solidFill>
                  <a:srgbClr val="FF0000"/>
                </a:solidFill>
              </a:rPr>
              <a:t>데이터 기준 </a:t>
            </a:r>
            <a:r>
              <a:rPr lang="en-US" altLang="ko-KR" sz="600" dirty="0">
                <a:solidFill>
                  <a:srgbClr val="FF0000"/>
                </a:solidFill>
              </a:rPr>
              <a:t>: </a:t>
            </a:r>
            <a:r>
              <a:rPr lang="ko-KR" altLang="en-US" sz="600" dirty="0">
                <a:solidFill>
                  <a:srgbClr val="FF0000"/>
                </a:solidFill>
              </a:rPr>
              <a:t>집계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CRM_06_001-011, 021-022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8842075" y="72852"/>
            <a:ext cx="3968151" cy="54801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marL="228600" indent="-228600" algn="ctr"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</a:rPr>
              <a:t>이용현황 추가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30892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17769" y="660265"/>
            <a:ext cx="1327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현황 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이용현황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3098" y="591381"/>
            <a:ext cx="2642070" cy="643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기준구분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/>
              <a:t>(</a:t>
            </a:r>
            <a:r>
              <a:rPr lang="ko-KR" altLang="en-US" sz="800" dirty="0"/>
              <a:t>각 항목별 </a:t>
            </a:r>
            <a:r>
              <a:rPr lang="ko-KR" altLang="en-US" sz="800" dirty="0" err="1"/>
              <a:t>구분값은</a:t>
            </a:r>
            <a:r>
              <a:rPr lang="ko-KR" altLang="en-US" sz="800" dirty="0"/>
              <a:t> </a:t>
            </a:r>
            <a:r>
              <a:rPr lang="en-US" altLang="ko-KR" sz="800" dirty="0"/>
              <a:t>CRM </a:t>
            </a:r>
            <a:r>
              <a:rPr lang="ko-KR" altLang="en-US" sz="800" dirty="0"/>
              <a:t>데이터에 의해 </a:t>
            </a:r>
            <a:r>
              <a:rPr lang="ko-KR" altLang="en-US" sz="800" dirty="0" err="1"/>
              <a:t>리스트업됨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/>
              <a:t>(</a:t>
            </a:r>
            <a:r>
              <a:rPr lang="ko-KR" altLang="en-US" sz="800" dirty="0"/>
              <a:t>단 기준을 새로 만드는 항목은 아래 정의된</a:t>
            </a:r>
            <a:endParaRPr lang="en-US" altLang="ko-KR" sz="800" dirty="0"/>
          </a:p>
          <a:p>
            <a:r>
              <a:rPr lang="ko-KR" altLang="en-US" sz="800" dirty="0"/>
              <a:t>값으로 구분하여 표기함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ko-KR" altLang="en-US" sz="800" dirty="0">
                <a:solidFill>
                  <a:srgbClr val="FF0000"/>
                </a:solidFill>
              </a:rPr>
              <a:t>각 기준은 교차하지 않고 </a:t>
            </a:r>
            <a:r>
              <a:rPr lang="en-US" altLang="ko-KR" sz="800" dirty="0">
                <a:solidFill>
                  <a:srgbClr val="FF0000"/>
                </a:solidFill>
              </a:rPr>
              <a:t>1</a:t>
            </a:r>
            <a:r>
              <a:rPr lang="ko-KR" altLang="en-US" sz="800" dirty="0">
                <a:solidFill>
                  <a:srgbClr val="FF0000"/>
                </a:solidFill>
              </a:rPr>
              <a:t>개 기준만으로도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데이터를 볼 수 있어야 함</a:t>
            </a:r>
            <a:endParaRPr lang="en-US" altLang="ko-KR" sz="800" dirty="0">
              <a:solidFill>
                <a:srgbClr val="FF0000"/>
              </a:solidFill>
            </a:endParaRPr>
          </a:p>
          <a:p>
            <a:endParaRPr lang="en-US" altLang="ko-KR" sz="800" dirty="0"/>
          </a:p>
          <a:p>
            <a:r>
              <a:rPr lang="en-US" altLang="ko-KR" sz="800" dirty="0"/>
              <a:t>-</a:t>
            </a:r>
            <a:r>
              <a:rPr lang="ko-KR" altLang="en-US" sz="800" dirty="0"/>
              <a:t>회원구분 </a:t>
            </a:r>
            <a:r>
              <a:rPr lang="en-US" altLang="ko-KR" sz="800" dirty="0"/>
              <a:t>: </a:t>
            </a:r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정회원</a:t>
            </a:r>
            <a:r>
              <a:rPr lang="en-US" altLang="ko-KR" sz="800" dirty="0"/>
              <a:t>, </a:t>
            </a:r>
            <a:r>
              <a:rPr lang="ko-KR" altLang="en-US" sz="800" dirty="0"/>
              <a:t>법인</a:t>
            </a:r>
            <a:r>
              <a:rPr lang="en-US" altLang="ko-KR" sz="800" dirty="0"/>
              <a:t>-</a:t>
            </a:r>
            <a:r>
              <a:rPr lang="ko-KR" altLang="en-US" sz="800" dirty="0"/>
              <a:t>매거진 </a:t>
            </a:r>
            <a:r>
              <a:rPr lang="en-US" altLang="ko-KR" sz="800" dirty="0"/>
              <a:t>….</a:t>
            </a:r>
          </a:p>
          <a:p>
            <a:r>
              <a:rPr lang="en-US" altLang="ko-KR" sz="800" dirty="0"/>
              <a:t>   (</a:t>
            </a:r>
            <a:r>
              <a:rPr lang="ko-KR" altLang="en-US" sz="800" dirty="0"/>
              <a:t>유료</a:t>
            </a:r>
            <a:r>
              <a:rPr lang="en-US" altLang="ko-KR" sz="800" dirty="0"/>
              <a:t>, </a:t>
            </a:r>
            <a:r>
              <a:rPr lang="ko-KR" altLang="en-US" sz="800" dirty="0"/>
              <a:t>무료 모두 표기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/>
              <a:t>연령 </a:t>
            </a:r>
            <a:r>
              <a:rPr lang="en-US" altLang="ko-KR" sz="800" dirty="0"/>
              <a:t>: 40</a:t>
            </a:r>
            <a:r>
              <a:rPr lang="ko-KR" altLang="en-US" sz="800" dirty="0"/>
              <a:t>대 미만</a:t>
            </a:r>
            <a:r>
              <a:rPr lang="en-US" altLang="ko-KR" sz="800" dirty="0"/>
              <a:t>, 40</a:t>
            </a:r>
            <a:r>
              <a:rPr lang="ko-KR" altLang="en-US" sz="800" dirty="0"/>
              <a:t>대</a:t>
            </a:r>
            <a:r>
              <a:rPr lang="en-US" altLang="ko-KR" sz="800" dirty="0"/>
              <a:t>, 50</a:t>
            </a:r>
            <a:r>
              <a:rPr lang="ko-KR" altLang="en-US" sz="800" dirty="0"/>
              <a:t>대</a:t>
            </a:r>
            <a:r>
              <a:rPr lang="en-US" altLang="ko-KR" sz="800" dirty="0"/>
              <a:t>, 60</a:t>
            </a:r>
            <a:r>
              <a:rPr lang="ko-KR" altLang="en-US" sz="800" dirty="0"/>
              <a:t>대</a:t>
            </a:r>
            <a:r>
              <a:rPr lang="en-US" altLang="ko-KR" sz="800" dirty="0"/>
              <a:t>, 70</a:t>
            </a:r>
            <a:r>
              <a:rPr lang="ko-KR" altLang="en-US" sz="800" dirty="0"/>
              <a:t>대</a:t>
            </a:r>
            <a:r>
              <a:rPr lang="en-US" altLang="ko-KR" sz="800" dirty="0"/>
              <a:t>, </a:t>
            </a:r>
            <a:r>
              <a:rPr lang="ko-KR" altLang="en-US" sz="800" dirty="0"/>
              <a:t>연령미상</a:t>
            </a:r>
            <a:endParaRPr lang="en-US" altLang="ko-KR" sz="800" dirty="0"/>
          </a:p>
          <a:p>
            <a:r>
              <a:rPr lang="en-US" altLang="ko-KR" sz="800" dirty="0"/>
              <a:t>-</a:t>
            </a:r>
            <a:r>
              <a:rPr lang="ko-KR" altLang="en-US" sz="800" dirty="0"/>
              <a:t>성별 </a:t>
            </a:r>
            <a:r>
              <a:rPr lang="en-US" altLang="ko-KR" sz="800" dirty="0"/>
              <a:t>: </a:t>
            </a:r>
            <a:r>
              <a:rPr lang="ko-KR" altLang="en-US" sz="800" dirty="0"/>
              <a:t>남</a:t>
            </a:r>
            <a:r>
              <a:rPr lang="en-US" altLang="ko-KR" sz="800" dirty="0"/>
              <a:t>, </a:t>
            </a:r>
            <a:r>
              <a:rPr lang="ko-KR" altLang="en-US" sz="800" dirty="0"/>
              <a:t>여</a:t>
            </a:r>
            <a:endParaRPr lang="en-US" altLang="ko-KR" sz="800" dirty="0"/>
          </a:p>
          <a:p>
            <a:r>
              <a:rPr lang="en-US" altLang="ko-KR" sz="800" dirty="0"/>
              <a:t>-</a:t>
            </a:r>
            <a:r>
              <a:rPr lang="ko-KR" altLang="en-US" sz="800" dirty="0"/>
              <a:t>연차 </a:t>
            </a:r>
            <a:r>
              <a:rPr lang="en-US" altLang="ko-KR" sz="800" dirty="0"/>
              <a:t>: 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/>
              <a:t>업종 </a:t>
            </a:r>
            <a:r>
              <a:rPr lang="en-US" altLang="ko-KR" sz="800" dirty="0"/>
              <a:t>: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/>
              <a:t>업태</a:t>
            </a:r>
            <a:r>
              <a:rPr lang="en-US" altLang="ko-KR" sz="800" dirty="0"/>
              <a:t>: 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/>
              <a:t>대내외 </a:t>
            </a:r>
            <a:r>
              <a:rPr lang="en-US" altLang="ko-KR" sz="800" dirty="0"/>
              <a:t>: </a:t>
            </a:r>
            <a:r>
              <a:rPr lang="ko-KR" altLang="en-US" sz="800" dirty="0"/>
              <a:t>대내</a:t>
            </a:r>
            <a:r>
              <a:rPr lang="en-US" altLang="ko-KR" sz="800" dirty="0"/>
              <a:t>, </a:t>
            </a:r>
            <a:r>
              <a:rPr lang="ko-KR" altLang="en-US" sz="800" dirty="0"/>
              <a:t>대외</a:t>
            </a:r>
            <a:endParaRPr lang="en-US" altLang="ko-KR" sz="800" dirty="0"/>
          </a:p>
          <a:p>
            <a:r>
              <a:rPr lang="en-US" altLang="ko-KR" sz="800" dirty="0"/>
              <a:t>-</a:t>
            </a:r>
            <a:r>
              <a:rPr lang="ko-KR" altLang="en-US" sz="800" dirty="0"/>
              <a:t>직위 </a:t>
            </a:r>
            <a:r>
              <a:rPr lang="en-US" altLang="ko-KR" sz="800" dirty="0"/>
              <a:t>: 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/>
              <a:t>지역 </a:t>
            </a:r>
            <a:r>
              <a:rPr lang="en-US" altLang="ko-KR" sz="800" dirty="0"/>
              <a:t>: 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/>
              <a:t>디바이스 </a:t>
            </a:r>
            <a:r>
              <a:rPr lang="en-US" altLang="ko-KR" sz="800" dirty="0"/>
              <a:t>: PC, Mobile, </a:t>
            </a:r>
            <a:r>
              <a:rPr lang="ko-KR" altLang="en-US" sz="800" dirty="0" err="1"/>
              <a:t>안드로이드</a:t>
            </a:r>
            <a:r>
              <a:rPr lang="ko-KR" altLang="en-US" sz="800" dirty="0"/>
              <a:t> </a:t>
            </a:r>
            <a:r>
              <a:rPr lang="ko-KR" altLang="en-US" sz="800" dirty="0" err="1"/>
              <a:t>앱</a:t>
            </a:r>
            <a:r>
              <a:rPr lang="en-US" altLang="ko-KR" sz="800" dirty="0"/>
              <a:t>, iOS</a:t>
            </a:r>
            <a:r>
              <a:rPr lang="ko-KR" altLang="en-US" sz="800" dirty="0" err="1"/>
              <a:t>앱</a:t>
            </a:r>
            <a:r>
              <a:rPr lang="en-US" altLang="ko-KR" sz="800" dirty="0"/>
              <a:t>,</a:t>
            </a:r>
          </a:p>
          <a:p>
            <a:r>
              <a:rPr lang="en-US" altLang="ko-KR" sz="800" dirty="0"/>
              <a:t>              </a:t>
            </a:r>
            <a:r>
              <a:rPr lang="ko-KR" altLang="en-US" sz="800" dirty="0" err="1"/>
              <a:t>모바일웹</a:t>
            </a:r>
            <a:r>
              <a:rPr lang="en-US" altLang="ko-KR" sz="800" dirty="0"/>
              <a:t>, TV</a:t>
            </a:r>
            <a:r>
              <a:rPr lang="ko-KR" altLang="en-US" sz="800" dirty="0" err="1"/>
              <a:t>앱</a:t>
            </a:r>
            <a:endParaRPr lang="en-US" altLang="ko-KR" sz="800" dirty="0"/>
          </a:p>
          <a:p>
            <a:r>
              <a:rPr lang="en-US" altLang="ko-KR" sz="800" dirty="0"/>
              <a:t>-</a:t>
            </a:r>
            <a:r>
              <a:rPr lang="ko-KR" altLang="en-US" sz="800" dirty="0"/>
              <a:t>오프참여 </a:t>
            </a:r>
            <a:r>
              <a:rPr lang="en-US" altLang="ko-KR" sz="800" dirty="0"/>
              <a:t>: 10</a:t>
            </a:r>
            <a:r>
              <a:rPr lang="ko-KR" altLang="en-US" sz="800" dirty="0"/>
              <a:t>회 이상</a:t>
            </a:r>
            <a:r>
              <a:rPr lang="en-US" altLang="ko-KR" sz="800" dirty="0"/>
              <a:t>, 6~9</a:t>
            </a:r>
            <a:r>
              <a:rPr lang="ko-KR" altLang="en-US" sz="800" dirty="0"/>
              <a:t>회</a:t>
            </a:r>
            <a:r>
              <a:rPr lang="en-US" altLang="ko-KR" sz="800" dirty="0"/>
              <a:t>, 2~5</a:t>
            </a:r>
            <a:r>
              <a:rPr lang="ko-KR" altLang="en-US" sz="800" dirty="0"/>
              <a:t>회</a:t>
            </a:r>
            <a:r>
              <a:rPr lang="en-US" altLang="ko-KR" sz="800" dirty="0"/>
              <a:t>, 1</a:t>
            </a:r>
            <a:r>
              <a:rPr lang="ko-KR" altLang="en-US" sz="800" dirty="0"/>
              <a:t>회</a:t>
            </a:r>
            <a:r>
              <a:rPr lang="en-US" altLang="ko-KR" sz="800" dirty="0"/>
              <a:t>, 0</a:t>
            </a:r>
            <a:r>
              <a:rPr lang="ko-KR" altLang="en-US" sz="800" dirty="0"/>
              <a:t>회</a:t>
            </a:r>
            <a:endParaRPr lang="en-US" altLang="ko-KR" sz="800" dirty="0"/>
          </a:p>
          <a:p>
            <a:r>
              <a:rPr lang="en-US" altLang="ko-KR" sz="800" dirty="0"/>
              <a:t>-</a:t>
            </a:r>
            <a:r>
              <a:rPr lang="ko-KR" altLang="en-US" sz="800" dirty="0" err="1"/>
              <a:t>회원수</a:t>
            </a:r>
            <a:r>
              <a:rPr lang="ko-KR" altLang="en-US" sz="800" dirty="0"/>
              <a:t> </a:t>
            </a:r>
            <a:r>
              <a:rPr lang="en-US" altLang="ko-KR" sz="800" dirty="0"/>
              <a:t>: 100</a:t>
            </a:r>
            <a:r>
              <a:rPr lang="ko-KR" altLang="en-US" sz="800" dirty="0"/>
              <a:t>명 이상</a:t>
            </a:r>
            <a:r>
              <a:rPr lang="en-US" altLang="ko-KR" sz="800" dirty="0"/>
              <a:t>,  60~99</a:t>
            </a:r>
            <a:r>
              <a:rPr lang="ko-KR" altLang="en-US" sz="800" dirty="0"/>
              <a:t>명</a:t>
            </a:r>
            <a:r>
              <a:rPr lang="en-US" altLang="ko-KR" sz="800" dirty="0"/>
              <a:t>, 20~59</a:t>
            </a:r>
            <a:r>
              <a:rPr lang="ko-KR" altLang="en-US" sz="800" dirty="0"/>
              <a:t>명</a:t>
            </a:r>
            <a:r>
              <a:rPr lang="en-US" altLang="ko-KR" sz="800" dirty="0"/>
              <a:t>, 10~19</a:t>
            </a:r>
            <a:r>
              <a:rPr lang="ko-KR" altLang="en-US" sz="800" dirty="0"/>
              <a:t>명</a:t>
            </a:r>
            <a:r>
              <a:rPr lang="en-US" altLang="ko-KR" sz="800" dirty="0"/>
              <a:t>,</a:t>
            </a:r>
          </a:p>
          <a:p>
            <a:r>
              <a:rPr lang="en-US" altLang="ko-KR" sz="800" dirty="0"/>
              <a:t>           2~9</a:t>
            </a:r>
            <a:r>
              <a:rPr lang="ko-KR" altLang="en-US" sz="800" dirty="0"/>
              <a:t>명</a:t>
            </a:r>
            <a:r>
              <a:rPr lang="en-US" altLang="ko-KR" sz="800" dirty="0"/>
              <a:t>, 1</a:t>
            </a:r>
            <a:r>
              <a:rPr lang="ko-KR" altLang="en-US" sz="800" dirty="0"/>
              <a:t>명</a:t>
            </a:r>
            <a:endParaRPr lang="en-US" altLang="ko-KR" sz="800" dirty="0"/>
          </a:p>
          <a:p>
            <a:r>
              <a:rPr lang="en-US" altLang="ko-KR" sz="800" dirty="0"/>
              <a:t>-</a:t>
            </a:r>
            <a:r>
              <a:rPr lang="ko-KR" altLang="en-US" sz="800" dirty="0"/>
              <a:t>카테고리 </a:t>
            </a:r>
            <a:r>
              <a:rPr lang="en-US" altLang="ko-KR" sz="800" dirty="0"/>
              <a:t>: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/>
              <a:t>프로그램 </a:t>
            </a:r>
            <a:r>
              <a:rPr lang="en-US" altLang="ko-KR" sz="800" dirty="0"/>
              <a:t>: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 err="1"/>
              <a:t>콘텐츠</a:t>
            </a:r>
            <a:r>
              <a:rPr lang="ko-KR" altLang="en-US" sz="800" dirty="0"/>
              <a:t> </a:t>
            </a:r>
            <a:r>
              <a:rPr lang="en-US" altLang="ko-KR" sz="800" dirty="0"/>
              <a:t>: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/>
              <a:t>시간대별 </a:t>
            </a:r>
            <a:r>
              <a:rPr lang="en-US" altLang="ko-KR" sz="800" dirty="0"/>
              <a:t>: 00~03</a:t>
            </a:r>
            <a:r>
              <a:rPr lang="ko-KR" altLang="en-US" sz="800" dirty="0"/>
              <a:t>시</a:t>
            </a:r>
            <a:r>
              <a:rPr lang="en-US" altLang="ko-KR" sz="800" dirty="0"/>
              <a:t>, 03~06</a:t>
            </a:r>
            <a:r>
              <a:rPr lang="ko-KR" altLang="en-US" sz="800" dirty="0"/>
              <a:t>시</a:t>
            </a:r>
            <a:r>
              <a:rPr lang="en-US" altLang="ko-KR" sz="800" dirty="0"/>
              <a:t>, 06~09</a:t>
            </a:r>
            <a:r>
              <a:rPr lang="ko-KR" altLang="en-US" sz="800" dirty="0"/>
              <a:t>시</a:t>
            </a:r>
            <a:r>
              <a:rPr lang="en-US" altLang="ko-KR" sz="800" dirty="0"/>
              <a:t>, 09~12</a:t>
            </a:r>
            <a:r>
              <a:rPr lang="ko-KR" altLang="en-US" sz="800" dirty="0"/>
              <a:t>시</a:t>
            </a:r>
            <a:r>
              <a:rPr lang="en-US" altLang="ko-KR" sz="800" dirty="0"/>
              <a:t>,</a:t>
            </a:r>
          </a:p>
          <a:p>
            <a:r>
              <a:rPr lang="en-US" altLang="ko-KR" sz="800" dirty="0"/>
              <a:t>      12~15</a:t>
            </a:r>
            <a:r>
              <a:rPr lang="ko-KR" altLang="en-US" sz="800" dirty="0"/>
              <a:t>시</a:t>
            </a:r>
            <a:r>
              <a:rPr lang="en-US" altLang="ko-KR" sz="800" dirty="0"/>
              <a:t>, 15~18</a:t>
            </a:r>
            <a:r>
              <a:rPr lang="ko-KR" altLang="en-US" sz="800" dirty="0"/>
              <a:t>시</a:t>
            </a:r>
            <a:r>
              <a:rPr lang="en-US" altLang="ko-KR" sz="800" dirty="0"/>
              <a:t>, 18~21</a:t>
            </a:r>
            <a:r>
              <a:rPr lang="ko-KR" altLang="en-US" sz="800" dirty="0"/>
              <a:t>시</a:t>
            </a:r>
            <a:r>
              <a:rPr lang="en-US" altLang="ko-KR" sz="800" dirty="0"/>
              <a:t>, 21~24</a:t>
            </a:r>
            <a:r>
              <a:rPr lang="ko-KR" altLang="en-US" sz="800" dirty="0"/>
              <a:t>시</a:t>
            </a:r>
            <a:endParaRPr lang="en-US" altLang="ko-KR" sz="800" dirty="0"/>
          </a:p>
          <a:p>
            <a:r>
              <a:rPr lang="en-US" altLang="ko-KR" sz="800" dirty="0"/>
              <a:t>-</a:t>
            </a:r>
            <a:r>
              <a:rPr lang="ko-KR" altLang="en-US" sz="800" dirty="0" err="1"/>
              <a:t>요일별</a:t>
            </a:r>
            <a:r>
              <a:rPr lang="ko-KR" altLang="en-US" sz="800" dirty="0"/>
              <a:t> </a:t>
            </a:r>
            <a:r>
              <a:rPr lang="en-US" altLang="ko-KR" sz="800" dirty="0"/>
              <a:t>: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/>
              <a:t>일별 </a:t>
            </a:r>
            <a:r>
              <a:rPr lang="en-US" altLang="ko-KR" sz="800" dirty="0"/>
              <a:t>:</a:t>
            </a:r>
          </a:p>
          <a:p>
            <a:r>
              <a:rPr lang="en-US" altLang="ko-KR" sz="800" dirty="0"/>
              <a:t>-</a:t>
            </a:r>
            <a:r>
              <a:rPr lang="ko-KR" altLang="en-US" sz="800" dirty="0"/>
              <a:t>관심사 </a:t>
            </a:r>
            <a:r>
              <a:rPr lang="en-US" altLang="ko-KR" sz="800" dirty="0"/>
              <a:t>:</a:t>
            </a:r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데이터</a:t>
            </a:r>
            <a:endParaRPr lang="en-US" altLang="ko-KR" sz="800" dirty="0"/>
          </a:p>
          <a:p>
            <a:r>
              <a:rPr lang="ko-KR" altLang="en-US" sz="800" dirty="0" err="1"/>
              <a:t>회원수</a:t>
            </a:r>
            <a:endParaRPr lang="en-US" altLang="ko-KR" sz="800" dirty="0"/>
          </a:p>
          <a:p>
            <a:r>
              <a:rPr lang="ko-KR" altLang="en-US" sz="800" dirty="0"/>
              <a:t>접속자수</a:t>
            </a:r>
            <a:endParaRPr lang="en-US" altLang="ko-KR" sz="800" dirty="0"/>
          </a:p>
          <a:p>
            <a:r>
              <a:rPr lang="ko-KR" altLang="en-US" sz="800" dirty="0"/>
              <a:t>동영상시청자수</a:t>
            </a:r>
            <a:endParaRPr lang="en-US" altLang="ko-KR" sz="800" dirty="0"/>
          </a:p>
          <a:p>
            <a:r>
              <a:rPr lang="ko-KR" altLang="en-US" sz="800" dirty="0"/>
              <a:t>전체조회수</a:t>
            </a:r>
            <a:endParaRPr lang="en-US" altLang="ko-KR" sz="800" dirty="0"/>
          </a:p>
          <a:p>
            <a:r>
              <a:rPr lang="ko-KR" altLang="en-US" sz="800" dirty="0"/>
              <a:t>전체이용시간</a:t>
            </a:r>
            <a:r>
              <a:rPr lang="en-US" altLang="ko-KR" sz="800" dirty="0"/>
              <a:t>(</a:t>
            </a:r>
            <a:r>
              <a:rPr lang="ko-KR" altLang="en-US" sz="800" dirty="0"/>
              <a:t>분</a:t>
            </a:r>
            <a:r>
              <a:rPr lang="en-US" altLang="ko-KR" sz="800" dirty="0"/>
              <a:t>)</a:t>
            </a:r>
          </a:p>
          <a:p>
            <a:r>
              <a:rPr lang="ko-KR" altLang="en-US" sz="800" dirty="0" err="1"/>
              <a:t>인사이트</a:t>
            </a:r>
            <a:r>
              <a:rPr lang="ko-KR" altLang="en-US" sz="800" dirty="0"/>
              <a:t> 포럼 참석자수</a:t>
            </a:r>
            <a:endParaRPr lang="en-US" altLang="ko-KR" sz="800" dirty="0"/>
          </a:p>
          <a:p>
            <a:r>
              <a:rPr lang="ko-KR" altLang="en-US" sz="800" dirty="0" err="1"/>
              <a:t>회사수</a:t>
            </a:r>
            <a:endParaRPr lang="en-US" altLang="ko-KR" sz="800" dirty="0"/>
          </a:p>
          <a:p>
            <a:r>
              <a:rPr lang="ko-KR" altLang="en-US" sz="800" dirty="0"/>
              <a:t>선호 프로그램 </a:t>
            </a:r>
            <a:r>
              <a:rPr lang="en-US" altLang="ko-KR" sz="800" dirty="0"/>
              <a:t>(3</a:t>
            </a:r>
            <a:r>
              <a:rPr lang="ko-KR" altLang="en-US" sz="800" dirty="0"/>
              <a:t>개씩</a:t>
            </a:r>
            <a:r>
              <a:rPr lang="en-US" altLang="ko-KR" sz="800" dirty="0"/>
              <a:t>)</a:t>
            </a:r>
          </a:p>
          <a:p>
            <a:r>
              <a:rPr lang="ko-KR" altLang="en-US" sz="800" dirty="0"/>
              <a:t>선호 </a:t>
            </a:r>
            <a:r>
              <a:rPr lang="ko-KR" altLang="en-US" sz="800" dirty="0" err="1"/>
              <a:t>콘텐츠</a:t>
            </a:r>
            <a:r>
              <a:rPr lang="ko-KR" altLang="en-US" sz="800" dirty="0"/>
              <a:t> </a:t>
            </a:r>
            <a:r>
              <a:rPr lang="en-US" altLang="ko-KR" sz="800" dirty="0"/>
              <a:t>(3</a:t>
            </a:r>
            <a:r>
              <a:rPr lang="ko-KR" altLang="en-US" sz="800" dirty="0"/>
              <a:t>개씩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ko-KR" altLang="en-US" sz="800" dirty="0"/>
              <a:t>각 데이터를 조회 후 값 클릭 시</a:t>
            </a:r>
            <a:endParaRPr lang="en-US" altLang="ko-KR" sz="800" dirty="0"/>
          </a:p>
          <a:p>
            <a:r>
              <a:rPr lang="ko-KR" altLang="en-US" sz="800" dirty="0"/>
              <a:t>상세 내역 팝업 실행 </a:t>
            </a:r>
            <a:r>
              <a:rPr lang="en-US" altLang="ko-KR" sz="800" dirty="0"/>
              <a:t>(</a:t>
            </a:r>
            <a:r>
              <a:rPr lang="ko-KR" altLang="en-US" sz="800" dirty="0"/>
              <a:t>선호 프로그램</a:t>
            </a:r>
            <a:r>
              <a:rPr lang="en-US" altLang="ko-KR" sz="800" dirty="0"/>
              <a:t>, </a:t>
            </a:r>
            <a:r>
              <a:rPr lang="ko-KR" altLang="en-US" sz="800" dirty="0" err="1"/>
              <a:t>콘텐츠는</a:t>
            </a:r>
            <a:endParaRPr lang="en-US" altLang="ko-KR" sz="800" dirty="0"/>
          </a:p>
          <a:p>
            <a:r>
              <a:rPr lang="ko-KR" altLang="en-US" sz="800" dirty="0"/>
              <a:t>상세 필요 없음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/>
              <a:t>사람수 </a:t>
            </a:r>
            <a:r>
              <a:rPr lang="en-US" altLang="ko-KR" sz="800" dirty="0"/>
              <a:t>: </a:t>
            </a:r>
            <a:r>
              <a:rPr lang="ko-KR" altLang="en-US" sz="800" dirty="0"/>
              <a:t>사람 리스트</a:t>
            </a:r>
            <a:r>
              <a:rPr lang="en-US" altLang="ko-KR" sz="800" dirty="0"/>
              <a:t>(</a:t>
            </a:r>
            <a:r>
              <a:rPr lang="ko-KR" altLang="en-US" sz="800" dirty="0" err="1"/>
              <a:t>퍼미션</a:t>
            </a:r>
            <a:r>
              <a:rPr lang="ko-KR" altLang="en-US" sz="800" dirty="0"/>
              <a:t> 정보 필요</a:t>
            </a:r>
            <a:r>
              <a:rPr lang="en-US" altLang="ko-KR" sz="800" dirty="0"/>
              <a:t>)</a:t>
            </a:r>
          </a:p>
          <a:p>
            <a:r>
              <a:rPr lang="ko-KR" altLang="en-US" sz="800" dirty="0"/>
              <a:t>조회수</a:t>
            </a:r>
            <a:r>
              <a:rPr lang="en-US" altLang="ko-KR" sz="800" dirty="0"/>
              <a:t>, </a:t>
            </a:r>
            <a:r>
              <a:rPr lang="ko-KR" altLang="en-US" sz="800" dirty="0"/>
              <a:t>시간 </a:t>
            </a:r>
            <a:r>
              <a:rPr lang="en-US" altLang="ko-KR" sz="800" dirty="0"/>
              <a:t>: </a:t>
            </a:r>
            <a:r>
              <a:rPr lang="ko-KR" altLang="en-US" sz="800" dirty="0"/>
              <a:t>시청 내역</a:t>
            </a:r>
            <a:endParaRPr lang="en-US" altLang="ko-KR" sz="800" dirty="0"/>
          </a:p>
          <a:p>
            <a:r>
              <a:rPr lang="ko-KR" altLang="en-US" sz="800" dirty="0" err="1"/>
              <a:t>회사수</a:t>
            </a:r>
            <a:r>
              <a:rPr lang="ko-KR" altLang="en-US" sz="800" dirty="0"/>
              <a:t> </a:t>
            </a:r>
            <a:r>
              <a:rPr lang="en-US" altLang="ko-KR" sz="800" dirty="0"/>
              <a:t>: </a:t>
            </a:r>
            <a:r>
              <a:rPr lang="ko-KR" altLang="en-US" sz="800" dirty="0"/>
              <a:t>회사 리스트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638252"/>
              </p:ext>
            </p:extLst>
          </p:nvPr>
        </p:nvGraphicFramePr>
        <p:xfrm>
          <a:off x="410725" y="1275708"/>
          <a:ext cx="9316934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0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1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3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조회 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 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기준 </a:t>
                      </a:r>
                      <a:r>
                        <a:rPr lang="en-US" altLang="ko-KR" sz="800" dirty="0"/>
                        <a:t>1</a:t>
                      </a:r>
                    </a:p>
                    <a:p>
                      <a:pPr algn="ctr"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세로 구분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기준</a:t>
                      </a:r>
                      <a:r>
                        <a:rPr lang="ko-KR" altLang="en-US" sz="800" baseline="0" dirty="0"/>
                        <a:t> </a:t>
                      </a:r>
                      <a:r>
                        <a:rPr lang="en-US" altLang="ko-KR" sz="800" baseline="0" dirty="0"/>
                        <a:t>2</a:t>
                      </a:r>
                    </a:p>
                    <a:p>
                      <a:pPr algn="ctr" latinLnBrk="1"/>
                      <a:r>
                        <a:rPr lang="en-US" altLang="ko-KR" sz="800" baseline="0" dirty="0"/>
                        <a:t>(</a:t>
                      </a:r>
                      <a:r>
                        <a:rPr lang="ko-KR" altLang="en-US" sz="800" baseline="0" dirty="0"/>
                        <a:t>가로 구분</a:t>
                      </a:r>
                      <a:r>
                        <a:rPr lang="en-US" altLang="ko-KR" sz="800" baseline="0" dirty="0"/>
                        <a:t>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조회 데이터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그룹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1136816" y="1300590"/>
            <a:ext cx="782488" cy="1577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YYYYMMDD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362431" y="1307846"/>
            <a:ext cx="782488" cy="1577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YYYYMMDD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096541" y="1235490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31" name="직사각형 30"/>
          <p:cNvSpPr/>
          <p:nvPr/>
        </p:nvSpPr>
        <p:spPr>
          <a:xfrm>
            <a:off x="194629" y="152482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250800" y="1314818"/>
            <a:ext cx="956828" cy="1459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274355" y="1314332"/>
            <a:ext cx="1260785" cy="14644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7383536" y="1314331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pic>
        <p:nvPicPr>
          <p:cNvPr id="53" name="그림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623" y="1304749"/>
            <a:ext cx="186718" cy="154639"/>
          </a:xfrm>
          <a:prstGeom prst="rect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285" y="1307517"/>
            <a:ext cx="186718" cy="154639"/>
          </a:xfrm>
          <a:prstGeom prst="rect">
            <a:avLst/>
          </a:prstGeom>
        </p:spPr>
      </p:pic>
      <p:sp>
        <p:nvSpPr>
          <p:cNvPr id="57" name="직사각형 56"/>
          <p:cNvSpPr/>
          <p:nvPr/>
        </p:nvSpPr>
        <p:spPr>
          <a:xfrm>
            <a:off x="410725" y="2124830"/>
            <a:ext cx="665803" cy="1301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410725" y="2356543"/>
            <a:ext cx="665803" cy="1301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graphicFrame>
        <p:nvGraphicFramePr>
          <p:cNvPr id="62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577345"/>
              </p:ext>
            </p:extLst>
          </p:nvPr>
        </p:nvGraphicFramePr>
        <p:xfrm>
          <a:off x="410725" y="2569181"/>
          <a:ext cx="9257149" cy="11661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5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55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55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55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27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기준</a:t>
                      </a:r>
                      <a:r>
                        <a:rPr lang="en-US" altLang="ko-KR" sz="800" dirty="0"/>
                        <a:t>2 - </a:t>
                      </a:r>
                      <a:r>
                        <a:rPr lang="ko-KR" altLang="en-US" sz="800" dirty="0"/>
                        <a:t>상세</a:t>
                      </a:r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기준</a:t>
                      </a:r>
                      <a:r>
                        <a:rPr lang="en-US" altLang="ko-KR" sz="800" dirty="0"/>
                        <a:t>2 –</a:t>
                      </a:r>
                      <a:r>
                        <a:rPr lang="en-US" altLang="ko-KR" sz="800" baseline="0" dirty="0"/>
                        <a:t> </a:t>
                      </a:r>
                      <a:r>
                        <a:rPr lang="ko-KR" altLang="en-US" sz="800" baseline="0" dirty="0"/>
                        <a:t>상세</a:t>
                      </a:r>
                      <a:r>
                        <a:rPr lang="en-US" altLang="ko-KR" sz="800" baseline="0" dirty="0"/>
                        <a:t>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기준</a:t>
                      </a:r>
                      <a:r>
                        <a:rPr lang="en-US" altLang="ko-KR" sz="800" dirty="0"/>
                        <a:t>2 – </a:t>
                      </a:r>
                      <a:r>
                        <a:rPr lang="ko-KR" altLang="en-US" sz="800" dirty="0"/>
                        <a:t>상세</a:t>
                      </a:r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기준</a:t>
                      </a:r>
                      <a:r>
                        <a:rPr lang="en-US" altLang="ko-KR" sz="800" dirty="0"/>
                        <a:t>2 – </a:t>
                      </a:r>
                      <a:r>
                        <a:rPr lang="ko-KR" altLang="en-US" sz="800" dirty="0"/>
                        <a:t>상세</a:t>
                      </a:r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기준</a:t>
                      </a:r>
                      <a:r>
                        <a:rPr lang="en-US" altLang="ko-KR" sz="800" dirty="0"/>
                        <a:t>2 – </a:t>
                      </a:r>
                      <a:r>
                        <a:rPr lang="ko-KR" altLang="en-US" sz="800" dirty="0"/>
                        <a:t>상세</a:t>
                      </a:r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기준</a:t>
                      </a:r>
                      <a:r>
                        <a:rPr lang="en-US" altLang="ko-KR" sz="800" dirty="0"/>
                        <a:t>2 – </a:t>
                      </a:r>
                      <a:r>
                        <a:rPr lang="ko-KR" altLang="en-US" sz="800" dirty="0"/>
                        <a:t>상세</a:t>
                      </a:r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기준</a:t>
                      </a:r>
                      <a:r>
                        <a:rPr lang="en-US" altLang="ko-KR" sz="800" dirty="0"/>
                        <a:t>1 – </a:t>
                      </a:r>
                      <a:r>
                        <a:rPr lang="ko-KR" altLang="en-US" sz="800" dirty="0"/>
                        <a:t>상세</a:t>
                      </a:r>
                      <a:r>
                        <a:rPr lang="en-US" altLang="ko-KR" sz="800" dirty="0"/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OOOO</a:t>
                      </a:r>
                      <a:endParaRPr lang="ko-KR" altLang="en-US" sz="800" u="sng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기준</a:t>
                      </a:r>
                      <a:r>
                        <a:rPr lang="en-US" altLang="ko-KR" sz="800" dirty="0"/>
                        <a:t>1 - </a:t>
                      </a:r>
                      <a:r>
                        <a:rPr lang="ko-KR" altLang="en-US" sz="800" dirty="0"/>
                        <a:t>상세</a:t>
                      </a:r>
                      <a:r>
                        <a:rPr lang="en-US" altLang="ko-KR" sz="800" dirty="0"/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기준</a:t>
                      </a:r>
                      <a:r>
                        <a:rPr lang="en-US" altLang="ko-KR" sz="800" dirty="0"/>
                        <a:t>1</a:t>
                      </a:r>
                      <a:r>
                        <a:rPr lang="en-US" altLang="ko-KR" sz="800" baseline="0" dirty="0"/>
                        <a:t> – </a:t>
                      </a:r>
                      <a:r>
                        <a:rPr lang="ko-KR" altLang="en-US" sz="800" baseline="0" dirty="0"/>
                        <a:t>상세</a:t>
                      </a:r>
                      <a:r>
                        <a:rPr lang="en-US" altLang="ko-KR" sz="800" baseline="0" dirty="0"/>
                        <a:t>3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합계</a:t>
                      </a: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" name="직사각형 62"/>
          <p:cNvSpPr/>
          <p:nvPr/>
        </p:nvSpPr>
        <p:spPr>
          <a:xfrm rot="20547490">
            <a:off x="3976273" y="2852907"/>
            <a:ext cx="2126053" cy="2791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조회 데이터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136816" y="1522381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7383535" y="1501620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250800" y="1521952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이용현황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7072" y="2110106"/>
            <a:ext cx="278153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dirty="0">
                <a:solidFill>
                  <a:srgbClr val="FF0000"/>
                </a:solidFill>
              </a:rPr>
              <a:t>데이터 기준 </a:t>
            </a:r>
            <a:r>
              <a:rPr lang="en-US" altLang="ko-KR" sz="600" dirty="0">
                <a:solidFill>
                  <a:srgbClr val="FF0000"/>
                </a:solidFill>
              </a:rPr>
              <a:t>: </a:t>
            </a:r>
            <a:r>
              <a:rPr lang="ko-KR" altLang="en-US" sz="600" dirty="0">
                <a:solidFill>
                  <a:srgbClr val="FF0000"/>
                </a:solidFill>
              </a:rPr>
              <a:t>집계 </a:t>
            </a:r>
            <a:r>
              <a:rPr lang="en-US" altLang="ko-KR" sz="600" dirty="0">
                <a:solidFill>
                  <a:srgbClr val="FF0000"/>
                </a:solidFill>
              </a:rPr>
              <a:t>/  </a:t>
            </a:r>
            <a:r>
              <a:rPr lang="ko-KR" altLang="en-US" sz="600" dirty="0">
                <a:solidFill>
                  <a:srgbClr val="FF0000"/>
                </a:solidFill>
              </a:rPr>
              <a:t>상세 항목이 많은 기준은 </a:t>
            </a:r>
            <a:r>
              <a:rPr lang="en-US" altLang="ko-KR" sz="600" dirty="0">
                <a:solidFill>
                  <a:srgbClr val="FF0000"/>
                </a:solidFill>
              </a:rPr>
              <a:t>[</a:t>
            </a:r>
            <a:r>
              <a:rPr lang="ko-KR" altLang="en-US" sz="600" dirty="0">
                <a:solidFill>
                  <a:srgbClr val="FF0000"/>
                </a:solidFill>
              </a:rPr>
              <a:t>기준 구분 </a:t>
            </a:r>
            <a:r>
              <a:rPr lang="en-US" altLang="ko-KR" sz="600" dirty="0">
                <a:solidFill>
                  <a:srgbClr val="FF0000"/>
                </a:solidFill>
              </a:rPr>
              <a:t>1]</a:t>
            </a:r>
            <a:r>
              <a:rPr lang="ko-KR" altLang="en-US" sz="600" dirty="0">
                <a:solidFill>
                  <a:srgbClr val="FF0000"/>
                </a:solidFill>
              </a:rPr>
              <a:t>로 설정해야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7224" y="911636"/>
            <a:ext cx="9576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요약          </a:t>
            </a:r>
            <a:r>
              <a:rPr lang="ko-KR" altLang="en-US" sz="1000" dirty="0" err="1"/>
              <a:t>회원별</a:t>
            </a:r>
            <a:r>
              <a:rPr lang="ko-KR" altLang="en-US" sz="1000" dirty="0"/>
              <a:t> 이용현황            이용현황 집계           </a:t>
            </a:r>
            <a:r>
              <a:rPr lang="ko-KR" altLang="en-US" sz="1000" b="1" dirty="0"/>
              <a:t>이용현황 교차 집계            </a:t>
            </a:r>
            <a:r>
              <a:rPr lang="ko-KR" altLang="en-US" sz="1000" dirty="0"/>
              <a:t>상세 시청내역            서비스 참여현황           클래스 참여현황                                             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1136816" y="1859469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4250800" y="1855097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7383535" y="1851962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1817012" y="3553838"/>
            <a:ext cx="7529200" cy="301701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909850" y="3711697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66995" y="6107577"/>
            <a:ext cx="16399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Total 000      Page</a:t>
            </a:r>
            <a:r>
              <a:rPr lang="ko-KR" altLang="en-US" sz="800" dirty="0"/>
              <a:t> </a:t>
            </a:r>
            <a:r>
              <a:rPr lang="en-US" altLang="ko-KR" sz="800" dirty="0"/>
              <a:t>000   </a:t>
            </a:r>
            <a:endParaRPr lang="ko-KR" altLang="en-US" sz="800" dirty="0"/>
          </a:p>
        </p:txBody>
      </p:sp>
      <p:sp>
        <p:nvSpPr>
          <p:cNvPr id="51" name="TextBox 50"/>
          <p:cNvSpPr txBox="1"/>
          <p:nvPr/>
        </p:nvSpPr>
        <p:spPr>
          <a:xfrm>
            <a:off x="7204687" y="6079217"/>
            <a:ext cx="15231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◀  </a:t>
            </a:r>
            <a:r>
              <a:rPr lang="en-US" altLang="ko-KR" sz="800" dirty="0"/>
              <a:t>1 2 3 4 5 6 7 8 9 10   </a:t>
            </a:r>
            <a:r>
              <a:rPr lang="ko-KR" altLang="en-US" sz="800" dirty="0"/>
              <a:t>▶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8753349" y="6107577"/>
            <a:ext cx="410106" cy="1252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50 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287918" y="6361287"/>
            <a:ext cx="879885" cy="146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닫기</a:t>
            </a:r>
          </a:p>
        </p:txBody>
      </p:sp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283740"/>
              </p:ext>
            </p:extLst>
          </p:nvPr>
        </p:nvGraphicFramePr>
        <p:xfrm>
          <a:off x="1909850" y="3968088"/>
          <a:ext cx="7253605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5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0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1510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No.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회원 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직위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핸드폰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이메일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계약시작일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계약종료일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서비스시작일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서비스종료일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접촉거부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광고수신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이메일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휴대폰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9" name="직사각형 58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CRM_06_001-011, 021-022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8842075" y="72852"/>
            <a:ext cx="3968151" cy="54801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marL="228600" indent="-228600" algn="ctr"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</a:rPr>
              <a:t>이용현황 추가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4588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430247"/>
              </p:ext>
            </p:extLst>
          </p:nvPr>
        </p:nvGraphicFramePr>
        <p:xfrm>
          <a:off x="410725" y="2664898"/>
          <a:ext cx="8996199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3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8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8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48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48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483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483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483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483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483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483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483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1483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615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No.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 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/>
                        <a:t>사용여부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/>
                        <a:t>이름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시청일시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카테고리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중분류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프로그램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콘텐츠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학습시간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분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디바이스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완청률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평점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의견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보관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공유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/>
                        <a:t>법인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정회원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17769" y="660265"/>
            <a:ext cx="1327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현황 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이용현황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92251" y="660265"/>
            <a:ext cx="909223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카테고리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140210"/>
              </p:ext>
            </p:extLst>
          </p:nvPr>
        </p:nvGraphicFramePr>
        <p:xfrm>
          <a:off x="410725" y="1275708"/>
          <a:ext cx="9316934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0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1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3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조회 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 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카테고리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프로그램명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/>
                        <a:t>콘텐츠명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1136816" y="1300590"/>
            <a:ext cx="782488" cy="1577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YYYYMMDD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362431" y="1307846"/>
            <a:ext cx="782488" cy="1577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YYYYMMDD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096541" y="1235490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31" name="직사각형 30"/>
          <p:cNvSpPr/>
          <p:nvPr/>
        </p:nvSpPr>
        <p:spPr>
          <a:xfrm>
            <a:off x="3550701" y="1732367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250800" y="1314818"/>
            <a:ext cx="956828" cy="1459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274355" y="1314332"/>
            <a:ext cx="1260785" cy="14644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7383536" y="1314331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pic>
        <p:nvPicPr>
          <p:cNvPr id="53" name="그림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623" y="1304749"/>
            <a:ext cx="186718" cy="154639"/>
          </a:xfrm>
          <a:prstGeom prst="rect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285" y="1307517"/>
            <a:ext cx="186718" cy="154639"/>
          </a:xfrm>
          <a:prstGeom prst="rect">
            <a:avLst/>
          </a:prstGeom>
        </p:spPr>
      </p:pic>
      <p:sp>
        <p:nvSpPr>
          <p:cNvPr id="57" name="직사각형 56"/>
          <p:cNvSpPr/>
          <p:nvPr/>
        </p:nvSpPr>
        <p:spPr>
          <a:xfrm>
            <a:off x="430177" y="2201472"/>
            <a:ext cx="665803" cy="1301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430177" y="2433185"/>
            <a:ext cx="665803" cy="1301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63" name="직사각형 62"/>
          <p:cNvSpPr/>
          <p:nvPr/>
        </p:nvSpPr>
        <p:spPr>
          <a:xfrm rot="20547490">
            <a:off x="3685639" y="3160963"/>
            <a:ext cx="2126053" cy="2791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조회 데이터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1136816" y="1522381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이용현황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4250800" y="1508891"/>
            <a:ext cx="2290169" cy="16621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          🔍</a:t>
            </a: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214542"/>
              </p:ext>
            </p:extLst>
          </p:nvPr>
        </p:nvGraphicFramePr>
        <p:xfrm>
          <a:off x="410725" y="5027074"/>
          <a:ext cx="899617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5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2615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No.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회원 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/>
                        <a:t>사용여부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직위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핸드폰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이메일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계약시작일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계약종료일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서비스시작일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서비스종료일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시청일시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카테고리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중분류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프로그램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콘텐츠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/>
                        <a:t>학습시간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분</a:t>
                      </a:r>
                      <a:r>
                        <a:rPr lang="en-US" altLang="ko-KR" sz="600" dirty="0"/>
                        <a:t>)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디바이스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완청률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MENUCODE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REGSEQ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제공일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방영시간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분</a:t>
                      </a:r>
                      <a:r>
                        <a:rPr lang="en-US" altLang="ko-KR" sz="600" dirty="0"/>
                        <a:t>)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평점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의견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보관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공유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u="sng" dirty="0"/>
                        <a:t>법인</a:t>
                      </a:r>
                      <a:r>
                        <a:rPr lang="en-US" altLang="ko-KR" sz="600" u="sng" dirty="0"/>
                        <a:t>-</a:t>
                      </a:r>
                      <a:r>
                        <a:rPr lang="ko-KR" altLang="en-US" sz="600" u="sng" dirty="0"/>
                        <a:t>정회원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Y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직사각형 37"/>
          <p:cNvSpPr/>
          <p:nvPr/>
        </p:nvSpPr>
        <p:spPr>
          <a:xfrm rot="20547490">
            <a:off x="3786061" y="5644707"/>
            <a:ext cx="2126053" cy="2791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다운로드 데이터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758136"/>
              </p:ext>
            </p:extLst>
          </p:nvPr>
        </p:nvGraphicFramePr>
        <p:xfrm>
          <a:off x="10077173" y="937264"/>
          <a:ext cx="2021652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69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69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75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리더십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∙</a:t>
                      </a:r>
                      <a:r>
                        <a:rPr lang="ko-KR" altLang="en-US" sz="8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피플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lt"/>
                          <a:ea typeface="+mn-ea"/>
                        </a:rPr>
                        <a:t>경영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+mn-ea"/>
                        </a:rPr>
                        <a:t>∙전략</a:t>
                      </a:r>
                      <a:endParaRPr lang="ko-KR" altLang="en-US" sz="800" dirty="0"/>
                    </a:p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lt"/>
                          <a:ea typeface="+mn-ea"/>
                        </a:rPr>
                        <a:t>경제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+mn-ea"/>
                        </a:rPr>
                        <a:t>∙</a:t>
                      </a:r>
                      <a:r>
                        <a:rPr lang="ko-KR" altLang="en-US" sz="800" dirty="0" err="1">
                          <a:latin typeface="맑은 고딕" panose="020B0503020000020004" pitchFamily="50" charset="-127"/>
                          <a:ea typeface="+mn-ea"/>
                        </a:rPr>
                        <a:t>트렌드</a:t>
                      </a:r>
                      <a:endParaRPr lang="ko-KR" altLang="en-US" sz="800" dirty="0"/>
                    </a:p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lt"/>
                          <a:ea typeface="+mn-ea"/>
                        </a:rPr>
                        <a:t>인문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+mn-ea"/>
                        </a:rPr>
                        <a:t>∙라이프</a:t>
                      </a:r>
                      <a:endParaRPr lang="ko-KR" altLang="en-US" sz="800" dirty="0"/>
                    </a:p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특집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0077173" y="1845204"/>
            <a:ext cx="1915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카테고리</a:t>
            </a:r>
            <a:r>
              <a:rPr lang="en-US" altLang="ko-KR" sz="800" dirty="0"/>
              <a:t>, </a:t>
            </a:r>
            <a:r>
              <a:rPr lang="ko-KR" altLang="en-US" sz="800" dirty="0"/>
              <a:t>프로그램</a:t>
            </a:r>
            <a:r>
              <a:rPr lang="en-US" altLang="ko-KR" sz="800" dirty="0"/>
              <a:t>, </a:t>
            </a:r>
            <a:r>
              <a:rPr lang="ko-KR" altLang="en-US" sz="800" dirty="0" err="1"/>
              <a:t>콘텐츠</a:t>
            </a:r>
            <a:r>
              <a:rPr lang="ko-KR" altLang="en-US" sz="800" dirty="0"/>
              <a:t> 지정 없이</a:t>
            </a:r>
            <a:endParaRPr lang="en-US" altLang="ko-KR" sz="800" dirty="0"/>
          </a:p>
          <a:p>
            <a:r>
              <a:rPr lang="ko-KR" altLang="en-US" sz="800" dirty="0"/>
              <a:t>검색하면 기간 내 전체 시청 내역</a:t>
            </a:r>
            <a:endParaRPr lang="en-US" altLang="ko-KR" sz="800" dirty="0"/>
          </a:p>
          <a:p>
            <a:r>
              <a:rPr lang="ko-KR" altLang="en-US" sz="800" dirty="0"/>
              <a:t>조회됨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7380621" y="1508890"/>
            <a:ext cx="2290169" cy="16621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          🔍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1136816" y="1726157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5980" y="2176836"/>
            <a:ext cx="82266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dirty="0">
                <a:solidFill>
                  <a:srgbClr val="FF0000"/>
                </a:solidFill>
              </a:rPr>
              <a:t>데이터 기준 </a:t>
            </a:r>
            <a:r>
              <a:rPr lang="en-US" altLang="ko-KR" sz="600" dirty="0">
                <a:solidFill>
                  <a:srgbClr val="FF0000"/>
                </a:solidFill>
              </a:rPr>
              <a:t>: </a:t>
            </a:r>
            <a:r>
              <a:rPr lang="ko-KR" altLang="en-US" sz="600" dirty="0">
                <a:solidFill>
                  <a:srgbClr val="FF0000"/>
                </a:solidFill>
              </a:rPr>
              <a:t>집계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7224" y="911636"/>
            <a:ext cx="9576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요약          </a:t>
            </a:r>
            <a:r>
              <a:rPr lang="ko-KR" altLang="en-US" sz="1000" dirty="0" err="1"/>
              <a:t>회원별</a:t>
            </a:r>
            <a:r>
              <a:rPr lang="ko-KR" altLang="en-US" sz="1000" dirty="0"/>
              <a:t> 이용현황            이용현황 집계           이용현황 교차 집계            </a:t>
            </a:r>
            <a:r>
              <a:rPr lang="ko-KR" altLang="en-US" sz="1000" b="1" dirty="0"/>
              <a:t>   상세 시청내역            </a:t>
            </a:r>
            <a:r>
              <a:rPr lang="ko-KR" altLang="en-US" sz="1000" dirty="0"/>
              <a:t>서비스 참여현황           클래스 참여현황                                             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4250800" y="1729538"/>
            <a:ext cx="956828" cy="1459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237847" y="1723219"/>
            <a:ext cx="1297293" cy="15228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          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7377707" y="1712898"/>
            <a:ext cx="2290169" cy="16621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          🔍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9992250" y="2418677"/>
            <a:ext cx="1931939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회원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 err="1"/>
              <a:t>드롭박스</a:t>
            </a:r>
            <a:r>
              <a:rPr lang="ko-KR" altLang="en-US" sz="800" dirty="0"/>
              <a:t>  구성 </a:t>
            </a:r>
            <a:r>
              <a:rPr lang="en-US" altLang="ko-KR" sz="800" dirty="0"/>
              <a:t>: </a:t>
            </a:r>
            <a:r>
              <a:rPr lang="ko-KR" altLang="en-US" sz="800" dirty="0"/>
              <a:t>아이디</a:t>
            </a:r>
            <a:r>
              <a:rPr lang="en-US" altLang="ko-KR" sz="800" dirty="0"/>
              <a:t>, </a:t>
            </a:r>
            <a:r>
              <a:rPr lang="ko-KR" altLang="en-US" sz="800" dirty="0"/>
              <a:t>이름</a:t>
            </a:r>
            <a:endParaRPr lang="en-US" altLang="ko-KR" sz="800" dirty="0"/>
          </a:p>
          <a:p>
            <a:endParaRPr lang="en-US" altLang="ko-KR" sz="800" b="1" dirty="0">
              <a:solidFill>
                <a:srgbClr val="00B0F0"/>
              </a:solidFill>
            </a:endParaRPr>
          </a:p>
          <a:p>
            <a:pPr lvl="0"/>
            <a:r>
              <a:rPr lang="en-US" altLang="ko-KR" sz="800" b="1" dirty="0">
                <a:solidFill>
                  <a:srgbClr val="00B0F0"/>
                </a:solidFill>
              </a:rPr>
              <a:t>[</a:t>
            </a:r>
            <a:r>
              <a:rPr lang="en-US" altLang="ko-KR" sz="1000" b="1" dirty="0">
                <a:solidFill>
                  <a:srgbClr val="00B0F0"/>
                </a:solidFill>
              </a:rPr>
              <a:t>3] </a:t>
            </a:r>
            <a:r>
              <a:rPr lang="ko-KR" altLang="en-US" sz="1000" b="1" dirty="0" err="1">
                <a:solidFill>
                  <a:srgbClr val="00B0F0"/>
                </a:solidFill>
              </a:rPr>
              <a:t>콘텐츠별</a:t>
            </a:r>
            <a:r>
              <a:rPr lang="ko-KR" altLang="en-US" sz="1000" b="1" dirty="0">
                <a:solidFill>
                  <a:srgbClr val="00B0F0"/>
                </a:solidFill>
              </a:rPr>
              <a:t> 서비스 참여 내역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endParaRPr lang="en-US" altLang="ko-KR" sz="1000" b="1" dirty="0">
              <a:solidFill>
                <a:srgbClr val="00B0F0"/>
              </a:solidFill>
            </a:endParaRPr>
          </a:p>
          <a:p>
            <a:pPr lvl="0"/>
            <a:r>
              <a:rPr lang="ko-KR" altLang="en-US" sz="800" dirty="0">
                <a:solidFill>
                  <a:prstClr val="black"/>
                </a:solidFill>
              </a:rPr>
              <a:t>해당 </a:t>
            </a:r>
            <a:r>
              <a:rPr lang="ko-KR" altLang="en-US" sz="800" dirty="0" err="1">
                <a:solidFill>
                  <a:prstClr val="black"/>
                </a:solidFill>
              </a:rPr>
              <a:t>콘텐츠에</a:t>
            </a:r>
            <a:endParaRPr lang="en-US" altLang="ko-KR" sz="800" dirty="0">
              <a:solidFill>
                <a:prstClr val="black"/>
              </a:solidFill>
            </a:endParaRPr>
          </a:p>
          <a:p>
            <a:pPr lvl="0"/>
            <a:endParaRPr lang="en-US" altLang="ko-KR" sz="800" b="1" dirty="0">
              <a:solidFill>
                <a:prstClr val="black"/>
              </a:solidFill>
            </a:endParaRPr>
          </a:p>
          <a:p>
            <a:pPr lvl="0"/>
            <a:r>
              <a:rPr lang="ko-KR" altLang="en-US" sz="800" dirty="0"/>
              <a:t>평점을 </a:t>
            </a:r>
            <a:r>
              <a:rPr lang="ko-KR" altLang="en-US" sz="800" b="1" dirty="0">
                <a:solidFill>
                  <a:srgbClr val="00B0F0"/>
                </a:solidFill>
              </a:rPr>
              <a:t>몇 점 </a:t>
            </a:r>
            <a:r>
              <a:rPr lang="ko-KR" altLang="en-US" sz="800" dirty="0"/>
              <a:t>줬는지</a:t>
            </a:r>
            <a:endParaRPr lang="en-US" altLang="ko-KR" sz="800" dirty="0"/>
          </a:p>
          <a:p>
            <a:pPr lvl="0"/>
            <a:r>
              <a:rPr lang="ko-KR" altLang="en-US" sz="800" dirty="0"/>
              <a:t>의견을 </a:t>
            </a:r>
            <a:r>
              <a:rPr lang="ko-KR" altLang="en-US" sz="800" b="1" dirty="0">
                <a:solidFill>
                  <a:srgbClr val="00B0F0"/>
                </a:solidFill>
              </a:rPr>
              <a:t>몇 개</a:t>
            </a:r>
            <a:r>
              <a:rPr lang="ko-KR" altLang="en-US" sz="800" dirty="0"/>
              <a:t> 썼는지</a:t>
            </a:r>
            <a:endParaRPr lang="en-US" altLang="ko-KR" sz="800" dirty="0"/>
          </a:p>
          <a:p>
            <a:pPr lvl="0"/>
            <a:r>
              <a:rPr lang="ko-KR" altLang="en-US" sz="800" dirty="0"/>
              <a:t>보관 </a:t>
            </a:r>
            <a:r>
              <a:rPr lang="ko-KR" altLang="en-US" sz="800" b="1" dirty="0">
                <a:solidFill>
                  <a:srgbClr val="00B0F0"/>
                </a:solidFill>
              </a:rPr>
              <a:t>유 무</a:t>
            </a:r>
            <a:endParaRPr lang="en-US" altLang="ko-KR" sz="800" b="1" dirty="0">
              <a:solidFill>
                <a:srgbClr val="00B0F0"/>
              </a:solidFill>
            </a:endParaRPr>
          </a:p>
          <a:p>
            <a:pPr lvl="0"/>
            <a:r>
              <a:rPr lang="ko-KR" altLang="en-US" sz="800" dirty="0"/>
              <a:t>공유는 </a:t>
            </a:r>
            <a:r>
              <a:rPr lang="ko-KR" altLang="en-US" sz="800" b="1" dirty="0">
                <a:solidFill>
                  <a:srgbClr val="00B0F0"/>
                </a:solidFill>
              </a:rPr>
              <a:t>몇 번</a:t>
            </a:r>
            <a:r>
              <a:rPr lang="ko-KR" altLang="en-US" sz="800" dirty="0"/>
              <a:t> 했는지</a:t>
            </a:r>
            <a:endParaRPr lang="en-US" altLang="ko-KR" sz="800" dirty="0"/>
          </a:p>
        </p:txBody>
      </p:sp>
      <p:sp>
        <p:nvSpPr>
          <p:cNvPr id="51" name="직사각형 50"/>
          <p:cNvSpPr/>
          <p:nvPr/>
        </p:nvSpPr>
        <p:spPr>
          <a:xfrm>
            <a:off x="307172" y="149117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8262130" y="245249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CRM_06_001-011, 021-029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8842075" y="72852"/>
            <a:ext cx="3968151" cy="54801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marL="228600" indent="-228600" algn="ctr"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</a:rPr>
              <a:t>이용현황 추가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58820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295312"/>
              </p:ext>
            </p:extLst>
          </p:nvPr>
        </p:nvGraphicFramePr>
        <p:xfrm>
          <a:off x="410725" y="2664898"/>
          <a:ext cx="8996196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0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3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76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76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76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76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76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76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676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76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3076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No.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 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/>
                        <a:t>사용여부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/>
                        <a:t>이름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콘텐츠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관심사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7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평점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의견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보관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공유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프로그램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강연자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키워드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/>
                        <a:t>법인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정회원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17769" y="660265"/>
            <a:ext cx="1327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현황 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이용현황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92251" y="660265"/>
            <a:ext cx="227017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 err="1">
                <a:solidFill>
                  <a:srgbClr val="00B0F0"/>
                </a:solidFill>
              </a:rPr>
              <a:t>콘텐츠</a:t>
            </a:r>
            <a:r>
              <a:rPr lang="ko-KR" altLang="en-US" sz="1000" b="1" dirty="0">
                <a:solidFill>
                  <a:srgbClr val="00B0F0"/>
                </a:solidFill>
              </a:rPr>
              <a:t> 서비스 참여 현황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각 데이터는 </a:t>
            </a:r>
            <a:r>
              <a:rPr lang="ko-KR" altLang="en-US" sz="800" dirty="0" err="1"/>
              <a:t>참여수</a:t>
            </a:r>
            <a:r>
              <a:rPr lang="en-US" altLang="ko-KR" sz="800" dirty="0"/>
              <a:t>(=</a:t>
            </a:r>
            <a:r>
              <a:rPr lang="ko-KR" altLang="en-US" sz="800" dirty="0"/>
              <a:t>등록</a:t>
            </a:r>
            <a:r>
              <a:rPr lang="en-US" altLang="ko-KR" sz="800" dirty="0"/>
              <a:t>, </a:t>
            </a:r>
            <a:r>
              <a:rPr lang="ko-KR" altLang="en-US" sz="800" dirty="0"/>
              <a:t>구독</a:t>
            </a:r>
            <a:r>
              <a:rPr lang="en-US" altLang="ko-KR" sz="800" dirty="0"/>
              <a:t>)</a:t>
            </a:r>
            <a:r>
              <a:rPr lang="ko-KR" altLang="en-US" sz="800" dirty="0"/>
              <a:t>로 표기하며</a:t>
            </a:r>
            <a:endParaRPr lang="en-US" altLang="ko-KR" sz="800" dirty="0"/>
          </a:p>
          <a:p>
            <a:r>
              <a:rPr lang="ko-KR" altLang="en-US" sz="800" dirty="0"/>
              <a:t>다운로드 시 회원 상세정보를 </a:t>
            </a:r>
            <a:r>
              <a:rPr lang="ko-KR" altLang="en-US" sz="800" dirty="0" err="1"/>
              <a:t>포힘힘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상세 데이터 조회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r>
              <a:rPr lang="ko-KR" altLang="en-US" sz="800" dirty="0"/>
              <a:t>각 수</a:t>
            </a:r>
            <a:r>
              <a:rPr lang="en-US" altLang="ko-KR" sz="800" dirty="0"/>
              <a:t>(</a:t>
            </a:r>
            <a:r>
              <a:rPr lang="ko-KR" altLang="en-US" sz="800" dirty="0"/>
              <a:t>참여</a:t>
            </a:r>
            <a:r>
              <a:rPr lang="en-US" altLang="ko-KR" sz="800" dirty="0"/>
              <a:t>=</a:t>
            </a:r>
            <a:r>
              <a:rPr lang="ko-KR" altLang="en-US" sz="800" dirty="0"/>
              <a:t>등록</a:t>
            </a:r>
            <a:r>
              <a:rPr lang="en-US" altLang="ko-KR" sz="800" dirty="0"/>
              <a:t>=</a:t>
            </a:r>
            <a:r>
              <a:rPr lang="ko-KR" altLang="en-US" sz="800" dirty="0"/>
              <a:t>구독</a:t>
            </a:r>
            <a:r>
              <a:rPr lang="en-US" altLang="ko-KR" sz="800" dirty="0"/>
              <a:t>)</a:t>
            </a:r>
            <a:r>
              <a:rPr lang="ko-KR" altLang="en-US" sz="800" dirty="0"/>
              <a:t>를 클릭하면</a:t>
            </a:r>
            <a:endParaRPr lang="en-US" altLang="ko-KR" sz="800" dirty="0"/>
          </a:p>
          <a:p>
            <a:r>
              <a:rPr lang="ko-KR" altLang="en-US" sz="800" dirty="0"/>
              <a:t>상세 내역 리스트가 </a:t>
            </a:r>
            <a:endParaRPr lang="en-US" altLang="ko-KR" sz="800" dirty="0"/>
          </a:p>
          <a:p>
            <a:r>
              <a:rPr lang="ko-KR" altLang="en-US" sz="800" dirty="0"/>
              <a:t>팝업으로 실행됨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/>
              <a:t>팝업에서 리스트를 확인하고</a:t>
            </a:r>
            <a:r>
              <a:rPr lang="en-US" altLang="ko-KR" sz="800" dirty="0"/>
              <a:t>, </a:t>
            </a:r>
            <a:r>
              <a:rPr lang="ko-KR" altLang="en-US" sz="800" dirty="0" err="1"/>
              <a:t>다운로드할</a:t>
            </a:r>
            <a:r>
              <a:rPr lang="ko-KR" altLang="en-US" sz="800" dirty="0"/>
              <a:t> 수 </a:t>
            </a:r>
            <a:endParaRPr lang="en-US" altLang="ko-KR" sz="800" dirty="0"/>
          </a:p>
          <a:p>
            <a:r>
              <a:rPr lang="ko-KR" altLang="en-US" sz="800" dirty="0"/>
              <a:t>있음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800" dirty="0"/>
              <a:t>[2] </a:t>
            </a:r>
            <a:r>
              <a:rPr lang="ko-KR" altLang="en-US" sz="800" dirty="0"/>
              <a:t>상세 조회 데이터의 마지막 열 </a:t>
            </a:r>
            <a:r>
              <a:rPr lang="en-US" altLang="ko-KR" sz="800" dirty="0"/>
              <a:t>&lt;</a:t>
            </a:r>
            <a:r>
              <a:rPr lang="ko-KR" altLang="en-US" sz="800" dirty="0"/>
              <a:t>내용</a:t>
            </a:r>
            <a:r>
              <a:rPr lang="en-US" altLang="ko-KR" sz="800" dirty="0"/>
              <a:t>&gt;</a:t>
            </a:r>
            <a:r>
              <a:rPr lang="ko-KR" altLang="en-US" sz="800" dirty="0"/>
              <a:t>은</a:t>
            </a:r>
            <a:endParaRPr lang="en-US" altLang="ko-KR" sz="800" dirty="0"/>
          </a:p>
          <a:p>
            <a:r>
              <a:rPr lang="ko-KR" altLang="en-US" sz="800" dirty="0"/>
              <a:t>아래와 같이 구분하여 표기함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dirty="0"/>
              <a:t>평점 </a:t>
            </a:r>
            <a:r>
              <a:rPr lang="en-US" altLang="ko-KR" sz="800" dirty="0"/>
              <a:t>: </a:t>
            </a:r>
            <a:r>
              <a:rPr lang="ko-KR" altLang="en-US" sz="800" dirty="0"/>
              <a:t>해당 </a:t>
            </a:r>
            <a:r>
              <a:rPr lang="ko-KR" altLang="en-US" sz="800" dirty="0" err="1"/>
              <a:t>콘텐츠에</a:t>
            </a:r>
            <a:r>
              <a:rPr lang="ko-KR" altLang="en-US" sz="800" dirty="0"/>
              <a:t> 등록한 평점</a:t>
            </a:r>
            <a:endParaRPr lang="en-US" altLang="ko-KR" sz="800" dirty="0"/>
          </a:p>
          <a:p>
            <a:r>
              <a:rPr lang="ko-KR" altLang="en-US" sz="800" dirty="0"/>
              <a:t>의견 </a:t>
            </a:r>
            <a:r>
              <a:rPr lang="en-US" altLang="ko-KR" sz="800" dirty="0"/>
              <a:t>: </a:t>
            </a:r>
            <a:r>
              <a:rPr lang="ko-KR" altLang="en-US" sz="800" dirty="0"/>
              <a:t>해당 </a:t>
            </a:r>
            <a:r>
              <a:rPr lang="ko-KR" altLang="en-US" sz="800" dirty="0" err="1"/>
              <a:t>콘텐츠에</a:t>
            </a:r>
            <a:r>
              <a:rPr lang="ko-KR" altLang="en-US" sz="800" dirty="0"/>
              <a:t> 등록한 의견</a:t>
            </a:r>
            <a:endParaRPr lang="en-US" altLang="ko-KR" sz="800" dirty="0"/>
          </a:p>
          <a:p>
            <a:r>
              <a:rPr lang="ko-KR" altLang="en-US" sz="800" dirty="0"/>
              <a:t>보관 </a:t>
            </a:r>
            <a:r>
              <a:rPr lang="en-US" altLang="ko-KR" sz="800" dirty="0"/>
              <a:t>: </a:t>
            </a:r>
            <a:r>
              <a:rPr lang="ko-KR" altLang="en-US" sz="800" dirty="0"/>
              <a:t> </a:t>
            </a:r>
            <a:r>
              <a:rPr lang="en-US" altLang="ko-KR" sz="800" dirty="0"/>
              <a:t>(</a:t>
            </a:r>
            <a:r>
              <a:rPr lang="ko-KR" altLang="en-US" sz="800" dirty="0"/>
              <a:t>내용 비어도 무방</a:t>
            </a:r>
            <a:r>
              <a:rPr lang="en-US" altLang="ko-KR" sz="800" dirty="0"/>
              <a:t>)</a:t>
            </a:r>
          </a:p>
          <a:p>
            <a:r>
              <a:rPr lang="ko-KR" altLang="en-US" sz="800" dirty="0"/>
              <a:t>공유 </a:t>
            </a:r>
            <a:r>
              <a:rPr lang="en-US" altLang="ko-KR" sz="800" dirty="0"/>
              <a:t>: </a:t>
            </a:r>
            <a:r>
              <a:rPr lang="ko-KR" altLang="en-US" sz="800" dirty="0"/>
              <a:t>해당 </a:t>
            </a:r>
            <a:r>
              <a:rPr lang="ko-KR" altLang="en-US" sz="800" dirty="0" err="1"/>
              <a:t>콘텐츠를</a:t>
            </a:r>
            <a:r>
              <a:rPr lang="ko-KR" altLang="en-US" sz="800" dirty="0"/>
              <a:t> 공유한 방법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795909"/>
              </p:ext>
            </p:extLst>
          </p:nvPr>
        </p:nvGraphicFramePr>
        <p:xfrm>
          <a:off x="410725" y="1275708"/>
          <a:ext cx="9316934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0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1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3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조회 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 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그룹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1136816" y="1300590"/>
            <a:ext cx="782488" cy="1577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YYYYMMDD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362431" y="1307846"/>
            <a:ext cx="782488" cy="1577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YYYYMMDD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096541" y="1235490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48" name="직사각형 47"/>
          <p:cNvSpPr/>
          <p:nvPr/>
        </p:nvSpPr>
        <p:spPr>
          <a:xfrm>
            <a:off x="4250800" y="1314818"/>
            <a:ext cx="956828" cy="1459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274355" y="1314332"/>
            <a:ext cx="1260785" cy="14644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7383536" y="1314331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pic>
        <p:nvPicPr>
          <p:cNvPr id="53" name="그림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623" y="1304749"/>
            <a:ext cx="186718" cy="154639"/>
          </a:xfrm>
          <a:prstGeom prst="rect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285" y="1307517"/>
            <a:ext cx="186718" cy="154639"/>
          </a:xfrm>
          <a:prstGeom prst="rect">
            <a:avLst/>
          </a:prstGeom>
        </p:spPr>
      </p:pic>
      <p:sp>
        <p:nvSpPr>
          <p:cNvPr id="57" name="직사각형 56"/>
          <p:cNvSpPr/>
          <p:nvPr/>
        </p:nvSpPr>
        <p:spPr>
          <a:xfrm>
            <a:off x="430177" y="2201472"/>
            <a:ext cx="665803" cy="1301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430177" y="2433185"/>
            <a:ext cx="665803" cy="1301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63" name="직사각형 62"/>
          <p:cNvSpPr/>
          <p:nvPr/>
        </p:nvSpPr>
        <p:spPr>
          <a:xfrm rot="20547490">
            <a:off x="1898810" y="3174685"/>
            <a:ext cx="2126053" cy="2791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조회 데이터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이용현황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1136816" y="1512662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5980" y="2176836"/>
            <a:ext cx="82266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dirty="0">
                <a:solidFill>
                  <a:srgbClr val="FF0000"/>
                </a:solidFill>
              </a:rPr>
              <a:t>데이터 기준 </a:t>
            </a:r>
            <a:r>
              <a:rPr lang="en-US" altLang="ko-KR" sz="600" dirty="0">
                <a:solidFill>
                  <a:srgbClr val="FF0000"/>
                </a:solidFill>
              </a:rPr>
              <a:t>: </a:t>
            </a:r>
            <a:r>
              <a:rPr lang="ko-KR" altLang="en-US" sz="600" dirty="0">
                <a:solidFill>
                  <a:srgbClr val="FF0000"/>
                </a:solidFill>
              </a:rPr>
              <a:t>집계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7224" y="911636"/>
            <a:ext cx="9576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요약          </a:t>
            </a:r>
            <a:r>
              <a:rPr lang="ko-KR" altLang="en-US" sz="1000" dirty="0" err="1"/>
              <a:t>회원별</a:t>
            </a:r>
            <a:r>
              <a:rPr lang="ko-KR" altLang="en-US" sz="1000" dirty="0"/>
              <a:t> 이용현황            이용현황 집계           이용현황 교차 집계            상세 시청내역            </a:t>
            </a:r>
            <a:r>
              <a:rPr lang="ko-KR" altLang="en-US" sz="1000" b="1" dirty="0"/>
              <a:t>서비스 참여현황           </a:t>
            </a:r>
            <a:r>
              <a:rPr lang="ko-KR" altLang="en-US" sz="1000" dirty="0"/>
              <a:t>클래스 참여현황                                             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4250800" y="1516043"/>
            <a:ext cx="956828" cy="1459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237847" y="1509724"/>
            <a:ext cx="1297293" cy="15228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          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7377707" y="1499403"/>
            <a:ext cx="2290169" cy="16621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          🔍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1136816" y="1725919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graphicFrame>
        <p:nvGraphicFramePr>
          <p:cNvPr id="40" name="표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639683"/>
              </p:ext>
            </p:extLst>
          </p:nvPr>
        </p:nvGraphicFramePr>
        <p:xfrm>
          <a:off x="381377" y="3992687"/>
          <a:ext cx="9281432" cy="1783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0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260955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  <a:gridCol w="546219">
                  <a:extLst>
                    <a:ext uri="{9D8B030D-6E8A-4147-A177-3AD203B41FA5}">
                      <a16:colId xmlns:a16="http://schemas.microsoft.com/office/drawing/2014/main" val="20033"/>
                    </a:ext>
                  </a:extLst>
                </a:gridCol>
              </a:tblGrid>
              <a:tr h="41148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No.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회원 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/>
                        <a:t>사용여부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직위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핸드폰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이메일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계약시작일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계약종료일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서비스시작일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서비스종료일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시청일시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카테고리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중분류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프로그램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콘텐츠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/>
                        <a:t>학습시간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분</a:t>
                      </a:r>
                      <a:r>
                        <a:rPr lang="en-US" altLang="ko-KR" sz="600" dirty="0"/>
                        <a:t>)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디바이스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완청률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MENUCODE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REGSEQ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제공일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방영시간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분</a:t>
                      </a:r>
                      <a:r>
                        <a:rPr lang="en-US" altLang="ko-KR" sz="600" dirty="0"/>
                        <a:t>)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콘텐츠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구독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관심사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평점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의견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보관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공유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프로그램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강연자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키워드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u="sng" dirty="0"/>
                        <a:t>법인</a:t>
                      </a:r>
                      <a:r>
                        <a:rPr lang="en-US" altLang="ko-KR" sz="600" u="sng" dirty="0"/>
                        <a:t>-</a:t>
                      </a:r>
                      <a:r>
                        <a:rPr lang="ko-KR" altLang="en-US" sz="600" u="sng" dirty="0"/>
                        <a:t>정회원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Y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" name="직사각형 37"/>
          <p:cNvSpPr/>
          <p:nvPr/>
        </p:nvSpPr>
        <p:spPr>
          <a:xfrm rot="20547490">
            <a:off x="3816438" y="4341236"/>
            <a:ext cx="2126053" cy="2791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다운로드 데이터</a:t>
            </a:r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194894"/>
              </p:ext>
            </p:extLst>
          </p:nvPr>
        </p:nvGraphicFramePr>
        <p:xfrm>
          <a:off x="1918641" y="5274777"/>
          <a:ext cx="220639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5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15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No.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회원 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/>
                        <a:t>사용여부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구독일시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프로그램명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u="sng" dirty="0"/>
                        <a:t>법인</a:t>
                      </a:r>
                      <a:r>
                        <a:rPr lang="en-US" altLang="ko-KR" sz="600" u="sng" dirty="0"/>
                        <a:t>-</a:t>
                      </a:r>
                      <a:r>
                        <a:rPr lang="ko-KR" altLang="en-US" sz="600" u="sng" dirty="0"/>
                        <a:t>정회원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Y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178928"/>
              </p:ext>
            </p:extLst>
          </p:nvPr>
        </p:nvGraphicFramePr>
        <p:xfrm>
          <a:off x="4250037" y="5274777"/>
          <a:ext cx="220639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5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15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No.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회원 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/>
                        <a:t>사용여부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구독일시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강연자명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u="sng" dirty="0"/>
                        <a:t>법인</a:t>
                      </a:r>
                      <a:r>
                        <a:rPr lang="en-US" altLang="ko-KR" sz="600" u="sng" dirty="0"/>
                        <a:t>-</a:t>
                      </a:r>
                      <a:r>
                        <a:rPr lang="ko-KR" altLang="en-US" sz="600" u="sng" dirty="0"/>
                        <a:t>정회원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Y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479734"/>
              </p:ext>
            </p:extLst>
          </p:nvPr>
        </p:nvGraphicFramePr>
        <p:xfrm>
          <a:off x="6555983" y="5274777"/>
          <a:ext cx="220639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5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15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No.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회원 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/>
                        <a:t>사용여부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구독일시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키워드명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u="sng" dirty="0"/>
                        <a:t>법인</a:t>
                      </a:r>
                      <a:r>
                        <a:rPr lang="en-US" altLang="ko-KR" sz="600" u="sng" dirty="0"/>
                        <a:t>-</a:t>
                      </a:r>
                      <a:r>
                        <a:rPr lang="ko-KR" altLang="en-US" sz="600" u="sng" dirty="0"/>
                        <a:t>정회원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Y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2" name="표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907613"/>
              </p:ext>
            </p:extLst>
          </p:nvPr>
        </p:nvGraphicFramePr>
        <p:xfrm>
          <a:off x="8861929" y="5274777"/>
          <a:ext cx="220639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5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15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No.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회원 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/>
                        <a:t>사용여부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등록일시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관심사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u="sng" dirty="0"/>
                        <a:t>법인</a:t>
                      </a:r>
                      <a:r>
                        <a:rPr lang="en-US" altLang="ko-KR" sz="600" u="sng" dirty="0"/>
                        <a:t>-</a:t>
                      </a:r>
                      <a:r>
                        <a:rPr lang="ko-KR" altLang="en-US" sz="600" u="sng" dirty="0"/>
                        <a:t>정회원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Y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5" name="직사각형 54"/>
          <p:cNvSpPr/>
          <p:nvPr/>
        </p:nvSpPr>
        <p:spPr>
          <a:xfrm>
            <a:off x="4079345" y="313540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7015819" y="3042315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7659178" y="304231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8302537" y="304095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5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9033213" y="2961407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6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 rot="20547490">
            <a:off x="1911274" y="6122505"/>
            <a:ext cx="2126053" cy="2791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 조회 데이터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2186047" y="6374245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 rot="20547490">
            <a:off x="4217220" y="6122505"/>
            <a:ext cx="2126053" cy="2791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 조회 데이터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4491993" y="6374245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 rot="20547490">
            <a:off x="6599131" y="6093696"/>
            <a:ext cx="2126053" cy="2791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 조회 데이터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6873904" y="634543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5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 rot="20547490">
            <a:off x="9025847" y="6053326"/>
            <a:ext cx="2126053" cy="2791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 조회 데이터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9300620" y="6305066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6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4101054" y="4541067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195500" y="2401270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graphicFrame>
        <p:nvGraphicFramePr>
          <p:cNvPr id="73" name="표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270339"/>
              </p:ext>
            </p:extLst>
          </p:nvPr>
        </p:nvGraphicFramePr>
        <p:xfrm>
          <a:off x="-445447" y="5286368"/>
          <a:ext cx="2214623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8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6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6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6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06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06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065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615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No.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회원 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/>
                        <a:t>사용여부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참여일시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/>
                        <a:t>카테고리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프로그램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콘텐츠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u="sng" dirty="0"/>
                        <a:t>법인</a:t>
                      </a:r>
                      <a:r>
                        <a:rPr lang="en-US" altLang="ko-KR" sz="600" u="sng" dirty="0"/>
                        <a:t>-</a:t>
                      </a:r>
                      <a:r>
                        <a:rPr lang="ko-KR" altLang="en-US" sz="600" u="sng" dirty="0"/>
                        <a:t>정회원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Y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4" name="직사각형 73"/>
          <p:cNvSpPr/>
          <p:nvPr/>
        </p:nvSpPr>
        <p:spPr>
          <a:xfrm>
            <a:off x="430177" y="5775614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 rot="20547490">
            <a:off x="-497368" y="6052946"/>
            <a:ext cx="2126053" cy="2791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 조회 데이터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CRM_06_026-028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8842075" y="72852"/>
            <a:ext cx="3968151" cy="54801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marL="228600" indent="-228600" algn="ctr"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</a:rPr>
              <a:t>이용현황 추가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43909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905932"/>
              </p:ext>
            </p:extLst>
          </p:nvPr>
        </p:nvGraphicFramePr>
        <p:xfrm>
          <a:off x="410725" y="2706528"/>
          <a:ext cx="9336388" cy="11116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3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9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95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14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90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84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84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84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846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715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No.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 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/>
                        <a:t>사용여부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클래스 시작일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카테고리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클래스명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콘텐츠명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신청여부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참여여부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학습시간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분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/>
                        <a:t>법인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정회원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17769" y="660265"/>
            <a:ext cx="1327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현황 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이용현황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92251" y="660265"/>
            <a:ext cx="1476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카테고리 </a:t>
            </a:r>
            <a:r>
              <a:rPr lang="en-US" altLang="ko-KR" sz="1000" b="1" dirty="0">
                <a:solidFill>
                  <a:srgbClr val="00B0F0"/>
                </a:solidFill>
              </a:rPr>
              <a:t>+ </a:t>
            </a:r>
            <a:r>
              <a:rPr lang="ko-KR" altLang="en-US" sz="1000" b="1" dirty="0">
                <a:solidFill>
                  <a:srgbClr val="00B0F0"/>
                </a:solidFill>
              </a:rPr>
              <a:t>클래스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109585"/>
              </p:ext>
            </p:extLst>
          </p:nvPr>
        </p:nvGraphicFramePr>
        <p:xfrm>
          <a:off x="410725" y="1275708"/>
          <a:ext cx="9316934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0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1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3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조회 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 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카테고리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클래스명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1136816" y="1300590"/>
            <a:ext cx="782488" cy="1577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YYYYMMDD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362431" y="1307846"/>
            <a:ext cx="782488" cy="1577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YYYYMMDD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096541" y="1235490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~</a:t>
            </a:r>
            <a:endParaRPr lang="ko-KR" altLang="en-US" sz="1200" dirty="0"/>
          </a:p>
        </p:txBody>
      </p:sp>
      <p:sp>
        <p:nvSpPr>
          <p:cNvPr id="31" name="직사각형 30"/>
          <p:cNvSpPr/>
          <p:nvPr/>
        </p:nvSpPr>
        <p:spPr>
          <a:xfrm>
            <a:off x="194629" y="1524822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250800" y="1314818"/>
            <a:ext cx="956828" cy="1459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274355" y="1314332"/>
            <a:ext cx="1260785" cy="14644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7383536" y="1314331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pic>
        <p:nvPicPr>
          <p:cNvPr id="53" name="그림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623" y="1304749"/>
            <a:ext cx="186718" cy="154639"/>
          </a:xfrm>
          <a:prstGeom prst="rect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285" y="1307517"/>
            <a:ext cx="186718" cy="154639"/>
          </a:xfrm>
          <a:prstGeom prst="rect">
            <a:avLst/>
          </a:prstGeom>
        </p:spPr>
      </p:pic>
      <p:sp>
        <p:nvSpPr>
          <p:cNvPr id="57" name="직사각형 56"/>
          <p:cNvSpPr/>
          <p:nvPr/>
        </p:nvSpPr>
        <p:spPr>
          <a:xfrm>
            <a:off x="401815" y="2015392"/>
            <a:ext cx="665803" cy="1301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430177" y="2474815"/>
            <a:ext cx="665803" cy="1301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다운로드</a:t>
            </a:r>
          </a:p>
        </p:txBody>
      </p:sp>
      <p:sp>
        <p:nvSpPr>
          <p:cNvPr id="63" name="직사각형 62"/>
          <p:cNvSpPr/>
          <p:nvPr/>
        </p:nvSpPr>
        <p:spPr>
          <a:xfrm rot="20547490">
            <a:off x="3744005" y="3292579"/>
            <a:ext cx="2126053" cy="2791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조회 데이터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136816" y="1522381"/>
            <a:ext cx="782488" cy="15272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이용현황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4250800" y="1508891"/>
            <a:ext cx="2290169" cy="16621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          🔍</a:t>
            </a: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238028"/>
              </p:ext>
            </p:extLst>
          </p:nvPr>
        </p:nvGraphicFramePr>
        <p:xfrm>
          <a:off x="410725" y="5027074"/>
          <a:ext cx="9316930" cy="1341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6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69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69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69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69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69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9690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690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9690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9690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9690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9690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9690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9690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9690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9690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9690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9690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9690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</a:tblGrid>
              <a:tr h="28956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No.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회원 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/>
                        <a:t>사용여부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직위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핸드폰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이메일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계약시작일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서비스시작일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서비스종료일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카테고리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클래스명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콘텐츠명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신청여부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참여여부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학습시간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분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접촉거부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광고수신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이메일</a:t>
                      </a:r>
                      <a:endParaRPr lang="ko-KR" altLang="en-US" sz="6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휴대폰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/>
                        <a:t>법인</a:t>
                      </a:r>
                      <a:r>
                        <a:rPr lang="en-US" altLang="ko-KR" sz="800" u="sng" dirty="0"/>
                        <a:t>-</a:t>
                      </a:r>
                      <a:r>
                        <a:rPr lang="ko-KR" altLang="en-US" sz="800" u="sng" dirty="0"/>
                        <a:t>정회원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" name="직사각형 37"/>
          <p:cNvSpPr/>
          <p:nvPr/>
        </p:nvSpPr>
        <p:spPr>
          <a:xfrm rot="20547490">
            <a:off x="3786061" y="5644707"/>
            <a:ext cx="2126053" cy="2791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다운로드 데이터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1971186" y="1533107"/>
            <a:ext cx="1465919" cy="14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08964"/>
              </p:ext>
            </p:extLst>
          </p:nvPr>
        </p:nvGraphicFramePr>
        <p:xfrm>
          <a:off x="10113560" y="937264"/>
          <a:ext cx="1692748" cy="22073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5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8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08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강연형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인사이트 포럼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82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경제 컨퍼런스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307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리더의 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82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미래산업 최고위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307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이슈특강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30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토론형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북클럽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307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다빈치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4307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이슈특강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08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체험형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리더의 글쓰기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082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리더의 말하기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082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테크 마스터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082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건축 마스터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082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보고서 마스터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082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골프 마스터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8430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투어형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만권만리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84307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테크로드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84307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이슈특강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9992251" y="4084520"/>
            <a:ext cx="1997663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 err="1">
                <a:solidFill>
                  <a:srgbClr val="00B0F0"/>
                </a:solidFill>
              </a:rPr>
              <a:t>콘텐츠명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 err="1"/>
              <a:t>어드민에</a:t>
            </a:r>
            <a:r>
              <a:rPr lang="ko-KR" altLang="en-US" sz="800" dirty="0"/>
              <a:t> 등록된 제목</a:t>
            </a:r>
            <a:r>
              <a:rPr lang="en-US" altLang="ko-KR" sz="800" dirty="0"/>
              <a:t>(=</a:t>
            </a:r>
            <a:r>
              <a:rPr lang="ko-KR" altLang="en-US" sz="800" dirty="0" err="1"/>
              <a:t>콘텐츠명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[3] </a:t>
            </a:r>
            <a:r>
              <a:rPr lang="ko-KR" altLang="en-US" sz="1000" b="1" dirty="0">
                <a:solidFill>
                  <a:srgbClr val="00B0F0"/>
                </a:solidFill>
              </a:rPr>
              <a:t>비회원 처리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en-US" altLang="ko-KR" sz="800" dirty="0"/>
              <a:t>SERICEO </a:t>
            </a:r>
            <a:r>
              <a:rPr lang="ko-KR" altLang="en-US" sz="800" dirty="0"/>
              <a:t>아이디가 없는 회원 처리 방법</a:t>
            </a:r>
            <a:endParaRPr lang="en-US" altLang="ko-KR" sz="800" dirty="0"/>
          </a:p>
          <a:p>
            <a:r>
              <a:rPr lang="en-US" altLang="ko-KR" sz="800" dirty="0"/>
              <a:t> 1</a:t>
            </a:r>
            <a:r>
              <a:rPr lang="ko-KR" altLang="en-US" sz="800" dirty="0"/>
              <a:t>안</a:t>
            </a:r>
            <a:r>
              <a:rPr lang="en-US" altLang="ko-KR" sz="800" dirty="0"/>
              <a:t>. </a:t>
            </a:r>
            <a:r>
              <a:rPr lang="ko-KR" altLang="en-US" sz="800" dirty="0"/>
              <a:t>아이디 없이 이름만 표기</a:t>
            </a:r>
            <a:endParaRPr lang="en-US" altLang="ko-KR" sz="800" dirty="0"/>
          </a:p>
          <a:p>
            <a:r>
              <a:rPr lang="en-US" altLang="ko-KR" sz="800" dirty="0"/>
              <a:t> 2</a:t>
            </a:r>
            <a:r>
              <a:rPr lang="ko-KR" altLang="en-US" sz="800" dirty="0"/>
              <a:t>안</a:t>
            </a:r>
            <a:r>
              <a:rPr lang="en-US" altLang="ko-KR" sz="800" dirty="0"/>
              <a:t>. </a:t>
            </a:r>
            <a:r>
              <a:rPr lang="ko-KR" altLang="en-US" sz="800" dirty="0"/>
              <a:t>임의 </a:t>
            </a:r>
            <a:r>
              <a:rPr lang="ko-KR" altLang="en-US" sz="800" dirty="0" err="1"/>
              <a:t>난수</a:t>
            </a:r>
            <a:r>
              <a:rPr lang="ko-KR" altLang="en-US" sz="800" dirty="0"/>
              <a:t> 생성해서 부여</a:t>
            </a:r>
            <a:endParaRPr lang="en-US" altLang="ko-KR" sz="800" dirty="0"/>
          </a:p>
          <a:p>
            <a:r>
              <a:rPr lang="en-US" altLang="ko-KR" sz="800" dirty="0"/>
              <a:t> 3</a:t>
            </a:r>
            <a:r>
              <a:rPr lang="ko-KR" altLang="en-US" sz="800" dirty="0"/>
              <a:t>안</a:t>
            </a:r>
            <a:r>
              <a:rPr lang="en-US" altLang="ko-KR" sz="800" dirty="0"/>
              <a:t>. </a:t>
            </a:r>
            <a:r>
              <a:rPr lang="ko-KR" altLang="en-US" sz="800" dirty="0"/>
              <a:t>임시 아이디 무조건 부여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 1</a:t>
            </a:r>
            <a:r>
              <a:rPr lang="ko-KR" altLang="en-US" sz="800" dirty="0"/>
              <a:t>안 우선 검토 후 </a:t>
            </a:r>
            <a:endParaRPr lang="en-US" altLang="ko-KR" sz="800" dirty="0"/>
          </a:p>
          <a:p>
            <a:r>
              <a:rPr lang="en-US" altLang="ko-KR" sz="800" dirty="0"/>
              <a:t> </a:t>
            </a:r>
            <a:r>
              <a:rPr lang="ko-KR" altLang="en-US" sz="800" dirty="0"/>
              <a:t>불가능 시 </a:t>
            </a:r>
            <a:r>
              <a:rPr lang="en-US" altLang="ko-KR" sz="800" dirty="0"/>
              <a:t>2</a:t>
            </a:r>
            <a:r>
              <a:rPr lang="ko-KR" altLang="en-US" sz="800" dirty="0"/>
              <a:t>안</a:t>
            </a:r>
            <a:r>
              <a:rPr lang="en-US" altLang="ko-KR" sz="800" dirty="0"/>
              <a:t>, 3</a:t>
            </a:r>
            <a:r>
              <a:rPr lang="ko-KR" altLang="en-US" sz="800" dirty="0"/>
              <a:t>안 순으로 적용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136816" y="1726157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188" y="1991115"/>
            <a:ext cx="82266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dirty="0">
                <a:solidFill>
                  <a:srgbClr val="FF0000"/>
                </a:solidFill>
              </a:rPr>
              <a:t>데이터 기준 </a:t>
            </a:r>
            <a:r>
              <a:rPr lang="en-US" altLang="ko-KR" sz="600" dirty="0">
                <a:solidFill>
                  <a:srgbClr val="FF0000"/>
                </a:solidFill>
              </a:rPr>
              <a:t>: </a:t>
            </a:r>
            <a:r>
              <a:rPr lang="ko-KR" altLang="en-US" sz="600" dirty="0">
                <a:solidFill>
                  <a:srgbClr val="FF0000"/>
                </a:solidFill>
              </a:rPr>
              <a:t>집계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6852643" y="2591738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992251" y="3190818"/>
            <a:ext cx="22525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카테고리 값 선택 후 </a:t>
            </a:r>
            <a:endParaRPr lang="en-US" altLang="ko-KR" sz="800" dirty="0"/>
          </a:p>
          <a:p>
            <a:r>
              <a:rPr lang="ko-KR" altLang="en-US" sz="800" dirty="0"/>
              <a:t>하위 클래스 선택 없이 조회하면</a:t>
            </a:r>
            <a:endParaRPr lang="en-US" altLang="ko-KR" sz="800" dirty="0"/>
          </a:p>
          <a:p>
            <a:r>
              <a:rPr lang="ko-KR" altLang="en-US" sz="800" dirty="0"/>
              <a:t>해당 카테고리의 모든 클래스 참여 결과 안내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/>
              <a:t>카테고리 선택 없이 조회하면</a:t>
            </a:r>
            <a:endParaRPr lang="en-US" altLang="ko-KR" sz="800" dirty="0"/>
          </a:p>
          <a:p>
            <a:r>
              <a:rPr lang="ko-KR" altLang="en-US" sz="800" dirty="0"/>
              <a:t>모든 클래스 참여 결과 안내</a:t>
            </a:r>
            <a:r>
              <a:rPr lang="en-US" altLang="ko-KR" sz="800" dirty="0"/>
              <a:t>)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7383536" y="1732825"/>
            <a:ext cx="2284340" cy="1527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7224" y="911636"/>
            <a:ext cx="9576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요약          </a:t>
            </a:r>
            <a:r>
              <a:rPr lang="ko-KR" altLang="en-US" sz="1000" dirty="0" err="1"/>
              <a:t>회원별</a:t>
            </a:r>
            <a:r>
              <a:rPr lang="ko-KR" altLang="en-US" sz="1000" dirty="0"/>
              <a:t> 이용현황            이용현황 집계           이용현황 교차 집계            상세 시청내역            서비스 참여현황           </a:t>
            </a:r>
            <a:r>
              <a:rPr lang="ko-KR" altLang="en-US" sz="1000" b="1" dirty="0"/>
              <a:t>클래스 참여현황                                             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4250800" y="1729538"/>
            <a:ext cx="956828" cy="1459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V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5237847" y="1723219"/>
            <a:ext cx="1297293" cy="15228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                  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CRM_06_029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8842075" y="72852"/>
            <a:ext cx="3968151" cy="54801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marL="228600" indent="-228600" algn="ctr"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</a:rPr>
              <a:t>이용현황 추가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06544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83337"/>
          <a:stretch/>
        </p:blipFill>
        <p:spPr>
          <a:xfrm>
            <a:off x="71324" y="1111652"/>
            <a:ext cx="9865987" cy="799698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5688519" y="1704313"/>
            <a:ext cx="894945" cy="1556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가망고객관리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6642910" y="1704313"/>
            <a:ext cx="1173940" cy="1556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커뮤니케이션 관리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295680"/>
              </p:ext>
            </p:extLst>
          </p:nvPr>
        </p:nvGraphicFramePr>
        <p:xfrm>
          <a:off x="1586561" y="4360370"/>
          <a:ext cx="7974519" cy="16568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1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5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채널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■ 사용            □ 미사용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발신자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발신 전화번호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발신 </a:t>
                      </a:r>
                      <a:r>
                        <a:rPr lang="ko-KR" altLang="en-US" sz="800" dirty="0" err="1"/>
                        <a:t>이메일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마케팅 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■ 마케팅용            □ </a:t>
                      </a:r>
                      <a:r>
                        <a:rPr lang="ko-KR" altLang="en-US" sz="800" dirty="0" err="1"/>
                        <a:t>해당없음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33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템플릿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endParaRPr lang="en-US" altLang="ko-KR" sz="800" dirty="0"/>
                    </a:p>
                    <a:p>
                      <a:pPr marL="0" indent="0" algn="l" latinLnBrk="1">
                        <a:buNone/>
                      </a:pPr>
                      <a:endParaRPr lang="en-US" altLang="ko-KR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2698615" y="4594966"/>
            <a:ext cx="2724967" cy="15242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SERICEO 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재계약을 안내해 드립니다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747982" y="5245647"/>
            <a:ext cx="820090" cy="17071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Html </a:t>
            </a:r>
            <a:r>
              <a:rPr lang="ko-KR" altLang="en-US" sz="800" dirty="0">
                <a:solidFill>
                  <a:schemeClr val="tx1"/>
                </a:solidFill>
              </a:rPr>
              <a:t>찾아보기</a:t>
            </a: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03172"/>
              </p:ext>
            </p:extLst>
          </p:nvPr>
        </p:nvGraphicFramePr>
        <p:xfrm>
          <a:off x="1534679" y="2170180"/>
          <a:ext cx="7974519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1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7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59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채널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영업대표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마케팅 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직사각형 13"/>
          <p:cNvSpPr/>
          <p:nvPr/>
        </p:nvSpPr>
        <p:spPr>
          <a:xfrm>
            <a:off x="2646732" y="2193263"/>
            <a:ext cx="1588041" cy="1738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284004" y="2189524"/>
            <a:ext cx="1333341" cy="17273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</a:rPr>
              <a:t>홍길동                  🔍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534679" y="2683279"/>
            <a:ext cx="529123" cy="1489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586561" y="4076452"/>
            <a:ext cx="529123" cy="1489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신규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2218859" y="4076452"/>
            <a:ext cx="529123" cy="1489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4678" y="3753173"/>
            <a:ext cx="12378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Total 00000     Page 0</a:t>
            </a:r>
            <a:endParaRPr lang="ko-KR" altLang="en-US" sz="800" dirty="0"/>
          </a:p>
        </p:txBody>
      </p:sp>
      <p:sp>
        <p:nvSpPr>
          <p:cNvPr id="23" name="직사각형 22"/>
          <p:cNvSpPr/>
          <p:nvPr/>
        </p:nvSpPr>
        <p:spPr>
          <a:xfrm>
            <a:off x="1403349" y="2003357"/>
            <a:ext cx="8454957" cy="386404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872783" y="2193263"/>
            <a:ext cx="1588717" cy="16899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698615" y="4386761"/>
            <a:ext cx="2724967" cy="15242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이메일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                               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706831" y="5245647"/>
            <a:ext cx="514486" cy="17071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직접입력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2698615" y="4837569"/>
            <a:ext cx="2724967" cy="15242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6736533" y="4809346"/>
            <a:ext cx="2724967" cy="15242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sericeo@serceo.com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736533" y="4594966"/>
            <a:ext cx="2724967" cy="15242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홍길동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997065" y="628549"/>
            <a:ext cx="1563248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[1] </a:t>
            </a:r>
            <a:r>
              <a:rPr lang="ko-KR" altLang="en-US" sz="1000" b="1" dirty="0">
                <a:solidFill>
                  <a:srgbClr val="00B0F0"/>
                </a:solidFill>
              </a:rPr>
              <a:t>상세 정보 조회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목록에서 제목 클릭 시 </a:t>
            </a:r>
            <a:endParaRPr lang="en-US" altLang="ko-KR" sz="800" dirty="0"/>
          </a:p>
          <a:p>
            <a:r>
              <a:rPr lang="ko-KR" altLang="en-US" sz="800" dirty="0"/>
              <a:t>하단에 상세 등록 정보 안내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1000" b="1" dirty="0">
                <a:solidFill>
                  <a:srgbClr val="00B0F0"/>
                </a:solidFill>
              </a:rPr>
              <a:t>[2] </a:t>
            </a:r>
            <a:r>
              <a:rPr lang="ko-KR" altLang="en-US" sz="1000" b="1" dirty="0">
                <a:solidFill>
                  <a:srgbClr val="00B0F0"/>
                </a:solidFill>
              </a:rPr>
              <a:t>템플릿 발송 이력</a:t>
            </a:r>
            <a:endParaRPr lang="en-US" altLang="ko-KR" sz="1000" b="1" dirty="0">
              <a:solidFill>
                <a:srgbClr val="00B0F0"/>
              </a:solidFill>
            </a:endParaRPr>
          </a:p>
          <a:p>
            <a:endParaRPr lang="en-US" altLang="ko-KR" sz="1000" b="1" dirty="0">
              <a:solidFill>
                <a:srgbClr val="00B0F0"/>
              </a:solidFill>
            </a:endParaRPr>
          </a:p>
          <a:p>
            <a:r>
              <a:rPr lang="ko-KR" altLang="en-US" sz="800" dirty="0"/>
              <a:t>해당 템플릿의 발송 이력 조회</a:t>
            </a:r>
            <a:endParaRPr lang="en-US" altLang="ko-KR" sz="800" dirty="0"/>
          </a:p>
          <a:p>
            <a:endParaRPr lang="en-US" altLang="ko-KR" sz="800" dirty="0"/>
          </a:p>
          <a:p>
            <a:endParaRPr lang="ko-KR" altLang="en-US" sz="800" dirty="0"/>
          </a:p>
        </p:txBody>
      </p:sp>
      <p:sp>
        <p:nvSpPr>
          <p:cNvPr id="39" name="TextBox 38"/>
          <p:cNvSpPr txBox="1"/>
          <p:nvPr/>
        </p:nvSpPr>
        <p:spPr>
          <a:xfrm>
            <a:off x="4250227" y="5245647"/>
            <a:ext cx="21066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/>
              <a:t>※ html </a:t>
            </a:r>
            <a:r>
              <a:rPr lang="ko-KR" altLang="en-US" sz="600" dirty="0"/>
              <a:t>템플릿은 </a:t>
            </a:r>
            <a:r>
              <a:rPr lang="en-US" altLang="ko-KR" sz="600" dirty="0"/>
              <a:t>&lt;</a:t>
            </a:r>
            <a:r>
              <a:rPr lang="ko-KR" altLang="en-US" sz="600" dirty="0" err="1"/>
              <a:t>이메일</a:t>
            </a:r>
            <a:r>
              <a:rPr lang="en-US" altLang="ko-KR" sz="600" dirty="0"/>
              <a:t>&gt; </a:t>
            </a:r>
            <a:r>
              <a:rPr lang="ko-KR" altLang="en-US" sz="600" dirty="0"/>
              <a:t>채널에만 등록 가능합니다</a:t>
            </a:r>
            <a:r>
              <a:rPr lang="en-US" altLang="ko-KR" sz="600" dirty="0"/>
              <a:t>.</a:t>
            </a:r>
            <a:r>
              <a:rPr lang="ko-KR" altLang="en-US" sz="600" dirty="0"/>
              <a:t> 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907822" y="332117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커뮤니케이션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&gt;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 조회 선택 후 발송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</a:t>
            </a:r>
            <a:r>
              <a:rPr lang="ko-KR" altLang="en-US" sz="1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작업물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등록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수정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삭제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907822" y="72853"/>
            <a:ext cx="9005852" cy="2592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CRM_07_001~006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2698615" y="5462342"/>
            <a:ext cx="6762885" cy="2698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$</a:t>
            </a:r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미리보기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제공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$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409699" y="6140078"/>
            <a:ext cx="990601" cy="18986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발송이력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534678" y="3203462"/>
            <a:ext cx="7974519" cy="136674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8" name="꺾인 연결선 7"/>
          <p:cNvCxnSpPr>
            <a:stCxn id="41" idx="1"/>
            <a:endCxn id="7" idx="1"/>
          </p:cNvCxnSpPr>
          <p:nvPr/>
        </p:nvCxnSpPr>
        <p:spPr>
          <a:xfrm rot="10800000" flipH="1" flipV="1">
            <a:off x="1534677" y="3271798"/>
            <a:ext cx="51883" cy="1916975"/>
          </a:xfrm>
          <a:prstGeom prst="bentConnector3">
            <a:avLst>
              <a:gd name="adj1" fmla="val -440607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403349" y="6339438"/>
            <a:ext cx="8157731" cy="2154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     발송일                회원구분                   아이디               이름          회사명                 영업대표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1348798" y="3184797"/>
            <a:ext cx="185877" cy="174001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646733" y="2404820"/>
            <a:ext cx="1588717" cy="16899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dirty="0">
                <a:solidFill>
                  <a:schemeClr val="tx1"/>
                </a:solidFill>
              </a:rPr>
              <a:t>V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042978"/>
              </p:ext>
            </p:extLst>
          </p:nvPr>
        </p:nvGraphicFramePr>
        <p:xfrm>
          <a:off x="1534674" y="2954961"/>
          <a:ext cx="7926825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2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17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□               채널                                  제목                                 발신자                   발신자 </a:t>
                      </a:r>
                      <a:r>
                        <a:rPr lang="ko-KR" altLang="en-US" sz="800" dirty="0" err="1"/>
                        <a:t>이메일</a:t>
                      </a:r>
                      <a:r>
                        <a:rPr lang="ko-KR" altLang="en-US" sz="800" dirty="0"/>
                        <a:t>              마케팅 여부     사용여부       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588274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496018"/>
              </p:ext>
            </p:extLst>
          </p:nvPr>
        </p:nvGraphicFramePr>
        <p:xfrm>
          <a:off x="383455" y="935243"/>
          <a:ext cx="9379977" cy="5332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4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92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04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04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04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04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04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317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71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As-Is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To-Be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구분</a:t>
                      </a:r>
                      <a:r>
                        <a:rPr lang="en-US" altLang="ko-KR" sz="1000" u="none" strike="noStrike">
                          <a:effectLst/>
                        </a:rPr>
                        <a:t>1</a:t>
                      </a:r>
                      <a:endParaRPr lang="en-US" altLang="ko-KR" sz="1000" b="1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구분</a:t>
                      </a:r>
                      <a:r>
                        <a:rPr lang="en-US" altLang="ko-KR" sz="1000" u="none" strike="noStrike">
                          <a:effectLst/>
                        </a:rPr>
                        <a:t>2</a:t>
                      </a:r>
                      <a:endParaRPr lang="en-US" altLang="ko-KR" sz="1000" b="1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구분</a:t>
                      </a:r>
                      <a:r>
                        <a:rPr lang="en-US" altLang="ko-KR" sz="1000" u="none" strike="noStrike" dirty="0">
                          <a:effectLst/>
                        </a:rPr>
                        <a:t>1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구분</a:t>
                      </a:r>
                      <a:r>
                        <a:rPr lang="en-US" altLang="ko-KR" sz="1000" u="none" strike="noStrike">
                          <a:effectLst/>
                        </a:rPr>
                        <a:t>2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구분</a:t>
                      </a:r>
                      <a:r>
                        <a:rPr lang="en-US" altLang="ko-KR" sz="1000" u="none" strike="noStrike" dirty="0">
                          <a:effectLst/>
                        </a:rPr>
                        <a:t>3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대내</a:t>
                      </a:r>
                      <a:r>
                        <a:rPr lang="en-US" altLang="ko-KR" sz="1000" u="none" strike="noStrike" dirty="0">
                          <a:effectLst/>
                        </a:rPr>
                        <a:t>/</a:t>
                      </a:r>
                      <a:r>
                        <a:rPr lang="ko-KR" altLang="en-US" sz="1000" u="none" strike="noStrike" dirty="0">
                          <a:effectLst/>
                        </a:rPr>
                        <a:t>외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매출구분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서비스권한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7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 err="1">
                          <a:effectLst/>
                        </a:rPr>
                        <a:t>그룹사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유료회원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법인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정회원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대내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실매출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7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그룹외사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유료회원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법인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실매출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7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개인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유료회원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개인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실매출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0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정회원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법인</a:t>
                      </a:r>
                      <a:r>
                        <a:rPr lang="en-US" sz="900" u="none" strike="noStrike" dirty="0">
                          <a:effectLst/>
                        </a:rPr>
                        <a:t>VIP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유료회원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법인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프리미엄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대외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effectLst/>
                        </a:rPr>
                        <a:t>실매출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향후 별도 운영 안 함</a:t>
                      </a:r>
                      <a:r>
                        <a:rPr lang="en-US" altLang="ko-KR" sz="1000" u="none" strike="noStrike">
                          <a:effectLst/>
                        </a:rPr>
                        <a:t>(</a:t>
                      </a:r>
                      <a:r>
                        <a:rPr lang="ko-KR" altLang="en-US" sz="1000" u="none" strike="noStrike">
                          <a:effectLst/>
                        </a:rPr>
                        <a:t>삭제</a:t>
                      </a:r>
                      <a:r>
                        <a:rPr lang="en-US" altLang="ko-KR" sz="1000" u="none" strike="noStrike">
                          <a:effectLst/>
                        </a:rPr>
                        <a:t>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47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 err="1">
                          <a:effectLst/>
                        </a:rPr>
                        <a:t>리움멤버십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유료회원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개인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effectLst/>
                        </a:rPr>
                        <a:t>리움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대외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effectLst/>
                        </a:rPr>
                        <a:t>실매출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47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 err="1">
                          <a:effectLst/>
                        </a:rPr>
                        <a:t>그룹사</a:t>
                      </a:r>
                      <a:r>
                        <a:rPr lang="en-US" altLang="ko-KR" sz="900" u="none" strike="noStrike" dirty="0">
                          <a:effectLst/>
                        </a:rPr>
                        <a:t>(</a:t>
                      </a:r>
                      <a:r>
                        <a:rPr lang="ko-KR" altLang="en-US" sz="900" u="none" strike="noStrike" dirty="0">
                          <a:effectLst/>
                        </a:rPr>
                        <a:t>온</a:t>
                      </a:r>
                      <a:r>
                        <a:rPr lang="en-US" altLang="ko-KR" sz="900" u="none" strike="noStrike" dirty="0">
                          <a:effectLst/>
                        </a:rPr>
                        <a:t>)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유료회원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법인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온라인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대내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실매출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47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그룹외사</a:t>
                      </a:r>
                      <a:r>
                        <a:rPr lang="en-US" altLang="ko-KR" sz="900" u="none" strike="noStrike" dirty="0">
                          <a:effectLst/>
                        </a:rPr>
                        <a:t>(</a:t>
                      </a:r>
                      <a:r>
                        <a:rPr lang="ko-KR" altLang="en-US" sz="900" u="none" strike="noStrike" dirty="0">
                          <a:effectLst/>
                        </a:rPr>
                        <a:t>온</a:t>
                      </a:r>
                      <a:r>
                        <a:rPr lang="en-US" altLang="ko-KR" sz="900" u="none" strike="noStrike" dirty="0">
                          <a:effectLst/>
                        </a:rPr>
                        <a:t>)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유료회원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법인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온라인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실매출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47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개인</a:t>
                      </a:r>
                      <a:r>
                        <a:rPr lang="en-US" altLang="ko-KR" sz="900" u="none" strike="noStrike">
                          <a:effectLst/>
                        </a:rPr>
                        <a:t>(</a:t>
                      </a:r>
                      <a:r>
                        <a:rPr lang="ko-KR" altLang="en-US" sz="900" u="none" strike="noStrike">
                          <a:effectLst/>
                        </a:rPr>
                        <a:t>온</a:t>
                      </a:r>
                      <a:r>
                        <a:rPr lang="en-US" altLang="ko-KR" sz="900" u="none" strike="noStrike">
                          <a:effectLst/>
                        </a:rPr>
                        <a:t>)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유료회원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개인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온라인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실매출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0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법인</a:t>
                      </a:r>
                      <a:r>
                        <a:rPr lang="en-US" sz="900" u="none" strike="noStrike" dirty="0">
                          <a:effectLst/>
                        </a:rPr>
                        <a:t>VIP(</a:t>
                      </a:r>
                      <a:r>
                        <a:rPr lang="ko-KR" altLang="en-US" sz="900" u="none" strike="noStrike" dirty="0">
                          <a:effectLst/>
                        </a:rPr>
                        <a:t>온</a:t>
                      </a:r>
                      <a:r>
                        <a:rPr lang="en-US" altLang="ko-KR" sz="900" u="none" strike="noStrike" dirty="0">
                          <a:effectLst/>
                        </a:rPr>
                        <a:t>)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유료회원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법인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온라인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실매출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향후 별도 운영 안 함</a:t>
                      </a:r>
                      <a:r>
                        <a:rPr lang="en-US" altLang="ko-KR" sz="1000" u="none" strike="noStrike">
                          <a:effectLst/>
                        </a:rPr>
                        <a:t>(</a:t>
                      </a:r>
                      <a:r>
                        <a:rPr lang="ko-KR" altLang="en-US" sz="1000" u="none" strike="noStrike">
                          <a:effectLst/>
                        </a:rPr>
                        <a:t>삭제</a:t>
                      </a:r>
                      <a:r>
                        <a:rPr lang="en-US" altLang="ko-KR" sz="1000" u="none" strike="noStrike">
                          <a:effectLst/>
                        </a:rPr>
                        <a:t>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47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 err="1">
                          <a:effectLst/>
                        </a:rPr>
                        <a:t>그룹사</a:t>
                      </a:r>
                      <a:r>
                        <a:rPr lang="en-US" altLang="ko-KR" sz="900" u="none" strike="noStrike" dirty="0">
                          <a:effectLst/>
                        </a:rPr>
                        <a:t>(</a:t>
                      </a:r>
                      <a:r>
                        <a:rPr lang="ko-KR" altLang="en-US" sz="900" u="none" strike="noStrike" dirty="0">
                          <a:effectLst/>
                        </a:rPr>
                        <a:t>온</a:t>
                      </a:r>
                      <a:r>
                        <a:rPr lang="en-US" sz="900" u="none" strike="noStrike" dirty="0">
                          <a:effectLst/>
                        </a:rPr>
                        <a:t>M)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유료회원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법인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매거진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대내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실매출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47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그룹외사</a:t>
                      </a:r>
                      <a:r>
                        <a:rPr lang="en-US" altLang="ko-KR" sz="900" u="none" strike="noStrike" dirty="0">
                          <a:effectLst/>
                        </a:rPr>
                        <a:t>(</a:t>
                      </a:r>
                      <a:r>
                        <a:rPr lang="ko-KR" altLang="en-US" sz="900" u="none" strike="noStrike" dirty="0">
                          <a:effectLst/>
                        </a:rPr>
                        <a:t>온</a:t>
                      </a:r>
                      <a:r>
                        <a:rPr lang="en-US" sz="900" u="none" strike="noStrike" dirty="0">
                          <a:effectLst/>
                        </a:rPr>
                        <a:t>M)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유료회원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법인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매거진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실매출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147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개인</a:t>
                      </a:r>
                      <a:r>
                        <a:rPr lang="en-US" altLang="ko-KR" sz="900" u="none" strike="noStrike" dirty="0">
                          <a:effectLst/>
                        </a:rPr>
                        <a:t>(</a:t>
                      </a:r>
                      <a:r>
                        <a:rPr lang="ko-KR" altLang="en-US" sz="900" u="none" strike="noStrike" dirty="0">
                          <a:effectLst/>
                        </a:rPr>
                        <a:t>온</a:t>
                      </a:r>
                      <a:r>
                        <a:rPr lang="en-US" sz="900" u="none" strike="noStrike" dirty="0">
                          <a:effectLst/>
                        </a:rPr>
                        <a:t>M)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유료회원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개인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매거진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실매출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0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법인</a:t>
                      </a:r>
                      <a:r>
                        <a:rPr lang="en-US" sz="900" u="none" strike="noStrike" dirty="0">
                          <a:effectLst/>
                        </a:rPr>
                        <a:t>VIP(</a:t>
                      </a:r>
                      <a:r>
                        <a:rPr lang="ko-KR" altLang="en-US" sz="900" u="none" strike="noStrike" dirty="0">
                          <a:effectLst/>
                        </a:rPr>
                        <a:t>온</a:t>
                      </a:r>
                      <a:r>
                        <a:rPr lang="en-US" sz="900" u="none" strike="noStrike" dirty="0">
                          <a:effectLst/>
                        </a:rPr>
                        <a:t>M)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유료회원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법인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매거진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실매출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향후 별도 운영 안 함</a:t>
                      </a:r>
                      <a:r>
                        <a:rPr lang="en-US" altLang="ko-KR" sz="1000" u="none" strike="noStrike">
                          <a:effectLst/>
                        </a:rPr>
                        <a:t>(</a:t>
                      </a:r>
                      <a:r>
                        <a:rPr lang="ko-KR" altLang="en-US" sz="1000" u="none" strike="noStrike">
                          <a:effectLst/>
                        </a:rPr>
                        <a:t>삭제</a:t>
                      </a:r>
                      <a:r>
                        <a:rPr lang="en-US" altLang="ko-KR" sz="1000" u="none" strike="noStrike">
                          <a:effectLst/>
                        </a:rPr>
                        <a:t>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147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프리미엄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유료회원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개인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프리미엄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실매출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147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BPO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유료회원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법인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정회원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배분매출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147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BPO(</a:t>
                      </a:r>
                      <a:r>
                        <a:rPr lang="ko-KR" altLang="en-US" sz="900" u="none" strike="noStrike" dirty="0">
                          <a:effectLst/>
                        </a:rPr>
                        <a:t>온</a:t>
                      </a:r>
                      <a:r>
                        <a:rPr lang="en-US" altLang="ko-KR" sz="900" u="none" strike="noStrike" dirty="0">
                          <a:effectLst/>
                        </a:rPr>
                        <a:t>)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유료회원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법인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온라인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배분매출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147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정회원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 err="1">
                          <a:effectLst/>
                        </a:rPr>
                        <a:t>월회원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유료회원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법인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effectLst/>
                        </a:rPr>
                        <a:t>월회원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대외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effectLst/>
                        </a:rPr>
                        <a:t>실매출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To-Be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월회원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추가</a:t>
                      </a:r>
                      <a:endParaRPr lang="ko-KR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10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가족회원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향후 별도 운영 안 함</a:t>
                      </a:r>
                      <a:r>
                        <a:rPr lang="en-US" altLang="ko-KR" sz="1000" u="none" strike="noStrike">
                          <a:effectLst/>
                        </a:rPr>
                        <a:t>(</a:t>
                      </a:r>
                      <a:r>
                        <a:rPr lang="ko-KR" altLang="en-US" sz="1000" u="none" strike="noStrike">
                          <a:effectLst/>
                        </a:rPr>
                        <a:t>삭제</a:t>
                      </a:r>
                      <a:r>
                        <a:rPr lang="en-US" altLang="ko-KR" sz="1000" u="none" strike="noStrike">
                          <a:effectLst/>
                        </a:rPr>
                        <a:t>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766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임시회원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서비스</a:t>
                      </a:r>
                      <a:r>
                        <a:rPr lang="en-US" sz="900" u="none" strike="noStrike">
                          <a:effectLst/>
                        </a:rPr>
                        <a:t>ID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무료회원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캠페인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장기체험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147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임시회원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VIP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무료 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캠페인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VIP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임시회원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모니터용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무료 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모니터링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법인담당자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임시회원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임직원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무료 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임직원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일반임직원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대내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147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임시회원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콘텐츠제공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무료 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모니터링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출연진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147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임시회원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캠페인 회원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무료 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캠페인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장기체험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147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임시회원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운영자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무료 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임직원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운영자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대내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147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임시회원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2</a:t>
                      </a:r>
                      <a:r>
                        <a:rPr lang="ko-KR" altLang="en-US" sz="900" u="none" strike="noStrike" dirty="0" err="1">
                          <a:effectLst/>
                        </a:rPr>
                        <a:t>주체험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무료 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캠페인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</a:rPr>
                        <a:t>2</a:t>
                      </a:r>
                      <a:r>
                        <a:rPr lang="ko-KR" altLang="en-US" sz="1000" u="none" strike="noStrike" dirty="0" err="1">
                          <a:effectLst/>
                        </a:rPr>
                        <a:t>주체험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*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모든 체험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캠페인은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주로 통일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147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임시회원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SERI</a:t>
                      </a:r>
                      <a:r>
                        <a:rPr lang="ko-KR" altLang="en-US" sz="900" u="none" strike="noStrike">
                          <a:effectLst/>
                        </a:rPr>
                        <a:t>출연자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무료 회원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모니터링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출연진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대내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610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대기회원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대기회원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</a:rPr>
                        <a:t>향후 별도 운영 안 함</a:t>
                      </a:r>
                      <a:r>
                        <a:rPr lang="en-US" altLang="ko-KR" sz="1000" u="none" strike="noStrike" dirty="0">
                          <a:effectLst/>
                        </a:rPr>
                        <a:t>(</a:t>
                      </a:r>
                      <a:r>
                        <a:rPr lang="ko-KR" altLang="en-US" sz="1000" u="none" strike="noStrike" dirty="0">
                          <a:effectLst/>
                        </a:rPr>
                        <a:t>삭제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4613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530236" y="948341"/>
            <a:ext cx="1120878" cy="2654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전체회원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44238" y="1749670"/>
            <a:ext cx="2285999" cy="2654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유료회원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651114" y="1749670"/>
            <a:ext cx="2285999" cy="2654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무료회원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37883" y="2277463"/>
            <a:ext cx="2285999" cy="2654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법인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정회원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50588" y="3886334"/>
            <a:ext cx="2285999" cy="2654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법인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프리미엄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44233" y="2670751"/>
            <a:ext cx="2285999" cy="2654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법인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온라인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244233" y="3072647"/>
            <a:ext cx="2285999" cy="2654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법인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매거진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44238" y="4303597"/>
            <a:ext cx="2285999" cy="2654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개인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정회원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50590" y="6272503"/>
            <a:ext cx="2285999" cy="2654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개인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프리미엄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250588" y="5874297"/>
            <a:ext cx="2285999" cy="2654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개인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리움</a:t>
            </a:r>
            <a:endParaRPr lang="ko-KR" alt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50588" y="4681518"/>
            <a:ext cx="2285999" cy="2654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개인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온라인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50588" y="5082803"/>
            <a:ext cx="2285999" cy="2654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개인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매거진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3651114" y="2403515"/>
            <a:ext cx="2285999" cy="2654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캠페인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검토용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3651114" y="2858257"/>
            <a:ext cx="2285999" cy="2654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캠페인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-VIP</a:t>
            </a:r>
            <a:endParaRPr lang="ko-KR" alt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3651114" y="3821817"/>
            <a:ext cx="2285999" cy="2654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캠페인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오프라인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3651114" y="4303597"/>
            <a:ext cx="2285999" cy="2654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캠페인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en-US" altLang="ko-KR" sz="1200" dirty="0">
                <a:solidFill>
                  <a:srgbClr val="FF0000"/>
                </a:solidFill>
              </a:rPr>
              <a:t>2</a:t>
            </a:r>
            <a:r>
              <a:rPr lang="ko-KR" altLang="en-US" sz="1200" dirty="0" err="1">
                <a:solidFill>
                  <a:srgbClr val="FF0000"/>
                </a:solidFill>
              </a:rPr>
              <a:t>주체험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651114" y="4785377"/>
            <a:ext cx="2285999" cy="2654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모니터링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법인담당자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3651114" y="5259782"/>
            <a:ext cx="2285999" cy="2654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모니터링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출연진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3651114" y="5741562"/>
            <a:ext cx="2285999" cy="2654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임직원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운영자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3651114" y="6223342"/>
            <a:ext cx="2285999" cy="2654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임직원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일반</a:t>
            </a:r>
          </a:p>
        </p:txBody>
      </p:sp>
      <p:cxnSp>
        <p:nvCxnSpPr>
          <p:cNvPr id="39" name="꺾인 연결선 38"/>
          <p:cNvCxnSpPr>
            <a:stCxn id="6" idx="0"/>
            <a:endCxn id="7" idx="0"/>
          </p:cNvCxnSpPr>
          <p:nvPr/>
        </p:nvCxnSpPr>
        <p:spPr>
          <a:xfrm rot="5400000" flipH="1" flipV="1">
            <a:off x="3090676" y="46232"/>
            <a:ext cx="12700" cy="340687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>
            <a:stCxn id="4" idx="2"/>
          </p:cNvCxnSpPr>
          <p:nvPr/>
        </p:nvCxnSpPr>
        <p:spPr>
          <a:xfrm>
            <a:off x="3090675" y="1213812"/>
            <a:ext cx="0" cy="317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>
            <a:stCxn id="6" idx="2"/>
            <a:endCxn id="8" idx="0"/>
          </p:cNvCxnSpPr>
          <p:nvPr/>
        </p:nvCxnSpPr>
        <p:spPr>
          <a:xfrm flipH="1">
            <a:off x="1380883" y="2015141"/>
            <a:ext cx="6355" cy="2623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>
            <a:stCxn id="7" idx="2"/>
            <a:endCxn id="29" idx="0"/>
          </p:cNvCxnSpPr>
          <p:nvPr/>
        </p:nvCxnSpPr>
        <p:spPr>
          <a:xfrm>
            <a:off x="4794114" y="2015141"/>
            <a:ext cx="0" cy="3883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74147" y="862832"/>
            <a:ext cx="26645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- </a:t>
            </a:r>
            <a:r>
              <a:rPr lang="ko-KR" altLang="en-US" sz="1050" dirty="0"/>
              <a:t>대내</a:t>
            </a:r>
            <a:r>
              <a:rPr lang="en-US" altLang="ko-KR" sz="1050" dirty="0"/>
              <a:t>/</a:t>
            </a:r>
            <a:r>
              <a:rPr lang="ko-KR" altLang="en-US" sz="1050" dirty="0"/>
              <a:t>대외 </a:t>
            </a:r>
            <a:r>
              <a:rPr lang="en-US" altLang="ko-KR" sz="1050" dirty="0"/>
              <a:t>: </a:t>
            </a:r>
            <a:r>
              <a:rPr lang="ko-KR" altLang="en-US" sz="1050" dirty="0"/>
              <a:t>자동입력</a:t>
            </a:r>
            <a:endParaRPr lang="en-US" altLang="ko-KR" sz="1050" dirty="0"/>
          </a:p>
          <a:p>
            <a:r>
              <a:rPr lang="en-US" altLang="ko-KR" sz="1050" dirty="0"/>
              <a:t>- </a:t>
            </a:r>
            <a:r>
              <a:rPr lang="ko-KR" altLang="en-US" sz="1050" dirty="0" err="1"/>
              <a:t>실매출</a:t>
            </a:r>
            <a:r>
              <a:rPr lang="en-US" altLang="ko-KR" sz="1050" dirty="0"/>
              <a:t>/</a:t>
            </a:r>
            <a:r>
              <a:rPr lang="ko-KR" altLang="en-US" sz="1050" dirty="0"/>
              <a:t>배분매출 </a:t>
            </a:r>
            <a:r>
              <a:rPr lang="en-US" altLang="ko-KR" sz="1050" dirty="0"/>
              <a:t>: [</a:t>
            </a:r>
            <a:r>
              <a:rPr lang="ko-KR" altLang="en-US" sz="1050" dirty="0" err="1"/>
              <a:t>실매출</a:t>
            </a:r>
            <a:r>
              <a:rPr lang="en-US" altLang="ko-KR" sz="1050" dirty="0"/>
              <a:t>] </a:t>
            </a:r>
            <a:r>
              <a:rPr lang="ko-KR" altLang="en-US" sz="1050" dirty="0"/>
              <a:t>기본 </a:t>
            </a:r>
            <a:r>
              <a:rPr lang="ko-KR" altLang="en-US" sz="1050" dirty="0" err="1"/>
              <a:t>선택값</a:t>
            </a:r>
            <a:endParaRPr lang="ko-KR" altLang="en-US" sz="1050" dirty="0"/>
          </a:p>
        </p:txBody>
      </p:sp>
      <p:sp>
        <p:nvSpPr>
          <p:cNvPr id="37" name="직사각형 36"/>
          <p:cNvSpPr/>
          <p:nvPr/>
        </p:nvSpPr>
        <p:spPr>
          <a:xfrm>
            <a:off x="3657464" y="3347412"/>
            <a:ext cx="2285999" cy="2654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캠페인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-VIP(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온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ko-KR" alt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44233" y="3496113"/>
            <a:ext cx="2285999" cy="2654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법인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월회원</a:t>
            </a:r>
            <a:endParaRPr lang="ko-KR" alt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50588" y="5452132"/>
            <a:ext cx="2285999" cy="2654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개인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월회원</a:t>
            </a:r>
            <a:endParaRPr lang="ko-KR" alt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631753"/>
              </p:ext>
            </p:extLst>
          </p:nvPr>
        </p:nvGraphicFramePr>
        <p:xfrm>
          <a:off x="7193604" y="1768651"/>
          <a:ext cx="1879674" cy="21792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9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166"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계약 구분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166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신규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dirty="0"/>
                        <a:t>신규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신규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돌신</a:t>
                      </a:r>
                      <a:r>
                        <a:rPr lang="en-US" altLang="ko-KR" sz="800" u="none" dirty="0"/>
                        <a:t>) 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1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재계약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신규교체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재가입교체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35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재가입</a:t>
                      </a:r>
                      <a:r>
                        <a:rPr lang="en-US" altLang="ko-KR" sz="800" u="none" dirty="0"/>
                        <a:t>(</a:t>
                      </a:r>
                      <a:r>
                        <a:rPr lang="ko-KR" altLang="en-US" sz="800" u="none" dirty="0" err="1"/>
                        <a:t>돌재</a:t>
                      </a:r>
                      <a:r>
                        <a:rPr lang="en-US" altLang="ko-KR" sz="800" u="none" dirty="0"/>
                        <a:t>)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 탈퇴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서비스종료 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3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dirty="0"/>
                        <a:t>-</a:t>
                      </a:r>
                      <a:endParaRPr lang="ko-KR" altLang="en-US" sz="800" u="none" dirty="0"/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dirty="0"/>
                        <a:t>교체탈퇴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7193604" y="3947863"/>
            <a:ext cx="2383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 </a:t>
            </a:r>
            <a:r>
              <a:rPr lang="ko-KR" altLang="en-US" sz="800" dirty="0">
                <a:solidFill>
                  <a:srgbClr val="FF0000"/>
                </a:solidFill>
              </a:rPr>
              <a:t>교체탈퇴는 탈퇴 </a:t>
            </a:r>
            <a:r>
              <a:rPr lang="ko-KR" altLang="en-US" sz="800" dirty="0" err="1">
                <a:solidFill>
                  <a:srgbClr val="FF0000"/>
                </a:solidFill>
              </a:rPr>
              <a:t>회원수에</a:t>
            </a:r>
            <a:r>
              <a:rPr lang="ko-KR" altLang="en-US" sz="800" dirty="0">
                <a:solidFill>
                  <a:srgbClr val="FF0000"/>
                </a:solidFill>
              </a:rPr>
              <a:t> 포함되지 않습니다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5170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12" y="3527598"/>
            <a:ext cx="4769762" cy="333040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242" y="3523795"/>
            <a:ext cx="4908278" cy="3258133"/>
          </a:xfrm>
          <a:prstGeom prst="rect">
            <a:avLst/>
          </a:prstGeom>
        </p:spPr>
      </p:pic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796250"/>
              </p:ext>
            </p:extLst>
          </p:nvPr>
        </p:nvGraphicFramePr>
        <p:xfrm>
          <a:off x="3021373" y="633023"/>
          <a:ext cx="5046592" cy="43513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1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24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57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As-Is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To-Be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15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정회원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그룹사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유료회원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법인</a:t>
                      </a: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15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정회원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그룹외사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유료회원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법인</a:t>
                      </a: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15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정회원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그룹외사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</a:rPr>
                        <a:t>온</a:t>
                      </a:r>
                      <a:r>
                        <a:rPr lang="en-US" altLang="ko-KR" sz="1100" u="none" strike="noStrike">
                          <a:effectLst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유료회원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법인</a:t>
                      </a: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온라인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15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정회원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개인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유료회원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개인</a:t>
                      </a: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15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정회원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개인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</a:rPr>
                        <a:t>온</a:t>
                      </a:r>
                      <a:r>
                        <a:rPr lang="en-US" altLang="ko-KR" sz="1100" u="none" strike="noStrike">
                          <a:effectLst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유료회원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개인</a:t>
                      </a: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온라인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15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정회원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HR</a:t>
                      </a:r>
                      <a:r>
                        <a:rPr lang="ko-KR" altLang="en-US" sz="1100" u="none" strike="noStrike">
                          <a:effectLst/>
                        </a:rPr>
                        <a:t>리더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(</a:t>
                      </a:r>
                      <a:r>
                        <a:rPr lang="ko-KR" altLang="en-US" sz="1000" u="none" strike="noStrike">
                          <a:effectLst/>
                        </a:rPr>
                        <a:t>삭제</a:t>
                      </a:r>
                      <a:r>
                        <a:rPr lang="en-US" altLang="ko-KR" sz="1000" u="none" strike="noStrike">
                          <a:effectLst/>
                        </a:rPr>
                        <a:t>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15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정회원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법인담당자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(</a:t>
                      </a:r>
                      <a:r>
                        <a:rPr lang="ko-KR" altLang="en-US" sz="1000" u="none" strike="noStrike">
                          <a:effectLst/>
                        </a:rPr>
                        <a:t>삭제</a:t>
                      </a:r>
                      <a:r>
                        <a:rPr lang="en-US" altLang="ko-KR" sz="1000" u="none" strike="noStrike">
                          <a:effectLst/>
                        </a:rPr>
                        <a:t>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15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정회원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법인담당자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</a:rPr>
                        <a:t>온</a:t>
                      </a:r>
                      <a:r>
                        <a:rPr lang="en-US" altLang="ko-KR" sz="1100" u="none" strike="noStrike">
                          <a:effectLst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(</a:t>
                      </a:r>
                      <a:r>
                        <a:rPr lang="ko-KR" altLang="en-US" sz="1000" u="none" strike="noStrike">
                          <a:effectLst/>
                        </a:rPr>
                        <a:t>삭제</a:t>
                      </a:r>
                      <a:r>
                        <a:rPr lang="en-US" altLang="ko-KR" sz="1000" u="none" strike="noStrike">
                          <a:effectLst/>
                        </a:rPr>
                        <a:t>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15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정회원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BPO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유료회원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법인</a:t>
                      </a: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정회원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15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정회원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BPO(</a:t>
                      </a:r>
                      <a:r>
                        <a:rPr lang="ko-KR" altLang="en-US" sz="1100" u="none" strike="noStrike">
                          <a:effectLst/>
                        </a:rPr>
                        <a:t>온</a:t>
                      </a:r>
                      <a:r>
                        <a:rPr lang="en-US" altLang="ko-KR" sz="1100" u="none" strike="noStrike">
                          <a:effectLst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유료회원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법인</a:t>
                      </a: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온라인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015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정회원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계약외 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(</a:t>
                      </a:r>
                      <a:r>
                        <a:rPr lang="ko-KR" altLang="en-US" sz="1000" u="none" strike="noStrike">
                          <a:effectLst/>
                        </a:rPr>
                        <a:t>삭제</a:t>
                      </a:r>
                      <a:r>
                        <a:rPr lang="en-US" altLang="ko-KR" sz="1000" u="none" strike="noStrike">
                          <a:effectLst/>
                        </a:rPr>
                        <a:t>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015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임시회원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법인담당자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</a:rPr>
                        <a:t>임</a:t>
                      </a:r>
                      <a:r>
                        <a:rPr lang="en-US" altLang="ko-KR" sz="1100" u="none" strike="noStrike">
                          <a:effectLst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무료회원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모니터링</a:t>
                      </a: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법인담당자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015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임시회원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무료회원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무료회원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수요레터회원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015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임시회원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서비스</a:t>
                      </a:r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무료회원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모니터링</a:t>
                      </a: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출연진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015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임시회원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캠페인회원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무료회원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캠페인</a:t>
                      </a: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검토용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015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임시회원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크레듀 단기상품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(</a:t>
                      </a:r>
                      <a:r>
                        <a:rPr lang="ko-KR" altLang="en-US" sz="1000" u="none" strike="noStrike">
                          <a:effectLst/>
                        </a:rPr>
                        <a:t>삭제</a:t>
                      </a:r>
                      <a:r>
                        <a:rPr lang="en-US" altLang="ko-KR" sz="1000" u="none" strike="noStrike">
                          <a:effectLst/>
                        </a:rPr>
                        <a:t>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015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임시회원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운영자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무료회원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임직원</a:t>
                      </a: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운영자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015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임시회원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임직원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무료회원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</a:rPr>
                        <a:t>임직원</a:t>
                      </a: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altLang="en-US" sz="1000" u="none" strike="noStrike" dirty="0">
                          <a:effectLst/>
                        </a:rPr>
                        <a:t>일반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8842075" y="72852"/>
            <a:ext cx="3968151" cy="54801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수정사항</a:t>
            </a:r>
            <a:r>
              <a:rPr lang="en-US" altLang="ko-KR" sz="1200" b="1" dirty="0">
                <a:solidFill>
                  <a:schemeClr val="tx1"/>
                </a:solidFill>
              </a:rPr>
              <a:t>] 24.3.29</a:t>
            </a:r>
          </a:p>
          <a:p>
            <a:pPr marL="228600" indent="-228600" algn="ctr">
              <a:buAutoNum type="arabicPeriod"/>
            </a:pPr>
            <a:r>
              <a:rPr lang="en-US" altLang="ko-KR" sz="1200" b="1" dirty="0" err="1">
                <a:solidFill>
                  <a:schemeClr val="tx1"/>
                </a:solidFill>
              </a:rPr>
              <a:t>SERIPro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 err="1">
                <a:solidFill>
                  <a:schemeClr val="tx1"/>
                </a:solidFill>
              </a:rPr>
              <a:t>회원구분값</a:t>
            </a:r>
            <a:r>
              <a:rPr lang="ko-KR" altLang="en-US" sz="1200" b="1" dirty="0">
                <a:solidFill>
                  <a:schemeClr val="tx1"/>
                </a:solidFill>
              </a:rPr>
              <a:t> 수정</a:t>
            </a:r>
            <a:r>
              <a:rPr lang="en-US" altLang="ko-KR" sz="1200" b="1" dirty="0">
                <a:solidFill>
                  <a:schemeClr val="tx1"/>
                </a:solidFill>
              </a:rPr>
              <a:t>(CEO </a:t>
            </a:r>
            <a:r>
              <a:rPr lang="ko-KR" altLang="en-US" sz="1200" b="1" dirty="0">
                <a:solidFill>
                  <a:schemeClr val="tx1"/>
                </a:solidFill>
              </a:rPr>
              <a:t>기준으로 변경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42182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200" dirty="0">
            <a:solidFill>
              <a:schemeClr val="tx1">
                <a:lumMod val="50000"/>
                <a:lumOff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64691</TotalTime>
  <Words>17765</Words>
  <Application>Microsoft Office PowerPoint</Application>
  <PresentationFormat>와이드스크린</PresentationFormat>
  <Paragraphs>7030</Paragraphs>
  <Slides>86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86</vt:i4>
      </vt:variant>
    </vt:vector>
  </HeadingPairs>
  <TitlesOfParts>
    <vt:vector size="92" baseType="lpstr">
      <vt:lpstr>나눔스퀘어</vt:lpstr>
      <vt:lpstr>나눔스퀘어 네오 Regular</vt:lpstr>
      <vt:lpstr>맑은 고딕</vt:lpstr>
      <vt:lpstr>Arial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은별 성</cp:lastModifiedBy>
  <cp:revision>552</cp:revision>
  <cp:lastPrinted>2024-01-08T05:01:48Z</cp:lastPrinted>
  <dcterms:created xsi:type="dcterms:W3CDTF">2023-12-26T06:01:00Z</dcterms:created>
  <dcterms:modified xsi:type="dcterms:W3CDTF">2024-07-18T07:55:34Z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